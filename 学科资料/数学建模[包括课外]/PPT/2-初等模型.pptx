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4" r:id="rId2"/>
    <p:sldId id="562" r:id="rId3"/>
    <p:sldId id="567" r:id="rId4"/>
    <p:sldId id="568" r:id="rId5"/>
    <p:sldId id="566" r:id="rId6"/>
    <p:sldId id="569" r:id="rId7"/>
    <p:sldId id="570" r:id="rId8"/>
    <p:sldId id="572" r:id="rId9"/>
    <p:sldId id="573" r:id="rId10"/>
    <p:sldId id="575" r:id="rId11"/>
    <p:sldId id="578" r:id="rId12"/>
    <p:sldId id="582" r:id="rId13"/>
    <p:sldId id="580" r:id="rId14"/>
    <p:sldId id="583" r:id="rId15"/>
    <p:sldId id="584" r:id="rId16"/>
    <p:sldId id="585" r:id="rId17"/>
    <p:sldId id="586" r:id="rId18"/>
    <p:sldId id="587" r:id="rId19"/>
    <p:sldId id="588" r:id="rId20"/>
    <p:sldId id="594" r:id="rId21"/>
    <p:sldId id="595" r:id="rId22"/>
    <p:sldId id="596" r:id="rId23"/>
    <p:sldId id="259" r:id="rId24"/>
    <p:sldId id="260" r:id="rId25"/>
    <p:sldId id="261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490" autoAdjust="0"/>
  </p:normalViewPr>
  <p:slideViewPr>
    <p:cSldViewPr>
      <p:cViewPr varScale="1">
        <p:scale>
          <a:sx n="115" d="100"/>
          <a:sy n="115" d="100"/>
        </p:scale>
        <p:origin x="66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4" name="Picture 2" descr="http://www.scut.edu.cn/publish2/news/intro/logo/resource/1smevus1otq84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395536" y="1556792"/>
            <a:ext cx="841640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 sz="40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ts val="25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 sz="2000" b="1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400">
                <a:latin typeface="Arial Rounded MT Bold" panose="020F07040305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latin typeface="Arial Rounded MT Bold" panose="020F07040305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latin typeface="Arial Rounded MT Bold" panose="020F07040305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latin typeface="Arial Rounded MT Bold" panose="020F07040305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latin typeface="Arial Rounded MT Bold" panose="020F07040305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latin typeface="Arial Rounded MT Bold" panose="020F07040305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latin typeface="Arial Rounded MT Bold" panose="020F07040305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5400" dirty="0">
                <a:solidFill>
                  <a:srgbClr val="C00000"/>
                </a:solidFill>
                <a:latin typeface="Arial" charset="0"/>
                <a:ea typeface="华文新魏" pitchFamily="2" charset="-122"/>
              </a:rPr>
              <a:t>数学建模与实验</a:t>
            </a:r>
          </a:p>
        </p:txBody>
      </p:sp>
      <p:grpSp>
        <p:nvGrpSpPr>
          <p:cNvPr id="34" name="Group 3"/>
          <p:cNvGrpSpPr>
            <a:grpSpLocks/>
          </p:cNvGrpSpPr>
          <p:nvPr/>
        </p:nvGrpSpPr>
        <p:grpSpPr bwMode="auto">
          <a:xfrm>
            <a:off x="1439467" y="5662615"/>
            <a:ext cx="6265069" cy="719137"/>
            <a:chOff x="249" y="3702"/>
            <a:chExt cx="5262" cy="453"/>
          </a:xfrm>
        </p:grpSpPr>
        <p:pic>
          <p:nvPicPr>
            <p:cNvPr id="35" name="Picture 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9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/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1"/>
            <p:cNvPicPr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3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" y="3702"/>
              <a:ext cx="635" cy="453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345BBAC6-9C8F-4B43-B203-AB4AEDCB6C5B}"/>
              </a:ext>
            </a:extLst>
          </p:cNvPr>
          <p:cNvSpPr/>
          <p:nvPr/>
        </p:nvSpPr>
        <p:spPr>
          <a:xfrm>
            <a:off x="377194" y="3356992"/>
            <a:ext cx="83884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第二章 初等模型</a:t>
            </a:r>
          </a:p>
        </p:txBody>
      </p:sp>
    </p:spTree>
    <p:extLst>
      <p:ext uri="{BB962C8B-B14F-4D97-AF65-F5344CB8AC3E}">
        <p14:creationId xmlns:p14="http://schemas.microsoft.com/office/powerpoint/2010/main" val="40549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2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576" y="17164"/>
            <a:ext cx="83884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第二章 初等模型</a:t>
            </a: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C0FCE857-6EE2-4991-90FB-ED8B57D5B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556792"/>
            <a:ext cx="367240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.1   </a:t>
            </a:r>
            <a:r>
              <a:rPr lang="zh-CN" altLang="en-US" sz="2400" b="1" u="sng" dirty="0">
                <a:latin typeface="Times New Roman" panose="02020603050405020304" pitchFamily="18" charset="0"/>
                <a:ea typeface="楷体_GB2312" pitchFamily="1" charset="-122"/>
              </a:rPr>
              <a:t>公平的席位分配</a:t>
            </a:r>
            <a:endParaRPr lang="zh-CN" altLang="zh-CN" sz="2400" b="1" u="sng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.2 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双层玻璃窗的功效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1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</a:t>
            </a:r>
            <a:r>
              <a:rPr lang="en-US" altLang="zh-CN" sz="2400" b="1" u="sng" dirty="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400" b="1" u="sng" dirty="0">
                <a:latin typeface="Times New Roman" panose="02020603050405020304" pitchFamily="18" charset="0"/>
                <a:ea typeface="楷体_GB2312" pitchFamily="1" charset="-122"/>
              </a:rPr>
              <a:t>核武器竞赛</a:t>
            </a:r>
            <a:endParaRPr lang="zh-CN" altLang="zh-CN" sz="2400" b="1" u="sng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294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3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>
                <a:latin typeface="Times New Roman" panose="02020603050405020304" pitchFamily="18" charset="0"/>
                <a:ea typeface="隶书" panose="02010509060101010101" pitchFamily="49" charset="-122"/>
              </a:rPr>
              <a:t>问题</a:t>
            </a: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三个系学生共200名（甲系100，乙系60，丙系40），代表会议共20席，按比例分配，三个系分别为10，6，4席。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D0884B-0C59-447C-8884-B86FA30AB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25152"/>
              </p:ext>
            </p:extLst>
          </p:nvPr>
        </p:nvGraphicFramePr>
        <p:xfrm>
          <a:off x="1500336" y="280973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70830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505311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2086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7736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甲系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乙系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丙系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0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</a:t>
                      </a:r>
                      <a:r>
                        <a:rPr lang="en-US" altLang="zh-CN" dirty="0"/>
                        <a:t>200</a:t>
                      </a:r>
                      <a:r>
                        <a:rPr lang="zh-CN" altLang="en-US" dirty="0"/>
                        <a:t>人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4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4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20</a:t>
                      </a:r>
                      <a:r>
                        <a:rPr lang="zh-CN" altLang="en-US" b="1" dirty="0"/>
                        <a:t>席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00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11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4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问题</a:t>
            </a: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三个系学生共200名（甲系100，乙系60，丙系40），代表会议共20席，按比例分配，三个系分别为10，6，4席。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D0884B-0C59-447C-8884-B86FA30AB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863391"/>
              </p:ext>
            </p:extLst>
          </p:nvPr>
        </p:nvGraphicFramePr>
        <p:xfrm>
          <a:off x="1500336" y="280973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70830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505311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2086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7736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甲系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乙系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丙系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0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</a:t>
                      </a:r>
                      <a:r>
                        <a:rPr lang="en-US" altLang="zh-CN" dirty="0"/>
                        <a:t>200</a:t>
                      </a:r>
                      <a:r>
                        <a:rPr lang="zh-CN" altLang="en-US" dirty="0"/>
                        <a:t>人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4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4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20</a:t>
                      </a:r>
                      <a:r>
                        <a:rPr lang="zh-CN" altLang="en-US" b="1" dirty="0"/>
                        <a:t>席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00742"/>
                  </a:ext>
                </a:extLst>
              </a:tr>
            </a:tbl>
          </a:graphicData>
        </a:graphic>
      </p:graphicFrame>
      <p:sp>
        <p:nvSpPr>
          <p:cNvPr id="10" name="Text Box 27">
            <a:extLst>
              <a:ext uri="{FF2B5EF4-FFF2-40B4-BE49-F238E27FC236}">
                <a16:creationId xmlns:a16="http://schemas.microsoft.com/office/drawing/2014/main" id="{B9A020CB-375A-4721-8517-D40278772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1731045"/>
            <a:ext cx="8114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现因学生转系，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三系人数为103, 63, 34, 问20席如何分配。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2EF6BC-4A38-4ECF-AD5A-50569EB807D4}"/>
              </a:ext>
            </a:extLst>
          </p:cNvPr>
          <p:cNvSpPr txBox="1"/>
          <p:nvPr/>
        </p:nvSpPr>
        <p:spPr>
          <a:xfrm>
            <a:off x="107504" y="4869160"/>
            <a:ext cx="1338828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惯例分配</a:t>
            </a:r>
            <a:r>
              <a:rPr lang="en-US" altLang="zh-CN" dirty="0"/>
              <a:t>/</a:t>
            </a:r>
          </a:p>
          <a:p>
            <a:r>
              <a:rPr lang="zh-CN" altLang="en-US" dirty="0"/>
              <a:t>最大剩余法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F393A02-9354-490B-A167-3EFA3970D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685441"/>
              </p:ext>
            </p:extLst>
          </p:nvPr>
        </p:nvGraphicFramePr>
        <p:xfrm>
          <a:off x="1500336" y="432190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8147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66650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32054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26178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共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人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4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51.3%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31.5%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9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席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0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实际分配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3+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4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77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691680" y="295410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5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问题</a:t>
            </a: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三个系学生共200名（甲系100，乙系60，丙系40），代表会议共20席，按比例分配，三个系分别为10，6，4席。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D0884B-0C59-447C-8884-B86FA30AB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141"/>
              </p:ext>
            </p:extLst>
          </p:nvPr>
        </p:nvGraphicFramePr>
        <p:xfrm>
          <a:off x="1500336" y="280973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70830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505311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2086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7736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甲系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乙系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丙系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0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</a:t>
                      </a:r>
                      <a:r>
                        <a:rPr lang="en-US" altLang="zh-CN" dirty="0"/>
                        <a:t>200</a:t>
                      </a:r>
                      <a:r>
                        <a:rPr lang="zh-CN" altLang="en-US" dirty="0"/>
                        <a:t>人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4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4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20</a:t>
                      </a:r>
                      <a:r>
                        <a:rPr lang="zh-CN" altLang="en-US" b="1" dirty="0"/>
                        <a:t>席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00742"/>
                  </a:ext>
                </a:extLst>
              </a:tr>
            </a:tbl>
          </a:graphicData>
        </a:graphic>
      </p:graphicFrame>
      <p:sp>
        <p:nvSpPr>
          <p:cNvPr id="10" name="Text Box 27">
            <a:extLst>
              <a:ext uri="{FF2B5EF4-FFF2-40B4-BE49-F238E27FC236}">
                <a16:creationId xmlns:a16="http://schemas.microsoft.com/office/drawing/2014/main" id="{B9A020CB-375A-4721-8517-D40278772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82" y="1731045"/>
            <a:ext cx="8114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现因学生转系，</a:t>
            </a:r>
            <a:r>
              <a:rPr lang="zh-CN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三系人数为103, 63, 34, 问20席如何分配。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CE0528-6957-40EF-AF37-AFD003147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758824"/>
              </p:ext>
            </p:extLst>
          </p:nvPr>
        </p:nvGraphicFramePr>
        <p:xfrm>
          <a:off x="1500336" y="432190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8147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66650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32054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26178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共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人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4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51.3%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31.5%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9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席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0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实际分配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3+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48654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F0FABFE-0B4E-45D1-BF3E-EB5E8C666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35043"/>
              </p:ext>
            </p:extLst>
          </p:nvPr>
        </p:nvGraphicFramePr>
        <p:xfrm>
          <a:off x="1500336" y="582109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718061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984101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3025860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00322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席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818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615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57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90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实际分配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10+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6+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15035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029ED5E4-219C-40D3-901C-132A35979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204864"/>
            <a:ext cx="4495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若增加为21席，又如何分配。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7433E7-EC81-4204-B460-6209FB97AEBD}"/>
              </a:ext>
            </a:extLst>
          </p:cNvPr>
          <p:cNvSpPr txBox="1"/>
          <p:nvPr/>
        </p:nvSpPr>
        <p:spPr>
          <a:xfrm>
            <a:off x="107504" y="4869160"/>
            <a:ext cx="1338828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惯例分配</a:t>
            </a:r>
            <a:r>
              <a:rPr lang="en-US" altLang="zh-CN" dirty="0"/>
              <a:t>/</a:t>
            </a:r>
          </a:p>
          <a:p>
            <a:r>
              <a:rPr lang="zh-CN" altLang="en-US" dirty="0"/>
              <a:t>最大剩余法</a:t>
            </a:r>
          </a:p>
        </p:txBody>
      </p:sp>
    </p:spTree>
    <p:extLst>
      <p:ext uri="{BB962C8B-B14F-4D97-AF65-F5344CB8AC3E}">
        <p14:creationId xmlns:p14="http://schemas.microsoft.com/office/powerpoint/2010/main" val="134135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6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" y="883030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分配不公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21BDB662-9C8B-4B05-9F52-AF6B77BF7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3414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原因：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0F5F8-26FF-4F69-B4A6-E085F1BF18F9}"/>
              </a:ext>
            </a:extLst>
          </p:cNvPr>
          <p:cNvSpPr/>
          <p:nvPr/>
        </p:nvSpPr>
        <p:spPr>
          <a:xfrm>
            <a:off x="797496" y="1361002"/>
            <a:ext cx="2550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en-US" altLang="zh-CN" b="1" dirty="0">
                <a:latin typeface="Times New Roman" panose="02020603050405020304" pitchFamily="18" charset="0"/>
              </a:rPr>
              <a:t>20</a:t>
            </a:r>
            <a:r>
              <a:rPr lang="zh-CN" altLang="en-US" b="1" dirty="0">
                <a:latin typeface="Times New Roman" panose="02020603050405020304" pitchFamily="18" charset="0"/>
              </a:rPr>
              <a:t>席时：丙分到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席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E37D54-E08A-47DC-8014-2CF7DCB60268}"/>
              </a:ext>
            </a:extLst>
          </p:cNvPr>
          <p:cNvSpPr/>
          <p:nvPr/>
        </p:nvSpPr>
        <p:spPr>
          <a:xfrm>
            <a:off x="797496" y="1681594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en-US" altLang="zh-CN" b="1" dirty="0">
                <a:latin typeface="Times New Roman" panose="02020603050405020304" pitchFamily="18" charset="0"/>
              </a:rPr>
              <a:t>21</a:t>
            </a:r>
            <a:r>
              <a:rPr lang="zh-CN" altLang="en-US" b="1" dirty="0">
                <a:latin typeface="Times New Roman" panose="02020603050405020304" pitchFamily="18" charset="0"/>
              </a:rPr>
              <a:t>席时：丙分到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席</a:t>
            </a:r>
            <a:endParaRPr lang="zh-CN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9BF35495-EFF5-4DBD-97F2-6C4E1D93B3AB}"/>
              </a:ext>
            </a:extLst>
          </p:cNvPr>
          <p:cNvSpPr txBox="1">
            <a:spLocks/>
          </p:cNvSpPr>
          <p:nvPr/>
        </p:nvSpPr>
        <p:spPr>
          <a:xfrm>
            <a:off x="1691680" y="26372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6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D3FAAD3-3E1E-4C50-B6E0-7D7AB631B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115625"/>
              </p:ext>
            </p:extLst>
          </p:nvPr>
        </p:nvGraphicFramePr>
        <p:xfrm>
          <a:off x="1500336" y="249289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708307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505311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2086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7736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甲系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乙系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dirty="0">
                          <a:latin typeface="Times New Roman" panose="02020603050405020304" pitchFamily="18" charset="0"/>
                        </a:rPr>
                        <a:t>丙系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0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共</a:t>
                      </a:r>
                      <a:r>
                        <a:rPr lang="en-US" altLang="zh-CN" dirty="0"/>
                        <a:t>200</a:t>
                      </a:r>
                      <a:r>
                        <a:rPr lang="zh-CN" altLang="en-US" dirty="0"/>
                        <a:t>人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04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4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20</a:t>
                      </a:r>
                      <a:r>
                        <a:rPr lang="zh-CN" altLang="en-US" b="1" dirty="0"/>
                        <a:t>席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00742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123B7D1A-500C-4144-B40B-259018BA5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15650"/>
              </p:ext>
            </p:extLst>
          </p:nvPr>
        </p:nvGraphicFramePr>
        <p:xfrm>
          <a:off x="1500336" y="400506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8147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66650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32054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26178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共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人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4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人数比例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51.3%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31.5%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17%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49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席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0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实际分配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10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4</a:t>
                      </a:r>
                      <a:endParaRPr lang="zh-CN" altLang="en-US" b="1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48654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E0178E9-3FEE-4F8D-A643-5F6573B91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092704"/>
              </p:ext>
            </p:extLst>
          </p:nvPr>
        </p:nvGraphicFramePr>
        <p:xfrm>
          <a:off x="1500336" y="550425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7180612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984101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3025860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00322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21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席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818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615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57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90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实际分配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11</a:t>
                      </a:r>
                      <a:endParaRPr lang="zh-CN" alt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7</a:t>
                      </a:r>
                      <a:endParaRPr lang="zh-CN" alt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15035"/>
                  </a:ext>
                </a:extLst>
              </a:tr>
            </a:tbl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E49A5FA8-9832-4138-B205-F4BAB2E2F7A2}"/>
              </a:ext>
            </a:extLst>
          </p:cNvPr>
          <p:cNvSpPr/>
          <p:nvPr/>
        </p:nvSpPr>
        <p:spPr>
          <a:xfrm>
            <a:off x="6632526" y="5192814"/>
            <a:ext cx="43204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BDA32CE-8A14-4D6B-A447-FD5603A4E703}"/>
              </a:ext>
            </a:extLst>
          </p:cNvPr>
          <p:cNvSpPr/>
          <p:nvPr/>
        </p:nvSpPr>
        <p:spPr>
          <a:xfrm>
            <a:off x="6632526" y="5958995"/>
            <a:ext cx="43204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3070B2-09E3-4F51-AA80-49405B896F0F}"/>
              </a:ext>
            </a:extLst>
          </p:cNvPr>
          <p:cNvSpPr txBox="1"/>
          <p:nvPr/>
        </p:nvSpPr>
        <p:spPr>
          <a:xfrm>
            <a:off x="107504" y="4869160"/>
            <a:ext cx="1338828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惯例分配</a:t>
            </a:r>
            <a:r>
              <a:rPr lang="en-US" altLang="zh-CN" dirty="0"/>
              <a:t>/</a:t>
            </a:r>
          </a:p>
          <a:p>
            <a:r>
              <a:rPr lang="zh-CN" altLang="en-US" dirty="0"/>
              <a:t>最大剩余法</a:t>
            </a:r>
          </a:p>
        </p:txBody>
      </p:sp>
    </p:spTree>
    <p:extLst>
      <p:ext uri="{BB962C8B-B14F-4D97-AF65-F5344CB8AC3E}">
        <p14:creationId xmlns:p14="http://schemas.microsoft.com/office/powerpoint/2010/main" val="298048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模型构造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、确立衡量公平分配席位的指标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7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B448C3F6-D36A-4D4D-8C2C-D74538BBA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4" y="1581755"/>
            <a:ext cx="524569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</a:rPr>
              <a:t>符号假设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3DBE5D56-8BE6-4CD5-8050-D1AEB395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961" y="1988840"/>
            <a:ext cx="4967287" cy="39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lnSpc>
                <a:spcPct val="90000"/>
              </a:lnSpc>
              <a:spcBef>
                <a:spcPct val="50000"/>
              </a:spcBef>
              <a:buClr>
                <a:srgbClr val="66CC33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200" dirty="0"/>
              <a:t>两方：                  甲</a:t>
            </a:r>
            <a:r>
              <a:rPr lang="en-US" altLang="zh-CN" sz="2200" dirty="0"/>
              <a:t>A  </a:t>
            </a:r>
            <a:r>
              <a:rPr lang="zh-CN" altLang="en-US" sz="2200" dirty="0"/>
              <a:t>乙</a:t>
            </a:r>
            <a:r>
              <a:rPr lang="en-US" altLang="zh-CN" sz="2200" dirty="0"/>
              <a:t>B</a:t>
            </a:r>
          </a:p>
        </p:txBody>
      </p:sp>
      <p:graphicFrame>
        <p:nvGraphicFramePr>
          <p:cNvPr id="52" name="Object 11">
            <a:extLst>
              <a:ext uri="{FF2B5EF4-FFF2-40B4-BE49-F238E27FC236}">
                <a16:creationId xmlns:a16="http://schemas.microsoft.com/office/drawing/2014/main" id="{F8E3080A-DF3B-4CF0-8502-C33879677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19344"/>
              </p:ext>
            </p:extLst>
          </p:nvPr>
        </p:nvGraphicFramePr>
        <p:xfrm>
          <a:off x="2397627" y="4226069"/>
          <a:ext cx="32258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431640" progId="Equation.3">
                  <p:embed/>
                </p:oleObj>
              </mc:Choice>
              <mc:Fallback>
                <p:oleObj name="Equation" r:id="rId3" imgW="1346040" imgH="431640" progId="Equation.3">
                  <p:embed/>
                  <p:pic>
                    <p:nvPicPr>
                      <p:cNvPr id="206859" name="Object 11">
                        <a:extLst>
                          <a:ext uri="{FF2B5EF4-FFF2-40B4-BE49-F238E27FC236}">
                            <a16:creationId xmlns:a16="http://schemas.microsoft.com/office/drawing/2014/main" id="{D95FF119-BE41-4208-AE9B-45A0566A0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627" y="4226069"/>
                        <a:ext cx="32258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96720" dir="1391915" algn="ctr" rotWithShape="0">
                          <a:schemeClr val="bg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13">
            <a:extLst>
              <a:ext uri="{FF2B5EF4-FFF2-40B4-BE49-F238E27FC236}">
                <a16:creationId xmlns:a16="http://schemas.microsoft.com/office/drawing/2014/main" id="{1FD34215-CAFA-4352-968A-CE81AC3D6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4441174"/>
            <a:ext cx="1720850" cy="409575"/>
          </a:xfrm>
          <a:prstGeom prst="rect">
            <a:avLst/>
          </a:prstGeom>
          <a:noFill/>
          <a:ln w="12700">
            <a:solidFill>
              <a:srgbClr val="0000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>
                <a:solidFill>
                  <a:srgbClr val="000066"/>
                </a:solidFill>
                <a:latin typeface="Times New Roman" panose="02020603050405020304" pitchFamily="18" charset="0"/>
              </a:rPr>
              <a:t>绝对不公平值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0BADCA-38EB-4184-BF51-0E765AF02003}"/>
              </a:ext>
            </a:extLst>
          </p:cNvPr>
          <p:cNvSpPr/>
          <p:nvPr/>
        </p:nvSpPr>
        <p:spPr>
          <a:xfrm>
            <a:off x="1836961" y="2359996"/>
            <a:ext cx="4572000" cy="3970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0" hangingPunct="0">
              <a:lnSpc>
                <a:spcPct val="90000"/>
              </a:lnSpc>
              <a:spcBef>
                <a:spcPct val="50000"/>
              </a:spcBef>
              <a:buClr>
                <a:srgbClr val="66CC33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200" dirty="0"/>
              <a:t>人数：                  </a:t>
            </a:r>
            <a:r>
              <a:rPr lang="en-US" altLang="zh-CN" sz="2200" dirty="0"/>
              <a:t>p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     p</a:t>
            </a:r>
            <a:r>
              <a:rPr lang="en-US" altLang="zh-CN" sz="2200" baseline="-25000" dirty="0"/>
              <a:t>2</a:t>
            </a:r>
            <a:endParaRPr lang="en-US" altLang="zh-CN" sz="2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EBAB7E-D4AF-462F-96A0-EA04DD837A98}"/>
              </a:ext>
            </a:extLst>
          </p:cNvPr>
          <p:cNvSpPr/>
          <p:nvPr/>
        </p:nvSpPr>
        <p:spPr>
          <a:xfrm>
            <a:off x="1841319" y="2720036"/>
            <a:ext cx="4572000" cy="3970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0" hangingPunct="0">
              <a:lnSpc>
                <a:spcPct val="90000"/>
              </a:lnSpc>
              <a:spcBef>
                <a:spcPct val="50000"/>
              </a:spcBef>
              <a:buClr>
                <a:srgbClr val="66CC33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200" dirty="0"/>
              <a:t>席位：                  </a:t>
            </a:r>
            <a:r>
              <a:rPr lang="en-US" altLang="zh-CN" sz="2200" dirty="0"/>
              <a:t>n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     n</a:t>
            </a:r>
            <a:r>
              <a:rPr lang="en-US" altLang="zh-CN" sz="2200" baseline="-25000" dirty="0"/>
              <a:t>2</a:t>
            </a:r>
            <a:endParaRPr lang="zh-CN" altLang="en-US" sz="2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68C9EA-BC82-4C5E-AB38-C6F80F3D752C}"/>
              </a:ext>
            </a:extLst>
          </p:cNvPr>
          <p:cNvSpPr/>
          <p:nvPr/>
        </p:nvSpPr>
        <p:spPr>
          <a:xfrm>
            <a:off x="1807039" y="3080076"/>
            <a:ext cx="4406976" cy="3970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0" hangingPunct="0">
              <a:lnSpc>
                <a:spcPct val="90000"/>
              </a:lnSpc>
              <a:spcBef>
                <a:spcPct val="50000"/>
              </a:spcBef>
              <a:buClr>
                <a:srgbClr val="66CC33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200" dirty="0"/>
              <a:t>每席代表人数： </a:t>
            </a:r>
            <a:r>
              <a:rPr lang="en-US" altLang="zh-CN" sz="2200" dirty="0"/>
              <a:t>p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/ n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      p</a:t>
            </a:r>
            <a:r>
              <a:rPr lang="en-US" altLang="zh-CN" sz="2200" baseline="-25000" dirty="0"/>
              <a:t>2 </a:t>
            </a:r>
            <a:r>
              <a:rPr lang="en-US" altLang="zh-CN" sz="2200" dirty="0"/>
              <a:t>/</a:t>
            </a:r>
            <a:r>
              <a:rPr lang="en-US" altLang="zh-CN" sz="2200" baseline="-25000" dirty="0"/>
              <a:t> </a:t>
            </a:r>
            <a:r>
              <a:rPr lang="en-US" altLang="zh-CN" sz="2200" dirty="0"/>
              <a:t>n</a:t>
            </a:r>
            <a:r>
              <a:rPr lang="en-US" altLang="zh-CN" sz="2200" baseline="-25000" dirty="0"/>
              <a:t>2</a:t>
            </a:r>
            <a:endParaRPr lang="zh-CN" altLang="en-US" sz="2200" baseline="-25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DFAC7D-735F-44A2-BFC9-FAF44F23742D}"/>
              </a:ext>
            </a:extLst>
          </p:cNvPr>
          <p:cNvSpPr/>
          <p:nvPr/>
        </p:nvSpPr>
        <p:spPr>
          <a:xfrm>
            <a:off x="1767899" y="529413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zh-CN" altLang="en-US" sz="2400" dirty="0"/>
              <a:t>例：120:10     100:10→2</a:t>
            </a:r>
          </a:p>
          <a:p>
            <a:pPr lvl="1"/>
            <a:r>
              <a:rPr lang="zh-CN" altLang="en-US" sz="2400" dirty="0"/>
              <a:t>例： 1020:10   1000:10→2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E19A52B-C387-4A42-BA31-F59C1123CB46}"/>
              </a:ext>
            </a:extLst>
          </p:cNvPr>
          <p:cNvSpPr/>
          <p:nvPr/>
        </p:nvSpPr>
        <p:spPr>
          <a:xfrm>
            <a:off x="899592" y="3699737"/>
            <a:ext cx="20152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</a:rPr>
              <a:t>不公平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927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模型构造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、确立衡量公平分配席位的指标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8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13FD07-DF8F-469D-BB7C-7419A2E03E38}"/>
              </a:ext>
            </a:extLst>
          </p:cNvPr>
          <p:cNvSpPr/>
          <p:nvPr/>
        </p:nvSpPr>
        <p:spPr>
          <a:xfrm>
            <a:off x="823914" y="1484784"/>
            <a:ext cx="1265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</a:rPr>
              <a:t>改进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8FE27-0D91-4064-BE66-F4157BCA77FC}"/>
              </a:ext>
            </a:extLst>
          </p:cNvPr>
          <p:cNvSpPr/>
          <p:nvPr/>
        </p:nvSpPr>
        <p:spPr>
          <a:xfrm>
            <a:off x="727491" y="1988840"/>
            <a:ext cx="34844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5188" lvl="1" indent="-407988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400" b="1" dirty="0"/>
              <a:t>对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相对不公平值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9CF192-189F-4BCE-9AC5-2E118A7A46F5}"/>
              </a:ext>
            </a:extLst>
          </p:cNvPr>
          <p:cNvSpPr/>
          <p:nvPr/>
        </p:nvSpPr>
        <p:spPr>
          <a:xfrm>
            <a:off x="742256" y="3789040"/>
            <a:ext cx="34844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5188" lvl="1" indent="-407988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400" b="1" dirty="0"/>
              <a:t>对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相对不公平值</a:t>
            </a:r>
          </a:p>
        </p:txBody>
      </p:sp>
      <p:graphicFrame>
        <p:nvGraphicFramePr>
          <p:cNvPr id="30" name="Object 10">
            <a:extLst>
              <a:ext uri="{FF2B5EF4-FFF2-40B4-BE49-F238E27FC236}">
                <a16:creationId xmlns:a16="http://schemas.microsoft.com/office/drawing/2014/main" id="{98ECC2A5-CF5C-4F4B-96BB-A4532C2D5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85684"/>
              </p:ext>
            </p:extLst>
          </p:nvPr>
        </p:nvGraphicFramePr>
        <p:xfrm>
          <a:off x="2500313" y="2204864"/>
          <a:ext cx="3611562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838080" progId="Equation.3">
                  <p:embed/>
                </p:oleObj>
              </mc:Choice>
              <mc:Fallback>
                <p:oleObj name="Equation" r:id="rId4" imgW="1257120" imgH="838080" progId="Equation.3">
                  <p:embed/>
                  <p:pic>
                    <p:nvPicPr>
                      <p:cNvPr id="163850" name="Object 10">
                        <a:extLst>
                          <a:ext uri="{FF2B5EF4-FFF2-40B4-BE49-F238E27FC236}">
                            <a16:creationId xmlns:a16="http://schemas.microsoft.com/office/drawing/2014/main" id="{DDF2D5DF-9E61-4D5F-8AD7-1AABCB9A7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2204864"/>
                        <a:ext cx="3611562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bg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2">
            <a:extLst>
              <a:ext uri="{FF2B5EF4-FFF2-40B4-BE49-F238E27FC236}">
                <a16:creationId xmlns:a16="http://schemas.microsoft.com/office/drawing/2014/main" id="{2E73E3D3-006F-487D-9047-65F383A31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2565648"/>
            <a:ext cx="1720850" cy="409575"/>
          </a:xfrm>
          <a:prstGeom prst="rect">
            <a:avLst/>
          </a:prstGeom>
          <a:noFill/>
          <a:ln w="12700">
            <a:solidFill>
              <a:srgbClr val="0000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>
                <a:solidFill>
                  <a:srgbClr val="000066"/>
                </a:solidFill>
                <a:latin typeface="Times New Roman" panose="02020603050405020304" pitchFamily="18" charset="0"/>
              </a:rPr>
              <a:t>绝对不公平值</a:t>
            </a:r>
          </a:p>
        </p:txBody>
      </p:sp>
      <p:sp>
        <p:nvSpPr>
          <p:cNvPr id="32" name="Line 13">
            <a:extLst>
              <a:ext uri="{FF2B5EF4-FFF2-40B4-BE49-F238E27FC236}">
                <a16:creationId xmlns:a16="http://schemas.microsoft.com/office/drawing/2014/main" id="{59723BF4-307F-461F-BB73-67DD3A7276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53150" y="2773611"/>
            <a:ext cx="700088" cy="1587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id="{3DEC1831-801E-4398-B0CB-2F5CAB166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8475" y="3275261"/>
            <a:ext cx="704850" cy="409575"/>
          </a:xfrm>
          <a:prstGeom prst="rect">
            <a:avLst/>
          </a:prstGeom>
          <a:noFill/>
          <a:ln w="12700">
            <a:solidFill>
              <a:srgbClr val="0000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>
                <a:solidFill>
                  <a:srgbClr val="000066"/>
                </a:solidFill>
                <a:latin typeface="Times New Roman" panose="02020603050405020304" pitchFamily="18" charset="0"/>
              </a:rPr>
              <a:t>基数</a:t>
            </a:r>
          </a:p>
        </p:txBody>
      </p:sp>
      <p:sp>
        <p:nvSpPr>
          <p:cNvPr id="34" name="Line 15">
            <a:extLst>
              <a:ext uri="{FF2B5EF4-FFF2-40B4-BE49-F238E27FC236}">
                <a16:creationId xmlns:a16="http://schemas.microsoft.com/office/drawing/2014/main" id="{2140BC5B-0E39-4E9C-B367-2E20034531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72200" y="3483223"/>
            <a:ext cx="700088" cy="1588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D620DED2-CF24-4E85-9C76-FE623F20B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149510"/>
              </p:ext>
            </p:extLst>
          </p:nvPr>
        </p:nvGraphicFramePr>
        <p:xfrm>
          <a:off x="1547664" y="4221088"/>
          <a:ext cx="3611562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838080" progId="Equation.3">
                  <p:embed/>
                </p:oleObj>
              </mc:Choice>
              <mc:Fallback>
                <p:oleObj name="Equation" r:id="rId6" imgW="1257120" imgH="838080" progId="Equation.3">
                  <p:embed/>
                  <p:pic>
                    <p:nvPicPr>
                      <p:cNvPr id="163851" name="Object 11">
                        <a:extLst>
                          <a:ext uri="{FF2B5EF4-FFF2-40B4-BE49-F238E27FC236}">
                            <a16:creationId xmlns:a16="http://schemas.microsoft.com/office/drawing/2014/main" id="{434FB4BB-05C5-445E-8D24-EC05B4C2B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221088"/>
                        <a:ext cx="3611562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bg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B052487D-D0F7-4329-A114-BB43C1E3E7B4}"/>
              </a:ext>
            </a:extLst>
          </p:cNvPr>
          <p:cNvSpPr/>
          <p:nvPr/>
        </p:nvSpPr>
        <p:spPr>
          <a:xfrm>
            <a:off x="4208073" y="5974087"/>
            <a:ext cx="4437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zh-CN" altLang="en-US" dirty="0"/>
              <a:t>例：   120:10     100:10→2 →  0.2</a:t>
            </a:r>
          </a:p>
          <a:p>
            <a:pPr lvl="2"/>
            <a:r>
              <a:rPr lang="zh-CN" altLang="en-US" dirty="0"/>
              <a:t>例： 1020:10   1000:10→2 →0.02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8D96001-FA68-470F-81E1-87C8232F419A}"/>
              </a:ext>
            </a:extLst>
          </p:cNvPr>
          <p:cNvSpPr/>
          <p:nvPr/>
        </p:nvSpPr>
        <p:spPr>
          <a:xfrm>
            <a:off x="727491" y="5919663"/>
            <a:ext cx="40605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5188" lvl="1" indent="-407988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400" b="1" dirty="0"/>
              <a:t>目标：</a:t>
            </a:r>
            <a:r>
              <a:rPr lang="en-US" altLang="zh-CN" sz="2400" b="1" dirty="0" err="1">
                <a:solidFill>
                  <a:srgbClr val="FF0000"/>
                </a:solidFill>
              </a:rPr>
              <a:t>r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A</a:t>
            </a:r>
            <a:r>
              <a:rPr lang="en-US" altLang="zh-CN" sz="2400" b="1" dirty="0" err="1">
                <a:solidFill>
                  <a:srgbClr val="FF0000"/>
                </a:solidFill>
              </a:rPr>
              <a:t>,r</a:t>
            </a:r>
            <a:r>
              <a:rPr lang="en-US" altLang="zh-CN" sz="2400" b="1" baseline="-25000" dirty="0" err="1">
                <a:solidFill>
                  <a:srgbClr val="FF0000"/>
                </a:solidFill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</a:rPr>
              <a:t>都尽量小</a:t>
            </a:r>
          </a:p>
        </p:txBody>
      </p:sp>
    </p:spTree>
    <p:extLst>
      <p:ext uri="{BB962C8B-B14F-4D97-AF65-F5344CB8AC3E}">
        <p14:creationId xmlns:p14="http://schemas.microsoft.com/office/powerpoint/2010/main" val="2995908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模型构造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、确定分配方案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9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13FD07-DF8F-469D-BB7C-7419A2E03E38}"/>
              </a:ext>
            </a:extLst>
          </p:cNvPr>
          <p:cNvSpPr/>
          <p:nvPr/>
        </p:nvSpPr>
        <p:spPr>
          <a:xfrm>
            <a:off x="827584" y="1945208"/>
            <a:ext cx="78926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设A, B已分别有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席，若增加1席，问应分给A, 还是B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F2334962-F142-43B5-97AC-2177BFDD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69" y="1426964"/>
            <a:ext cx="6408712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将一次性的席位分配转化为</a:t>
            </a:r>
            <a:r>
              <a:rPr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动态</a:t>
            </a:r>
            <a:r>
              <a:rPr lang="zh-CN" altLang="zh-CN" sz="2400" b="1" dirty="0">
                <a:latin typeface="Times New Roman" panose="02020603050405020304" pitchFamily="18" charset="0"/>
              </a:rPr>
              <a:t>的席位分配</a:t>
            </a:r>
          </a:p>
        </p:txBody>
      </p:sp>
      <p:sp>
        <p:nvSpPr>
          <p:cNvPr id="53" name="Text Box 4">
            <a:extLst>
              <a:ext uri="{FF2B5EF4-FFF2-40B4-BE49-F238E27FC236}">
                <a16:creationId xmlns:a16="http://schemas.microsoft.com/office/drawing/2014/main" id="{AAEA2D18-533F-4ABA-9079-E9F88FA4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392048"/>
            <a:ext cx="66034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假设：分配开始时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 ，即对A不公平</a:t>
            </a:r>
          </a:p>
        </p:txBody>
      </p:sp>
      <p:sp>
        <p:nvSpPr>
          <p:cNvPr id="56" name="Text Box 2">
            <a:extLst>
              <a:ext uri="{FF2B5EF4-FFF2-40B4-BE49-F238E27FC236}">
                <a16:creationId xmlns:a16="http://schemas.microsoft.com/office/drawing/2014/main" id="{65EF6395-CA2F-49A9-AC2D-AB8F8B3FB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984" y="2996952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+1)&gt;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 ，</a:t>
            </a:r>
          </a:p>
        </p:txBody>
      </p:sp>
      <p:sp>
        <p:nvSpPr>
          <p:cNvPr id="57" name="Text Box 3">
            <a:extLst>
              <a:ext uri="{FF2B5EF4-FFF2-40B4-BE49-F238E27FC236}">
                <a16:creationId xmlns:a16="http://schemas.microsoft.com/office/drawing/2014/main" id="{72F1BEEF-2740-434C-8F69-CBF976AAF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0384" y="2996952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则这席应给 A</a:t>
            </a:r>
          </a:p>
        </p:txBody>
      </p:sp>
    </p:spTree>
    <p:extLst>
      <p:ext uri="{BB962C8B-B14F-4D97-AF65-F5344CB8AC3E}">
        <p14:creationId xmlns:p14="http://schemas.microsoft.com/office/powerpoint/2010/main" val="18786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 autoUpdateAnimBg="0"/>
      <p:bldP spid="56" grpId="0" animBg="1" autoUpdateAnimBg="0"/>
      <p:bldP spid="5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模型求解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、确定分配方案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10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13FD07-DF8F-469D-BB7C-7419A2E03E38}"/>
              </a:ext>
            </a:extLst>
          </p:cNvPr>
          <p:cNvSpPr/>
          <p:nvPr/>
        </p:nvSpPr>
        <p:spPr>
          <a:xfrm>
            <a:off x="827584" y="1945208"/>
            <a:ext cx="78926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设A, B已分别有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席，若增加1席，问应分给A, 还是B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F2334962-F142-43B5-97AC-2177BFDD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69" y="1426964"/>
            <a:ext cx="6408712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将一次性的席位分配转化为</a:t>
            </a:r>
            <a:r>
              <a:rPr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动态</a:t>
            </a:r>
            <a:r>
              <a:rPr lang="zh-CN" altLang="zh-CN" sz="2400" b="1" dirty="0">
                <a:latin typeface="Times New Roman" panose="02020603050405020304" pitchFamily="18" charset="0"/>
              </a:rPr>
              <a:t>的席位分配</a:t>
            </a:r>
          </a:p>
        </p:txBody>
      </p:sp>
      <p:sp>
        <p:nvSpPr>
          <p:cNvPr id="53" name="Text Box 4">
            <a:extLst>
              <a:ext uri="{FF2B5EF4-FFF2-40B4-BE49-F238E27FC236}">
                <a16:creationId xmlns:a16="http://schemas.microsoft.com/office/drawing/2014/main" id="{AAEA2D18-533F-4ABA-9079-E9F88FA4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392048"/>
            <a:ext cx="66034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假设：分配开始时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 ，即对A不公平</a:t>
            </a:r>
          </a:p>
        </p:txBody>
      </p:sp>
      <p:sp>
        <p:nvSpPr>
          <p:cNvPr id="56" name="Text Box 2">
            <a:extLst>
              <a:ext uri="{FF2B5EF4-FFF2-40B4-BE49-F238E27FC236}">
                <a16:creationId xmlns:a16="http://schemas.microsoft.com/office/drawing/2014/main" id="{65EF6395-CA2F-49A9-AC2D-AB8F8B3FB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984" y="2996952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+1)&gt;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 ，</a:t>
            </a:r>
          </a:p>
        </p:txBody>
      </p:sp>
      <p:sp>
        <p:nvSpPr>
          <p:cNvPr id="57" name="Text Box 3">
            <a:extLst>
              <a:ext uri="{FF2B5EF4-FFF2-40B4-BE49-F238E27FC236}">
                <a16:creationId xmlns:a16="http://schemas.microsoft.com/office/drawing/2014/main" id="{72F1BEEF-2740-434C-8F69-CBF976AAF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0384" y="2996952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则这席应给 A</a:t>
            </a:r>
          </a:p>
        </p:txBody>
      </p:sp>
      <p:sp>
        <p:nvSpPr>
          <p:cNvPr id="58" name="Text Box 4">
            <a:extLst>
              <a:ext uri="{FF2B5EF4-FFF2-40B4-BE49-F238E27FC236}">
                <a16:creationId xmlns:a16="http://schemas.microsoft.com/office/drawing/2014/main" id="{D4DE5BA0-7ECD-4A1D-B0DB-9062823D7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65" y="3573016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+1)&lt;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 ，</a:t>
            </a:r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63A3F80E-C242-4E83-B9A2-A582A8698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110272"/>
            <a:ext cx="45431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dirty="0">
                <a:latin typeface="Times New Roman" panose="02020603050405020304" pitchFamily="18" charset="0"/>
              </a:rPr>
              <a:t>当 </a:t>
            </a:r>
            <a:r>
              <a:rPr lang="zh-CN" altLang="zh-CN" sz="2000" i="1" dirty="0">
                <a:latin typeface="Times New Roman" panose="02020603050405020304" pitchFamily="18" charset="0"/>
              </a:rPr>
              <a:t>r</a:t>
            </a:r>
            <a:r>
              <a:rPr lang="zh-CN" altLang="zh-CN" sz="2000" i="1" baseline="-25000" dirty="0">
                <a:latin typeface="Times New Roman" panose="02020603050405020304" pitchFamily="18" charset="0"/>
              </a:rPr>
              <a:t>B</a:t>
            </a:r>
            <a:r>
              <a:rPr lang="zh-CN" altLang="zh-CN" sz="2000" dirty="0">
                <a:latin typeface="Times New Roman" panose="02020603050405020304" pitchFamily="18" charset="0"/>
              </a:rPr>
              <a:t>(</a:t>
            </a:r>
            <a:r>
              <a:rPr lang="zh-CN" altLang="zh-CN" sz="2000" i="1" dirty="0">
                <a:latin typeface="Times New Roman" panose="02020603050405020304" pitchFamily="18" charset="0"/>
              </a:rPr>
              <a:t>n</a:t>
            </a:r>
            <a:r>
              <a:rPr lang="zh-CN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Times New Roman" panose="02020603050405020304" pitchFamily="18" charset="0"/>
              </a:rPr>
              <a:t>+1, </a:t>
            </a:r>
            <a:r>
              <a:rPr lang="zh-CN" altLang="zh-CN" sz="2000" i="1" dirty="0">
                <a:latin typeface="Times New Roman" panose="02020603050405020304" pitchFamily="18" charset="0"/>
              </a:rPr>
              <a:t>n</a:t>
            </a:r>
            <a:r>
              <a:rPr lang="zh-CN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</a:rPr>
              <a:t>) &lt; </a:t>
            </a:r>
            <a:r>
              <a:rPr lang="zh-CN" altLang="zh-CN" sz="2000" i="1" dirty="0">
                <a:latin typeface="Times New Roman" panose="02020603050405020304" pitchFamily="18" charset="0"/>
              </a:rPr>
              <a:t>r</a:t>
            </a:r>
            <a:r>
              <a:rPr lang="zh-CN" altLang="zh-CN" sz="2000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zh-CN" sz="2000" dirty="0">
                <a:latin typeface="Times New Roman" panose="02020603050405020304" pitchFamily="18" charset="0"/>
              </a:rPr>
              <a:t>(</a:t>
            </a:r>
            <a:r>
              <a:rPr lang="zh-CN" altLang="zh-CN" sz="2000" i="1" dirty="0">
                <a:latin typeface="Times New Roman" panose="02020603050405020304" pitchFamily="18" charset="0"/>
              </a:rPr>
              <a:t>n</a:t>
            </a:r>
            <a:r>
              <a:rPr lang="zh-CN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Times New Roman" panose="02020603050405020304" pitchFamily="18" charset="0"/>
              </a:rPr>
              <a:t>, </a:t>
            </a:r>
            <a:r>
              <a:rPr lang="zh-CN" altLang="zh-CN" sz="2000" i="1" dirty="0">
                <a:latin typeface="Times New Roman" panose="02020603050405020304" pitchFamily="18" charset="0"/>
              </a:rPr>
              <a:t>n</a:t>
            </a:r>
            <a:r>
              <a:rPr lang="zh-CN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000" dirty="0">
                <a:latin typeface="Times New Roman" panose="02020603050405020304" pitchFamily="18" charset="0"/>
              </a:rPr>
              <a:t>+1),  该席给A</a:t>
            </a:r>
          </a:p>
        </p:txBody>
      </p:sp>
      <p:grpSp>
        <p:nvGrpSpPr>
          <p:cNvPr id="24" name="Group 3">
            <a:extLst>
              <a:ext uri="{FF2B5EF4-FFF2-40B4-BE49-F238E27FC236}">
                <a16:creationId xmlns:a16="http://schemas.microsoft.com/office/drawing/2014/main" id="{E258D5D9-DC08-4AC2-8902-AB66BBE373BD}"/>
              </a:ext>
            </a:extLst>
          </p:cNvPr>
          <p:cNvGrpSpPr>
            <a:grpSpLocks/>
          </p:cNvGrpSpPr>
          <p:nvPr/>
        </p:nvGrpSpPr>
        <p:grpSpPr bwMode="auto">
          <a:xfrm>
            <a:off x="2833932" y="4485309"/>
            <a:ext cx="2590800" cy="533400"/>
            <a:chOff x="0" y="0"/>
            <a:chExt cx="1632" cy="336"/>
          </a:xfrm>
        </p:grpSpPr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3CFBB1EB-82C6-43FA-9C16-E0637DAD2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0"/>
              <a:ext cx="129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i="1">
                  <a:latin typeface="Times New Roman" panose="02020603050405020304" pitchFamily="18" charset="0"/>
                </a:rPr>
                <a:t>r</a:t>
              </a:r>
              <a:r>
                <a:rPr lang="zh-CN" altLang="en-US" sz="2000" i="1" baseline="-25000">
                  <a:latin typeface="Times New Roman" panose="02020603050405020304" pitchFamily="18" charset="0"/>
                </a:rPr>
                <a:t>A</a:t>
              </a:r>
              <a:r>
                <a:rPr lang="zh-CN" altLang="en-US" sz="2000">
                  <a:latin typeface="Times New Roman" panose="02020603050405020304" pitchFamily="18" charset="0"/>
                </a:rPr>
                <a:t>, </a:t>
              </a:r>
              <a:r>
                <a:rPr lang="zh-CN" altLang="en-US" sz="2000" i="1">
                  <a:latin typeface="Times New Roman" panose="02020603050405020304" pitchFamily="18" charset="0"/>
                </a:rPr>
                <a:t>r</a:t>
              </a:r>
              <a:r>
                <a:rPr lang="zh-CN" altLang="en-US" sz="2000" i="1" baseline="-25000">
                  <a:latin typeface="Times New Roman" panose="02020603050405020304" pitchFamily="18" charset="0"/>
                </a:rPr>
                <a:t>B</a:t>
              </a:r>
              <a:r>
                <a:rPr lang="zh-CN" altLang="en-US" sz="2000">
                  <a:latin typeface="Times New Roman" panose="02020603050405020304" pitchFamily="18" charset="0"/>
                </a:rPr>
                <a:t>的定义</a:t>
              </a:r>
            </a:p>
          </p:txBody>
        </p:sp>
        <p:sp>
          <p:nvSpPr>
            <p:cNvPr id="27" name="AutoShape 5">
              <a:extLst>
                <a:ext uri="{FF2B5EF4-FFF2-40B4-BE49-F238E27FC236}">
                  <a16:creationId xmlns:a16="http://schemas.microsoft.com/office/drawing/2014/main" id="{251976A9-1A2B-4797-9095-567AB555A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8"/>
              <a:ext cx="306" cy="28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CCFFCC"/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 sz="2000"/>
            </a:p>
          </p:txBody>
        </p:sp>
      </p:grpSp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598DC2F8-A3F2-400F-B7F9-5BB79D26F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019441"/>
              </p:ext>
            </p:extLst>
          </p:nvPr>
        </p:nvGraphicFramePr>
        <p:xfrm>
          <a:off x="1475657" y="4941168"/>
          <a:ext cx="3024336" cy="870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8217" imgH="355917" progId="Equation.DSMT4">
                  <p:embed/>
                </p:oleObj>
              </mc:Choice>
              <mc:Fallback>
                <p:oleObj name="Equation" r:id="rId3" imgW="978217" imgH="355917" progId="Equation.DSMT4">
                  <p:embed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53C5AC7D-B3ED-4DB1-9707-21C28BD9A942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7" y="4941168"/>
                        <a:ext cx="3024336" cy="870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7">
            <a:extLst>
              <a:ext uri="{FF2B5EF4-FFF2-40B4-BE49-F238E27FC236}">
                <a16:creationId xmlns:a16="http://schemas.microsoft.com/office/drawing/2014/main" id="{EB6632D0-BCB1-41E4-BA40-260BE6453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352" y="5146514"/>
            <a:ext cx="1600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dirty="0">
                <a:latin typeface="Times New Roman" panose="02020603050405020304" pitchFamily="18" charset="0"/>
              </a:rPr>
              <a:t>该席给A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2EB8C0BD-628A-4D05-BFFB-3B91704DF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352" y="5469338"/>
            <a:ext cx="18238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dirty="0">
                <a:latin typeface="Times New Roman" panose="02020603050405020304" pitchFamily="18" charset="0"/>
              </a:rPr>
              <a:t>否则,  该席给B</a:t>
            </a:r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2F7380EC-CB7A-402D-B173-6A563F715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56" y="4136825"/>
            <a:ext cx="7016728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若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B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+1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) &lt;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+1</a:t>
            </a:r>
            <a:r>
              <a:rPr lang="zh-CN" altLang="zh-CN" sz="2400" b="1" dirty="0">
                <a:latin typeface="Times New Roman" panose="02020603050405020304" pitchFamily="18" charset="0"/>
              </a:rPr>
              <a:t>),  则这席应给</a:t>
            </a:r>
            <a:r>
              <a:rPr lang="en-US" altLang="zh-CN" sz="2400" b="1" dirty="0">
                <a:latin typeface="Times New Roman" panose="02020603050405020304" pitchFamily="18" charset="0"/>
              </a:rPr>
              <a:t>A,</a:t>
            </a:r>
            <a:r>
              <a:rPr lang="zh-CN" altLang="en-US" sz="2400" b="1" dirty="0">
                <a:latin typeface="Times New Roman" panose="02020603050405020304" pitchFamily="18" charset="0"/>
              </a:rPr>
              <a:t>否则给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09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 autoUpdateAnimBg="0"/>
      <p:bldP spid="23" grpId="0" autoUpdateAnimBg="0"/>
      <p:bldP spid="29" grpId="0" autoUpdateAnimBg="0"/>
      <p:bldP spid="30" grpId="0" autoUpdateAnimBg="0"/>
      <p:bldP spid="3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模型求解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、确定分配方案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11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13FD07-DF8F-469D-BB7C-7419A2E03E38}"/>
              </a:ext>
            </a:extLst>
          </p:cNvPr>
          <p:cNvSpPr/>
          <p:nvPr/>
        </p:nvSpPr>
        <p:spPr>
          <a:xfrm>
            <a:off x="827584" y="1945208"/>
            <a:ext cx="78926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设A, B已分别有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</a:rPr>
              <a:t>席，若增加1席，问应分给A, 还是B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F2334962-F142-43B5-97AC-2177BFDD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69" y="1426964"/>
            <a:ext cx="6408712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将一次性的席位分配转化为</a:t>
            </a:r>
            <a:r>
              <a:rPr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动态</a:t>
            </a:r>
            <a:r>
              <a:rPr lang="zh-CN" altLang="zh-CN" sz="2400" b="1" dirty="0">
                <a:latin typeface="Times New Roman" panose="02020603050405020304" pitchFamily="18" charset="0"/>
              </a:rPr>
              <a:t>的席位分配</a:t>
            </a:r>
          </a:p>
        </p:txBody>
      </p:sp>
      <p:sp>
        <p:nvSpPr>
          <p:cNvPr id="53" name="Text Box 4">
            <a:extLst>
              <a:ext uri="{FF2B5EF4-FFF2-40B4-BE49-F238E27FC236}">
                <a16:creationId xmlns:a16="http://schemas.microsoft.com/office/drawing/2014/main" id="{AAEA2D18-533F-4ABA-9079-E9F88FA42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392048"/>
            <a:ext cx="66034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假设：分配开始时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&gt;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/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 ，即对A不公平</a:t>
            </a:r>
          </a:p>
        </p:txBody>
      </p:sp>
      <p:sp>
        <p:nvSpPr>
          <p:cNvPr id="56" name="Text Box 2">
            <a:extLst>
              <a:ext uri="{FF2B5EF4-FFF2-40B4-BE49-F238E27FC236}">
                <a16:creationId xmlns:a16="http://schemas.microsoft.com/office/drawing/2014/main" id="{65EF6395-CA2F-49A9-AC2D-AB8F8B3FB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265" y="2866114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+1)&gt;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 ，</a:t>
            </a:r>
          </a:p>
        </p:txBody>
      </p:sp>
      <p:sp>
        <p:nvSpPr>
          <p:cNvPr id="57" name="Text Box 3">
            <a:extLst>
              <a:ext uri="{FF2B5EF4-FFF2-40B4-BE49-F238E27FC236}">
                <a16:creationId xmlns:a16="http://schemas.microsoft.com/office/drawing/2014/main" id="{72F1BEEF-2740-434C-8F69-CBF976AAF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327779"/>
            <a:ext cx="2160241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则这席应给 A</a:t>
            </a:r>
          </a:p>
        </p:txBody>
      </p:sp>
      <p:sp>
        <p:nvSpPr>
          <p:cNvPr id="58" name="Text Box 4">
            <a:extLst>
              <a:ext uri="{FF2B5EF4-FFF2-40B4-BE49-F238E27FC236}">
                <a16:creationId xmlns:a16="http://schemas.microsoft.com/office/drawing/2014/main" id="{D4DE5BA0-7ECD-4A1D-B0DB-9062823D7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969" y="3795697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+1)&lt;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 ，</a:t>
            </a: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E5A5C6C8-FF60-4472-B7CE-B8C7874D7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474" y="4233862"/>
            <a:ext cx="7016728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若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B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) &lt;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+1),  则这席应给</a:t>
            </a:r>
            <a:r>
              <a:rPr lang="en-US" altLang="zh-CN" sz="2400" b="1" dirty="0">
                <a:latin typeface="Times New Roman" panose="02020603050405020304" pitchFamily="18" charset="0"/>
              </a:rPr>
              <a:t>A,</a:t>
            </a:r>
            <a:r>
              <a:rPr lang="zh-CN" altLang="en-US" sz="2400" b="1" dirty="0">
                <a:latin typeface="Times New Roman" panose="02020603050405020304" pitchFamily="18" charset="0"/>
              </a:rPr>
              <a:t>否则给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:a16="http://schemas.microsoft.com/office/drawing/2014/main" id="{8B3C78C4-44FF-4AC3-85FE-5237B9DE7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145" y="4899108"/>
            <a:ext cx="3890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3）若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&gt;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+1)，</a:t>
            </a:r>
          </a:p>
        </p:txBody>
      </p:sp>
      <p:sp>
        <p:nvSpPr>
          <p:cNvPr id="34" name="Text Box 15">
            <a:extLst>
              <a:ext uri="{FF2B5EF4-FFF2-40B4-BE49-F238E27FC236}">
                <a16:creationId xmlns:a16="http://schemas.microsoft.com/office/drawing/2014/main" id="{1E281597-07FE-4DE0-B9D0-1C4C2EF39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265" y="5404389"/>
            <a:ext cx="7016728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若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B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+1,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) &gt;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+1),  则这席应给 B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否则给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6AD0F399-B3B8-4BE0-B4DD-405CA75B6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774" y="5853518"/>
            <a:ext cx="33558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lang="zh-CN" altLang="zh-CN" sz="2400" b="1" dirty="0">
                <a:latin typeface="Times New Roman" panose="02020603050405020304" pitchFamily="18" charset="0"/>
              </a:rPr>
              <a:t>）若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zh-CN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/(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+1)，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9BC269B8-9F89-4875-9117-D0A00454D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6327412"/>
            <a:ext cx="1471135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不会出现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64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 autoUpdateAnimBg="0"/>
      <p:bldP spid="34" grpId="0" animBg="1" autoUpdateAnimBg="0"/>
      <p:bldP spid="20" grpId="0" animBg="1" autoUpdateAnimBg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模型求解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、确定分配方案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12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E7DB1149-DC5B-424C-A217-4F7FDA943468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2575"/>
            <a:ext cx="5529263" cy="2027238"/>
            <a:chOff x="748" y="-1239"/>
            <a:chExt cx="3483" cy="1277"/>
          </a:xfrm>
        </p:grpSpPr>
        <p:graphicFrame>
          <p:nvGraphicFramePr>
            <p:cNvPr id="24" name="Object 10">
              <a:extLst>
                <a:ext uri="{FF2B5EF4-FFF2-40B4-BE49-F238E27FC236}">
                  <a16:creationId xmlns:a16="http://schemas.microsoft.com/office/drawing/2014/main" id="{03B2D55C-4C25-4F54-80CC-867EAB6B7E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8" y="-1239"/>
            <a:ext cx="2723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90917" imgH="355917" progId="Equation.3">
                    <p:embed/>
                  </p:oleObj>
                </mc:Choice>
                <mc:Fallback>
                  <p:oleObj r:id="rId3" imgW="990917" imgH="355917" progId="Equation.3">
                    <p:embed/>
                    <p:pic>
                      <p:nvPicPr>
                        <p:cNvPr id="24" name="Object 10">
                          <a:extLst>
                            <a:ext uri="{FF2B5EF4-FFF2-40B4-BE49-F238E27FC236}">
                              <a16:creationId xmlns:a16="http://schemas.microsoft.com/office/drawing/2014/main" id="{03B2D55C-4C25-4F54-80CC-867EAB6B7EDF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8" y="-1239"/>
                          <a:ext cx="2723" cy="864"/>
                        </a:xfrm>
                        <a:prstGeom prst="rect">
                          <a:avLst/>
                        </a:prstGeom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85062661-31FF-45F3-93B9-7E4BC6206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-943"/>
              <a:ext cx="6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imes New Roman" panose="02020603050405020304" pitchFamily="18" charset="0"/>
                </a:rPr>
                <a:t> 定义</a:t>
              </a:r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80EDB33F-1BAD-4E95-9E46-A4402DF1E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-289"/>
              <a:ext cx="2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该席给</a:t>
              </a:r>
              <a:r>
                <a:rPr lang="zh-CN" altLang="en-US" sz="2800" b="1" i="1" dirty="0">
                  <a:latin typeface="Times New Roman" panose="02020603050405020304" pitchFamily="18" charset="0"/>
                </a:rPr>
                <a:t>Q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值较大的一方</a:t>
              </a:r>
            </a:p>
          </p:txBody>
        </p:sp>
      </p:grpSp>
      <p:sp>
        <p:nvSpPr>
          <p:cNvPr id="28" name="Text Box 13">
            <a:extLst>
              <a:ext uri="{FF2B5EF4-FFF2-40B4-BE49-F238E27FC236}">
                <a16:creationId xmlns:a16="http://schemas.microsoft.com/office/drawing/2014/main" id="{9568CDDF-3B4D-47D2-9663-A225F6D39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4353533"/>
            <a:ext cx="1981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推广到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800" b="1" dirty="0">
                <a:latin typeface="Times New Roman" panose="02020603050405020304" pitchFamily="18" charset="0"/>
              </a:rPr>
              <a:t>方分配席位</a:t>
            </a: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A36CEBDA-6B43-4BE8-A8CD-77E1FD896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830" y="5630491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该席给</a:t>
            </a:r>
            <a:r>
              <a:rPr lang="zh-CN" altLang="zh-CN" sz="2800" b="1" i="1" dirty="0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zh-CN" altLang="zh-CN" sz="2800" b="1" dirty="0">
                <a:latin typeface="楷体_GB2312" pitchFamily="1" charset="-122"/>
                <a:ea typeface="楷体_GB2312" pitchFamily="1" charset="-122"/>
              </a:rPr>
              <a:t>值最大的一方</a:t>
            </a: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49333767-C5C6-4B56-AF8A-3DB9378D5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708" y="5600328"/>
            <a:ext cx="1928813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i="1" dirty="0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1" charset="-122"/>
              </a:rPr>
              <a:t> 值方法</a:t>
            </a:r>
          </a:p>
        </p:txBody>
      </p:sp>
      <p:grpSp>
        <p:nvGrpSpPr>
          <p:cNvPr id="36" name="Group 17">
            <a:extLst>
              <a:ext uri="{FF2B5EF4-FFF2-40B4-BE49-F238E27FC236}">
                <a16:creationId xmlns:a16="http://schemas.microsoft.com/office/drawing/2014/main" id="{ABFF5581-9D75-4B35-B362-F9486C94D88F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940175"/>
            <a:ext cx="6138863" cy="1371600"/>
            <a:chOff x="0" y="-599"/>
            <a:chExt cx="3867" cy="864"/>
          </a:xfrm>
        </p:grpSpPr>
        <p:graphicFrame>
          <p:nvGraphicFramePr>
            <p:cNvPr id="38" name="Object 18">
              <a:extLst>
                <a:ext uri="{FF2B5EF4-FFF2-40B4-BE49-F238E27FC236}">
                  <a16:creationId xmlns:a16="http://schemas.microsoft.com/office/drawing/2014/main" id="{5850E3A8-BE94-4AE8-86C6-31EAF63819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" y="-599"/>
            <a:ext cx="3281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194117" imgH="355917" progId="Equation.3">
                    <p:embed/>
                  </p:oleObj>
                </mc:Choice>
                <mc:Fallback>
                  <p:oleObj r:id="rId5" imgW="1194117" imgH="355917" progId="Equation.3">
                    <p:embed/>
                    <p:pic>
                      <p:nvPicPr>
                        <p:cNvPr id="38" name="Object 18">
                          <a:extLst>
                            <a:ext uri="{FF2B5EF4-FFF2-40B4-BE49-F238E27FC236}">
                              <a16:creationId xmlns:a16="http://schemas.microsoft.com/office/drawing/2014/main" id="{5850E3A8-BE94-4AE8-86C6-31EAF63819B7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" y="-599"/>
                          <a:ext cx="3281" cy="8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172366A7-9AE5-4BB5-9BAE-C99F4EB17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-284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Times New Roman" panose="02020603050405020304" pitchFamily="18" charset="0"/>
                </a:rPr>
                <a:t>计算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4376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模型求解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13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AC3A74A0-50B2-4B67-A0F0-D3A71B67F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8" y="990441"/>
            <a:ext cx="5062673" cy="480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marL="230188" indent="-2301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1038" indent="-2349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3938" indent="-17303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indent="-2317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17675" indent="-17303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74875" indent="-173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32075" indent="-173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89275" indent="-173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46475" indent="-1730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60000"/>
              </a:spcBef>
              <a:buClr>
                <a:srgbClr val="0099FF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</a:rPr>
              <a:t>应用 </a:t>
            </a:r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</a:rPr>
              <a:t>Q </a:t>
            </a: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</a:rPr>
              <a:t>值法求解三系席位分配</a:t>
            </a:r>
          </a:p>
        </p:txBody>
      </p:sp>
      <p:graphicFrame>
        <p:nvGraphicFramePr>
          <p:cNvPr id="44" name="Object 8">
            <a:extLst>
              <a:ext uri="{FF2B5EF4-FFF2-40B4-BE49-F238E27FC236}">
                <a16:creationId xmlns:a16="http://schemas.microsoft.com/office/drawing/2014/main" id="{B29EE609-6A41-4D1F-A7F9-F9A972E14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090051"/>
              </p:ext>
            </p:extLst>
          </p:nvPr>
        </p:nvGraphicFramePr>
        <p:xfrm>
          <a:off x="5724128" y="790993"/>
          <a:ext cx="19256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469800" progId="Equation.3">
                  <p:embed/>
                </p:oleObj>
              </mc:Choice>
              <mc:Fallback>
                <p:oleObj name="Equation" r:id="rId3" imgW="901440" imgH="469800" progId="Equation.3">
                  <p:embed/>
                  <p:pic>
                    <p:nvPicPr>
                      <p:cNvPr id="209928" name="Object 8">
                        <a:extLst>
                          <a:ext uri="{FF2B5EF4-FFF2-40B4-BE49-F238E27FC236}">
                            <a16:creationId xmlns:a16="http://schemas.microsoft.com/office/drawing/2014/main" id="{217C3D93-BC08-4FB4-9201-7576D151C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790993"/>
                        <a:ext cx="1925637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bg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2517792F-FFEA-477D-9750-3136742158DC}"/>
              </a:ext>
            </a:extLst>
          </p:cNvPr>
          <p:cNvSpPr/>
          <p:nvPr/>
        </p:nvSpPr>
        <p:spPr>
          <a:xfrm>
            <a:off x="1204876" y="1783263"/>
            <a:ext cx="48461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400" b="1" dirty="0"/>
              <a:t>各系人数：甲 103、乙 63、丙 34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BB60D3-6EC0-48D5-9EFB-1819EAA5E6AF}"/>
              </a:ext>
            </a:extLst>
          </p:cNvPr>
          <p:cNvSpPr/>
          <p:nvPr/>
        </p:nvSpPr>
        <p:spPr>
          <a:xfrm>
            <a:off x="971600" y="2244928"/>
            <a:ext cx="61206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65188" lvl="1" indent="-407988">
              <a:buFont typeface="Wingdings" panose="05000000000000000000" pitchFamily="2" charset="2"/>
              <a:buBlip>
                <a:blip r:embed="rId5"/>
              </a:buBlip>
            </a:pPr>
            <a:r>
              <a:rPr lang="zh-CN" altLang="en-US" sz="2400" dirty="0"/>
              <a:t>分三席：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=1</a:t>
            </a:r>
            <a:r>
              <a:rPr lang="zh-CN" altLang="en-US" sz="2400" dirty="0"/>
              <a:t>  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=1</a:t>
            </a:r>
            <a:r>
              <a:rPr lang="zh-CN" altLang="en-US" sz="2400" dirty="0"/>
              <a:t>  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=1</a:t>
            </a:r>
          </a:p>
          <a:p>
            <a:pPr marL="865188" lvl="1" indent="-407988">
              <a:buFont typeface="Wingdings" panose="05000000000000000000" pitchFamily="2" charset="2"/>
              <a:buBlip>
                <a:blip r:embed="rId5"/>
              </a:buBlip>
            </a:pPr>
            <a:r>
              <a:rPr lang="zh-CN" altLang="en-US" sz="2400" dirty="0"/>
              <a:t>应用</a:t>
            </a:r>
            <a:r>
              <a:rPr lang="en-US" altLang="zh-CN" sz="2400" dirty="0"/>
              <a:t>Q</a:t>
            </a:r>
            <a:r>
              <a:rPr lang="zh-CN" altLang="en-US" sz="2400" dirty="0"/>
              <a:t>值法分别分</a:t>
            </a:r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5</a:t>
            </a:r>
            <a:r>
              <a:rPr lang="zh-CN" altLang="en-US" sz="2400" dirty="0"/>
              <a:t>、</a:t>
            </a:r>
            <a:r>
              <a:rPr lang="en-US" altLang="zh-CN" sz="2400" dirty="0"/>
              <a:t>…</a:t>
            </a:r>
            <a:r>
              <a:rPr lang="zh-CN" altLang="en-US" sz="2400" dirty="0"/>
              <a:t>、</a:t>
            </a:r>
            <a:r>
              <a:rPr lang="en-US" altLang="zh-CN" sz="2400" dirty="0"/>
              <a:t>18</a:t>
            </a:r>
            <a:r>
              <a:rPr lang="zh-CN" altLang="en-US" sz="2400" dirty="0"/>
              <a:t>席</a:t>
            </a:r>
            <a:endParaRPr lang="en-US" altLang="zh-CN" sz="2400" dirty="0"/>
          </a:p>
          <a:p>
            <a:pPr marL="865188" lvl="1" indent="-407988">
              <a:buFont typeface="Wingdings" panose="05000000000000000000" pitchFamily="2" charset="2"/>
              <a:buBlip>
                <a:blip r:embed="rId5"/>
              </a:buBlip>
            </a:pPr>
            <a:r>
              <a:rPr lang="en-US" altLang="zh-CN" sz="2400" dirty="0"/>
              <a:t>19</a:t>
            </a:r>
            <a:r>
              <a:rPr lang="zh-CN" altLang="en-US" sz="2400" dirty="0"/>
              <a:t>席：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=10</a:t>
            </a:r>
            <a:r>
              <a:rPr lang="zh-CN" altLang="en-US" sz="2400" dirty="0"/>
              <a:t>  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=6  </a:t>
            </a: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=3</a:t>
            </a:r>
          </a:p>
          <a:p>
            <a:pPr marL="865188" lvl="1" indent="-407988">
              <a:buFont typeface="Wingdings" panose="05000000000000000000" pitchFamily="2" charset="2"/>
              <a:buBlip>
                <a:blip r:embed="rId5"/>
              </a:buBlip>
            </a:pPr>
            <a:r>
              <a:rPr lang="zh-CN" altLang="en-US" sz="2400" dirty="0"/>
              <a:t>第</a:t>
            </a:r>
            <a:r>
              <a:rPr lang="en-US" altLang="zh-CN" sz="2400" dirty="0"/>
              <a:t>20</a:t>
            </a:r>
            <a:r>
              <a:rPr lang="zh-CN" altLang="en-US" sz="2400" dirty="0"/>
              <a:t>席：</a:t>
            </a:r>
            <a:endParaRPr lang="en-US" altLang="zh-CN" sz="2400" dirty="0"/>
          </a:p>
          <a:p>
            <a:r>
              <a:rPr lang="en-US" altLang="zh-CN" sz="2400" dirty="0"/>
              <a:t>	        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=103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/(10×11)=96.4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=63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/(6×7)=94.5</a:t>
            </a:r>
          </a:p>
          <a:p>
            <a:r>
              <a:rPr lang="en-US" altLang="zh-CN" sz="2400" dirty="0"/>
              <a:t>                      Q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=34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/(3×4)=96.3</a:t>
            </a:r>
          </a:p>
          <a:p>
            <a:r>
              <a:rPr lang="en-US" altLang="zh-CN" sz="2400" dirty="0"/>
              <a:t>            </a:t>
            </a:r>
            <a:r>
              <a:rPr lang="zh-CN" altLang="en-US" sz="2400" dirty="0"/>
              <a:t>则分配： 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=11   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=6     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=3</a:t>
            </a:r>
            <a:endParaRPr lang="en-US" altLang="zh-CN" sz="2400" b="1" dirty="0"/>
          </a:p>
          <a:p>
            <a:pPr lvl="1"/>
            <a:endParaRPr lang="en-US" altLang="zh-CN" sz="24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56D564-7F17-4E9F-B84C-12F8E83EBEE7}"/>
              </a:ext>
            </a:extLst>
          </p:cNvPr>
          <p:cNvSpPr/>
          <p:nvPr/>
        </p:nvSpPr>
        <p:spPr>
          <a:xfrm>
            <a:off x="1007048" y="5328046"/>
            <a:ext cx="587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65188" lvl="1" indent="-407988">
              <a:buFont typeface="Wingdings" panose="05000000000000000000" pitchFamily="2" charset="2"/>
              <a:buBlip>
                <a:blip r:embed="rId5"/>
              </a:buBlip>
            </a:pPr>
            <a:r>
              <a:rPr lang="zh-CN" altLang="en-US" sz="2400" b="1" dirty="0"/>
              <a:t>第</a:t>
            </a:r>
            <a:r>
              <a:rPr lang="en-US" altLang="zh-CN" sz="2400" b="1" dirty="0"/>
              <a:t>21</a:t>
            </a:r>
            <a:r>
              <a:rPr lang="zh-CN" altLang="en-US" sz="2400" b="1" dirty="0"/>
              <a:t>席：</a:t>
            </a:r>
            <a:r>
              <a:rPr lang="en-US" altLang="zh-CN" sz="2400" dirty="0"/>
              <a:t> 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=80.4    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=94.5   Q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=96.3</a:t>
            </a:r>
            <a:endParaRPr lang="en-US" altLang="zh-CN" sz="2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107298-EE68-4E38-AB2B-82BDC3F7B0ED}"/>
              </a:ext>
            </a:extLst>
          </p:cNvPr>
          <p:cNvSpPr/>
          <p:nvPr/>
        </p:nvSpPr>
        <p:spPr>
          <a:xfrm>
            <a:off x="1403648" y="5771031"/>
            <a:ext cx="4448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400" dirty="0"/>
              <a:t>则分配：  </a:t>
            </a:r>
            <a:r>
              <a:rPr lang="en-US" altLang="zh-CN" sz="2400" dirty="0"/>
              <a:t>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=11   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=6     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=4</a:t>
            </a:r>
          </a:p>
        </p:txBody>
      </p:sp>
    </p:spTree>
    <p:extLst>
      <p:ext uri="{BB962C8B-B14F-4D97-AF65-F5344CB8AC3E}">
        <p14:creationId xmlns:p14="http://schemas.microsoft.com/office/powerpoint/2010/main" val="151789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模型分析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472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、席位分配的理想化准则</a:t>
            </a:r>
            <a:r>
              <a:rPr lang="en-US" altLang="zh-CN" sz="2800" b="1" dirty="0">
                <a:latin typeface="Times New Roman" panose="02020603050405020304" pitchFamily="18" charset="0"/>
              </a:rPr>
              <a:t>?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14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5D8459B5-D0E9-4735-A5B2-2E84610DB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49535"/>
            <a:ext cx="8424936" cy="18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400" b="1" dirty="0">
                <a:latin typeface="Times New Roman" panose="02020603050405020304" pitchFamily="18" charset="0"/>
              </a:rPr>
              <a:t>已知: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方人数分别为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 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 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,…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dirty="0">
                <a:latin typeface="Times New Roman" panose="02020603050405020304" pitchFamily="18" charset="0"/>
              </a:rPr>
              <a:t>总人数为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</a:rPr>
              <a:t>=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+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+…+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r>
              <a:rPr lang="zh-CN" altLang="zh-CN" sz="2400" b="1" dirty="0">
                <a:latin typeface="Times New Roman" panose="02020603050405020304" pitchFamily="18" charset="0"/>
              </a:rPr>
              <a:t>待分配的总席位为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latin typeface="Times New Roman" panose="02020603050405020304" pitchFamily="18" charset="0"/>
              </a:rPr>
              <a:t>假设</a:t>
            </a:r>
            <a:r>
              <a:rPr lang="zh-CN" altLang="zh-CN" sz="2400" b="1" dirty="0"/>
              <a:t>m方</a:t>
            </a:r>
            <a:r>
              <a:rPr lang="zh-CN" altLang="en-US" sz="2400" b="1" dirty="0"/>
              <a:t>理想情况</a:t>
            </a:r>
            <a:r>
              <a:rPr lang="zh-CN" altLang="zh-CN" sz="2400" b="1" dirty="0"/>
              <a:t>分配的席位分别为n</a:t>
            </a:r>
            <a:r>
              <a:rPr lang="zh-CN" altLang="zh-CN" sz="2400" b="1" baseline="-25000" dirty="0"/>
              <a:t>1</a:t>
            </a:r>
            <a:r>
              <a:rPr lang="zh-CN" altLang="zh-CN" sz="2400" b="1" dirty="0"/>
              <a:t>,n</a:t>
            </a:r>
            <a:r>
              <a:rPr lang="zh-CN" altLang="zh-CN" sz="2400" b="1" baseline="-25000" dirty="0"/>
              <a:t>2</a:t>
            </a:r>
            <a:r>
              <a:rPr lang="zh-CN" altLang="zh-CN" sz="2400" b="1" dirty="0"/>
              <a:t>,… , n</a:t>
            </a:r>
            <a:r>
              <a:rPr lang="zh-CN" altLang="zh-CN" sz="2400" b="1" baseline="-25000" dirty="0"/>
              <a:t>m</a:t>
            </a:r>
            <a:r>
              <a:rPr lang="zh-CN" altLang="zh-CN" sz="2400" b="1" dirty="0"/>
              <a:t> (</a:t>
            </a:r>
            <a:r>
              <a:rPr lang="zh-CN" altLang="en-US" sz="2400" b="1" dirty="0"/>
              <a:t>即</a:t>
            </a:r>
            <a:r>
              <a:rPr lang="zh-CN" altLang="zh-CN" sz="2400" b="1" dirty="0"/>
              <a:t>n</a:t>
            </a:r>
            <a:r>
              <a:rPr lang="zh-CN" altLang="zh-CN" sz="2400" b="1" baseline="-25000" dirty="0"/>
              <a:t>1</a:t>
            </a:r>
            <a:r>
              <a:rPr lang="zh-CN" altLang="zh-CN" sz="2400" b="1" dirty="0"/>
              <a:t>+n</a:t>
            </a:r>
            <a:r>
              <a:rPr lang="zh-CN" altLang="zh-CN" sz="2400" b="1" baseline="-25000" dirty="0"/>
              <a:t>2</a:t>
            </a:r>
            <a:r>
              <a:rPr lang="zh-CN" altLang="zh-CN" sz="2400" b="1" dirty="0"/>
              <a:t>+…+n</a:t>
            </a:r>
            <a:r>
              <a:rPr lang="zh-CN" altLang="zh-CN" sz="2400" b="1" baseline="-25000" dirty="0"/>
              <a:t>m</a:t>
            </a:r>
            <a:r>
              <a:rPr lang="zh-CN" altLang="zh-CN" sz="2400" b="1" dirty="0"/>
              <a:t>=N)</a:t>
            </a:r>
          </a:p>
          <a:p>
            <a:pPr>
              <a:lnSpc>
                <a:spcPct val="120000"/>
              </a:lnSpc>
            </a:pP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B12CFB6F-7747-475A-AE1E-E39DCDF58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31" y="3496121"/>
            <a:ext cx="351919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记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Np</a:t>
            </a:r>
            <a:r>
              <a:rPr lang="zh-CN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 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</a:rPr>
              <a:t>, 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=1,2,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A75FA6-943B-48A2-9B94-ED8E8B6C29CE}"/>
              </a:ext>
            </a:extLst>
          </p:cNvPr>
          <p:cNvSpPr/>
          <p:nvPr/>
        </p:nvSpPr>
        <p:spPr>
          <a:xfrm>
            <a:off x="683568" y="4206202"/>
            <a:ext cx="223490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400" b="1" dirty="0"/>
              <a:t>若</a:t>
            </a:r>
            <a:r>
              <a:rPr lang="en-US" altLang="zh-CN" sz="2400" b="1" dirty="0"/>
              <a:t>q</a:t>
            </a:r>
            <a:r>
              <a:rPr lang="en-US" altLang="zh-CN" sz="2400" b="1" baseline="-25000" dirty="0"/>
              <a:t>i</a:t>
            </a:r>
            <a:r>
              <a:rPr lang="zh-CN" altLang="en-US" sz="2400" b="1" dirty="0"/>
              <a:t>均为整数</a:t>
            </a:r>
          </a:p>
        </p:txBody>
      </p:sp>
      <p:sp>
        <p:nvSpPr>
          <p:cNvPr id="37" name="Text Box 8">
            <a:extLst>
              <a:ext uri="{FF2B5EF4-FFF2-40B4-BE49-F238E27FC236}">
                <a16:creationId xmlns:a16="http://schemas.microsoft.com/office/drawing/2014/main" id="{B2ECB904-2FBF-4856-A438-0F1B7A12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7335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分析：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zh-CN" sz="2400" b="1" dirty="0">
                <a:latin typeface="Times New Roman" panose="02020603050405020304" pitchFamily="18" charset="0"/>
              </a:rPr>
              <a:t>应是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和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的函数，即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=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 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 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 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15AFAA-D2A0-4F4B-88A7-BAE6FF48D148}"/>
              </a:ext>
            </a:extLst>
          </p:cNvPr>
          <p:cNvSpPr/>
          <p:nvPr/>
        </p:nvSpPr>
        <p:spPr>
          <a:xfrm>
            <a:off x="971600" y="4715967"/>
            <a:ext cx="3243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显然</a:t>
            </a:r>
            <a:r>
              <a:rPr lang="en-US" altLang="zh-CN" sz="2400" b="1" dirty="0" err="1"/>
              <a:t>n</a:t>
            </a:r>
            <a:r>
              <a:rPr lang="en-US" altLang="zh-CN" sz="2400" b="1" baseline="-25000" dirty="0" err="1"/>
              <a:t>i</a:t>
            </a:r>
            <a:r>
              <a:rPr lang="en-US" altLang="zh-CN" sz="2400" b="1" dirty="0"/>
              <a:t>=q</a:t>
            </a:r>
            <a:r>
              <a:rPr lang="en-US" altLang="zh-CN" sz="2400" b="1" baseline="-25000" dirty="0"/>
              <a:t>i</a:t>
            </a:r>
            <a:r>
              <a:rPr lang="zh-CN" altLang="en-US" sz="2400" b="1" dirty="0"/>
              <a:t>（理想情况）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145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2.1 </a:t>
            </a:r>
            <a:r>
              <a:rPr lang="zh-CN" altLang="en-US" sz="3600" dirty="0"/>
              <a:t>公平的席位分配</a:t>
            </a:r>
          </a:p>
        </p:txBody>
      </p:sp>
      <p:sp>
        <p:nvSpPr>
          <p:cNvPr id="42" name="Text Box 25">
            <a:extLst>
              <a:ext uri="{FF2B5EF4-FFF2-40B4-BE49-F238E27FC236}">
                <a16:creationId xmlns:a16="http://schemas.microsoft.com/office/drawing/2014/main" id="{5CEE5372-C1A6-4F97-973A-7912730A5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980728"/>
            <a:ext cx="609600" cy="206210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模型分析</a:t>
            </a:r>
            <a:endParaRPr lang="zh-CN" altLang="zh-CN" sz="32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CB71BF18-2C24-46FC-BF15-4139B3321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96" y="908720"/>
            <a:ext cx="472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、席位分配的理想化准则</a:t>
            </a:r>
            <a:r>
              <a:rPr lang="en-US" altLang="zh-CN" sz="2800" b="1" dirty="0">
                <a:latin typeface="Times New Roman" panose="02020603050405020304" pitchFamily="18" charset="0"/>
              </a:rPr>
              <a:t>?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2E38C10F-486B-41DC-974C-B3F67A960D37}"/>
              </a:ext>
            </a:extLst>
          </p:cNvPr>
          <p:cNvSpPr txBox="1">
            <a:spLocks/>
          </p:cNvSpPr>
          <p:nvPr/>
        </p:nvSpPr>
        <p:spPr>
          <a:xfrm>
            <a:off x="6876256" y="64408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15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A75FA6-943B-48A2-9B94-ED8E8B6C29CE}"/>
              </a:ext>
            </a:extLst>
          </p:cNvPr>
          <p:cNvSpPr/>
          <p:nvPr/>
        </p:nvSpPr>
        <p:spPr>
          <a:xfrm>
            <a:off x="683568" y="1599183"/>
            <a:ext cx="2629246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400" b="1" dirty="0"/>
              <a:t>若</a:t>
            </a:r>
            <a:r>
              <a:rPr lang="en-US" altLang="zh-CN" sz="2400" b="1" dirty="0"/>
              <a:t>q</a:t>
            </a:r>
            <a:r>
              <a:rPr lang="en-US" altLang="zh-CN" sz="2400" b="1" baseline="-25000" dirty="0"/>
              <a:t>i</a:t>
            </a:r>
            <a:r>
              <a:rPr lang="zh-CN" altLang="en-US" sz="2400" b="1" dirty="0"/>
              <a:t>不全为整数</a:t>
            </a:r>
          </a:p>
        </p:txBody>
      </p:sp>
      <p:sp>
        <p:nvSpPr>
          <p:cNvPr id="36" name="Text Box 3">
            <a:extLst>
              <a:ext uri="{FF2B5EF4-FFF2-40B4-BE49-F238E27FC236}">
                <a16:creationId xmlns:a16="http://schemas.microsoft.com/office/drawing/2014/main" id="{A159B534-1511-4641-90CD-79189039E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2192733"/>
            <a:ext cx="3672408" cy="79566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000" b="1" dirty="0">
                <a:latin typeface="Times New Roman" panose="02020603050405020304" pitchFamily="18" charset="0"/>
              </a:rPr>
              <a:t>[</a:t>
            </a:r>
            <a:r>
              <a:rPr lang="zh-CN" altLang="zh-CN" sz="20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zh-CN" sz="2000" b="1" baseline="-25000" dirty="0">
                <a:latin typeface="Times New Roman" panose="02020603050405020304" pitchFamily="18" charset="0"/>
              </a:rPr>
              <a:t>– </a:t>
            </a:r>
            <a:r>
              <a:rPr lang="zh-CN" altLang="zh-CN" sz="2000" b="1" dirty="0">
                <a:latin typeface="Times New Roman" panose="02020603050405020304" pitchFamily="18" charset="0"/>
              </a:rPr>
              <a:t>=floor(</a:t>
            </a:r>
            <a:r>
              <a:rPr lang="zh-CN" altLang="zh-CN" sz="20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</a:rPr>
              <a:t>) ~ 向 </a:t>
            </a:r>
            <a:r>
              <a:rPr lang="zh-CN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zh-CN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方向取整；      </a:t>
            </a:r>
            <a:endParaRPr lang="en-US" altLang="zh-CN" sz="20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zh-CN" sz="2000" b="1" dirty="0">
                <a:latin typeface="Times New Roman" panose="02020603050405020304" pitchFamily="18" charset="0"/>
              </a:rPr>
              <a:t>[</a:t>
            </a:r>
            <a:r>
              <a:rPr lang="zh-CN" altLang="zh-CN" sz="20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zh-CN" sz="2000" b="1" baseline="-25000" dirty="0">
                <a:latin typeface="Times New Roman" panose="02020603050405020304" pitchFamily="18" charset="0"/>
              </a:rPr>
              <a:t>+ </a:t>
            </a:r>
            <a:r>
              <a:rPr lang="zh-CN" altLang="zh-CN" sz="2000" b="1" dirty="0">
                <a:latin typeface="Times New Roman" panose="02020603050405020304" pitchFamily="18" charset="0"/>
              </a:rPr>
              <a:t>=ceil(</a:t>
            </a:r>
            <a:r>
              <a:rPr lang="zh-CN" altLang="zh-CN" sz="20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</a:rPr>
              <a:t>)  ~  向 </a:t>
            </a:r>
            <a:r>
              <a:rPr lang="zh-CN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zh-CN" altLang="zh-CN" sz="2000" b="1" dirty="0">
                <a:latin typeface="Times New Roman" panose="02020603050405020304" pitchFamily="18" charset="0"/>
              </a:rPr>
              <a:t> </a:t>
            </a:r>
            <a:r>
              <a:rPr lang="zh-CN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zh-CN" sz="20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方向取整.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DB5FC1F-5A6F-4E81-8243-8FB0474CF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20" y="3038475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1)  [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– 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zh-CN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zh-CN" altLang="zh-CN" sz="2400" b="1" dirty="0">
                <a:latin typeface="Times New Roman" panose="02020603050405020304" pitchFamily="18" charset="0"/>
              </a:rPr>
              <a:t>[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+  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=1,2,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),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353F7FA0-924A-40B2-AD55-2BBF1C0E8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304" y="4119463"/>
            <a:ext cx="845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2) 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 ) 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dirty="0">
                <a:latin typeface="Times New Roman" panose="02020603050405020304" pitchFamily="18" charset="0"/>
              </a:rPr>
              <a:t>+1,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) (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=1,2, … ,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FD2975D0-784C-4945-9193-8D82C757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489" y="3524235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即</a:t>
            </a:r>
            <a:r>
              <a:rPr lang="zh-CN" altLang="en-US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必取</a:t>
            </a:r>
            <a:r>
              <a:rPr lang="zh-CN" altLang="en-US" sz="2400" b="1" dirty="0">
                <a:latin typeface="Times New Roman" panose="02020603050405020304" pitchFamily="18" charset="0"/>
              </a:rPr>
              <a:t>[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– </a:t>
            </a:r>
            <a:r>
              <a:rPr lang="zh-CN" altLang="en-US" sz="2400" b="1" dirty="0">
                <a:latin typeface="Times New Roman" panose="02020603050405020304" pitchFamily="18" charset="0"/>
              </a:rPr>
              <a:t>, [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+ </a:t>
            </a:r>
            <a:r>
              <a:rPr lang="zh-CN" altLang="en-US" sz="2400" b="1" dirty="0">
                <a:latin typeface="Times New Roman" panose="02020603050405020304" pitchFamily="18" charset="0"/>
              </a:rPr>
              <a:t>之一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B3D548E7-1957-4A8C-A484-044DFAE8C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232" y="4695527"/>
            <a:ext cx="533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即当总席位增加时， 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zh-CN" sz="2400" b="1" dirty="0">
                <a:latin typeface="Times New Roman" panose="02020603050405020304" pitchFamily="18" charset="0"/>
              </a:rPr>
              <a:t>不应减少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74743E6B-2881-4985-867E-F556A8070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96" y="5189214"/>
            <a:ext cx="6951318" cy="46166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“惯例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1" charset="-122"/>
              </a:rPr>
              <a:t>分配法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”方法满足 1），但不满足 2）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9A1DE466-D634-46C4-B164-165C4D9F1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96" y="5658105"/>
            <a:ext cx="2968408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i="1" dirty="0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值方法满足 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2）</a:t>
            </a: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,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FB584277-23FA-4F54-8823-C6FB30DB5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8345" y="5652695"/>
            <a:ext cx="3979517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但不满足 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1）</a:t>
            </a: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。</a:t>
            </a:r>
            <a:r>
              <a:rPr lang="zh-CN" altLang="zh-CN" sz="2400" b="1" dirty="0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</a:rPr>
              <a:t>令人遗憾！</a:t>
            </a:r>
            <a:endParaRPr lang="zh-CN" altLang="zh-CN" sz="24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BB3277-5FFB-4DF8-89F9-47E50068C5DF}"/>
              </a:ext>
            </a:extLst>
          </p:cNvPr>
          <p:cNvSpPr/>
          <p:nvPr/>
        </p:nvSpPr>
        <p:spPr>
          <a:xfrm>
            <a:off x="615859" y="6301064"/>
            <a:ext cx="6276077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sz="2400" b="1" dirty="0"/>
              <a:t>请给出</a:t>
            </a:r>
            <a:r>
              <a:rPr lang="en-US" altLang="zh-CN" sz="2400" b="1" dirty="0"/>
              <a:t>Q</a:t>
            </a:r>
            <a:r>
              <a:rPr lang="zh-CN" altLang="en-US" sz="2400" b="1" dirty="0"/>
              <a:t>值分配法不满足条件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的实例</a:t>
            </a:r>
          </a:p>
        </p:txBody>
      </p:sp>
    </p:spTree>
    <p:extLst>
      <p:ext uri="{BB962C8B-B14F-4D97-AF65-F5344CB8AC3E}">
        <p14:creationId xmlns:p14="http://schemas.microsoft.com/office/powerpoint/2010/main" val="298614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nimBg="1" autoUpdateAnimBg="0"/>
      <p:bldP spid="20" grpId="0" animBg="1" autoUpdateAnimBg="0"/>
      <p:bldP spid="21" grpId="0" animBg="1" autoUpdateAnimBg="0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16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2.2 </a:t>
            </a:r>
            <a:r>
              <a:rPr lang="zh-CN" altLang="en-US" sz="3600" dirty="0"/>
              <a:t>双层玻璃窗的功效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F1BE3021-A6D4-4EA5-8065-924922A02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31" y="2564904"/>
            <a:ext cx="533400" cy="95410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问题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78EDCE3F-F3FD-4912-B3D9-9092D59A5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609021"/>
            <a:ext cx="77768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双层玻璃窗与同样多材料的单层玻璃窗相比，减少多少热量损失</a:t>
            </a:r>
            <a:r>
              <a:rPr lang="en-US" altLang="zh-CN" sz="2400" b="1" dirty="0">
                <a:latin typeface="Times New Roman" panose="02020603050405020304" pitchFamily="18" charset="0"/>
              </a:rPr>
              <a:t>?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48677DEA-A422-4169-A45C-57C4B1538CF5}"/>
              </a:ext>
            </a:extLst>
          </p:cNvPr>
          <p:cNvGrpSpPr>
            <a:grpSpLocks/>
          </p:cNvGrpSpPr>
          <p:nvPr/>
        </p:nvGrpSpPr>
        <p:grpSpPr bwMode="auto">
          <a:xfrm>
            <a:off x="5004048" y="980729"/>
            <a:ext cx="2339474" cy="1393766"/>
            <a:chOff x="0" y="192"/>
            <a:chExt cx="1584" cy="1152"/>
          </a:xfrm>
        </p:grpSpPr>
        <p:grpSp>
          <p:nvGrpSpPr>
            <p:cNvPr id="12" name="Group 4">
              <a:extLst>
                <a:ext uri="{FF2B5EF4-FFF2-40B4-BE49-F238E27FC236}">
                  <a16:creationId xmlns:a16="http://schemas.microsoft.com/office/drawing/2014/main" id="{78C66E02-A003-45B7-8C42-6A0B03CF3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40"/>
              <a:ext cx="1056" cy="1104"/>
              <a:chOff x="0" y="240"/>
              <a:chExt cx="1056" cy="1104"/>
            </a:xfrm>
          </p:grpSpPr>
          <p:sp>
            <p:nvSpPr>
              <p:cNvPr id="20" name="Line 5">
                <a:extLst>
                  <a:ext uri="{FF2B5EF4-FFF2-40B4-BE49-F238E27FC236}">
                    <a16:creationId xmlns:a16="http://schemas.microsoft.com/office/drawing/2014/main" id="{1A49FD97-9F84-45A5-A254-56D2699E5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40"/>
                <a:ext cx="105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8">
                <a:extLst>
                  <a:ext uri="{FF2B5EF4-FFF2-40B4-BE49-F238E27FC236}">
                    <a16:creationId xmlns:a16="http://schemas.microsoft.com/office/drawing/2014/main" id="{EA59A81A-3B76-4009-946E-38703A971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40"/>
                <a:ext cx="0" cy="1104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9">
                <a:extLst>
                  <a:ext uri="{FF2B5EF4-FFF2-40B4-BE49-F238E27FC236}">
                    <a16:creationId xmlns:a16="http://schemas.microsoft.com/office/drawing/2014/main" id="{E7E2C701-DF19-47C1-8F10-6386928BF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0"/>
                <a:ext cx="0" cy="1104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10">
                <a:extLst>
                  <a:ext uri="{FF2B5EF4-FFF2-40B4-BE49-F238E27FC236}">
                    <a16:creationId xmlns:a16="http://schemas.microsoft.com/office/drawing/2014/main" id="{03DE2570-75C5-47C0-B146-B51D1496F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344"/>
                <a:ext cx="105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4624195E-6245-41DF-B413-EB37DC59D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720"/>
              <a:ext cx="336" cy="28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zh-CN" sz="2400" b="1" i="1" dirty="0">
                  <a:latin typeface="Times New Roman" panose="02020603050405020304" pitchFamily="18" charset="0"/>
                </a:rPr>
                <a:t>d</a:t>
              </a:r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3B0D68F4-14B3-4C90-B207-61FBE927F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864"/>
              <a:ext cx="24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9104AFF-14D7-479C-A62B-4A590141F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864"/>
              <a:ext cx="192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5FF17D2A-CF4C-4B5A-BED2-FDE135094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2"/>
              <a:ext cx="336" cy="74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室内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8A07452F-6BC5-4A32-9F8C-6CB2917AB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92"/>
              <a:ext cx="336" cy="74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室外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548E5F-C2A3-4D03-9A41-2502D6979C56}"/>
              </a:ext>
            </a:extLst>
          </p:cNvPr>
          <p:cNvGrpSpPr/>
          <p:nvPr/>
        </p:nvGrpSpPr>
        <p:grpSpPr>
          <a:xfrm>
            <a:off x="1066845" y="945931"/>
            <a:ext cx="2641059" cy="1429238"/>
            <a:chOff x="179512" y="945934"/>
            <a:chExt cx="2743200" cy="1905000"/>
          </a:xfrm>
        </p:grpSpPr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2FBDF10C-6A0C-46D1-AF08-EF4521738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912" y="1098334"/>
              <a:ext cx="16764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3">
              <a:extLst>
                <a:ext uri="{FF2B5EF4-FFF2-40B4-BE49-F238E27FC236}">
                  <a16:creationId xmlns:a16="http://schemas.microsoft.com/office/drawing/2014/main" id="{DA42DD36-566E-4FF3-B197-BB8CF463C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5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4">
              <a:extLst>
                <a:ext uri="{FF2B5EF4-FFF2-40B4-BE49-F238E27FC236}">
                  <a16:creationId xmlns:a16="http://schemas.microsoft.com/office/drawing/2014/main" id="{FAF38639-82B5-4D19-9E4E-1181CEB10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7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5">
              <a:extLst>
                <a:ext uri="{FF2B5EF4-FFF2-40B4-BE49-F238E27FC236}">
                  <a16:creationId xmlns:a16="http://schemas.microsoft.com/office/drawing/2014/main" id="{7DBE6054-55AC-49E9-AAED-7971B2791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912" y="2850934"/>
              <a:ext cx="16764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8">
              <a:extLst>
                <a:ext uri="{FF2B5EF4-FFF2-40B4-BE49-F238E27FC236}">
                  <a16:creationId xmlns:a16="http://schemas.microsoft.com/office/drawing/2014/main" id="{363217ED-88CB-49AA-825E-C2765443C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1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9">
              <a:extLst>
                <a:ext uri="{FF2B5EF4-FFF2-40B4-BE49-F238E27FC236}">
                  <a16:creationId xmlns:a16="http://schemas.microsoft.com/office/drawing/2014/main" id="{3B85F44F-BCE4-48BC-9618-9AF4E753C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1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30">
              <a:extLst>
                <a:ext uri="{FF2B5EF4-FFF2-40B4-BE49-F238E27FC236}">
                  <a16:creationId xmlns:a16="http://schemas.microsoft.com/office/drawing/2014/main" id="{AD858BBC-6B3D-4288-A272-D6C918030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53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d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31">
              <a:extLst>
                <a:ext uri="{FF2B5EF4-FFF2-40B4-BE49-F238E27FC236}">
                  <a16:creationId xmlns:a16="http://schemas.microsoft.com/office/drawing/2014/main" id="{7FD78118-2186-45E6-A542-40A4CFA54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9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d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" name="Line 32">
              <a:extLst>
                <a:ext uri="{FF2B5EF4-FFF2-40B4-BE49-F238E27FC236}">
                  <a16:creationId xmlns:a16="http://schemas.microsoft.com/office/drawing/2014/main" id="{2E1CB1DF-1070-44E3-AC7F-EE830BC27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712" y="2088934"/>
              <a:ext cx="3048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33">
              <a:extLst>
                <a:ext uri="{FF2B5EF4-FFF2-40B4-BE49-F238E27FC236}">
                  <a16:creationId xmlns:a16="http://schemas.microsoft.com/office/drawing/2014/main" id="{8B8A5FCD-431F-4E04-8A8D-E7AC9B24D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312" y="2088934"/>
              <a:ext cx="3048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34">
              <a:extLst>
                <a:ext uri="{FF2B5EF4-FFF2-40B4-BE49-F238E27FC236}">
                  <a16:creationId xmlns:a16="http://schemas.microsoft.com/office/drawing/2014/main" id="{4E708CEA-4656-438E-B52E-A6360C5D4A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0112" y="2088934"/>
              <a:ext cx="2286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35">
              <a:extLst>
                <a:ext uri="{FF2B5EF4-FFF2-40B4-BE49-F238E27FC236}">
                  <a16:creationId xmlns:a16="http://schemas.microsoft.com/office/drawing/2014/main" id="{88F6236B-90F8-4383-B91C-48E4DAC28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712" y="2088934"/>
              <a:ext cx="2286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37">
              <a:extLst>
                <a:ext uri="{FF2B5EF4-FFF2-40B4-BE49-F238E27FC236}">
                  <a16:creationId xmlns:a16="http://schemas.microsoft.com/office/drawing/2014/main" id="{269B37A4-BC98-4305-B592-AB871594D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7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l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0" name="Text Box 38">
              <a:extLst>
                <a:ext uri="{FF2B5EF4-FFF2-40B4-BE49-F238E27FC236}">
                  <a16:creationId xmlns:a16="http://schemas.microsoft.com/office/drawing/2014/main" id="{C8DB4A1E-99B1-499C-9C5E-DB53E5F3C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945934"/>
              <a:ext cx="533400" cy="118745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室内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" name="Text Box 39">
              <a:extLst>
                <a:ext uri="{FF2B5EF4-FFF2-40B4-BE49-F238E27FC236}">
                  <a16:creationId xmlns:a16="http://schemas.microsoft.com/office/drawing/2014/main" id="{9341DF53-D83F-48C4-800E-B2332A420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312" y="945934"/>
              <a:ext cx="533400" cy="118745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室外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52" name="Text Box 43">
            <a:extLst>
              <a:ext uri="{FF2B5EF4-FFF2-40B4-BE49-F238E27FC236}">
                <a16:creationId xmlns:a16="http://schemas.microsoft.com/office/drawing/2014/main" id="{F935DA4F-03D6-4FEC-BD7C-52E88E535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658405"/>
            <a:ext cx="77768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</a:rPr>
              <a:t>热量传播只有传导，没有对流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400" b="1" dirty="0">
                <a:latin typeface="Times New Roman" panose="02020603050405020304" pitchFamily="18" charset="0"/>
              </a:rPr>
              <a:t>不变，热传导过程处于稳态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Times New Roman" panose="02020603050405020304" pitchFamily="18" charset="0"/>
              </a:rPr>
              <a:t>材料均匀，热传导系数为常数</a:t>
            </a:r>
          </a:p>
        </p:txBody>
      </p:sp>
      <p:sp>
        <p:nvSpPr>
          <p:cNvPr id="56" name="Text Box 42">
            <a:extLst>
              <a:ext uri="{FF2B5EF4-FFF2-40B4-BE49-F238E27FC236}">
                <a16:creationId xmlns:a16="http://schemas.microsoft.com/office/drawing/2014/main" id="{F7E691DB-C26D-4029-A731-1A48467C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68" y="3573016"/>
            <a:ext cx="533400" cy="95410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假设</a:t>
            </a:r>
          </a:p>
        </p:txBody>
      </p:sp>
      <p:sp>
        <p:nvSpPr>
          <p:cNvPr id="57" name="Text Box 46">
            <a:extLst>
              <a:ext uri="{FF2B5EF4-FFF2-40B4-BE49-F238E27FC236}">
                <a16:creationId xmlns:a16="http://schemas.microsoft.com/office/drawing/2014/main" id="{43093A44-846F-49B7-9F22-D7279362A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68" y="4735929"/>
            <a:ext cx="533400" cy="95410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>
                <a:latin typeface="Times New Roman" panose="02020603050405020304" pitchFamily="18" charset="0"/>
                <a:ea typeface="楷体_GB2312" pitchFamily="1" charset="-122"/>
              </a:rPr>
              <a:t>建模</a:t>
            </a:r>
          </a:p>
        </p:txBody>
      </p:sp>
      <p:sp>
        <p:nvSpPr>
          <p:cNvPr id="58" name="Text Box 47">
            <a:extLst>
              <a:ext uri="{FF2B5EF4-FFF2-40B4-BE49-F238E27FC236}">
                <a16:creationId xmlns:a16="http://schemas.microsoft.com/office/drawing/2014/main" id="{A778D2EC-01CC-42A0-8E75-24C35F99B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917" y="5812845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热传导定律</a:t>
            </a:r>
          </a:p>
        </p:txBody>
      </p:sp>
      <p:graphicFrame>
        <p:nvGraphicFramePr>
          <p:cNvPr id="59" name="Object 48">
            <a:extLst>
              <a:ext uri="{FF2B5EF4-FFF2-40B4-BE49-F238E27FC236}">
                <a16:creationId xmlns:a16="http://schemas.microsoft.com/office/drawing/2014/main" id="{F7CBBB97-BB69-46B6-AC95-35802B4AD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31156"/>
              </p:ext>
            </p:extLst>
          </p:nvPr>
        </p:nvGraphicFramePr>
        <p:xfrm>
          <a:off x="2770652" y="5648078"/>
          <a:ext cx="2161388" cy="8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2648" imgH="470421" progId="Equation.DSMT4">
                  <p:embed/>
                </p:oleObj>
              </mc:Choice>
              <mc:Fallback>
                <p:oleObj name="Equation" r:id="rId3" imgW="762648" imgH="470421" progId="Equation.DSMT4">
                  <p:embed/>
                  <p:pic>
                    <p:nvPicPr>
                      <p:cNvPr id="53296" name="Object 48">
                        <a:extLst>
                          <a:ext uri="{FF2B5EF4-FFF2-40B4-BE49-F238E27FC236}">
                            <a16:creationId xmlns:a16="http://schemas.microsoft.com/office/drawing/2014/main" id="{87F097D6-60C1-4559-BE71-B9311E1E2D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652" y="5648078"/>
                        <a:ext cx="2161388" cy="8200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55">
            <a:extLst>
              <a:ext uri="{FF2B5EF4-FFF2-40B4-BE49-F238E27FC236}">
                <a16:creationId xmlns:a16="http://schemas.microsoft.com/office/drawing/2014/main" id="{38851D89-412F-4F31-A02A-EA3891D62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725144"/>
            <a:ext cx="541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400" b="1" dirty="0">
                <a:latin typeface="Times New Roman" panose="02020603050405020304" pitchFamily="18" charset="0"/>
              </a:rPr>
              <a:t> ~单位时间单位面积传导的热量</a:t>
            </a:r>
          </a:p>
        </p:txBody>
      </p:sp>
      <p:sp>
        <p:nvSpPr>
          <p:cNvPr id="61" name="Text Box 56">
            <a:extLst>
              <a:ext uri="{FF2B5EF4-FFF2-40B4-BE49-F238E27FC236}">
                <a16:creationId xmlns:a16="http://schemas.microsoft.com/office/drawing/2014/main" id="{06D436B2-BF74-4C6A-BF34-B50AADCDA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5150607"/>
            <a:ext cx="594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~温差,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</a:rPr>
              <a:t>~材料厚度,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~热传导系数</a:t>
            </a:r>
          </a:p>
        </p:txBody>
      </p:sp>
    </p:spTree>
    <p:extLst>
      <p:ext uri="{BB962C8B-B14F-4D97-AF65-F5344CB8AC3E}">
        <p14:creationId xmlns:p14="http://schemas.microsoft.com/office/powerpoint/2010/main" val="13673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  <p:bldP spid="52" grpId="0" animBg="1" autoUpdateAnimBg="0"/>
      <p:bldP spid="56" grpId="0" animBg="1" autoUpdateAnimBg="0"/>
      <p:bldP spid="57" grpId="0" animBg="1" autoUpdateAnimBg="0"/>
      <p:bldP spid="58" grpId="0" animBg="1" autoUpdateAnimBg="0"/>
      <p:bldP spid="60" grpId="0" animBg="1" autoUpdateAnimBg="0"/>
      <p:bldP spid="6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17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2.2 </a:t>
            </a:r>
            <a:r>
              <a:rPr lang="zh-CN" altLang="en-US" sz="3600" dirty="0"/>
              <a:t>双层玻璃窗的功效</a:t>
            </a:r>
          </a:p>
        </p:txBody>
      </p:sp>
      <p:sp>
        <p:nvSpPr>
          <p:cNvPr id="83" name="Text Box 29">
            <a:extLst>
              <a:ext uri="{FF2B5EF4-FFF2-40B4-BE49-F238E27FC236}">
                <a16:creationId xmlns:a16="http://schemas.microsoft.com/office/drawing/2014/main" id="{29CCE61D-E409-4AAA-A715-DF48123A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25538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记双层玻璃窗传导的热量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400" b="1" baseline="-25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4" name="Text Box 30">
            <a:extLst>
              <a:ext uri="{FF2B5EF4-FFF2-40B4-BE49-F238E27FC236}">
                <a16:creationId xmlns:a16="http://schemas.microsoft.com/office/drawing/2014/main" id="{26FCF7DC-E4CB-422A-9E40-07B95C401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430" y="1668864"/>
            <a:ext cx="34696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zh-CN" sz="2400" b="1" dirty="0">
                <a:latin typeface="Times New Roman" panose="02020603050405020304" pitchFamily="18" charset="0"/>
              </a:rPr>
              <a:t>~内层玻璃的外侧温度</a:t>
            </a:r>
          </a:p>
        </p:txBody>
      </p:sp>
      <p:sp>
        <p:nvSpPr>
          <p:cNvPr id="85" name="Text Box 31">
            <a:extLst>
              <a:ext uri="{FF2B5EF4-FFF2-40B4-BE49-F238E27FC236}">
                <a16:creationId xmlns:a16="http://schemas.microsoft.com/office/drawing/2014/main" id="{FF4B424A-1D35-4BFE-AD64-15A462D4B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116" y="2090084"/>
            <a:ext cx="3598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zh-CN" sz="2400" b="1" i="1" baseline="-25000" dirty="0">
                <a:latin typeface="Times New Roman" panose="02020603050405020304" pitchFamily="18" charset="0"/>
              </a:rPr>
              <a:t>b</a:t>
            </a:r>
            <a:r>
              <a:rPr lang="zh-CN" altLang="zh-CN" sz="2400" b="1" dirty="0">
                <a:latin typeface="Times New Roman" panose="02020603050405020304" pitchFamily="18" charset="0"/>
              </a:rPr>
              <a:t>~外层玻璃的内侧温度</a:t>
            </a:r>
          </a:p>
        </p:txBody>
      </p:sp>
      <p:grpSp>
        <p:nvGrpSpPr>
          <p:cNvPr id="86" name="Group 32">
            <a:extLst>
              <a:ext uri="{FF2B5EF4-FFF2-40B4-BE49-F238E27FC236}">
                <a16:creationId xmlns:a16="http://schemas.microsoft.com/office/drawing/2014/main" id="{7A37FC55-4CC3-4C1F-AAB2-98F2E16A5D6D}"/>
              </a:ext>
            </a:extLst>
          </p:cNvPr>
          <p:cNvGrpSpPr>
            <a:grpSpLocks/>
          </p:cNvGrpSpPr>
          <p:nvPr/>
        </p:nvGrpSpPr>
        <p:grpSpPr bwMode="auto">
          <a:xfrm>
            <a:off x="1530350" y="2543175"/>
            <a:ext cx="3617914" cy="1589088"/>
            <a:chOff x="532" y="-250"/>
            <a:chExt cx="2279" cy="1001"/>
          </a:xfrm>
        </p:grpSpPr>
        <p:sp>
          <p:nvSpPr>
            <p:cNvPr id="87" name="Text Box 33">
              <a:extLst>
                <a:ext uri="{FF2B5EF4-FFF2-40B4-BE49-F238E27FC236}">
                  <a16:creationId xmlns:a16="http://schemas.microsoft.com/office/drawing/2014/main" id="{46D65C56-94CF-4083-BF80-6E4871DEA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" y="-250"/>
              <a:ext cx="22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 dirty="0">
                  <a:latin typeface="Times New Roman" panose="02020603050405020304" pitchFamily="18" charset="0"/>
                </a:rPr>
                <a:t>k</a:t>
              </a:r>
              <a:r>
                <a:rPr lang="zh-CN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zh-CN" sz="2400" b="1" dirty="0">
                  <a:latin typeface="Times New Roman" panose="02020603050405020304" pitchFamily="18" charset="0"/>
                </a:rPr>
                <a:t>~玻璃的热传导系数</a:t>
              </a:r>
            </a:p>
          </p:txBody>
        </p:sp>
        <p:sp>
          <p:nvSpPr>
            <p:cNvPr id="88" name="Text Box 34">
              <a:extLst>
                <a:ext uri="{FF2B5EF4-FFF2-40B4-BE49-F238E27FC236}">
                  <a16:creationId xmlns:a16="http://schemas.microsoft.com/office/drawing/2014/main" id="{288C5924-209B-476E-B2FB-5431D8CC6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" y="60"/>
              <a:ext cx="22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i="1" dirty="0">
                  <a:latin typeface="Times New Roman" panose="02020603050405020304" pitchFamily="18" charset="0"/>
                </a:rPr>
                <a:t>k</a:t>
              </a:r>
              <a:r>
                <a:rPr lang="zh-CN" altLang="en-US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~空气的热传导系数</a:t>
              </a:r>
            </a:p>
          </p:txBody>
        </p:sp>
        <p:graphicFrame>
          <p:nvGraphicFramePr>
            <p:cNvPr id="89" name="Object 35">
              <a:extLst>
                <a:ext uri="{FF2B5EF4-FFF2-40B4-BE49-F238E27FC236}">
                  <a16:creationId xmlns:a16="http://schemas.microsoft.com/office/drawing/2014/main" id="{9F5901B6-8478-470B-9072-4DCD074DF2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0" y="592"/>
            <a:ext cx="7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7372" imgH="254427" progId="Equation.3">
                    <p:embed/>
                  </p:oleObj>
                </mc:Choice>
                <mc:Fallback>
                  <p:oleObj r:id="rId3" imgW="127372" imgH="254427" progId="Equation.3">
                    <p:embed/>
                    <p:pic>
                      <p:nvPicPr>
                        <p:cNvPr id="54307" name="Object 35">
                          <a:extLst>
                            <a:ext uri="{FF2B5EF4-FFF2-40B4-BE49-F238E27FC236}">
                              <a16:creationId xmlns:a16="http://schemas.microsoft.com/office/drawing/2014/main" id="{3C1E2590-9895-4906-A85F-30C6D5D19EFD}"/>
                            </a:ext>
                          </a:extLst>
                        </p:cNvPr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0" y="592"/>
                          <a:ext cx="7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0" name="Object 36">
            <a:extLst>
              <a:ext uri="{FF2B5EF4-FFF2-40B4-BE49-F238E27FC236}">
                <a16:creationId xmlns:a16="http://schemas.microsoft.com/office/drawing/2014/main" id="{130C3FED-1290-431F-B857-A70101B59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776990"/>
              </p:ext>
            </p:extLst>
          </p:nvPr>
        </p:nvGraphicFramePr>
        <p:xfrm>
          <a:off x="1053941" y="3916305"/>
          <a:ext cx="6038340" cy="88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807017" imgH="470217" progId="Equation.3">
                  <p:embed/>
                </p:oleObj>
              </mc:Choice>
              <mc:Fallback>
                <p:oleObj r:id="rId5" imgW="2807017" imgH="470217" progId="Equation.3">
                  <p:embed/>
                  <p:pic>
                    <p:nvPicPr>
                      <p:cNvPr id="54308" name="Object 36">
                        <a:extLst>
                          <a:ext uri="{FF2B5EF4-FFF2-40B4-BE49-F238E27FC236}">
                            <a16:creationId xmlns:a16="http://schemas.microsoft.com/office/drawing/2014/main" id="{A98BFBFD-DBC4-4041-9451-47313512583F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941" y="3916305"/>
                        <a:ext cx="6038340" cy="889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" name="Group 37">
            <a:extLst>
              <a:ext uri="{FF2B5EF4-FFF2-40B4-BE49-F238E27FC236}">
                <a16:creationId xmlns:a16="http://schemas.microsoft.com/office/drawing/2014/main" id="{D5D2D072-CFA9-4E13-B952-128BD84D60E2}"/>
              </a:ext>
            </a:extLst>
          </p:cNvPr>
          <p:cNvGrpSpPr>
            <a:grpSpLocks/>
          </p:cNvGrpSpPr>
          <p:nvPr/>
        </p:nvGrpSpPr>
        <p:grpSpPr bwMode="auto">
          <a:xfrm>
            <a:off x="672940" y="5085184"/>
            <a:ext cx="7156092" cy="938973"/>
            <a:chOff x="0" y="0"/>
            <a:chExt cx="4800" cy="816"/>
          </a:xfrm>
        </p:grpSpPr>
        <p:graphicFrame>
          <p:nvGraphicFramePr>
            <p:cNvPr id="92" name="Object 38">
              <a:extLst>
                <a:ext uri="{FF2B5EF4-FFF2-40B4-BE49-F238E27FC236}">
                  <a16:creationId xmlns:a16="http://schemas.microsoft.com/office/drawing/2014/main" id="{4AE395B4-630F-436F-8AFD-EC5D4DBC9B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0"/>
            <a:ext cx="4224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526521" imgH="520791" progId="Equation.3">
                    <p:embed/>
                  </p:oleObj>
                </mc:Choice>
                <mc:Fallback>
                  <p:oleObj r:id="rId7" imgW="2526521" imgH="520791" progId="Equation.3">
                    <p:embed/>
                    <p:pic>
                      <p:nvPicPr>
                        <p:cNvPr id="54310" name="Object 38">
                          <a:extLst>
                            <a:ext uri="{FF2B5EF4-FFF2-40B4-BE49-F238E27FC236}">
                              <a16:creationId xmlns:a16="http://schemas.microsoft.com/office/drawing/2014/main" id="{FA0BF6D6-11A2-4BCA-BC43-695132FC68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0"/>
                          <a:ext cx="4224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AutoShape 39">
              <a:extLst>
                <a:ext uri="{FF2B5EF4-FFF2-40B4-BE49-F238E27FC236}">
                  <a16:creationId xmlns:a16="http://schemas.microsoft.com/office/drawing/2014/main" id="{0D666D4F-DD1A-4E30-97C9-21BC45157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0"/>
              <a:ext cx="336" cy="24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rgbClr val="FF99FF"/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4" name="Text Box 40">
            <a:extLst>
              <a:ext uri="{FF2B5EF4-FFF2-40B4-BE49-F238E27FC236}">
                <a16:creationId xmlns:a16="http://schemas.microsoft.com/office/drawing/2014/main" id="{F4952788-D0E3-47D3-818A-572844C0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49338"/>
            <a:ext cx="1095375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 dirty="0">
                <a:latin typeface="Times New Roman" panose="02020603050405020304" pitchFamily="18" charset="0"/>
                <a:ea typeface="楷体_GB2312" pitchFamily="1" charset="-122"/>
              </a:rPr>
              <a:t>建模</a:t>
            </a: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70F5512-7DF2-43D9-A1A3-F57CFED4604C}"/>
              </a:ext>
            </a:extLst>
          </p:cNvPr>
          <p:cNvGrpSpPr/>
          <p:nvPr/>
        </p:nvGrpSpPr>
        <p:grpSpPr>
          <a:xfrm>
            <a:off x="6109266" y="1073821"/>
            <a:ext cx="2641059" cy="1429238"/>
            <a:chOff x="179512" y="945934"/>
            <a:chExt cx="2743200" cy="1905000"/>
          </a:xfrm>
        </p:grpSpPr>
        <p:sp>
          <p:nvSpPr>
            <p:cNvPr id="96" name="Line 20">
              <a:extLst>
                <a:ext uri="{FF2B5EF4-FFF2-40B4-BE49-F238E27FC236}">
                  <a16:creationId xmlns:a16="http://schemas.microsoft.com/office/drawing/2014/main" id="{383551D9-1747-4213-98EE-F99AA6B9D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912" y="1098334"/>
              <a:ext cx="16764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23">
              <a:extLst>
                <a:ext uri="{FF2B5EF4-FFF2-40B4-BE49-F238E27FC236}">
                  <a16:creationId xmlns:a16="http://schemas.microsoft.com/office/drawing/2014/main" id="{02CD3D1B-B2FB-451C-AAEB-680C58913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5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4">
              <a:extLst>
                <a:ext uri="{FF2B5EF4-FFF2-40B4-BE49-F238E27FC236}">
                  <a16:creationId xmlns:a16="http://schemas.microsoft.com/office/drawing/2014/main" id="{9CB49C17-EA06-489F-AB21-B2C68C795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7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25">
              <a:extLst>
                <a:ext uri="{FF2B5EF4-FFF2-40B4-BE49-F238E27FC236}">
                  <a16:creationId xmlns:a16="http://schemas.microsoft.com/office/drawing/2014/main" id="{D815FBC3-AB0D-40DD-BABD-33F9F83CE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912" y="2850934"/>
              <a:ext cx="16764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28">
              <a:extLst>
                <a:ext uri="{FF2B5EF4-FFF2-40B4-BE49-F238E27FC236}">
                  <a16:creationId xmlns:a16="http://schemas.microsoft.com/office/drawing/2014/main" id="{B6DA74C5-58A9-42C0-8203-18C3464CA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1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29">
              <a:extLst>
                <a:ext uri="{FF2B5EF4-FFF2-40B4-BE49-F238E27FC236}">
                  <a16:creationId xmlns:a16="http://schemas.microsoft.com/office/drawing/2014/main" id="{24539D2D-0B40-4F67-9CC9-79DCACC3C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112" y="1098334"/>
              <a:ext cx="0" cy="175260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30">
              <a:extLst>
                <a:ext uri="{FF2B5EF4-FFF2-40B4-BE49-F238E27FC236}">
                  <a16:creationId xmlns:a16="http://schemas.microsoft.com/office/drawing/2014/main" id="{154A0043-1EB6-47D5-BBFD-559F729BC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53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d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03" name="Text Box 31">
              <a:extLst>
                <a:ext uri="{FF2B5EF4-FFF2-40B4-BE49-F238E27FC236}">
                  <a16:creationId xmlns:a16="http://schemas.microsoft.com/office/drawing/2014/main" id="{D13AA516-A283-401E-BC82-B2C233D73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9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d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04" name="Line 32">
              <a:extLst>
                <a:ext uri="{FF2B5EF4-FFF2-40B4-BE49-F238E27FC236}">
                  <a16:creationId xmlns:a16="http://schemas.microsoft.com/office/drawing/2014/main" id="{D7B5F445-6CA4-426C-A8AE-4B92386BA6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712" y="2088934"/>
              <a:ext cx="3048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33">
              <a:extLst>
                <a:ext uri="{FF2B5EF4-FFF2-40B4-BE49-F238E27FC236}">
                  <a16:creationId xmlns:a16="http://schemas.microsoft.com/office/drawing/2014/main" id="{18843F2F-7159-474E-B90E-CE799BA46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312" y="2088934"/>
              <a:ext cx="3048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34">
              <a:extLst>
                <a:ext uri="{FF2B5EF4-FFF2-40B4-BE49-F238E27FC236}">
                  <a16:creationId xmlns:a16="http://schemas.microsoft.com/office/drawing/2014/main" id="{93286B78-4AA8-4563-9236-617B7F738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0112" y="2088934"/>
              <a:ext cx="2286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35">
              <a:extLst>
                <a:ext uri="{FF2B5EF4-FFF2-40B4-BE49-F238E27FC236}">
                  <a16:creationId xmlns:a16="http://schemas.microsoft.com/office/drawing/2014/main" id="{BE98F781-85C0-4977-96FF-77C2EBD8B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712" y="2088934"/>
              <a:ext cx="22860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Text Box 37">
              <a:extLst>
                <a:ext uri="{FF2B5EF4-FFF2-40B4-BE49-F238E27FC236}">
                  <a16:creationId xmlns:a16="http://schemas.microsoft.com/office/drawing/2014/main" id="{8AE1880D-67DF-4DF4-AB6F-5F71E558C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8712" y="1860334"/>
              <a:ext cx="381000" cy="45720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i="1">
                  <a:latin typeface="Times New Roman" panose="02020603050405020304" pitchFamily="18" charset="0"/>
                </a:rPr>
                <a:t>l</a:t>
              </a:r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09" name="Text Box 38">
              <a:extLst>
                <a:ext uri="{FF2B5EF4-FFF2-40B4-BE49-F238E27FC236}">
                  <a16:creationId xmlns:a16="http://schemas.microsoft.com/office/drawing/2014/main" id="{0BCA43E1-2B1A-49B2-87E8-F0901F5E9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945934"/>
              <a:ext cx="533400" cy="118745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室内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0" name="Text Box 39">
              <a:extLst>
                <a:ext uri="{FF2B5EF4-FFF2-40B4-BE49-F238E27FC236}">
                  <a16:creationId xmlns:a16="http://schemas.microsoft.com/office/drawing/2014/main" id="{10B4365B-3E3B-4D99-A4A0-02AED723E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312" y="945934"/>
              <a:ext cx="533400" cy="1187450"/>
            </a:xfrm>
            <a:prstGeom prst="rect">
              <a:avLst/>
            </a:prstGeom>
            <a:solidFill>
              <a:srgbClr val="99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室外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61A361A-746E-4EAA-A14C-5ECB85298C3C}"/>
              </a:ext>
            </a:extLst>
          </p:cNvPr>
          <p:cNvSpPr/>
          <p:nvPr/>
        </p:nvSpPr>
        <p:spPr>
          <a:xfrm>
            <a:off x="7037281" y="1286353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D5ADCD-9836-41AA-B5A9-072993B03034}"/>
              </a:ext>
            </a:extLst>
          </p:cNvPr>
          <p:cNvSpPr/>
          <p:nvPr/>
        </p:nvSpPr>
        <p:spPr>
          <a:xfrm>
            <a:off x="7426358" y="1286353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02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utoUpdateAnimBg="0"/>
      <p:bldP spid="8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18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2.2 </a:t>
            </a:r>
            <a:r>
              <a:rPr lang="zh-CN" altLang="en-US" sz="3600" dirty="0"/>
              <a:t>双层玻璃窗的功效</a:t>
            </a:r>
          </a:p>
        </p:txBody>
      </p:sp>
      <p:sp>
        <p:nvSpPr>
          <p:cNvPr id="83" name="Text Box 29">
            <a:extLst>
              <a:ext uri="{FF2B5EF4-FFF2-40B4-BE49-F238E27FC236}">
                <a16:creationId xmlns:a16="http://schemas.microsoft.com/office/drawing/2014/main" id="{29CCE61D-E409-4AAA-A715-DF48123A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25538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记</a:t>
            </a:r>
            <a:r>
              <a:rPr lang="zh-CN" altLang="en-US" sz="2400" b="1" dirty="0">
                <a:latin typeface="Times New Roman" panose="02020603050405020304" pitchFamily="18" charset="0"/>
              </a:rPr>
              <a:t>单</a:t>
            </a:r>
            <a:r>
              <a:rPr lang="zh-CN" altLang="zh-CN" sz="2400" b="1" dirty="0">
                <a:latin typeface="Times New Roman" panose="02020603050405020304" pitchFamily="18" charset="0"/>
              </a:rPr>
              <a:t>层玻璃窗传导的热量</a:t>
            </a:r>
            <a:r>
              <a:rPr lang="zh-CN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2</a:t>
            </a:r>
            <a:endParaRPr lang="zh-CN" altLang="zh-CN" sz="24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94" name="Text Box 40">
            <a:extLst>
              <a:ext uri="{FF2B5EF4-FFF2-40B4-BE49-F238E27FC236}">
                <a16:creationId xmlns:a16="http://schemas.microsoft.com/office/drawing/2014/main" id="{F4952788-D0E3-47D3-818A-572844C0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49338"/>
            <a:ext cx="1095375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200" b="1">
                <a:latin typeface="Times New Roman" panose="02020603050405020304" pitchFamily="18" charset="0"/>
                <a:ea typeface="楷体_GB2312" pitchFamily="1" charset="-122"/>
              </a:rPr>
              <a:t>建模</a:t>
            </a:r>
          </a:p>
        </p:txBody>
      </p:sp>
      <p:graphicFrame>
        <p:nvGraphicFramePr>
          <p:cNvPr id="37" name="Object 3">
            <a:extLst>
              <a:ext uri="{FF2B5EF4-FFF2-40B4-BE49-F238E27FC236}">
                <a16:creationId xmlns:a16="http://schemas.microsoft.com/office/drawing/2014/main" id="{7FAA008F-552B-4D59-89A7-AFBAA6BC2F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529066"/>
              </p:ext>
            </p:extLst>
          </p:nvPr>
        </p:nvGraphicFramePr>
        <p:xfrm>
          <a:off x="1587325" y="1705667"/>
          <a:ext cx="2907960" cy="929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92991" imgH="470421" progId="Equation.3">
                  <p:embed/>
                </p:oleObj>
              </mc:Choice>
              <mc:Fallback>
                <p:oleObj r:id="rId3" imgW="1092991" imgH="470421" progId="Equation.3">
                  <p:embed/>
                  <p:pic>
                    <p:nvPicPr>
                      <p:cNvPr id="55299" name="Object 3">
                        <a:extLst>
                          <a:ext uri="{FF2B5EF4-FFF2-40B4-BE49-F238E27FC236}">
                            <a16:creationId xmlns:a16="http://schemas.microsoft.com/office/drawing/2014/main" id="{FABE02A0-A93B-4F83-9543-0C2C8200A879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325" y="1705667"/>
                        <a:ext cx="2907960" cy="929118"/>
                      </a:xfrm>
                      <a:prstGeom prst="rect">
                        <a:avLst/>
                      </a:prstGeom>
                      <a:noFill/>
                      <a:ln w="9525" cmpd="sng">
                        <a:solidFill>
                          <a:srgbClr val="3366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24">
            <a:extLst>
              <a:ext uri="{FF2B5EF4-FFF2-40B4-BE49-F238E27FC236}">
                <a16:creationId xmlns:a16="http://schemas.microsoft.com/office/drawing/2014/main" id="{86C8179D-DF68-4BE4-A09A-C52BC5FA0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86" y="2819141"/>
            <a:ext cx="5037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双层与单层窗传导的热量之比</a:t>
            </a:r>
            <a:r>
              <a:rPr lang="zh-CN" altLang="en-US" sz="2800" b="1" dirty="0">
                <a:latin typeface="Times New Roman" panose="02020603050405020304" pitchFamily="18" charset="0"/>
              </a:rPr>
              <a:t>：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9" name="Object 25">
            <a:extLst>
              <a:ext uri="{FF2B5EF4-FFF2-40B4-BE49-F238E27FC236}">
                <a16:creationId xmlns:a16="http://schemas.microsoft.com/office/drawing/2014/main" id="{1BCB35B6-F958-43B1-B555-8FE411F9C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208125"/>
              </p:ext>
            </p:extLst>
          </p:nvPr>
        </p:nvGraphicFramePr>
        <p:xfrm>
          <a:off x="684018" y="3429000"/>
          <a:ext cx="5112118" cy="1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145686" imgH="520791" progId="Equation.3">
                  <p:embed/>
                </p:oleObj>
              </mc:Choice>
              <mc:Fallback>
                <p:oleObj r:id="rId5" imgW="2145686" imgH="520791" progId="Equation.3">
                  <p:embed/>
                  <p:pic>
                    <p:nvPicPr>
                      <p:cNvPr id="55321" name="Object 25">
                        <a:extLst>
                          <a:ext uri="{FF2B5EF4-FFF2-40B4-BE49-F238E27FC236}">
                            <a16:creationId xmlns:a16="http://schemas.microsoft.com/office/drawing/2014/main" id="{24C2EE8B-DAB9-4052-8F79-2C77FDDACC47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18" y="3429000"/>
                        <a:ext cx="5112118" cy="1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6">
            <a:extLst>
              <a:ext uri="{FF2B5EF4-FFF2-40B4-BE49-F238E27FC236}">
                <a16:creationId xmlns:a16="http://schemas.microsoft.com/office/drawing/2014/main" id="{54E9E1BF-BF9A-490C-9EEE-2C3588246D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613638"/>
              </p:ext>
            </p:extLst>
          </p:nvPr>
        </p:nvGraphicFramePr>
        <p:xfrm>
          <a:off x="6444208" y="3402803"/>
          <a:ext cx="1800200" cy="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84517" imgH="254317" progId="Equation.3">
                  <p:embed/>
                </p:oleObj>
              </mc:Choice>
              <mc:Fallback>
                <p:oleObj r:id="rId7" imgW="584517" imgH="254317" progId="Equation.3">
                  <p:embed/>
                  <p:pic>
                    <p:nvPicPr>
                      <p:cNvPr id="55322" name="Object 26">
                        <a:extLst>
                          <a:ext uri="{FF2B5EF4-FFF2-40B4-BE49-F238E27FC236}">
                            <a16:creationId xmlns:a16="http://schemas.microsoft.com/office/drawing/2014/main" id="{FD765361-6F0B-4494-B675-432CEA48A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3402803"/>
                        <a:ext cx="1800200" cy="70827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3">
            <a:extLst>
              <a:ext uri="{FF2B5EF4-FFF2-40B4-BE49-F238E27FC236}">
                <a16:creationId xmlns:a16="http://schemas.microsoft.com/office/drawing/2014/main" id="{A01AD352-2440-4480-8F27-E90E4F7FDB57}"/>
              </a:ext>
            </a:extLst>
          </p:cNvPr>
          <p:cNvGrpSpPr>
            <a:grpSpLocks/>
          </p:cNvGrpSpPr>
          <p:nvPr/>
        </p:nvGrpSpPr>
        <p:grpSpPr bwMode="auto">
          <a:xfrm>
            <a:off x="5940152" y="1125538"/>
            <a:ext cx="2339474" cy="1393766"/>
            <a:chOff x="0" y="192"/>
            <a:chExt cx="1584" cy="1152"/>
          </a:xfrm>
        </p:grpSpPr>
        <p:grpSp>
          <p:nvGrpSpPr>
            <p:cNvPr id="42" name="Group 4">
              <a:extLst>
                <a:ext uri="{FF2B5EF4-FFF2-40B4-BE49-F238E27FC236}">
                  <a16:creationId xmlns:a16="http://schemas.microsoft.com/office/drawing/2014/main" id="{EB1F56CC-5B8A-4EBD-8917-6CD874C9B1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40"/>
              <a:ext cx="1056" cy="1104"/>
              <a:chOff x="0" y="240"/>
              <a:chExt cx="1056" cy="1104"/>
            </a:xfrm>
          </p:grpSpPr>
          <p:sp>
            <p:nvSpPr>
              <p:cNvPr id="48" name="Line 5">
                <a:extLst>
                  <a:ext uri="{FF2B5EF4-FFF2-40B4-BE49-F238E27FC236}">
                    <a16:creationId xmlns:a16="http://schemas.microsoft.com/office/drawing/2014/main" id="{683DBC8F-0CA6-4013-8FA9-4B7A1A890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40"/>
                <a:ext cx="105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8">
                <a:extLst>
                  <a:ext uri="{FF2B5EF4-FFF2-40B4-BE49-F238E27FC236}">
                    <a16:creationId xmlns:a16="http://schemas.microsoft.com/office/drawing/2014/main" id="{0F595B58-10BC-410B-9DD4-657C34DCB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240"/>
                <a:ext cx="0" cy="1104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9">
                <a:extLst>
                  <a:ext uri="{FF2B5EF4-FFF2-40B4-BE49-F238E27FC236}">
                    <a16:creationId xmlns:a16="http://schemas.microsoft.com/office/drawing/2014/main" id="{ACB8F43C-45C8-478D-BA5A-FDDE3599E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0"/>
                <a:ext cx="0" cy="1104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10">
                <a:extLst>
                  <a:ext uri="{FF2B5EF4-FFF2-40B4-BE49-F238E27FC236}">
                    <a16:creationId xmlns:a16="http://schemas.microsoft.com/office/drawing/2014/main" id="{4C953215-A6A3-49A2-9536-6B3A78A4C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344"/>
                <a:ext cx="1056" cy="0"/>
              </a:xfrm>
              <a:prstGeom prst="line">
                <a:avLst/>
              </a:pr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" name="Text Box 13">
              <a:extLst>
                <a:ext uri="{FF2B5EF4-FFF2-40B4-BE49-F238E27FC236}">
                  <a16:creationId xmlns:a16="http://schemas.microsoft.com/office/drawing/2014/main" id="{71E9DBD1-7457-4A0F-A92E-DE36FB992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720"/>
              <a:ext cx="336" cy="28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zh-CN" sz="2400" b="1" i="1" dirty="0">
                  <a:latin typeface="Times New Roman" panose="02020603050405020304" pitchFamily="18" charset="0"/>
                </a:rPr>
                <a:t>d</a:t>
              </a:r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956B000A-9ADC-43EF-95EF-591BA3C1F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864"/>
              <a:ext cx="240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0FD0267A-836B-470B-A6C8-2E80D2901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864"/>
              <a:ext cx="192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17">
              <a:extLst>
                <a:ext uri="{FF2B5EF4-FFF2-40B4-BE49-F238E27FC236}">
                  <a16:creationId xmlns:a16="http://schemas.microsoft.com/office/drawing/2014/main" id="{8EB22D42-5263-48C0-96E3-4A9CAAA23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2"/>
              <a:ext cx="336" cy="74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室内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" name="Text Box 18">
              <a:extLst>
                <a:ext uri="{FF2B5EF4-FFF2-40B4-BE49-F238E27FC236}">
                  <a16:creationId xmlns:a16="http://schemas.microsoft.com/office/drawing/2014/main" id="{3E4F8306-76EB-4A29-BF52-FABF3BF7D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92"/>
              <a:ext cx="336" cy="74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>
                  <a:latin typeface="Times New Roman" panose="02020603050405020304" pitchFamily="18" charset="0"/>
                </a:rPr>
                <a:t>室外  </a:t>
              </a:r>
              <a:r>
                <a:rPr lang="zh-CN" altLang="zh-CN" sz="2400" b="1" i="1">
                  <a:latin typeface="Times New Roman" panose="02020603050405020304" pitchFamily="18" charset="0"/>
                </a:rPr>
                <a:t>T</a:t>
              </a:r>
              <a:r>
                <a:rPr lang="zh-CN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52" name="Text Box 27">
            <a:extLst>
              <a:ext uri="{FF2B5EF4-FFF2-40B4-BE49-F238E27FC236}">
                <a16:creationId xmlns:a16="http://schemas.microsoft.com/office/drawing/2014/main" id="{9B6BC8D7-CC0D-4B45-AFBD-A20850820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10" y="4660938"/>
            <a:ext cx="7283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</a:rPr>
              <a:t>=4</a:t>
            </a:r>
            <a:r>
              <a:rPr lang="zh-CN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lang="zh-CN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-3 </a:t>
            </a:r>
            <a:r>
              <a:rPr lang="zh-CN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~8 10</a:t>
            </a:r>
            <a:r>
              <a:rPr lang="zh-CN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-3</a:t>
            </a:r>
            <a:r>
              <a:rPr lang="zh-CN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</a:rPr>
              <a:t>=2.5</a:t>
            </a:r>
            <a:r>
              <a:rPr lang="zh-CN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lang="zh-CN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-4</a:t>
            </a:r>
            <a:r>
              <a:rPr lang="zh-CN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</a:rPr>
              <a:t>/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</a:rPr>
              <a:t>=16 ~32</a:t>
            </a:r>
          </a:p>
        </p:txBody>
      </p:sp>
      <p:sp>
        <p:nvSpPr>
          <p:cNvPr id="54" name="Text Box 29">
            <a:extLst>
              <a:ext uri="{FF2B5EF4-FFF2-40B4-BE49-F238E27FC236}">
                <a16:creationId xmlns:a16="http://schemas.microsoft.com/office/drawing/2014/main" id="{08C14025-99A5-4632-A125-A074A56C0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53" y="5147836"/>
            <a:ext cx="2324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取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</a:rPr>
              <a:t>/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k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2 </a:t>
            </a:r>
            <a:r>
              <a:rPr lang="zh-CN" altLang="zh-CN" sz="2800" b="1" dirty="0">
                <a:latin typeface="Times New Roman" panose="02020603050405020304" pitchFamily="18" charset="0"/>
              </a:rPr>
              <a:t>=16</a:t>
            </a:r>
          </a:p>
        </p:txBody>
      </p:sp>
      <p:grpSp>
        <p:nvGrpSpPr>
          <p:cNvPr id="55" name="Group 30">
            <a:extLst>
              <a:ext uri="{FF2B5EF4-FFF2-40B4-BE49-F238E27FC236}">
                <a16:creationId xmlns:a16="http://schemas.microsoft.com/office/drawing/2014/main" id="{840704C7-97FD-41D7-B4E3-C157CDE6492B}"/>
              </a:ext>
            </a:extLst>
          </p:cNvPr>
          <p:cNvGrpSpPr>
            <a:grpSpLocks/>
          </p:cNvGrpSpPr>
          <p:nvPr/>
        </p:nvGrpSpPr>
        <p:grpSpPr bwMode="auto">
          <a:xfrm>
            <a:off x="2131219" y="5359074"/>
            <a:ext cx="4305185" cy="878238"/>
            <a:chOff x="0" y="0"/>
            <a:chExt cx="3024" cy="768"/>
          </a:xfrm>
        </p:grpSpPr>
        <p:graphicFrame>
          <p:nvGraphicFramePr>
            <p:cNvPr id="56" name="Object 31">
              <a:extLst>
                <a:ext uri="{FF2B5EF4-FFF2-40B4-BE49-F238E27FC236}">
                  <a16:creationId xmlns:a16="http://schemas.microsoft.com/office/drawing/2014/main" id="{32A69F11-C2B7-41E5-9B6B-6E76AA3956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" y="0"/>
            <a:ext cx="2568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485572" imgH="520791" progId="Equation.3">
                    <p:embed/>
                  </p:oleObj>
                </mc:Choice>
                <mc:Fallback>
                  <p:oleObj r:id="rId9" imgW="1485572" imgH="520791" progId="Equation.3">
                    <p:embed/>
                    <p:pic>
                      <p:nvPicPr>
                        <p:cNvPr id="55327" name="Object 31">
                          <a:extLst>
                            <a:ext uri="{FF2B5EF4-FFF2-40B4-BE49-F238E27FC236}">
                              <a16:creationId xmlns:a16="http://schemas.microsoft.com/office/drawing/2014/main" id="{2066DECE-33C9-4349-AF03-6B12FA4C75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" y="0"/>
                          <a:ext cx="2568" cy="768"/>
                        </a:xfrm>
                        <a:prstGeom prst="rect">
                          <a:avLst/>
                        </a:prstGeom>
                        <a:solidFill>
                          <a:srgbClr val="FFCC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AutoShape 32">
              <a:extLst>
                <a:ext uri="{FF2B5EF4-FFF2-40B4-BE49-F238E27FC236}">
                  <a16:creationId xmlns:a16="http://schemas.microsoft.com/office/drawing/2014/main" id="{D13470E4-75EC-4077-BE55-EECF4D6EA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288" cy="240"/>
            </a:xfrm>
            <a:prstGeom prst="rightArrow">
              <a:avLst>
                <a:gd name="adj1" fmla="val 50000"/>
                <a:gd name="adj2" fmla="val 30000"/>
              </a:avLst>
            </a:prstGeom>
            <a:solidFill>
              <a:srgbClr val="FFCC66"/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191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52" grpId="0" autoUpdateAnimBg="0"/>
      <p:bldP spid="5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19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2.2 </a:t>
            </a:r>
            <a:r>
              <a:rPr lang="zh-CN" altLang="en-US" sz="3600" dirty="0"/>
              <a:t>双层玻璃窗的功效</a:t>
            </a:r>
          </a:p>
        </p:txBody>
      </p:sp>
      <p:sp>
        <p:nvSpPr>
          <p:cNvPr id="28" name="Text Box 21">
            <a:extLst>
              <a:ext uri="{FF2B5EF4-FFF2-40B4-BE49-F238E27FC236}">
                <a16:creationId xmlns:a16="http://schemas.microsoft.com/office/drawing/2014/main" id="{45F948F3-D8A7-4751-9907-0F5C47DB0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80728"/>
            <a:ext cx="1655539" cy="52322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模型应用</a:t>
            </a: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4B970EE2-A61E-45F7-B619-91548248E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取 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h</a:t>
            </a:r>
            <a:r>
              <a:rPr lang="zh-CN" altLang="zh-CN" sz="2800" b="1" dirty="0">
                <a:latin typeface="Times New Roman" panose="02020603050405020304" pitchFamily="18" charset="0"/>
              </a:rPr>
              <a:t>=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l/d</a:t>
            </a:r>
            <a:r>
              <a:rPr lang="zh-CN" altLang="zh-CN" sz="2800" b="1" dirty="0">
                <a:latin typeface="Times New Roman" panose="02020603050405020304" pitchFamily="18" charset="0"/>
              </a:rPr>
              <a:t>=4,  则 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b="1" dirty="0">
                <a:latin typeface="Times New Roman" panose="02020603050405020304" pitchFamily="18" charset="0"/>
              </a:rPr>
              <a:t>/</a:t>
            </a:r>
            <a:r>
              <a:rPr lang="zh-CN" altLang="zh-CN" sz="2800" b="1" i="1" dirty="0">
                <a:latin typeface="Times New Roman" panose="02020603050405020304" pitchFamily="18" charset="0"/>
              </a:rPr>
              <a:t>Q</a:t>
            </a:r>
            <a:r>
              <a:rPr lang="zh-CN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zh-CN" sz="2800" b="1" dirty="0">
                <a:latin typeface="Times New Roman" panose="02020603050405020304" pitchFamily="18" charset="0"/>
              </a:rPr>
              <a:t>=0.03</a:t>
            </a:r>
          </a:p>
        </p:txBody>
      </p:sp>
      <p:sp>
        <p:nvSpPr>
          <p:cNvPr id="30" name="Text Box 23">
            <a:extLst>
              <a:ext uri="{FF2B5EF4-FFF2-40B4-BE49-F238E27FC236}">
                <a16:creationId xmlns:a16="http://schemas.microsoft.com/office/drawing/2014/main" id="{AFAE0641-7AD4-4BF1-BF15-23F7CEA69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93950"/>
            <a:ext cx="8215064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</a:rPr>
              <a:t>即双层玻璃窗与同样多材料的单层玻璃窗相比，可减少97%的热量损失。</a:t>
            </a:r>
          </a:p>
        </p:txBody>
      </p:sp>
      <p:sp>
        <p:nvSpPr>
          <p:cNvPr id="31" name="Text Box 24">
            <a:extLst>
              <a:ext uri="{FF2B5EF4-FFF2-40B4-BE49-F238E27FC236}">
                <a16:creationId xmlns:a16="http://schemas.microsoft.com/office/drawing/2014/main" id="{D54548B0-F430-4F70-AA56-479B58631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192" y="3797423"/>
            <a:ext cx="1771576" cy="52322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imes New Roman" panose="02020603050405020304" pitchFamily="18" charset="0"/>
                <a:ea typeface="楷体_GB2312" pitchFamily="1" charset="-122"/>
              </a:rPr>
              <a:t>结果分析</a:t>
            </a:r>
          </a:p>
        </p:txBody>
      </p:sp>
      <p:sp>
        <p:nvSpPr>
          <p:cNvPr id="32" name="Text Box 25">
            <a:extLst>
              <a:ext uri="{FF2B5EF4-FFF2-40B4-BE49-F238E27FC236}">
                <a16:creationId xmlns:a16="http://schemas.microsoft.com/office/drawing/2014/main" id="{A81000B1-8B8A-47F4-A3B1-1F130D40F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474261"/>
            <a:ext cx="7696200" cy="941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zh-CN" sz="2400" b="1" i="1" dirty="0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zh-CN" altLang="zh-CN" sz="2400" b="1" baseline="-250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  <a:ea typeface="楷体_GB2312" pitchFamily="1" charset="-122"/>
              </a:rPr>
              <a:t>/</a:t>
            </a:r>
            <a:r>
              <a:rPr lang="zh-CN" altLang="zh-CN" sz="2400" b="1" i="1" dirty="0">
                <a:latin typeface="Times New Roman" panose="02020603050405020304" pitchFamily="18" charset="0"/>
                <a:ea typeface="楷体_GB2312" pitchFamily="1" charset="-122"/>
              </a:rPr>
              <a:t>Q</a:t>
            </a:r>
            <a:r>
              <a:rPr lang="zh-CN" altLang="zh-CN" sz="2400" b="1" baseline="-25000" dirty="0">
                <a:latin typeface="Times New Roman" panose="02020603050405020304" pitchFamily="18" charset="0"/>
                <a:ea typeface="楷体_GB2312" pitchFamily="1" charset="-122"/>
              </a:rPr>
              <a:t>2</a:t>
            </a: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所以如此小，是由于层间空气极低的热传导系数 </a:t>
            </a:r>
            <a:r>
              <a:rPr lang="zh-CN" altLang="zh-CN" sz="2400" b="1" i="1" dirty="0">
                <a:latin typeface="Times New Roman" panose="02020603050405020304" pitchFamily="18" charset="0"/>
                <a:ea typeface="楷体_GB2312" pitchFamily="1" charset="-122"/>
              </a:rPr>
              <a:t>k</a:t>
            </a:r>
            <a:r>
              <a:rPr lang="zh-CN" altLang="zh-CN" sz="2400" b="1" baseline="-25000" dirty="0"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zh-CN" sz="2400" b="1" dirty="0">
                <a:latin typeface="楷体_GB2312" pitchFamily="1" charset="-122"/>
                <a:ea typeface="楷体_GB2312" pitchFamily="1" charset="-122"/>
              </a:rPr>
              <a:t>, 而这要求空气非常干燥、不流通。</a:t>
            </a:r>
            <a:endParaRPr lang="zh-CN" altLang="zh-CN" sz="2400" b="1" baseline="-250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34" name="Object 27">
            <a:extLst>
              <a:ext uri="{FF2B5EF4-FFF2-40B4-BE49-F238E27FC236}">
                <a16:creationId xmlns:a16="http://schemas.microsoft.com/office/drawing/2014/main" id="{873EF09D-1ED2-46F8-876D-02ADE426A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838200"/>
          <a:ext cx="32766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85572" imgH="520791" progId="Equation.3">
                  <p:embed/>
                </p:oleObj>
              </mc:Choice>
              <mc:Fallback>
                <p:oleObj r:id="rId3" imgW="1485572" imgH="520791" progId="Equation.3">
                  <p:embed/>
                  <p:pic>
                    <p:nvPicPr>
                      <p:cNvPr id="56347" name="Object 27">
                        <a:extLst>
                          <a:ext uri="{FF2B5EF4-FFF2-40B4-BE49-F238E27FC236}">
                            <a16:creationId xmlns:a16="http://schemas.microsoft.com/office/drawing/2014/main" id="{67B5E2BA-C60E-4B73-B0FE-275211ED684A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838200"/>
                        <a:ext cx="327660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8">
            <a:extLst>
              <a:ext uri="{FF2B5EF4-FFF2-40B4-BE49-F238E27FC236}">
                <a16:creationId xmlns:a16="http://schemas.microsoft.com/office/drawing/2014/main" id="{EC4DFAAE-51AF-40EC-8C74-4D32A0D4E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617369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双层窗的功效不会如此之大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4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utoUpdateAnimBg="0"/>
      <p:bldP spid="30" grpId="0" animBg="1" autoUpdateAnimBg="0"/>
      <p:bldP spid="31" grpId="0" animBg="1" autoUpdateAnimBg="0"/>
      <p:bldP spid="32" grpId="0" animBg="1" autoUpdateAnimBg="0"/>
      <p:bldP spid="3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20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A05A8CCA-E376-4B1D-A86A-50FF350A2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80728"/>
            <a:ext cx="936104" cy="52322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背景</a:t>
            </a:r>
            <a:endParaRPr lang="zh-CN" altLang="zh-CN" sz="2800" b="1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4FE0BF37-8D83-4DF4-8778-DC6DAB90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68170"/>
            <a:ext cx="68407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冷战时期，保证在遭到突然袭击后仍能有足够的导弹幸存下来，以便给进攻者以“致命打击”</a:t>
            </a:r>
            <a:r>
              <a:rPr lang="zh-CN" altLang="zh-CN" sz="24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58B0E8-6450-4B22-BD5B-A9D0CC36A6B8}"/>
              </a:ext>
            </a:extLst>
          </p:cNvPr>
          <p:cNvSpPr/>
          <p:nvPr/>
        </p:nvSpPr>
        <p:spPr>
          <a:xfrm>
            <a:off x="1331640" y="1628800"/>
            <a:ext cx="3924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）增加导弹数量、当量、准确性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BFB0F0-D434-422C-B847-DA97D518013A}"/>
              </a:ext>
            </a:extLst>
          </p:cNvPr>
          <p:cNvSpPr/>
          <p:nvPr/>
        </p:nvSpPr>
        <p:spPr>
          <a:xfrm>
            <a:off x="1331641" y="1949392"/>
            <a:ext cx="2624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）反导弹，加固导弹库</a:t>
            </a:r>
            <a:endParaRPr lang="zh-CN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4758A40B-9D2D-41A6-9BA5-B65C3A912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12976"/>
            <a:ext cx="936104" cy="52322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1" charset="-122"/>
              </a:rPr>
              <a:t>问题</a:t>
            </a:r>
            <a:endParaRPr lang="zh-CN" altLang="zh-CN" sz="2800" b="1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325C7F09-A9CD-4DA8-974A-0CDBC1B7E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620" y="3157586"/>
            <a:ext cx="68407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核军备竞赛中，双方的核武器是否会无限增长？是否存在暂时平衡状态？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353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21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171262-2F39-4BA7-A6F4-6E600E125098}"/>
              </a:ext>
            </a:extLst>
          </p:cNvPr>
          <p:cNvSpPr/>
          <p:nvPr/>
        </p:nvSpPr>
        <p:spPr>
          <a:xfrm>
            <a:off x="971600" y="980728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假定双方采取如下的</a:t>
            </a:r>
            <a:r>
              <a:rPr lang="zh-CN" altLang="en-US" sz="2400" b="1" dirty="0">
                <a:solidFill>
                  <a:srgbClr val="FF0000"/>
                </a:solidFill>
              </a:rPr>
              <a:t>核威慑策略</a:t>
            </a:r>
            <a:r>
              <a:rPr lang="zh-CN" altLang="en-US" sz="2400" b="1" dirty="0"/>
              <a:t>（以双方的核导弹数量为对象，描述双方核军备的大小）：</a:t>
            </a:r>
            <a:endParaRPr lang="en-US" altLang="zh-CN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CAE901-078B-B0FB-5CFA-00DAB907E433}"/>
              </a:ext>
            </a:extLst>
          </p:cNvPr>
          <p:cNvSpPr txBox="1"/>
          <p:nvPr/>
        </p:nvSpPr>
        <p:spPr>
          <a:xfrm>
            <a:off x="228021" y="890385"/>
            <a:ext cx="513927" cy="181588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800" b="1">
                <a:latin typeface="Times New Roman" panose="02020603050405020304" pitchFamily="18" charset="0"/>
                <a:ea typeface="楷体_GB2312" pitchFamily="1" charset="-122"/>
              </a:defRPr>
            </a:lvl1pPr>
          </a:lstStyle>
          <a:p>
            <a:r>
              <a:rPr lang="zh-CN" altLang="en-US" dirty="0"/>
              <a:t>模型假设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45F26674-4EFD-FFB7-58A0-4A219F93A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806967"/>
            <a:ext cx="7239000" cy="76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认为对方可能发起所谓第一次核打击，即倾其全部核导弹攻击己方的核导弹基地；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422DC78-C63D-C153-FB3A-D31DAB32E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2660263"/>
            <a:ext cx="7239000" cy="76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乙方在经受第一次核打击后，应还保留足够的核导弹，给对方重要目标以毁灭性的打击。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46EB62A-C476-5761-21E5-3DE4FB540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449" y="3524359"/>
            <a:ext cx="7242175" cy="76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在任一方实施第一次核打击时，假定一枚核导弹只能攻击对方的一个核导弹基地。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34CC5056-276A-B4FB-02C7-72630BAD8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449" y="4420526"/>
            <a:ext cx="7162800" cy="76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zh-CN" altLang="en-US" sz="2000" b="1" dirty="0">
                <a:latin typeface="Times New Roman" panose="02020603050405020304" pitchFamily="18" charset="0"/>
              </a:rPr>
              <a:t>摧毁这个基地的可能性是常数，它由一方的攻击精度和另一方的防御能力决定。</a:t>
            </a:r>
          </a:p>
        </p:txBody>
      </p:sp>
    </p:spTree>
    <p:extLst>
      <p:ext uri="{BB962C8B-B14F-4D97-AF65-F5344CB8AC3E}">
        <p14:creationId xmlns:p14="http://schemas.microsoft.com/office/powerpoint/2010/main" val="3094417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876256" y="6440877"/>
            <a:ext cx="2133600" cy="365125"/>
          </a:xfrm>
        </p:spPr>
        <p:txBody>
          <a:bodyPr/>
          <a:lstStyle/>
          <a:p>
            <a:fld id="{88D60F12-1E5B-40F6-9D01-FEBE5AD2EA0A}" type="slidenum">
              <a:rPr lang="zh-CN" altLang="en-US" b="1" smtClean="0">
                <a:solidFill>
                  <a:srgbClr val="FF0000"/>
                </a:solidFill>
              </a:rPr>
              <a:pPr/>
              <a:t>22</a:t>
            </a:fld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9FA404C9-1583-49CE-B39A-FCF5589C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19" name="Text Box 5">
            <a:extLst>
              <a:ext uri="{FF2B5EF4-FFF2-40B4-BE49-F238E27FC236}">
                <a16:creationId xmlns:a16="http://schemas.microsoft.com/office/drawing/2014/main" id="{84C14AE6-7EB2-4E03-A6FD-13B20CC91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4FE0BF37-8D83-4DF4-8778-DC6DAB90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829" y="1185910"/>
            <a:ext cx="81041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设：甲方核武数 </a:t>
            </a:r>
            <a:r>
              <a:rPr lang="en-US" altLang="zh-CN" sz="2400" b="1" dirty="0">
                <a:latin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，乙方核武数 </a:t>
            </a:r>
            <a:r>
              <a:rPr lang="en-US" altLang="zh-CN" sz="2400" b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，对甲而言，甲的核武数目要超过某个“安全限”才能保证安全，这个安全限与乙的核武器数量</a:t>
            </a:r>
            <a:r>
              <a:rPr lang="en-US" altLang="zh-CN" sz="2400" b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有关，且随着</a:t>
            </a:r>
            <a:r>
              <a:rPr lang="en-US" altLang="zh-CN" sz="2400" b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的增大而增大。乙亦如此。</a:t>
            </a:r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C86DB6-782E-47E8-9596-8335D9F29522}"/>
              </a:ext>
            </a:extLst>
          </p:cNvPr>
          <p:cNvSpPr txBox="1"/>
          <p:nvPr/>
        </p:nvSpPr>
        <p:spPr>
          <a:xfrm>
            <a:off x="228021" y="890385"/>
            <a:ext cx="513927" cy="181588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800" b="1">
                <a:latin typeface="Times New Roman" panose="02020603050405020304" pitchFamily="18" charset="0"/>
                <a:ea typeface="楷体_GB2312" pitchFamily="1" charset="-122"/>
              </a:defRPr>
            </a:lvl1pPr>
          </a:lstStyle>
          <a:p>
            <a:r>
              <a:rPr lang="zh-CN" altLang="en-US" dirty="0"/>
              <a:t>模型假设</a:t>
            </a: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97C5242D-C00D-194E-EBE4-247ECD988A32}"/>
              </a:ext>
            </a:extLst>
          </p:cNvPr>
          <p:cNvGrpSpPr>
            <a:grpSpLocks/>
          </p:cNvGrpSpPr>
          <p:nvPr/>
        </p:nvGrpSpPr>
        <p:grpSpPr bwMode="auto">
          <a:xfrm>
            <a:off x="1763688" y="2852936"/>
            <a:ext cx="6350000" cy="3014663"/>
            <a:chOff x="1076" y="1970"/>
            <a:chExt cx="4000" cy="1899"/>
          </a:xfrm>
        </p:grpSpPr>
        <p:grpSp>
          <p:nvGrpSpPr>
            <p:cNvPr id="3" name="Group 33">
              <a:extLst>
                <a:ext uri="{FF2B5EF4-FFF2-40B4-BE49-F238E27FC236}">
                  <a16:creationId xmlns:a16="http://schemas.microsoft.com/office/drawing/2014/main" id="{2E57BA52-CD18-AE4E-CA8A-082D0E41B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7" y="1985"/>
              <a:ext cx="2512" cy="1777"/>
              <a:chOff x="1287" y="1985"/>
              <a:chExt cx="2512" cy="1777"/>
            </a:xfrm>
          </p:grpSpPr>
          <p:sp>
            <p:nvSpPr>
              <p:cNvPr id="20" name="Line 7">
                <a:extLst>
                  <a:ext uri="{FF2B5EF4-FFF2-40B4-BE49-F238E27FC236}">
                    <a16:creationId xmlns:a16="http://schemas.microsoft.com/office/drawing/2014/main" id="{900FC27D-9A82-473A-374C-F85CCDB39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7" y="3750"/>
                <a:ext cx="2451" cy="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8">
                <a:extLst>
                  <a:ext uri="{FF2B5EF4-FFF2-40B4-BE49-F238E27FC236}">
                    <a16:creationId xmlns:a16="http://schemas.microsoft.com/office/drawing/2014/main" id="{2E260034-9EB6-1A8D-929D-B7641077A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00" y="1985"/>
                <a:ext cx="0" cy="1765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8AC4E811-DCB1-DBD5-FAA8-8CF5E1803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2597"/>
                <a:ext cx="2414" cy="539"/>
              </a:xfrm>
              <a:custGeom>
                <a:avLst/>
                <a:gdLst>
                  <a:gd name="T0" fmla="*/ 0 w 2402"/>
                  <a:gd name="T1" fmla="*/ 662 h 662"/>
                  <a:gd name="T2" fmla="*/ 294 w 2402"/>
                  <a:gd name="T3" fmla="*/ 515 h 662"/>
                  <a:gd name="T4" fmla="*/ 600 w 2402"/>
                  <a:gd name="T5" fmla="*/ 392 h 662"/>
                  <a:gd name="T6" fmla="*/ 968 w 2402"/>
                  <a:gd name="T7" fmla="*/ 269 h 662"/>
                  <a:gd name="T8" fmla="*/ 1336 w 2402"/>
                  <a:gd name="T9" fmla="*/ 159 h 662"/>
                  <a:gd name="T10" fmla="*/ 1826 w 2402"/>
                  <a:gd name="T11" fmla="*/ 73 h 662"/>
                  <a:gd name="T12" fmla="*/ 2279 w 2402"/>
                  <a:gd name="T13" fmla="*/ 24 h 662"/>
                  <a:gd name="T14" fmla="*/ 2402 w 2402"/>
                  <a:gd name="T1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2" h="662">
                    <a:moveTo>
                      <a:pt x="0" y="662"/>
                    </a:moveTo>
                    <a:cubicBezTo>
                      <a:pt x="97" y="611"/>
                      <a:pt x="194" y="560"/>
                      <a:pt x="294" y="515"/>
                    </a:cubicBezTo>
                    <a:cubicBezTo>
                      <a:pt x="394" y="470"/>
                      <a:pt x="488" y="433"/>
                      <a:pt x="600" y="392"/>
                    </a:cubicBezTo>
                    <a:cubicBezTo>
                      <a:pt x="712" y="351"/>
                      <a:pt x="845" y="308"/>
                      <a:pt x="968" y="269"/>
                    </a:cubicBezTo>
                    <a:cubicBezTo>
                      <a:pt x="1091" y="230"/>
                      <a:pt x="1193" y="192"/>
                      <a:pt x="1336" y="159"/>
                    </a:cubicBezTo>
                    <a:cubicBezTo>
                      <a:pt x="1479" y="126"/>
                      <a:pt x="1669" y="95"/>
                      <a:pt x="1826" y="73"/>
                    </a:cubicBezTo>
                    <a:cubicBezTo>
                      <a:pt x="1983" y="51"/>
                      <a:pt x="2183" y="36"/>
                      <a:pt x="2279" y="24"/>
                    </a:cubicBezTo>
                    <a:cubicBezTo>
                      <a:pt x="2375" y="12"/>
                      <a:pt x="2386" y="0"/>
                      <a:pt x="2402" y="0"/>
                    </a:cubicBezTo>
                  </a:path>
                </a:pathLst>
              </a:custGeom>
              <a:noFill/>
              <a:ln w="12700" cap="flat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0F572E88-8110-3797-22F7-77F58B23D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045"/>
                <a:ext cx="540" cy="1717"/>
              </a:xfrm>
              <a:custGeom>
                <a:avLst/>
                <a:gdLst>
                  <a:gd name="T0" fmla="*/ 0 w 380"/>
                  <a:gd name="T1" fmla="*/ 1667 h 1667"/>
                  <a:gd name="T2" fmla="*/ 183 w 380"/>
                  <a:gd name="T3" fmla="*/ 1397 h 1667"/>
                  <a:gd name="T4" fmla="*/ 232 w 380"/>
                  <a:gd name="T5" fmla="*/ 1152 h 1667"/>
                  <a:gd name="T6" fmla="*/ 294 w 380"/>
                  <a:gd name="T7" fmla="*/ 846 h 1667"/>
                  <a:gd name="T8" fmla="*/ 318 w 380"/>
                  <a:gd name="T9" fmla="*/ 527 h 1667"/>
                  <a:gd name="T10" fmla="*/ 355 w 380"/>
                  <a:gd name="T11" fmla="*/ 221 h 1667"/>
                  <a:gd name="T12" fmla="*/ 380 w 380"/>
                  <a:gd name="T13" fmla="*/ 0 h 1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0" h="1667">
                    <a:moveTo>
                      <a:pt x="0" y="1667"/>
                    </a:moveTo>
                    <a:cubicBezTo>
                      <a:pt x="72" y="1575"/>
                      <a:pt x="144" y="1483"/>
                      <a:pt x="183" y="1397"/>
                    </a:cubicBezTo>
                    <a:cubicBezTo>
                      <a:pt x="222" y="1311"/>
                      <a:pt x="214" y="1244"/>
                      <a:pt x="232" y="1152"/>
                    </a:cubicBezTo>
                    <a:cubicBezTo>
                      <a:pt x="250" y="1060"/>
                      <a:pt x="280" y="950"/>
                      <a:pt x="294" y="846"/>
                    </a:cubicBezTo>
                    <a:cubicBezTo>
                      <a:pt x="308" y="742"/>
                      <a:pt x="308" y="631"/>
                      <a:pt x="318" y="527"/>
                    </a:cubicBezTo>
                    <a:cubicBezTo>
                      <a:pt x="328" y="423"/>
                      <a:pt x="345" y="309"/>
                      <a:pt x="355" y="221"/>
                    </a:cubicBezTo>
                    <a:cubicBezTo>
                      <a:pt x="365" y="133"/>
                      <a:pt x="376" y="37"/>
                      <a:pt x="380" y="0"/>
                    </a:cubicBezTo>
                  </a:path>
                </a:pathLst>
              </a:custGeom>
              <a:noFill/>
              <a:ln w="12700" cap="flat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11">
                <a:extLst>
                  <a:ext uri="{FF2B5EF4-FFF2-40B4-BE49-F238E27FC236}">
                    <a16:creationId xmlns:a16="http://schemas.microsoft.com/office/drawing/2014/main" id="{FCE492AB-2CB7-4E38-E0AB-931208E29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66" y="2071"/>
                <a:ext cx="221" cy="20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12">
                <a:extLst>
                  <a:ext uri="{FF2B5EF4-FFF2-40B4-BE49-F238E27FC236}">
                    <a16:creationId xmlns:a16="http://schemas.microsoft.com/office/drawing/2014/main" id="{84CACF6B-EB47-9720-1C6C-80F10D991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9" y="2058"/>
                <a:ext cx="405" cy="367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13">
                <a:extLst>
                  <a:ext uri="{FF2B5EF4-FFF2-40B4-BE49-F238E27FC236}">
                    <a16:creationId xmlns:a16="http://schemas.microsoft.com/office/drawing/2014/main" id="{AF79B314-52E6-6F5A-1FBB-71D4E3FE0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16" y="2058"/>
                <a:ext cx="589" cy="477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CFC8C8D3-DE1C-0C2B-1CD2-5A1D2BEBE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28" y="2046"/>
                <a:ext cx="712" cy="587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15">
                <a:extLst>
                  <a:ext uri="{FF2B5EF4-FFF2-40B4-BE49-F238E27FC236}">
                    <a16:creationId xmlns:a16="http://schemas.microsoft.com/office/drawing/2014/main" id="{0BE90866-7E53-E23B-1AA0-69B1AF860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5" y="2071"/>
                <a:ext cx="724" cy="576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16">
                <a:extLst>
                  <a:ext uri="{FF2B5EF4-FFF2-40B4-BE49-F238E27FC236}">
                    <a16:creationId xmlns:a16="http://schemas.microsoft.com/office/drawing/2014/main" id="{7BA1027A-6998-798C-C6C9-EC0C6C1A9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4" y="2230"/>
                <a:ext cx="491" cy="417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17">
                <a:extLst>
                  <a:ext uri="{FF2B5EF4-FFF2-40B4-BE49-F238E27FC236}">
                    <a16:creationId xmlns:a16="http://schemas.microsoft.com/office/drawing/2014/main" id="{FB8256EE-29FB-D08F-4634-FC1922CB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17" y="2352"/>
                <a:ext cx="270" cy="245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18">
                <a:extLst>
                  <a:ext uri="{FF2B5EF4-FFF2-40B4-BE49-F238E27FC236}">
                    <a16:creationId xmlns:a16="http://schemas.microsoft.com/office/drawing/2014/main" id="{490BFFDC-F520-B349-94A5-59C5DE734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2" y="2475"/>
                <a:ext cx="147" cy="147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Text Box 19">
              <a:extLst>
                <a:ext uri="{FF2B5EF4-FFF2-40B4-BE49-F238E27FC236}">
                  <a16:creationId xmlns:a16="http://schemas.microsoft.com/office/drawing/2014/main" id="{8B3D34BD-21FE-4022-1F77-13655B1EC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" y="3551"/>
              <a:ext cx="24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" name="Text Box 20">
              <a:extLst>
                <a:ext uri="{FF2B5EF4-FFF2-40B4-BE49-F238E27FC236}">
                  <a16:creationId xmlns:a16="http://schemas.microsoft.com/office/drawing/2014/main" id="{665D31EE-2E10-FF5A-AB50-BCCA240B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1970"/>
              <a:ext cx="2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B029CDBE-BD19-B3EC-C77E-27BB0EE0A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3600"/>
              <a:ext cx="2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" name="Text Box 25">
              <a:extLst>
                <a:ext uri="{FF2B5EF4-FFF2-40B4-BE49-F238E27FC236}">
                  <a16:creationId xmlns:a16="http://schemas.microsoft.com/office/drawing/2014/main" id="{E36F3FB7-42C8-C7C5-60CC-9E47AF6D6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2631"/>
              <a:ext cx="59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y=g(x)</a:t>
              </a:r>
            </a:p>
          </p:txBody>
        </p:sp>
        <p:sp>
          <p:nvSpPr>
            <p:cNvPr id="10" name="Text Box 26">
              <a:extLst>
                <a:ext uri="{FF2B5EF4-FFF2-40B4-BE49-F238E27FC236}">
                  <a16:creationId xmlns:a16="http://schemas.microsoft.com/office/drawing/2014/main" id="{CFBAEED2-7238-175D-CE51-5BB785FBC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7" y="3281"/>
              <a:ext cx="56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x=f(y)</a:t>
              </a:r>
            </a:p>
          </p:txBody>
        </p:sp>
        <p:sp>
          <p:nvSpPr>
            <p:cNvPr id="11" name="Text Box 29">
              <a:extLst>
                <a:ext uri="{FF2B5EF4-FFF2-40B4-BE49-F238E27FC236}">
                  <a16:creationId xmlns:a16="http://schemas.microsoft.com/office/drawing/2014/main" id="{DB3E331B-B12D-D6B3-39FE-664A34CB1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2105"/>
              <a:ext cx="8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乙安全区</a:t>
              </a:r>
            </a:p>
          </p:txBody>
        </p:sp>
        <p:sp>
          <p:nvSpPr>
            <p:cNvPr id="12" name="Text Box 30">
              <a:extLst>
                <a:ext uri="{FF2B5EF4-FFF2-40B4-BE49-F238E27FC236}">
                  <a16:creationId xmlns:a16="http://schemas.microsoft.com/office/drawing/2014/main" id="{413EB38E-C8AC-74E2-5338-76676E65D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" y="2044"/>
              <a:ext cx="134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双方安全区</a:t>
              </a:r>
            </a:p>
            <a:p>
              <a:pPr algn="ctr" eaLnBrk="0" hangingPunct="0"/>
              <a:r>
                <a:rPr lang="zh-CN" altLang="en-US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（稳定区域）？</a:t>
              </a:r>
            </a:p>
          </p:txBody>
        </p:sp>
        <p:sp>
          <p:nvSpPr>
            <p:cNvPr id="14" name="Text Box 31">
              <a:extLst>
                <a:ext uri="{FF2B5EF4-FFF2-40B4-BE49-F238E27FC236}">
                  <a16:creationId xmlns:a16="http://schemas.microsoft.com/office/drawing/2014/main" id="{51939F1B-0A5F-76F3-4A57-989B36F34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2644"/>
              <a:ext cx="79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M(x</a:t>
              </a:r>
              <a:r>
                <a:rPr lang="en-US" altLang="zh-CN" sz="22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,y</a:t>
              </a:r>
              <a:r>
                <a:rPr lang="en-US" altLang="zh-CN" sz="22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200">
                  <a:solidFill>
                    <a:schemeClr val="tx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" name="Text Box 32">
              <a:extLst>
                <a:ext uri="{FF2B5EF4-FFF2-40B4-BE49-F238E27FC236}">
                  <a16:creationId xmlns:a16="http://schemas.microsoft.com/office/drawing/2014/main" id="{52C97185-1D1E-332D-FCE7-6369D2CA2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3074"/>
              <a:ext cx="82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2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甲安全区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F29C6A4-E6B8-0661-B5B8-926DBE4B8764}"/>
              </a:ext>
            </a:extLst>
          </p:cNvPr>
          <p:cNvSpPr txBox="1"/>
          <p:nvPr/>
        </p:nvSpPr>
        <p:spPr>
          <a:xfrm>
            <a:off x="3761233" y="563110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8651B68-81E1-8E42-1E60-82DD5224E3FA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3964649" y="4107577"/>
            <a:ext cx="29031" cy="15968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B6678FB1-5F59-95DC-A8C7-7BE6448F0FE9}"/>
              </a:ext>
            </a:extLst>
          </p:cNvPr>
          <p:cNvSpPr txBox="1"/>
          <p:nvPr/>
        </p:nvSpPr>
        <p:spPr>
          <a:xfrm>
            <a:off x="3809976" y="3738245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2528F24-C09B-0616-E837-9FF38F7E52D0}"/>
              </a:ext>
            </a:extLst>
          </p:cNvPr>
          <p:cNvCxnSpPr>
            <a:cxnSpLocks/>
          </p:cNvCxnSpPr>
          <p:nvPr/>
        </p:nvCxnSpPr>
        <p:spPr>
          <a:xfrm>
            <a:off x="3993680" y="4119988"/>
            <a:ext cx="66719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11F7E6D-5FFF-E472-4C98-F1218DA2F308}"/>
              </a:ext>
            </a:extLst>
          </p:cNvPr>
          <p:cNvCxnSpPr>
            <a:cxnSpLocks/>
          </p:cNvCxnSpPr>
          <p:nvPr/>
        </p:nvCxnSpPr>
        <p:spPr>
          <a:xfrm flipV="1">
            <a:off x="4623289" y="4081228"/>
            <a:ext cx="29031" cy="15968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CE35AE24-3530-D9E9-7A03-083DE9FAEDDB}"/>
              </a:ext>
            </a:extLst>
          </p:cNvPr>
          <p:cNvSpPr txBox="1"/>
          <p:nvPr/>
        </p:nvSpPr>
        <p:spPr>
          <a:xfrm>
            <a:off x="4497432" y="561417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14B8C05-36D3-9247-4FE5-44C65CFD545B}"/>
              </a:ext>
            </a:extLst>
          </p:cNvPr>
          <p:cNvSpPr txBox="1"/>
          <p:nvPr/>
        </p:nvSpPr>
        <p:spPr>
          <a:xfrm>
            <a:off x="1790072" y="447406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45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0BC97906-52C0-D071-E953-C6773B4D6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82352"/>
            <a:ext cx="685800" cy="20415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图的模型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49EDDA95-6DAA-066E-4CA2-055D6E34F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961727"/>
            <a:ext cx="687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甲方有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枚导弹，乙方所需的最少导弹数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974F5CCE-3125-0CE8-861B-FB5CF7D04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495127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g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乙方有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枚导弹，甲方所需的最少导弹数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50D81C79-03E7-C05E-38E5-2CC102D1A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6979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当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时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乙方的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威慑值</a:t>
            </a:r>
          </a:p>
        </p:txBody>
      </p:sp>
      <p:grpSp>
        <p:nvGrpSpPr>
          <p:cNvPr id="5126" name="Group 6">
            <a:extLst>
              <a:ext uri="{FF2B5EF4-FFF2-40B4-BE49-F238E27FC236}">
                <a16:creationId xmlns:a16="http://schemas.microsoft.com/office/drawing/2014/main" id="{1CEA4AE8-2EB4-D1C9-0A3D-49AE6DC8B7A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549352"/>
            <a:ext cx="2438400" cy="1722438"/>
            <a:chOff x="1392" y="2083"/>
            <a:chExt cx="1536" cy="1085"/>
          </a:xfrm>
        </p:grpSpPr>
        <p:sp>
          <p:nvSpPr>
            <p:cNvPr id="5127" name="Line 7">
              <a:extLst>
                <a:ext uri="{FF2B5EF4-FFF2-40B4-BE49-F238E27FC236}">
                  <a16:creationId xmlns:a16="http://schemas.microsoft.com/office/drawing/2014/main" id="{286ED16A-8529-4ECF-FE53-1AB19B0DA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68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8" name="Line 8">
              <a:extLst>
                <a:ext uri="{FF2B5EF4-FFF2-40B4-BE49-F238E27FC236}">
                  <a16:creationId xmlns:a16="http://schemas.microsoft.com/office/drawing/2014/main" id="{B3EEBF1E-D50F-437D-DBFB-FABBBA0E0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208"/>
              <a:ext cx="96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9" name="Object 9">
              <a:extLst>
                <a:ext uri="{FF2B5EF4-FFF2-40B4-BE49-F238E27FC236}">
                  <a16:creationId xmlns:a16="http://schemas.microsoft.com/office/drawing/2014/main" id="{7BA0CE48-BF0A-76AE-EC98-0B36634799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083"/>
            <a:ext cx="72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47640" imgH="228600" progId="Equation.3">
                    <p:embed/>
                  </p:oleObj>
                </mc:Choice>
                <mc:Fallback>
                  <p:oleObj name="公式" r:id="rId2" imgW="647640" imgH="228600" progId="Equation.3">
                    <p:embed/>
                    <p:pic>
                      <p:nvPicPr>
                        <p:cNvPr id="5129" name="Object 9">
                          <a:extLst>
                            <a:ext uri="{FF2B5EF4-FFF2-40B4-BE49-F238E27FC236}">
                              <a16:creationId xmlns:a16="http://schemas.microsoft.com/office/drawing/2014/main" id="{7BA0CE48-BF0A-76AE-EC98-0B36634799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083"/>
                          <a:ext cx="720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0" name="Group 10">
            <a:extLst>
              <a:ext uri="{FF2B5EF4-FFF2-40B4-BE49-F238E27FC236}">
                <a16:creationId xmlns:a16="http://schemas.microsoft.com/office/drawing/2014/main" id="{84A201A6-ECC6-B436-2110-51BE04CCB7B6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320752"/>
            <a:ext cx="3886200" cy="2819400"/>
            <a:chOff x="480" y="1968"/>
            <a:chExt cx="2448" cy="1776"/>
          </a:xfrm>
        </p:grpSpPr>
        <p:sp>
          <p:nvSpPr>
            <p:cNvPr id="5131" name="Line 11">
              <a:extLst>
                <a:ext uri="{FF2B5EF4-FFF2-40B4-BE49-F238E27FC236}">
                  <a16:creationId xmlns:a16="http://schemas.microsoft.com/office/drawing/2014/main" id="{95360355-3338-8F39-2F50-FC329B8A0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50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2" name="Line 12">
              <a:extLst>
                <a:ext uri="{FF2B5EF4-FFF2-40B4-BE49-F238E27FC236}">
                  <a16:creationId xmlns:a16="http://schemas.microsoft.com/office/drawing/2014/main" id="{827268DA-51FC-7F47-1BEE-301765467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11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Text Box 13">
              <a:extLst>
                <a:ext uri="{FF2B5EF4-FFF2-40B4-BE49-F238E27FC236}">
                  <a16:creationId xmlns:a16="http://schemas.microsoft.com/office/drawing/2014/main" id="{FAE9F7D0-3CAD-D919-CE79-AAC509A57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4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34" name="Text Box 14">
              <a:extLst>
                <a:ext uri="{FF2B5EF4-FFF2-40B4-BE49-F238E27FC236}">
                  <a16:creationId xmlns:a16="http://schemas.microsoft.com/office/drawing/2014/main" id="{112823E2-5FEC-F033-6161-BB70C2D47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135" name="Text Box 15">
              <a:extLst>
                <a:ext uri="{FF2B5EF4-FFF2-40B4-BE49-F238E27FC236}">
                  <a16:creationId xmlns:a16="http://schemas.microsoft.com/office/drawing/2014/main" id="{D907C68A-DC6C-6BFA-BBF8-AF73C82C8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2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136" name="Text Box 16">
              <a:extLst>
                <a:ext uri="{FF2B5EF4-FFF2-40B4-BE49-F238E27FC236}">
                  <a16:creationId xmlns:a16="http://schemas.microsoft.com/office/drawing/2014/main" id="{4AB624CA-1567-DBC9-41C8-8E0547D06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36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en-US" sz="2400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137" name="Object 17">
            <a:extLst>
              <a:ext uri="{FF2B5EF4-FFF2-40B4-BE49-F238E27FC236}">
                <a16:creationId xmlns:a16="http://schemas.microsoft.com/office/drawing/2014/main" id="{AD0D086F-339F-A7E2-0C63-82F473EC3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925379"/>
              </p:ext>
            </p:extLst>
          </p:nvPr>
        </p:nvGraphicFramePr>
        <p:xfrm>
          <a:off x="1219200" y="5987752"/>
          <a:ext cx="24384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84200" imgH="228600" progId="Equation.3">
                  <p:embed/>
                </p:oleObj>
              </mc:Choice>
              <mc:Fallback>
                <p:oleObj name="公式" r:id="rId4" imgW="1384200" imgH="228600" progId="Equation.3">
                  <p:embed/>
                  <p:pic>
                    <p:nvPicPr>
                      <p:cNvPr id="5137" name="Object 17">
                        <a:extLst>
                          <a:ext uri="{FF2B5EF4-FFF2-40B4-BE49-F238E27FC236}">
                            <a16:creationId xmlns:a16="http://schemas.microsoft.com/office/drawing/2014/main" id="{AD0D086F-339F-A7E2-0C63-82F473EC32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987752"/>
                        <a:ext cx="24384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Text Box 18">
            <a:extLst>
              <a:ext uri="{FF2B5EF4-FFF2-40B4-BE49-F238E27FC236}">
                <a16:creationId xmlns:a16="http://schemas.microsoft.com/office/drawing/2014/main" id="{B80933DD-2D27-3619-E342-75808558C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76202"/>
            <a:ext cx="76200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甲方实行第一次打击后已经没有导弹，乙方为毁灭甲方工业、交通中心等目标所需导弹数</a:t>
            </a:r>
          </a:p>
        </p:txBody>
      </p:sp>
      <p:grpSp>
        <p:nvGrpSpPr>
          <p:cNvPr id="5139" name="Group 19">
            <a:extLst>
              <a:ext uri="{FF2B5EF4-FFF2-40B4-BE49-F238E27FC236}">
                <a16:creationId xmlns:a16="http://schemas.microsoft.com/office/drawing/2014/main" id="{0136D194-5AF5-373D-65D2-EB6373194E0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692352"/>
            <a:ext cx="1295400" cy="1447800"/>
            <a:chOff x="3696" y="1440"/>
            <a:chExt cx="816" cy="912"/>
          </a:xfrm>
        </p:grpSpPr>
        <p:sp>
          <p:nvSpPr>
            <p:cNvPr id="5140" name="Line 20">
              <a:extLst>
                <a:ext uri="{FF2B5EF4-FFF2-40B4-BE49-F238E27FC236}">
                  <a16:creationId xmlns:a16="http://schemas.microsoft.com/office/drawing/2014/main" id="{A14EBA89-78B4-90B6-4A50-4C52E44C2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1" name="Line 21">
              <a:extLst>
                <a:ext uri="{FF2B5EF4-FFF2-40B4-BE49-F238E27FC236}">
                  <a16:creationId xmlns:a16="http://schemas.microsoft.com/office/drawing/2014/main" id="{F4DE6AD1-B858-6C24-A226-92B056FFB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44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2" name="Text Box 22">
              <a:extLst>
                <a:ext uri="{FF2B5EF4-FFF2-40B4-BE49-F238E27FC236}">
                  <a16:creationId xmlns:a16="http://schemas.microsoft.com/office/drawing/2014/main" id="{EE340965-A70E-6767-8549-F1CF323FF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6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43" name="Group 23">
            <a:extLst>
              <a:ext uri="{FF2B5EF4-FFF2-40B4-BE49-F238E27FC236}">
                <a16:creationId xmlns:a16="http://schemas.microsoft.com/office/drawing/2014/main" id="{D3532AB7-F5D2-EE91-C743-DE6F1245D08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463752"/>
            <a:ext cx="1752600" cy="1676400"/>
            <a:chOff x="2880" y="2688"/>
            <a:chExt cx="1104" cy="1056"/>
          </a:xfrm>
        </p:grpSpPr>
        <p:sp>
          <p:nvSpPr>
            <p:cNvPr id="5144" name="Line 24">
              <a:extLst>
                <a:ext uri="{FF2B5EF4-FFF2-40B4-BE49-F238E27FC236}">
                  <a16:creationId xmlns:a16="http://schemas.microsoft.com/office/drawing/2014/main" id="{CDD75319-3445-97FF-288B-6025934C9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83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5" name="Line 25">
              <a:extLst>
                <a:ext uri="{FF2B5EF4-FFF2-40B4-BE49-F238E27FC236}">
                  <a16:creationId xmlns:a16="http://schemas.microsoft.com/office/drawing/2014/main" id="{F2A60DB6-799C-ADFC-9D63-4A98037B3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83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Text Box 26">
              <a:extLst>
                <a:ext uri="{FF2B5EF4-FFF2-40B4-BE49-F238E27FC236}">
                  <a16:creationId xmlns:a16="http://schemas.microsoft.com/office/drawing/2014/main" id="{773D9FA4-AD89-96A4-1A36-39B1FC3D6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4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147" name="Text Box 27">
              <a:extLst>
                <a:ext uri="{FF2B5EF4-FFF2-40B4-BE49-F238E27FC236}">
                  <a16:creationId xmlns:a16="http://schemas.microsoft.com/office/drawing/2014/main" id="{8B8DE2D0-9E89-FF07-9C3B-285E05B13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6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5148" name="Line 28">
            <a:extLst>
              <a:ext uri="{FF2B5EF4-FFF2-40B4-BE49-F238E27FC236}">
                <a16:creationId xmlns:a16="http://schemas.microsoft.com/office/drawing/2014/main" id="{F84F2A6D-E1A7-8210-FA25-BFEE744660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3113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9" name="Text Box 29">
            <a:extLst>
              <a:ext uri="{FF2B5EF4-FFF2-40B4-BE49-F238E27FC236}">
                <a16:creationId xmlns:a16="http://schemas.microsoft.com/office/drawing/2014/main" id="{E97B0D26-E61D-DC2B-929C-B23DE818B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163" y="4235152"/>
            <a:ext cx="125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i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5150" name="Group 30">
            <a:extLst>
              <a:ext uri="{FF2B5EF4-FFF2-40B4-BE49-F238E27FC236}">
                <a16:creationId xmlns:a16="http://schemas.microsoft.com/office/drawing/2014/main" id="{28181EAD-B229-BA17-7047-CDB327D92F57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777952"/>
            <a:ext cx="1590675" cy="2057400"/>
            <a:chOff x="-288" y="1824"/>
            <a:chExt cx="1002" cy="1296"/>
          </a:xfrm>
        </p:grpSpPr>
        <p:sp>
          <p:nvSpPr>
            <p:cNvPr id="5151" name="Freeform 31">
              <a:extLst>
                <a:ext uri="{FF2B5EF4-FFF2-40B4-BE49-F238E27FC236}">
                  <a16:creationId xmlns:a16="http://schemas.microsoft.com/office/drawing/2014/main" id="{38829A56-67BA-7706-6A50-9A1FD62E4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88" y="1824"/>
              <a:ext cx="720" cy="1296"/>
            </a:xfrm>
            <a:custGeom>
              <a:avLst/>
              <a:gdLst>
                <a:gd name="T0" fmla="*/ 0 w 684"/>
                <a:gd name="T1" fmla="*/ 1260 h 1260"/>
                <a:gd name="T2" fmla="*/ 276 w 684"/>
                <a:gd name="T3" fmla="*/ 948 h 1260"/>
                <a:gd name="T4" fmla="*/ 456 w 684"/>
                <a:gd name="T5" fmla="*/ 684 h 1260"/>
                <a:gd name="T6" fmla="*/ 540 w 684"/>
                <a:gd name="T7" fmla="*/ 504 h 1260"/>
                <a:gd name="T8" fmla="*/ 636 w 684"/>
                <a:gd name="T9" fmla="*/ 264 h 1260"/>
                <a:gd name="T10" fmla="*/ 684 w 684"/>
                <a:gd name="T11" fmla="*/ 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Text Box 32">
              <a:extLst>
                <a:ext uri="{FF2B5EF4-FFF2-40B4-BE49-F238E27FC236}">
                  <a16:creationId xmlns:a16="http://schemas.microsoft.com/office/drawing/2014/main" id="{C1FD7746-1999-F138-9FF9-F464EF37B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544"/>
              <a:ext cx="6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5153" name="Group 33">
            <a:extLst>
              <a:ext uri="{FF2B5EF4-FFF2-40B4-BE49-F238E27FC236}">
                <a16:creationId xmlns:a16="http://schemas.microsoft.com/office/drawing/2014/main" id="{B83BC86C-0854-3942-B13A-FCC8D0C16DC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396952"/>
            <a:ext cx="4114800" cy="2743200"/>
            <a:chOff x="2880" y="2016"/>
            <a:chExt cx="2592" cy="1728"/>
          </a:xfrm>
        </p:grpSpPr>
        <p:sp>
          <p:nvSpPr>
            <p:cNvPr id="5154" name="Line 34">
              <a:extLst>
                <a:ext uri="{FF2B5EF4-FFF2-40B4-BE49-F238E27FC236}">
                  <a16:creationId xmlns:a16="http://schemas.microsoft.com/office/drawing/2014/main" id="{42C74B6A-05A2-DA6F-855B-829161C93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55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35">
              <a:extLst>
                <a:ext uri="{FF2B5EF4-FFF2-40B4-BE49-F238E27FC236}">
                  <a16:creationId xmlns:a16="http://schemas.microsoft.com/office/drawing/2014/main" id="{4CA00703-E51D-21A2-258C-338DF6B12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160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Freeform 36">
              <a:extLst>
                <a:ext uri="{FF2B5EF4-FFF2-40B4-BE49-F238E27FC236}">
                  <a16:creationId xmlns:a16="http://schemas.microsoft.com/office/drawing/2014/main" id="{FD1B0A79-75B9-27BC-3E13-A1F874C2C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496"/>
              <a:ext cx="1536" cy="828"/>
            </a:xfrm>
            <a:custGeom>
              <a:avLst/>
              <a:gdLst>
                <a:gd name="T0" fmla="*/ 0 w 1380"/>
                <a:gd name="T1" fmla="*/ 780 h 780"/>
                <a:gd name="T2" fmla="*/ 216 w 1380"/>
                <a:gd name="T3" fmla="*/ 576 h 780"/>
                <a:gd name="T4" fmla="*/ 396 w 1380"/>
                <a:gd name="T5" fmla="*/ 432 h 780"/>
                <a:gd name="T6" fmla="*/ 564 w 1380"/>
                <a:gd name="T7" fmla="*/ 324 h 780"/>
                <a:gd name="T8" fmla="*/ 792 w 1380"/>
                <a:gd name="T9" fmla="*/ 192 h 780"/>
                <a:gd name="T10" fmla="*/ 1020 w 1380"/>
                <a:gd name="T11" fmla="*/ 84 h 780"/>
                <a:gd name="T12" fmla="*/ 1224 w 1380"/>
                <a:gd name="T13" fmla="*/ 24 h 780"/>
                <a:gd name="T14" fmla="*/ 1380 w 1380"/>
                <a:gd name="T15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Text Box 37">
              <a:extLst>
                <a:ext uri="{FF2B5EF4-FFF2-40B4-BE49-F238E27FC236}">
                  <a16:creationId xmlns:a16="http://schemas.microsoft.com/office/drawing/2014/main" id="{8517F9FC-9D97-61AF-C5C6-4D24947CA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4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58" name="Text Box 38">
              <a:extLst>
                <a:ext uri="{FF2B5EF4-FFF2-40B4-BE49-F238E27FC236}">
                  <a16:creationId xmlns:a16="http://schemas.microsoft.com/office/drawing/2014/main" id="{9BAE09D6-DC92-53FB-2A1E-6823C515B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0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159" name="Text Box 39">
              <a:extLst>
                <a:ext uri="{FF2B5EF4-FFF2-40B4-BE49-F238E27FC236}">
                  <a16:creationId xmlns:a16="http://schemas.microsoft.com/office/drawing/2014/main" id="{1044952A-628C-7C7C-E630-2C37DEF3F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4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en-US" sz="2400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60" name="Text Box 40">
              <a:extLst>
                <a:ext uri="{FF2B5EF4-FFF2-40B4-BE49-F238E27FC236}">
                  <a16:creationId xmlns:a16="http://schemas.microsoft.com/office/drawing/2014/main" id="{900F94AD-6688-E8AF-4A9D-E5C4F469E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2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161" name="Text Box 41">
              <a:extLst>
                <a:ext uri="{FF2B5EF4-FFF2-40B4-BE49-F238E27FC236}">
                  <a16:creationId xmlns:a16="http://schemas.microsoft.com/office/drawing/2014/main" id="{44B15B9B-C000-2A90-A323-3FABFEF6E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496"/>
              <a:ext cx="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5162" name="Group 42">
            <a:extLst>
              <a:ext uri="{FF2B5EF4-FFF2-40B4-BE49-F238E27FC236}">
                <a16:creationId xmlns:a16="http://schemas.microsoft.com/office/drawing/2014/main" id="{0D5627C7-D1A9-EE49-DEAF-98629000A3E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006552"/>
            <a:ext cx="2320925" cy="1238250"/>
            <a:chOff x="720" y="2400"/>
            <a:chExt cx="1462" cy="780"/>
          </a:xfrm>
        </p:grpSpPr>
        <p:sp>
          <p:nvSpPr>
            <p:cNvPr id="5163" name="Freeform 43">
              <a:extLst>
                <a:ext uri="{FF2B5EF4-FFF2-40B4-BE49-F238E27FC236}">
                  <a16:creationId xmlns:a16="http://schemas.microsoft.com/office/drawing/2014/main" id="{1287840C-BEC2-CD6A-2D9F-F9A19EFCF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400"/>
              <a:ext cx="1380" cy="780"/>
            </a:xfrm>
            <a:custGeom>
              <a:avLst/>
              <a:gdLst>
                <a:gd name="T0" fmla="*/ 0 w 1380"/>
                <a:gd name="T1" fmla="*/ 780 h 780"/>
                <a:gd name="T2" fmla="*/ 216 w 1380"/>
                <a:gd name="T3" fmla="*/ 576 h 780"/>
                <a:gd name="T4" fmla="*/ 396 w 1380"/>
                <a:gd name="T5" fmla="*/ 432 h 780"/>
                <a:gd name="T6" fmla="*/ 564 w 1380"/>
                <a:gd name="T7" fmla="*/ 324 h 780"/>
                <a:gd name="T8" fmla="*/ 792 w 1380"/>
                <a:gd name="T9" fmla="*/ 192 h 780"/>
                <a:gd name="T10" fmla="*/ 1020 w 1380"/>
                <a:gd name="T11" fmla="*/ 84 h 780"/>
                <a:gd name="T12" fmla="*/ 1224 w 1380"/>
                <a:gd name="T13" fmla="*/ 24 h 780"/>
                <a:gd name="T14" fmla="*/ 1380 w 1380"/>
                <a:gd name="T15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Text Box 44">
              <a:extLst>
                <a:ext uri="{FF2B5EF4-FFF2-40B4-BE49-F238E27FC236}">
                  <a16:creationId xmlns:a16="http://schemas.microsoft.com/office/drawing/2014/main" id="{3AA38ED2-7159-AE68-3FDA-2B8775C03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496"/>
              <a:ext cx="5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5165" name="Text Box 45">
            <a:extLst>
              <a:ext uri="{FF2B5EF4-FFF2-40B4-BE49-F238E27FC236}">
                <a16:creationId xmlns:a16="http://schemas.microsoft.com/office/drawing/2014/main" id="{0803FCD7-70AD-43C9-E460-822086239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2075" y="3701752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乙安全区</a:t>
            </a:r>
          </a:p>
        </p:txBody>
      </p:sp>
      <p:sp>
        <p:nvSpPr>
          <p:cNvPr id="5166" name="Text Box 46">
            <a:extLst>
              <a:ext uri="{FF2B5EF4-FFF2-40B4-BE49-F238E27FC236}">
                <a16:creationId xmlns:a16="http://schemas.microsoft.com/office/drawing/2014/main" id="{3F3F55E4-AB87-0172-5BE4-1C407CE48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4235152"/>
            <a:ext cx="7889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甲安全区</a:t>
            </a:r>
          </a:p>
        </p:txBody>
      </p:sp>
      <p:sp>
        <p:nvSpPr>
          <p:cNvPr id="5167" name="Text Box 47">
            <a:extLst>
              <a:ext uri="{FF2B5EF4-FFF2-40B4-BE49-F238E27FC236}">
                <a16:creationId xmlns:a16="http://schemas.microsoft.com/office/drawing/2014/main" id="{BC94A054-C588-6448-D4B7-B6DB5AA7B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3244552"/>
            <a:ext cx="1262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双方</a:t>
            </a:r>
          </a:p>
          <a:p>
            <a:pPr algn="ctr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安全区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1E5B7ABE-54BC-B980-CDFA-2BE753865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6140152"/>
            <a:ext cx="4495800" cy="4572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P~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平衡点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双方最少导弹数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169" name="Text Box 49">
            <a:extLst>
              <a:ext uri="{FF2B5EF4-FFF2-40B4-BE49-F238E27FC236}">
                <a16:creationId xmlns:a16="http://schemas.microsoft.com/office/drawing/2014/main" id="{AB5E3743-2E79-44CD-9267-9E50E6CF0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616152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乙安全线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DBF6180-96FA-E802-C2CE-A4EFE766425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F55BD534-2C8D-74AE-BFD7-BF2626E2F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4CF920F9-BCDF-AAEF-5B90-C6D7C4E9E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 autoUpdateAnimBg="0"/>
      <p:bldP spid="5123" grpId="0" animBg="1" autoUpdateAnimBg="0"/>
      <p:bldP spid="5124" grpId="0" animBg="1" autoUpdateAnimBg="0"/>
      <p:bldP spid="5125" grpId="0" animBg="1" autoUpdateAnimBg="0"/>
      <p:bldP spid="5138" grpId="0" animBg="1" autoUpdateAnimBg="0"/>
      <p:bldP spid="5149" grpId="0" autoUpdateAnimBg="0"/>
      <p:bldP spid="5165" grpId="0" autoUpdateAnimBg="0"/>
      <p:bldP spid="5166" grpId="0" autoUpdateAnimBg="0"/>
      <p:bldP spid="5167" grpId="0" autoUpdateAnimBg="0"/>
      <p:bldP spid="5168" grpId="0" animBg="1" autoUpdateAnimBg="0"/>
      <p:bldP spid="516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0D670D2B-DE2A-1FAA-A9CC-C9008C89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" y="954360"/>
            <a:ext cx="12192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精细模型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EC1865D2-1AA4-B46E-4203-346195F3A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12" y="954360"/>
            <a:ext cx="60960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15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乙方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残存率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s 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甲方一枚导弹攻击乙方一个基地，基地未被摧毁的概率。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FCC5C89-F4EB-FD36-2C0E-1A98C910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12" y="2478360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sx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个基地未摧毁，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个基地未攻击。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EB3DB96B-1384-69FF-9AF7-C6C2D1A9D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" y="2173560"/>
            <a:ext cx="722313" cy="5191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x&lt;y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52304321-33A8-1FDB-C3C5-F4FD5B84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512" y="1944960"/>
            <a:ext cx="5983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甲方以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攻击乙方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个基地中的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个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4AD42556-DAFD-9DB4-E239-F79E7E46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312" y="3011760"/>
            <a:ext cx="1820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sx</a:t>
            </a:r>
            <a:r>
              <a:rPr kumimoji="1" lang="en-US" altLang="zh-CN" sz="2400" b="1">
                <a:latin typeface="Times New Roman" panose="02020603050405020304" pitchFamily="18" charset="0"/>
              </a:rPr>
              <a:t>+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0E02A42A-EE25-49AC-4CB7-E9510FE6D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07048"/>
            <a:ext cx="722312" cy="51911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x=y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93EB1C60-0BBE-589D-151E-3D45432E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2" y="3607073"/>
            <a:ext cx="12604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sy</a:t>
            </a:r>
          </a:p>
        </p:txBody>
      </p:sp>
      <p:sp>
        <p:nvSpPr>
          <p:cNvPr id="6154" name="Text Box 10">
            <a:extLst>
              <a:ext uri="{FF2B5EF4-FFF2-40B4-BE49-F238E27FC236}">
                <a16:creationId xmlns:a16="http://schemas.microsoft.com/office/drawing/2014/main" id="{6FE206B9-3396-289B-3E76-8E29B066D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4156348"/>
            <a:ext cx="75438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乙的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个被攻击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次，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个未摧毁；</a:t>
            </a:r>
          </a:p>
          <a:p>
            <a:pPr algn="ctr"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–(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)=2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x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个被攻击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次，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(2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 x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个未摧毁</a:t>
            </a:r>
          </a:p>
        </p:txBody>
      </p:sp>
      <p:sp>
        <p:nvSpPr>
          <p:cNvPr id="6155" name="Text Box 11">
            <a:extLst>
              <a:ext uri="{FF2B5EF4-FFF2-40B4-BE49-F238E27FC236}">
                <a16:creationId xmlns:a16="http://schemas.microsoft.com/office/drawing/2014/main" id="{F95E49A5-48C0-42DE-C2EF-011330872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0" y="5364435"/>
            <a:ext cx="3300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s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)+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s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–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x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156" name="Text Box 12">
            <a:extLst>
              <a:ext uri="{FF2B5EF4-FFF2-40B4-BE49-F238E27FC236}">
                <a16:creationId xmlns:a16="http://schemas.microsoft.com/office/drawing/2014/main" id="{32634F6A-9117-FC93-A7F2-D3F56D33D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" y="6135960"/>
            <a:ext cx="914400" cy="51911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81200E32-CB60-9B03-A2A6-BC53FFA1B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2" y="6210573"/>
            <a:ext cx="12192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6158" name="Text Box 14">
            <a:extLst>
              <a:ext uri="{FF2B5EF4-FFF2-40B4-BE49-F238E27FC236}">
                <a16:creationId xmlns:a16="http://schemas.microsoft.com/office/drawing/2014/main" id="{D5A10301-901B-E6BA-DBB3-BC78FCA4C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" y="4245248"/>
            <a:ext cx="1260475" cy="51911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y&lt;x&lt;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6159" name="Group 15">
            <a:extLst>
              <a:ext uri="{FF2B5EF4-FFF2-40B4-BE49-F238E27FC236}">
                <a16:creationId xmlns:a16="http://schemas.microsoft.com/office/drawing/2014/main" id="{BC9264F9-F3BE-32EF-8FDA-551BC1E34EF5}"/>
              </a:ext>
            </a:extLst>
          </p:cNvPr>
          <p:cNvGrpSpPr>
            <a:grpSpLocks/>
          </p:cNvGrpSpPr>
          <p:nvPr/>
        </p:nvGrpSpPr>
        <p:grpSpPr bwMode="auto">
          <a:xfrm>
            <a:off x="4989512" y="5221560"/>
            <a:ext cx="3384550" cy="768350"/>
            <a:chOff x="3197" y="3120"/>
            <a:chExt cx="2132" cy="628"/>
          </a:xfrm>
        </p:grpSpPr>
        <p:graphicFrame>
          <p:nvGraphicFramePr>
            <p:cNvPr id="6160" name="Object 16">
              <a:extLst>
                <a:ext uri="{FF2B5EF4-FFF2-40B4-BE49-F238E27FC236}">
                  <a16:creationId xmlns:a16="http://schemas.microsoft.com/office/drawing/2014/main" id="{AF1DAF19-DCD1-D112-42C3-2C4B8602CA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3" y="3120"/>
            <a:ext cx="1996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33440" imgH="419040" progId="Equation.3">
                    <p:embed/>
                  </p:oleObj>
                </mc:Choice>
                <mc:Fallback>
                  <p:oleObj name="公式" r:id="rId2" imgW="1333440" imgH="419040" progId="Equation.3">
                    <p:embed/>
                    <p:pic>
                      <p:nvPicPr>
                        <p:cNvPr id="6160" name="Object 16">
                          <a:extLst>
                            <a:ext uri="{FF2B5EF4-FFF2-40B4-BE49-F238E27FC236}">
                              <a16:creationId xmlns:a16="http://schemas.microsoft.com/office/drawing/2014/main" id="{AF1DAF19-DCD1-D112-42C3-2C4B8602CA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3120"/>
                          <a:ext cx="1996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1" name="AutoShape 17">
              <a:extLst>
                <a:ext uri="{FF2B5EF4-FFF2-40B4-BE49-F238E27FC236}">
                  <a16:creationId xmlns:a16="http://schemas.microsoft.com/office/drawing/2014/main" id="{7FEE7080-6B53-2F9A-BD93-D8B7E9DE5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294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62" name="Group 18">
            <a:extLst>
              <a:ext uri="{FF2B5EF4-FFF2-40B4-BE49-F238E27FC236}">
                <a16:creationId xmlns:a16="http://schemas.microsoft.com/office/drawing/2014/main" id="{7D1E221F-AA16-E3F2-E562-1E34D24FF2DA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3041923"/>
            <a:ext cx="2366962" cy="457200"/>
            <a:chOff x="2925" y="1547"/>
            <a:chExt cx="1491" cy="420"/>
          </a:xfrm>
        </p:grpSpPr>
        <p:sp>
          <p:nvSpPr>
            <p:cNvPr id="6163" name="Text Box 19">
              <a:extLst>
                <a:ext uri="{FF2B5EF4-FFF2-40B4-BE49-F238E27FC236}">
                  <a16:creationId xmlns:a16="http://schemas.microsoft.com/office/drawing/2014/main" id="{D0773A24-5A61-67CC-99BB-8127667C3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547"/>
              <a:ext cx="1344" cy="4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+(1-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)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64" name="AutoShape 20">
              <a:extLst>
                <a:ext uri="{FF2B5EF4-FFF2-40B4-BE49-F238E27FC236}">
                  <a16:creationId xmlns:a16="http://schemas.microsoft.com/office/drawing/2014/main" id="{36DB50FE-EBBD-8FA9-E24D-EF9A155E4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65" name="Group 21">
            <a:extLst>
              <a:ext uri="{FF2B5EF4-FFF2-40B4-BE49-F238E27FC236}">
                <a16:creationId xmlns:a16="http://schemas.microsoft.com/office/drawing/2014/main" id="{33A37ADC-5608-B165-6E53-858F7AFB82F4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3621360"/>
            <a:ext cx="1447800" cy="457200"/>
            <a:chOff x="2925" y="1932"/>
            <a:chExt cx="912" cy="399"/>
          </a:xfrm>
        </p:grpSpPr>
        <p:sp>
          <p:nvSpPr>
            <p:cNvPr id="6166" name="Text Box 22">
              <a:extLst>
                <a:ext uri="{FF2B5EF4-FFF2-40B4-BE49-F238E27FC236}">
                  <a16:creationId xmlns:a16="http://schemas.microsoft.com/office/drawing/2014/main" id="{89224632-6788-1EB3-87F2-702A7681B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932"/>
              <a:ext cx="765" cy="39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67" name="AutoShape 23">
              <a:extLst>
                <a:ext uri="{FF2B5EF4-FFF2-40B4-BE49-F238E27FC236}">
                  <a16:creationId xmlns:a16="http://schemas.microsoft.com/office/drawing/2014/main" id="{C94D1FF6-BB9E-5B82-F7C0-DB9604FA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979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68" name="Group 24">
            <a:extLst>
              <a:ext uri="{FF2B5EF4-FFF2-40B4-BE49-F238E27FC236}">
                <a16:creationId xmlns:a16="http://schemas.microsoft.com/office/drawing/2014/main" id="{8DC86DCA-87E3-4E90-41AB-BD4F5EC85053}"/>
              </a:ext>
            </a:extLst>
          </p:cNvPr>
          <p:cNvGrpSpPr>
            <a:grpSpLocks/>
          </p:cNvGrpSpPr>
          <p:nvPr/>
        </p:nvGrpSpPr>
        <p:grpSpPr bwMode="auto">
          <a:xfrm>
            <a:off x="4760912" y="6212160"/>
            <a:ext cx="1474788" cy="457200"/>
            <a:chOff x="3016" y="3782"/>
            <a:chExt cx="929" cy="365"/>
          </a:xfrm>
        </p:grpSpPr>
        <p:sp>
          <p:nvSpPr>
            <p:cNvPr id="6169" name="Text Box 25">
              <a:extLst>
                <a:ext uri="{FF2B5EF4-FFF2-40B4-BE49-F238E27FC236}">
                  <a16:creationId xmlns:a16="http://schemas.microsoft.com/office/drawing/2014/main" id="{A4E56049-DB7C-A2B9-0A6C-35D3D9A2C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782"/>
              <a:ext cx="777" cy="3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 baseline="30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170" name="AutoShape 26">
              <a:extLst>
                <a:ext uri="{FF2B5EF4-FFF2-40B4-BE49-F238E27FC236}">
                  <a16:creationId xmlns:a16="http://schemas.microsoft.com/office/drawing/2014/main" id="{20ED7B04-4F5A-9469-F453-2B438C363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838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7F05A33C-59F2-9743-2FED-534C7B12EB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77271B46-3225-BA89-A7F4-AF286A4E9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4" name="Text Box 5">
            <a:extLst>
              <a:ext uri="{FF2B5EF4-FFF2-40B4-BE49-F238E27FC236}">
                <a16:creationId xmlns:a16="http://schemas.microsoft.com/office/drawing/2014/main" id="{E065183E-83F3-BA33-BFB3-E31766875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 autoUpdateAnimBg="0"/>
      <p:bldP spid="6147" grpId="0" autoUpdateAnimBg="0"/>
      <p:bldP spid="6148" grpId="0" autoUpdateAnimBg="0"/>
      <p:bldP spid="6149" grpId="0" animBg="1" autoUpdateAnimBg="0"/>
      <p:bldP spid="6150" grpId="0" autoUpdateAnimBg="0"/>
      <p:bldP spid="6151" grpId="0" autoUpdateAnimBg="0"/>
      <p:bldP spid="6152" grpId="0" animBg="1" autoUpdateAnimBg="0"/>
      <p:bldP spid="6153" grpId="0" animBg="1" autoUpdateAnimBg="0"/>
      <p:bldP spid="6154" grpId="0" autoUpdateAnimBg="0"/>
      <p:bldP spid="6155" grpId="0" autoUpdateAnimBg="0"/>
      <p:bldP spid="6156" grpId="0" animBg="1" autoUpdateAnimBg="0"/>
      <p:bldP spid="6157" grpId="0" animBg="1" autoUpdateAnimBg="0"/>
      <p:bldP spid="615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42C9D690-4503-5C20-F7D8-ABBFC8EAC0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179638"/>
          <a:ext cx="27432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240" imgH="393480" progId="Equation.3">
                  <p:embed/>
                </p:oleObj>
              </mc:Choice>
              <mc:Fallback>
                <p:oleObj name="公式" r:id="rId2" imgW="876240" imgH="393480" progId="Equation.3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42C9D690-4503-5C20-F7D8-ABBFC8EAC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79638"/>
                        <a:ext cx="274320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3">
            <a:extLst>
              <a:ext uri="{FF2B5EF4-FFF2-40B4-BE49-F238E27FC236}">
                <a16:creationId xmlns:a16="http://schemas.microsoft.com/office/drawing/2014/main" id="{8CC32A14-BA69-DC6C-534A-ABD53090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200" y="3124200"/>
            <a:ext cx="3852863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a~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交换比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甲乙导弹数量比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00EFE484-E707-FE48-F851-DC37DF667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2484438"/>
            <a:ext cx="1077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a y,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6F90C120-F75E-09B3-3509-3F9113B5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11635"/>
            <a:ext cx="1219200" cy="9461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精细模型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38B955B4-7907-D026-1E31-ED4139B7A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75" y="1819672"/>
            <a:ext cx="155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x=y, y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4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EA6AF312-9549-E03D-A553-FCC2EC106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819672"/>
            <a:ext cx="2357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=2</a:t>
            </a:r>
            <a:r>
              <a:rPr kumimoji="1"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</a:rPr>
              <a:t>y,  y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4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</a:rPr>
              <a:t>/</a:t>
            </a:r>
            <a:r>
              <a:rPr kumimoji="1"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30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E2E1AFF6-1199-77AA-DE6C-C6CFB02B8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488" y="2376488"/>
            <a:ext cx="14986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威慑值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B8FF1026-2544-DE2B-8563-5902FFCCF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362200"/>
            <a:ext cx="17526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s~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残存率</a:t>
            </a:r>
          </a:p>
        </p:txBody>
      </p:sp>
      <p:grpSp>
        <p:nvGrpSpPr>
          <p:cNvPr id="7178" name="Group 10">
            <a:extLst>
              <a:ext uri="{FF2B5EF4-FFF2-40B4-BE49-F238E27FC236}">
                <a16:creationId xmlns:a16="http://schemas.microsoft.com/office/drawing/2014/main" id="{3D93FF6A-D6D1-14F7-F871-88BAF2FAF06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400550"/>
            <a:ext cx="2895600" cy="1162050"/>
            <a:chOff x="240" y="1584"/>
            <a:chExt cx="1824" cy="732"/>
          </a:xfrm>
        </p:grpSpPr>
        <p:sp>
          <p:nvSpPr>
            <p:cNvPr id="7179" name="Freeform 11">
              <a:extLst>
                <a:ext uri="{FF2B5EF4-FFF2-40B4-BE49-F238E27FC236}">
                  <a16:creationId xmlns:a16="http://schemas.microsoft.com/office/drawing/2014/main" id="{18D7C5E9-17E9-C230-0DCC-0041BC34F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1584"/>
              <a:ext cx="1824" cy="732"/>
            </a:xfrm>
            <a:custGeom>
              <a:avLst/>
              <a:gdLst>
                <a:gd name="T0" fmla="*/ 0 w 1380"/>
                <a:gd name="T1" fmla="*/ 780 h 780"/>
                <a:gd name="T2" fmla="*/ 216 w 1380"/>
                <a:gd name="T3" fmla="*/ 576 h 780"/>
                <a:gd name="T4" fmla="*/ 396 w 1380"/>
                <a:gd name="T5" fmla="*/ 432 h 780"/>
                <a:gd name="T6" fmla="*/ 564 w 1380"/>
                <a:gd name="T7" fmla="*/ 324 h 780"/>
                <a:gd name="T8" fmla="*/ 792 w 1380"/>
                <a:gd name="T9" fmla="*/ 192 h 780"/>
                <a:gd name="T10" fmla="*/ 1020 w 1380"/>
                <a:gd name="T11" fmla="*/ 84 h 780"/>
                <a:gd name="T12" fmla="*/ 1224 w 1380"/>
                <a:gd name="T13" fmla="*/ 24 h 780"/>
                <a:gd name="T14" fmla="*/ 1380 w 1380"/>
                <a:gd name="T15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0" name="Text Box 12">
              <a:extLst>
                <a:ext uri="{FF2B5EF4-FFF2-40B4-BE49-F238E27FC236}">
                  <a16:creationId xmlns:a16="http://schemas.microsoft.com/office/drawing/2014/main" id="{E5103230-2954-A81B-E126-C5727EA00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32"/>
              <a:ext cx="5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=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181" name="Text Box 13">
            <a:extLst>
              <a:ext uri="{FF2B5EF4-FFF2-40B4-BE49-F238E27FC236}">
                <a16:creationId xmlns:a16="http://schemas.microsoft.com/office/drawing/2014/main" id="{9A737620-8008-120B-E9D3-5E54E06FA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86200"/>
            <a:ext cx="3681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是一条上凸的曲线</a:t>
            </a:r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EEE04CFA-B3B4-FD0F-E34E-D4A0A5FF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4958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变大，曲线上移、变陡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AD27C47C-9C39-76EE-71A0-3531B070E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1054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s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变大，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减小，曲线变平</a:t>
            </a:r>
          </a:p>
        </p:txBody>
      </p:sp>
      <p:sp>
        <p:nvSpPr>
          <p:cNvPr id="7184" name="Text Box 16">
            <a:extLst>
              <a:ext uri="{FF2B5EF4-FFF2-40B4-BE49-F238E27FC236}">
                <a16:creationId xmlns:a16="http://schemas.microsoft.com/office/drawing/2014/main" id="{EC6B2F5A-88C6-E03F-ADC9-03A816C24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838" y="5668963"/>
            <a:ext cx="4246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变大，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增加，曲线变陡</a:t>
            </a:r>
          </a:p>
        </p:txBody>
      </p:sp>
      <p:grpSp>
        <p:nvGrpSpPr>
          <p:cNvPr id="7185" name="Group 17">
            <a:extLst>
              <a:ext uri="{FF2B5EF4-FFF2-40B4-BE49-F238E27FC236}">
                <a16:creationId xmlns:a16="http://schemas.microsoft.com/office/drawing/2014/main" id="{20992778-47C2-6A00-9CC5-BDBE3A253CF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505200"/>
            <a:ext cx="4114800" cy="2743200"/>
            <a:chOff x="432" y="2208"/>
            <a:chExt cx="2592" cy="1728"/>
          </a:xfrm>
        </p:grpSpPr>
        <p:sp>
          <p:nvSpPr>
            <p:cNvPr id="7186" name="Line 18">
              <a:extLst>
                <a:ext uri="{FF2B5EF4-FFF2-40B4-BE49-F238E27FC236}">
                  <a16:creationId xmlns:a16="http://schemas.microsoft.com/office/drawing/2014/main" id="{373C3F9D-CCAD-E4C1-C094-1F5A27C9E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74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7" name="Text Box 19">
              <a:extLst>
                <a:ext uri="{FF2B5EF4-FFF2-40B4-BE49-F238E27FC236}">
                  <a16:creationId xmlns:a16="http://schemas.microsoft.com/office/drawing/2014/main" id="{E942B86C-C452-20BC-9530-27FE7AC64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64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188" name="Text Box 20">
              <a:extLst>
                <a:ext uri="{FF2B5EF4-FFF2-40B4-BE49-F238E27FC236}">
                  <a16:creationId xmlns:a16="http://schemas.microsoft.com/office/drawing/2014/main" id="{F4595007-6C3E-4B3A-5982-D516EBB37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20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189" name="Text Box 21">
              <a:extLst>
                <a:ext uri="{FF2B5EF4-FFF2-40B4-BE49-F238E27FC236}">
                  <a16:creationId xmlns:a16="http://schemas.microsoft.com/office/drawing/2014/main" id="{DAB03271-B57C-49B5-385B-8D2348CD9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60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en-US" sz="2400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190" name="Text Box 22">
              <a:extLst>
                <a:ext uri="{FF2B5EF4-FFF2-40B4-BE49-F238E27FC236}">
                  <a16:creationId xmlns:a16="http://schemas.microsoft.com/office/drawing/2014/main" id="{F2A1E278-2374-2FA7-4AD2-95593DED8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7191" name="Line 23">
              <a:extLst>
                <a:ext uri="{FF2B5EF4-FFF2-40B4-BE49-F238E27FC236}">
                  <a16:creationId xmlns:a16="http://schemas.microsoft.com/office/drawing/2014/main" id="{23B0D191-F77C-7571-A73E-79EBCBBCDD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92" name="Text Box 24">
            <a:extLst>
              <a:ext uri="{FF2B5EF4-FFF2-40B4-BE49-F238E27FC236}">
                <a16:creationId xmlns:a16="http://schemas.microsoft.com/office/drawing/2014/main" id="{92362961-052C-8221-CAB6-FFF6C1B86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150" y="1057672"/>
            <a:ext cx="2390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x&lt;y,  y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4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+(1-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</a:rPr>
              <a:t>x</a:t>
            </a:r>
          </a:p>
        </p:txBody>
      </p:sp>
      <p:grpSp>
        <p:nvGrpSpPr>
          <p:cNvPr id="7193" name="Group 25">
            <a:extLst>
              <a:ext uri="{FF2B5EF4-FFF2-40B4-BE49-F238E27FC236}">
                <a16:creationId xmlns:a16="http://schemas.microsoft.com/office/drawing/2014/main" id="{4F9F050C-FD65-BEC2-281B-383159B0500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63963"/>
            <a:ext cx="1981200" cy="2179637"/>
            <a:chOff x="672" y="2371"/>
            <a:chExt cx="1248" cy="1373"/>
          </a:xfrm>
        </p:grpSpPr>
        <p:sp>
          <p:nvSpPr>
            <p:cNvPr id="7194" name="Line 26">
              <a:extLst>
                <a:ext uri="{FF2B5EF4-FFF2-40B4-BE49-F238E27FC236}">
                  <a16:creationId xmlns:a16="http://schemas.microsoft.com/office/drawing/2014/main" id="{E8A1BDD3-6D0C-B84D-1265-B945D2EC7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544"/>
              <a:ext cx="1248" cy="1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5" name="Line 27">
              <a:extLst>
                <a:ext uri="{FF2B5EF4-FFF2-40B4-BE49-F238E27FC236}">
                  <a16:creationId xmlns:a16="http://schemas.microsoft.com/office/drawing/2014/main" id="{BDF34BED-B73A-D01C-63F0-D326F2632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3120"/>
              <a:ext cx="624" cy="38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Text Box 28">
              <a:extLst>
                <a:ext uri="{FF2B5EF4-FFF2-40B4-BE49-F238E27FC236}">
                  <a16:creationId xmlns:a16="http://schemas.microsoft.com/office/drawing/2014/main" id="{F4DF20BC-6987-9895-E2FC-8893CBA14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2371"/>
              <a:ext cx="4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x=y</a:t>
              </a:r>
            </a:p>
          </p:txBody>
        </p:sp>
      </p:grpSp>
      <p:grpSp>
        <p:nvGrpSpPr>
          <p:cNvPr id="7197" name="Group 29">
            <a:extLst>
              <a:ext uri="{FF2B5EF4-FFF2-40B4-BE49-F238E27FC236}">
                <a16:creationId xmlns:a16="http://schemas.microsoft.com/office/drawing/2014/main" id="{4267FCED-635D-85DE-FF34-9589C1C26ED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687763"/>
            <a:ext cx="3276600" cy="2255837"/>
            <a:chOff x="672" y="2323"/>
            <a:chExt cx="2064" cy="1421"/>
          </a:xfrm>
        </p:grpSpPr>
        <p:sp>
          <p:nvSpPr>
            <p:cNvPr id="7198" name="Line 30">
              <a:extLst>
                <a:ext uri="{FF2B5EF4-FFF2-40B4-BE49-F238E27FC236}">
                  <a16:creationId xmlns:a16="http://schemas.microsoft.com/office/drawing/2014/main" id="{B9AF9B0F-23C7-60AC-3244-B0A9A87C7E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592"/>
              <a:ext cx="1776" cy="115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Line 31">
              <a:extLst>
                <a:ext uri="{FF2B5EF4-FFF2-40B4-BE49-F238E27FC236}">
                  <a16:creationId xmlns:a16="http://schemas.microsoft.com/office/drawing/2014/main" id="{0C7D1F12-E37F-D481-8943-4A7DF9DCF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832"/>
              <a:ext cx="768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Text Box 32">
              <a:extLst>
                <a:ext uri="{FF2B5EF4-FFF2-40B4-BE49-F238E27FC236}">
                  <a16:creationId xmlns:a16="http://schemas.microsoft.com/office/drawing/2014/main" id="{CEDE4DB2-2EAE-4286-C0A2-503264CEF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2323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=2</a:t>
              </a:r>
              <a:r>
                <a:rPr kumimoji="1"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7201" name="Group 33">
            <a:extLst>
              <a:ext uri="{FF2B5EF4-FFF2-40B4-BE49-F238E27FC236}">
                <a16:creationId xmlns:a16="http://schemas.microsoft.com/office/drawing/2014/main" id="{0D0118D0-9F30-6136-1B2B-F4FFFE5AFA1E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838597"/>
            <a:ext cx="4211638" cy="928688"/>
            <a:chOff x="2858" y="73"/>
            <a:chExt cx="2653" cy="585"/>
          </a:xfrm>
        </p:grpSpPr>
        <p:sp>
          <p:nvSpPr>
            <p:cNvPr id="7202" name="Text Box 34">
              <a:extLst>
                <a:ext uri="{FF2B5EF4-FFF2-40B4-BE49-F238E27FC236}">
                  <a16:creationId xmlns:a16="http://schemas.microsoft.com/office/drawing/2014/main" id="{C66507D8-814E-EFFA-1709-CCE6E98A6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" y="211"/>
              <a:ext cx="7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y&lt;x&lt;</a:t>
              </a:r>
              <a:r>
                <a:rPr kumimoji="1"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y,</a:t>
              </a:r>
            </a:p>
          </p:txBody>
        </p:sp>
        <p:graphicFrame>
          <p:nvGraphicFramePr>
            <p:cNvPr id="7203" name="Object 35">
              <a:extLst>
                <a:ext uri="{FF2B5EF4-FFF2-40B4-BE49-F238E27FC236}">
                  <a16:creationId xmlns:a16="http://schemas.microsoft.com/office/drawing/2014/main" id="{C6918121-FA04-3C4F-982C-5598E8B26D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73"/>
            <a:ext cx="1860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33440" imgH="419040" progId="Equation.3">
                    <p:embed/>
                  </p:oleObj>
                </mc:Choice>
                <mc:Fallback>
                  <p:oleObj name="公式" r:id="rId4" imgW="1333440" imgH="419040" progId="Equation.3">
                    <p:embed/>
                    <p:pic>
                      <p:nvPicPr>
                        <p:cNvPr id="7203" name="Object 35">
                          <a:extLst>
                            <a:ext uri="{FF2B5EF4-FFF2-40B4-BE49-F238E27FC236}">
                              <a16:creationId xmlns:a16="http://schemas.microsoft.com/office/drawing/2014/main" id="{C6918121-FA04-3C4F-982C-5598E8B26D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73"/>
                          <a:ext cx="1860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9ABA52CC-ECFD-7775-A2E9-840D3990E2A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790993"/>
            <a:ext cx="9144000" cy="45719"/>
          </a:xfrm>
          <a:prstGeom prst="rect">
            <a:avLst/>
          </a:prstGeom>
          <a:gradFill>
            <a:gsLst>
              <a:gs pos="0">
                <a:srgbClr val="1F497D">
                  <a:lumMod val="20000"/>
                  <a:lumOff val="80000"/>
                </a:srgbClr>
              </a:gs>
              <a:gs pos="25000">
                <a:srgbClr val="1F497D">
                  <a:lumMod val="40000"/>
                  <a:lumOff val="60000"/>
                </a:srgbClr>
              </a:gs>
              <a:gs pos="50000">
                <a:srgbClr val="1F497D">
                  <a:lumMod val="60000"/>
                  <a:lumOff val="40000"/>
                </a:srgbClr>
              </a:gs>
              <a:gs pos="75000">
                <a:srgbClr val="1F497D">
                  <a:lumMod val="40000"/>
                  <a:lumOff val="60000"/>
                </a:srgbClr>
              </a:gs>
              <a:gs pos="100000">
                <a:srgbClr val="1F497D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Picture 2" descr="http://www.scut.edu.cn/publish2/news/intro/logo/resource/1smevus1otq84b.jpg">
            <a:extLst>
              <a:ext uri="{FF2B5EF4-FFF2-40B4-BE49-F238E27FC236}">
                <a16:creationId xmlns:a16="http://schemas.microsoft.com/office/drawing/2014/main" id="{6057E7FE-81A7-5899-921F-E4DA5162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80" y="44624"/>
            <a:ext cx="692696" cy="692696"/>
          </a:xfrm>
          <a:prstGeom prst="rect">
            <a:avLst/>
          </a:prstGeom>
          <a:noFill/>
        </p:spPr>
      </p:pic>
      <p:sp>
        <p:nvSpPr>
          <p:cNvPr id="4" name="Text Box 5">
            <a:extLst>
              <a:ext uri="{FF2B5EF4-FFF2-40B4-BE49-F238E27FC236}">
                <a16:creationId xmlns:a16="http://schemas.microsoft.com/office/drawing/2014/main" id="{95E1DD5C-B5F4-C9A7-31F9-83EEE2D40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256" y="98344"/>
            <a:ext cx="7200800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44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9726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3678238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3859213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4035425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4492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4949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54070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5864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r>
              <a:rPr lang="en-US" altLang="zh-CN" sz="3600" dirty="0"/>
              <a:t>2.3 </a:t>
            </a:r>
            <a:r>
              <a:rPr lang="zh-CN" altLang="en-US" sz="3600" dirty="0"/>
              <a:t>核武器竞赛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1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/>
      <p:bldP spid="7172" grpId="0" autoUpdateAnimBg="0"/>
      <p:bldP spid="7174" grpId="0" autoUpdateAnimBg="0"/>
      <p:bldP spid="7175" grpId="0" autoUpdateAnimBg="0"/>
      <p:bldP spid="7176" grpId="0" animBg="1"/>
      <p:bldP spid="7177" grpId="0" animBg="1"/>
      <p:bldP spid="7181" grpId="0" animBg="1" autoUpdateAnimBg="0"/>
      <p:bldP spid="7182" grpId="0" animBg="1" autoUpdateAnimBg="0"/>
      <p:bldP spid="7183" grpId="0" animBg="1" autoUpdateAnimBg="0"/>
      <p:bldP spid="7184" grpId="0" animBg="1" autoUpdateAnimBg="0"/>
      <p:bldP spid="7192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2602</Words>
  <Application>Microsoft Office PowerPoint</Application>
  <PresentationFormat>全屏显示(4:3)</PresentationFormat>
  <Paragraphs>428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 Unicode MS</vt:lpstr>
      <vt:lpstr>楷体_GB2312</vt:lpstr>
      <vt:lpstr>微软雅黑</vt:lpstr>
      <vt:lpstr>Arial</vt:lpstr>
      <vt:lpstr>Calibri</vt:lpstr>
      <vt:lpstr>Times New Roman</vt:lpstr>
      <vt:lpstr>Wingdings</vt:lpstr>
      <vt:lpstr>Office 主题</vt:lpstr>
      <vt:lpstr>Equation</vt:lpstr>
      <vt:lpstr>Equation.3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xmwang</dc:creator>
  <cp:lastModifiedBy>WANG XM</cp:lastModifiedBy>
  <cp:revision>71</cp:revision>
  <dcterms:created xsi:type="dcterms:W3CDTF">2018-08-30T03:08:46Z</dcterms:created>
  <dcterms:modified xsi:type="dcterms:W3CDTF">2025-09-01T09:10:22Z</dcterms:modified>
</cp:coreProperties>
</file>