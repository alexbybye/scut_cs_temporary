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54" r:id="rId2"/>
    <p:sldId id="562" r:id="rId3"/>
    <p:sldId id="567" r:id="rId4"/>
    <p:sldId id="568" r:id="rId5"/>
    <p:sldId id="566" r:id="rId6"/>
    <p:sldId id="601" r:id="rId7"/>
    <p:sldId id="602" r:id="rId8"/>
    <p:sldId id="603" r:id="rId9"/>
    <p:sldId id="605" r:id="rId10"/>
    <p:sldId id="609" r:id="rId11"/>
    <p:sldId id="606" r:id="rId12"/>
    <p:sldId id="610" r:id="rId13"/>
    <p:sldId id="612" r:id="rId14"/>
    <p:sldId id="614" r:id="rId15"/>
    <p:sldId id="615" r:id="rId16"/>
    <p:sldId id="616" r:id="rId17"/>
    <p:sldId id="617" r:id="rId18"/>
    <p:sldId id="618" r:id="rId19"/>
    <p:sldId id="619" r:id="rId20"/>
    <p:sldId id="620" r:id="rId21"/>
    <p:sldId id="621" r:id="rId22"/>
    <p:sldId id="622" r:id="rId23"/>
    <p:sldId id="623" r:id="rId24"/>
    <p:sldId id="624" r:id="rId25"/>
    <p:sldId id="625" r:id="rId26"/>
    <p:sldId id="626" r:id="rId27"/>
    <p:sldId id="627" r:id="rId28"/>
    <p:sldId id="628" r:id="rId29"/>
    <p:sldId id="629" r:id="rId30"/>
    <p:sldId id="631" r:id="rId31"/>
    <p:sldId id="632" r:id="rId32"/>
    <p:sldId id="633" r:id="rId33"/>
    <p:sldId id="634" r:id="rId34"/>
    <p:sldId id="635" r:id="rId35"/>
    <p:sldId id="636" r:id="rId36"/>
    <p:sldId id="637"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490" autoAdjust="0"/>
  </p:normalViewPr>
  <p:slideViewPr>
    <p:cSldViewPr>
      <p:cViewPr varScale="1">
        <p:scale>
          <a:sx n="115" d="100"/>
          <a:sy n="115" d="100"/>
        </p:scale>
        <p:origin x="849" y="5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2024/9/19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3.emf"/><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0.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12.emf"/><Relationship Id="rId4" Type="http://schemas.openxmlformats.org/officeDocument/2006/relationships/image" Target="../media/image9.e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oleObject" Target="../embeddings/oleObject8.bin"/><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oleObject" Target="../embeddings/oleObject10.bin"/><Relationship Id="rId4" Type="http://schemas.openxmlformats.org/officeDocument/2006/relationships/image" Target="../media/image17.wmf"/></Relationships>
</file>

<file path=ppt/slides/_rels/slide1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1.emf"/><Relationship Id="rId5" Type="http://schemas.openxmlformats.org/officeDocument/2006/relationships/oleObject" Target="../embeddings/oleObject13.bin"/><Relationship Id="rId10" Type="http://schemas.openxmlformats.org/officeDocument/2006/relationships/image" Target="../media/image23.emf"/><Relationship Id="rId4" Type="http://schemas.openxmlformats.org/officeDocument/2006/relationships/image" Target="../media/image20.emf"/><Relationship Id="rId9"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5.wmf"/><Relationship Id="rId5" Type="http://schemas.openxmlformats.org/officeDocument/2006/relationships/oleObject" Target="../embeddings/oleObject17.bin"/><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6.emf"/><Relationship Id="rId5" Type="http://schemas.openxmlformats.org/officeDocument/2006/relationships/oleObject" Target="../embeddings/oleObject18.bin"/><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8.emf"/><Relationship Id="rId5" Type="http://schemas.openxmlformats.org/officeDocument/2006/relationships/oleObject" Target="../embeddings/oleObject20.bin"/><Relationship Id="rId4" Type="http://schemas.openxmlformats.org/officeDocument/2006/relationships/image" Target="../media/image27.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2.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2.emf"/></Relationships>
</file>

<file path=ppt/slides/_rels/slide29.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4.emf"/><Relationship Id="rId5" Type="http://schemas.openxmlformats.org/officeDocument/2006/relationships/oleObject" Target="../embeddings/oleObject26.bin"/><Relationship Id="rId10" Type="http://schemas.openxmlformats.org/officeDocument/2006/relationships/image" Target="../media/image42.png"/><Relationship Id="rId4" Type="http://schemas.openxmlformats.org/officeDocument/2006/relationships/image" Target="../media/image33.emf"/></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24" name="Picture 2" descr="http://www.scut.edu.cn/publish2/news/intro/logo/resource/1smevus1otq84b.jpg"/>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a:t>
            </a:fld>
            <a:endParaRPr lang="zh-CN" altLang="en-US" b="1" dirty="0">
              <a:solidFill>
                <a:srgbClr val="FF0000"/>
              </a:solidFill>
            </a:endParaRPr>
          </a:p>
        </p:txBody>
      </p:sp>
      <p:sp>
        <p:nvSpPr>
          <p:cNvPr id="31" name="Text Box 11"/>
          <p:cNvSpPr txBox="1">
            <a:spLocks noChangeArrowheads="1"/>
          </p:cNvSpPr>
          <p:nvPr/>
        </p:nvSpPr>
        <p:spPr bwMode="auto">
          <a:xfrm>
            <a:off x="395536" y="1556792"/>
            <a:ext cx="84164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50000"/>
              </a:spcBef>
              <a:buClrTx/>
              <a:buSzTx/>
              <a:buFont typeface="Wingdings" panose="05000000000000000000" pitchFamily="2" charset="2"/>
              <a:buNone/>
              <a:defRPr sz="4000" b="1">
                <a:solidFill>
                  <a:srgbClr val="FF0000"/>
                </a:solidFill>
                <a:latin typeface="微软雅黑" pitchFamily="34" charset="-122"/>
                <a:ea typeface="微软雅黑" pitchFamily="34" charset="-122"/>
              </a:defRPr>
            </a:lvl1pPr>
            <a:lvl2pPr marL="742950" indent="-285750" eaLnBrk="0" hangingPunct="0">
              <a:spcBef>
                <a:spcPts val="250"/>
              </a:spcBef>
              <a:buClr>
                <a:srgbClr val="FF0000"/>
              </a:buClr>
              <a:buSzPct val="100000"/>
              <a:buFont typeface="Wingdings" panose="05000000000000000000" pitchFamily="2" charset="2"/>
              <a:buChar char="Ø"/>
              <a:defRPr sz="2000" b="1">
                <a:latin typeface="Times New Roman" panose="02020603050405020304" pitchFamily="18" charset="0"/>
                <a:ea typeface="宋体" panose="02010600030101010101" pitchFamily="2" charset="-122"/>
              </a:defRPr>
            </a:lvl2pPr>
            <a:lvl3pPr marL="1143000" indent="-228600" eaLnBrk="0" hangingPunct="0">
              <a:spcBef>
                <a:spcPts val="250"/>
              </a:spcBef>
              <a:buClr>
                <a:srgbClr val="ED3742"/>
              </a:buClr>
              <a:buSzPct val="100000"/>
              <a:buFont typeface="Wingdings 2" panose="05020102010507070707" pitchFamily="18" charset="2"/>
              <a:buChar char=""/>
              <a:defRPr sz="2400">
                <a:latin typeface="Arial Rounded MT Bold" panose="020F0704030504030204" pitchFamily="34" charset="0"/>
                <a:ea typeface="宋体" panose="02010600030101010101" pitchFamily="2" charset="-122"/>
              </a:defRPr>
            </a:lvl3pPr>
            <a:lvl4pPr marL="1600200" indent="-228600" eaLnBrk="0" hangingPunct="0">
              <a:spcBef>
                <a:spcPts val="225"/>
              </a:spcBef>
              <a:buClr>
                <a:srgbClr val="ED3742"/>
              </a:buClr>
              <a:buSzPct val="112000"/>
              <a:buFont typeface="Verdana" panose="020B0604030504040204" pitchFamily="34" charset="0"/>
              <a:buChar char="◦"/>
              <a:defRPr sz="1900">
                <a:latin typeface="Arial Rounded MT Bold" panose="020F0704030504030204" pitchFamily="34" charset="0"/>
                <a:ea typeface="宋体" panose="02010600030101010101" pitchFamily="2" charset="-122"/>
              </a:defRPr>
            </a:lvl4pPr>
            <a:lvl5pPr marL="2057400" indent="-228600" eaLnBrk="0" hangingPunct="0">
              <a:spcBef>
                <a:spcPts val="250"/>
              </a:spcBef>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9pPr>
          </a:lstStyle>
          <a:p>
            <a:pPr>
              <a:defRPr/>
            </a:pPr>
            <a:r>
              <a:rPr lang="zh-CN" altLang="en-US" sz="5400" dirty="0">
                <a:solidFill>
                  <a:srgbClr val="C00000"/>
                </a:solidFill>
                <a:latin typeface="Arial" charset="0"/>
                <a:ea typeface="华文新魏" pitchFamily="2" charset="-122"/>
              </a:rPr>
              <a:t>数学建模与实验</a:t>
            </a:r>
          </a:p>
        </p:txBody>
      </p:sp>
      <p:grpSp>
        <p:nvGrpSpPr>
          <p:cNvPr id="34" name="Group 3"/>
          <p:cNvGrpSpPr>
            <a:grpSpLocks/>
          </p:cNvGrpSpPr>
          <p:nvPr/>
        </p:nvGrpSpPr>
        <p:grpSpPr bwMode="auto">
          <a:xfrm>
            <a:off x="1439467" y="5662615"/>
            <a:ext cx="6265069" cy="719137"/>
            <a:chOff x="249" y="3702"/>
            <a:chExt cx="5262" cy="453"/>
          </a:xfrm>
        </p:grpSpPr>
        <p:pic>
          <p:nvPicPr>
            <p:cNvPr id="3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6"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7"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8" name="Picture 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1"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9"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1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grpSp>
      <p:sp>
        <p:nvSpPr>
          <p:cNvPr id="15" name="矩形 14">
            <a:extLst>
              <a:ext uri="{FF2B5EF4-FFF2-40B4-BE49-F238E27FC236}">
                <a16:creationId xmlns:a16="http://schemas.microsoft.com/office/drawing/2014/main" id="{345BBAC6-9C8F-4B43-B203-AB4AEDCB6C5B}"/>
              </a:ext>
            </a:extLst>
          </p:cNvPr>
          <p:cNvSpPr/>
          <p:nvPr/>
        </p:nvSpPr>
        <p:spPr>
          <a:xfrm>
            <a:off x="2146297" y="3425275"/>
            <a:ext cx="4729959" cy="1446550"/>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最优化与数学规划模型</a:t>
            </a:r>
          </a:p>
        </p:txBody>
      </p:sp>
    </p:spTree>
    <p:extLst>
      <p:ext uri="{BB962C8B-B14F-4D97-AF65-F5344CB8AC3E}">
        <p14:creationId xmlns:p14="http://schemas.microsoft.com/office/powerpoint/2010/main" val="40549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最优化方法概述</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4" name="矩形 3">
            <a:extLst>
              <a:ext uri="{FF2B5EF4-FFF2-40B4-BE49-F238E27FC236}">
                <a16:creationId xmlns:a16="http://schemas.microsoft.com/office/drawing/2014/main" id="{0A4AC841-3EF0-4298-B228-E51A8D57E4A6}"/>
              </a:ext>
            </a:extLst>
          </p:cNvPr>
          <p:cNvSpPr/>
          <p:nvPr/>
        </p:nvSpPr>
        <p:spPr>
          <a:xfrm>
            <a:off x="395536" y="1142986"/>
            <a:ext cx="8352928" cy="954107"/>
          </a:xfrm>
          <a:prstGeom prst="rect">
            <a:avLst/>
          </a:prstGeom>
        </p:spPr>
        <p:txBody>
          <a:bodyPr wrap="square">
            <a:spAutoFit/>
          </a:bodyPr>
          <a:lstStyle/>
          <a:p>
            <a:pPr algn="just">
              <a:spcBef>
                <a:spcPts val="600"/>
              </a:spcBef>
            </a:pPr>
            <a:r>
              <a:rPr kumimoji="1" lang="en-US" altLang="zh-CN" sz="2800" b="1" dirty="0">
                <a:latin typeface="Times New Roman" panose="02020603050405020304" pitchFamily="18" charset="0"/>
                <a:ea typeface="宋体" panose="02010600030101010101" pitchFamily="2" charset="-122"/>
              </a:rPr>
              <a:t>1</a:t>
            </a:r>
            <a:r>
              <a:rPr kumimoji="1" lang="zh-CN" altLang="en-US" sz="2800" b="1" dirty="0">
                <a:latin typeface="Times New Roman" panose="02020603050405020304" pitchFamily="18" charset="0"/>
                <a:ea typeface="宋体" panose="02010600030101010101" pitchFamily="2" charset="-122"/>
              </a:rPr>
              <a:t>、最优化理论和方法是多年来发展十分迅速的一个数学分支。</a:t>
            </a:r>
          </a:p>
        </p:txBody>
      </p:sp>
      <p:sp>
        <p:nvSpPr>
          <p:cNvPr id="5" name="矩形 4">
            <a:extLst>
              <a:ext uri="{FF2B5EF4-FFF2-40B4-BE49-F238E27FC236}">
                <a16:creationId xmlns:a16="http://schemas.microsoft.com/office/drawing/2014/main" id="{3666FE37-3576-42F9-907E-34621EA24FB9}"/>
              </a:ext>
            </a:extLst>
          </p:cNvPr>
          <p:cNvSpPr/>
          <p:nvPr/>
        </p:nvSpPr>
        <p:spPr>
          <a:xfrm>
            <a:off x="395536" y="2341753"/>
            <a:ext cx="7632848" cy="1969770"/>
          </a:xfrm>
          <a:prstGeom prst="rect">
            <a:avLst/>
          </a:prstGeom>
        </p:spPr>
        <p:txBody>
          <a:bodyPr wrap="square">
            <a:spAutoFit/>
          </a:bodyPr>
          <a:lstStyle/>
          <a:p>
            <a:pPr algn="just">
              <a:spcBef>
                <a:spcPts val="600"/>
              </a:spcBef>
            </a:pPr>
            <a:r>
              <a:rPr kumimoji="1" lang="en-US" altLang="zh-CN" sz="2800" b="1" dirty="0">
                <a:latin typeface="Times New Roman" panose="02020603050405020304" pitchFamily="18" charset="0"/>
              </a:rPr>
              <a:t>2</a:t>
            </a:r>
            <a:r>
              <a:rPr kumimoji="1" lang="zh-CN" altLang="en-US" sz="2800" b="1" dirty="0">
                <a:latin typeface="Times New Roman" panose="02020603050405020304" pitchFamily="18" charset="0"/>
              </a:rPr>
              <a:t>、最优化已经广泛的渗透到工程、经济、电子技术等领域。</a:t>
            </a:r>
            <a:endParaRPr kumimoji="1" lang="en-US" altLang="zh-CN" sz="2800" b="1" dirty="0">
              <a:latin typeface="Times New Roman" panose="02020603050405020304" pitchFamily="18" charset="0"/>
            </a:endParaRPr>
          </a:p>
          <a:p>
            <a:pPr algn="just">
              <a:spcBef>
                <a:spcPts val="600"/>
              </a:spcBef>
            </a:pPr>
            <a:endParaRPr kumimoji="1" lang="zh-CN" altLang="en-US" sz="2800" b="1" dirty="0">
              <a:latin typeface="Times New Roman" panose="02020603050405020304" pitchFamily="18" charset="0"/>
            </a:endParaRPr>
          </a:p>
          <a:p>
            <a:pPr algn="just">
              <a:spcBef>
                <a:spcPts val="600"/>
              </a:spcBef>
            </a:pPr>
            <a:r>
              <a:rPr kumimoji="1" lang="en-US" altLang="zh-CN" sz="2800" b="1" dirty="0">
                <a:latin typeface="Times New Roman" panose="02020603050405020304" pitchFamily="18" charset="0"/>
                <a:ea typeface="宋体" panose="02010600030101010101" pitchFamily="2" charset="-122"/>
              </a:rPr>
              <a:t>3</a:t>
            </a:r>
            <a:r>
              <a:rPr kumimoji="1" lang="zh-CN" altLang="en-US" sz="2800" b="1" dirty="0">
                <a:latin typeface="Times New Roman" panose="02020603050405020304" pitchFamily="18" charset="0"/>
                <a:ea typeface="宋体" panose="02010600030101010101" pitchFamily="2" charset="-122"/>
              </a:rPr>
              <a:t>、在数学上，最优化是一种求极值的方法。</a:t>
            </a:r>
          </a:p>
        </p:txBody>
      </p:sp>
    </p:spTree>
    <p:extLst>
      <p:ext uri="{BB962C8B-B14F-4D97-AF65-F5344CB8AC3E}">
        <p14:creationId xmlns:p14="http://schemas.microsoft.com/office/powerpoint/2010/main" val="70294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9" name="Text Box 2">
            <a:extLst>
              <a:ext uri="{FF2B5EF4-FFF2-40B4-BE49-F238E27FC236}">
                <a16:creationId xmlns:a16="http://schemas.microsoft.com/office/drawing/2014/main" id="{601AB713-ABC2-4929-BF64-8D1D2D1DEDA7}"/>
              </a:ext>
            </a:extLst>
          </p:cNvPr>
          <p:cNvSpPr txBox="1">
            <a:spLocks noChangeArrowheads="1"/>
          </p:cNvSpPr>
          <p:nvPr/>
        </p:nvSpPr>
        <p:spPr bwMode="auto">
          <a:xfrm>
            <a:off x="647700" y="1196752"/>
            <a:ext cx="7848600" cy="4315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kumimoji="1" lang="en-US" altLang="zh-CN" sz="2800" b="1" dirty="0">
                <a:latin typeface="Times New Roman" panose="02020603050405020304" pitchFamily="18" charset="0"/>
                <a:ea typeface="宋体" panose="02010600030101010101" pitchFamily="2" charset="-122"/>
              </a:rPr>
              <a:t> </a:t>
            </a:r>
            <a:r>
              <a:rPr kumimoji="1" lang="zh-CN" altLang="en-US" sz="2800" b="1" dirty="0">
                <a:latin typeface="Times New Roman" panose="02020603050405020304" pitchFamily="18" charset="0"/>
                <a:ea typeface="宋体" panose="02010600030101010101" pitchFamily="2" charset="-122"/>
              </a:rPr>
              <a:t>数学家对最优化问题的研究已经有很多年的历史。 </a:t>
            </a:r>
          </a:p>
          <a:p>
            <a:pPr algn="l">
              <a:spcBef>
                <a:spcPct val="20000"/>
              </a:spcBef>
            </a:pPr>
            <a:endParaRPr kumimoji="1" lang="zh-CN" altLang="en-US" sz="2800" b="1" dirty="0">
              <a:latin typeface="Times New Roman" panose="02020603050405020304" pitchFamily="18" charset="0"/>
              <a:ea typeface="宋体" panose="02010600030101010101" pitchFamily="2" charset="-122"/>
            </a:endParaRPr>
          </a:p>
          <a:p>
            <a:pPr algn="l">
              <a:spcBef>
                <a:spcPct val="20000"/>
              </a:spcBef>
            </a:pPr>
            <a:r>
              <a:rPr kumimoji="1" lang="zh-CN" altLang="en-US" sz="2800" b="1" dirty="0">
                <a:latin typeface="Times New Roman" panose="02020603050405020304" pitchFamily="18" charset="0"/>
                <a:ea typeface="宋体" panose="02010600030101010101" pitchFamily="2" charset="-122"/>
              </a:rPr>
              <a:t>以前解决最优化问题的数学方法限于古典求导方法和变分法（求无约束极值问题），拉格朗日（</a:t>
            </a:r>
            <a:r>
              <a:rPr kumimoji="1" lang="en-US" altLang="zh-CN" sz="2800" b="1" dirty="0">
                <a:latin typeface="Times New Roman" panose="02020603050405020304" pitchFamily="18" charset="0"/>
                <a:ea typeface="宋体" panose="02010600030101010101" pitchFamily="2" charset="-122"/>
              </a:rPr>
              <a:t>Lagrange</a:t>
            </a:r>
            <a:r>
              <a:rPr kumimoji="1" lang="zh-CN" altLang="en-US" sz="2800" b="1" dirty="0">
                <a:latin typeface="Times New Roman" panose="02020603050405020304" pitchFamily="18" charset="0"/>
                <a:ea typeface="宋体" panose="02010600030101010101" pitchFamily="2" charset="-122"/>
              </a:rPr>
              <a:t>）乘数法解决等式约束下的条件极值问题。</a:t>
            </a:r>
          </a:p>
          <a:p>
            <a:pPr algn="l">
              <a:spcBef>
                <a:spcPct val="20000"/>
              </a:spcBef>
            </a:pPr>
            <a:endParaRPr kumimoji="1" lang="en-US" altLang="zh-CN" sz="2800" b="1" dirty="0">
              <a:latin typeface="Times New Roman" panose="02020603050405020304" pitchFamily="18" charset="0"/>
              <a:ea typeface="宋体" panose="02010600030101010101" pitchFamily="2" charset="-122"/>
            </a:endParaRPr>
          </a:p>
          <a:p>
            <a:pPr algn="l">
              <a:spcBef>
                <a:spcPct val="20000"/>
              </a:spcBef>
            </a:pPr>
            <a:r>
              <a:rPr kumimoji="1" lang="zh-CN" altLang="en-US" sz="2800" b="1" dirty="0">
                <a:latin typeface="Times New Roman" panose="02020603050405020304" pitchFamily="18" charset="0"/>
                <a:ea typeface="宋体" panose="02010600030101010101" pitchFamily="2" charset="-122"/>
              </a:rPr>
              <a:t>计算机技术的出现，使得数学家研究出了许多最优化方法和算法用以解决以前难以解决的问题。</a:t>
            </a:r>
          </a:p>
        </p:txBody>
      </p:sp>
      <p:sp>
        <p:nvSpPr>
          <p:cNvPr id="10" name="矩形 9">
            <a:extLst>
              <a:ext uri="{FF2B5EF4-FFF2-40B4-BE49-F238E27FC236}">
                <a16:creationId xmlns:a16="http://schemas.microsoft.com/office/drawing/2014/main" id="{8C3FCD88-003C-4342-9BE6-26C247CC9CB1}"/>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最优化方法概述</a:t>
            </a:r>
          </a:p>
        </p:txBody>
      </p:sp>
    </p:spTree>
    <p:extLst>
      <p:ext uri="{BB962C8B-B14F-4D97-AF65-F5344CB8AC3E}">
        <p14:creationId xmlns:p14="http://schemas.microsoft.com/office/powerpoint/2010/main" val="2743117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4</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9" name="Rectangle 7">
            <a:extLst>
              <a:ext uri="{FF2B5EF4-FFF2-40B4-BE49-F238E27FC236}">
                <a16:creationId xmlns:a16="http://schemas.microsoft.com/office/drawing/2014/main" id="{B55C69B0-46E5-4314-A100-3667FEB5CC9D}"/>
              </a:ext>
            </a:extLst>
          </p:cNvPr>
          <p:cNvSpPr>
            <a:spLocks noChangeArrowheads="1"/>
          </p:cNvSpPr>
          <p:nvPr/>
        </p:nvSpPr>
        <p:spPr bwMode="auto">
          <a:xfrm>
            <a:off x="571500" y="1124744"/>
            <a:ext cx="8001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20000"/>
              </a:spcBef>
              <a:buFontTx/>
              <a:buChar char="•"/>
            </a:pPr>
            <a:r>
              <a:rPr lang="zh-CN" altLang="en-US" sz="2800" dirty="0">
                <a:solidFill>
                  <a:srgbClr val="FF0000"/>
                </a:solidFill>
                <a:latin typeface="黑体" panose="02010609060101010101" pitchFamily="49" charset="-122"/>
                <a:ea typeface="黑体" panose="02010609060101010101" pitchFamily="49" charset="-122"/>
              </a:rPr>
              <a:t>最优化</a:t>
            </a:r>
            <a:r>
              <a:rPr lang="zh-CN" altLang="en-US" sz="2800" dirty="0">
                <a:latin typeface="黑体" panose="02010609060101010101" pitchFamily="49" charset="-122"/>
                <a:ea typeface="黑体" panose="02010609060101010101" pitchFamily="49" charset="-122"/>
              </a:rPr>
              <a:t>是从所有可能方案中选择最合理的一种以达到最优目标的学科。</a:t>
            </a:r>
          </a:p>
          <a:p>
            <a:pPr>
              <a:lnSpc>
                <a:spcPct val="130000"/>
              </a:lnSpc>
              <a:spcBef>
                <a:spcPct val="20000"/>
              </a:spcBef>
              <a:buFontTx/>
              <a:buChar char="•"/>
            </a:pPr>
            <a:endParaRPr lang="zh-CN" altLang="en-US" sz="2800" dirty="0">
              <a:latin typeface="黑体" panose="02010609060101010101" pitchFamily="49" charset="-122"/>
              <a:ea typeface="黑体" panose="02010609060101010101" pitchFamily="49" charset="-122"/>
            </a:endParaRPr>
          </a:p>
          <a:p>
            <a:pPr>
              <a:lnSpc>
                <a:spcPct val="130000"/>
              </a:lnSpc>
              <a:spcBef>
                <a:spcPct val="20000"/>
              </a:spcBef>
              <a:buFontTx/>
              <a:buChar char="•"/>
            </a:pPr>
            <a:r>
              <a:rPr lang="zh-CN" altLang="en-US" sz="2800" dirty="0">
                <a:solidFill>
                  <a:srgbClr val="FF0000"/>
                </a:solidFill>
                <a:latin typeface="黑体" panose="02010609060101010101" pitchFamily="49" charset="-122"/>
                <a:ea typeface="黑体" panose="02010609060101010101" pitchFamily="49" charset="-122"/>
              </a:rPr>
              <a:t>最优方案</a:t>
            </a:r>
            <a:r>
              <a:rPr lang="zh-CN" altLang="en-US" sz="2800" dirty="0">
                <a:latin typeface="黑体" panose="02010609060101010101" pitchFamily="49" charset="-122"/>
                <a:ea typeface="黑体" panose="02010609060101010101" pitchFamily="49" charset="-122"/>
              </a:rPr>
              <a:t>是达到最优目标的方案。</a:t>
            </a:r>
          </a:p>
          <a:p>
            <a:pPr>
              <a:lnSpc>
                <a:spcPct val="130000"/>
              </a:lnSpc>
              <a:spcBef>
                <a:spcPct val="20000"/>
              </a:spcBef>
              <a:buFontTx/>
              <a:buChar char="•"/>
            </a:pPr>
            <a:r>
              <a:rPr lang="zh-CN" altLang="en-US" sz="2800" dirty="0">
                <a:solidFill>
                  <a:srgbClr val="FF0000"/>
                </a:solidFill>
                <a:latin typeface="黑体" panose="02010609060101010101" pitchFamily="49" charset="-122"/>
                <a:ea typeface="黑体" panose="02010609060101010101" pitchFamily="49" charset="-122"/>
              </a:rPr>
              <a:t>最优化方法</a:t>
            </a:r>
            <a:r>
              <a:rPr lang="zh-CN" altLang="en-US" sz="2800" dirty="0">
                <a:latin typeface="黑体" panose="02010609060101010101" pitchFamily="49" charset="-122"/>
                <a:ea typeface="黑体" panose="02010609060101010101" pitchFamily="49" charset="-122"/>
              </a:rPr>
              <a:t>是搜寻最优方案的方法。</a:t>
            </a:r>
          </a:p>
          <a:p>
            <a:pPr>
              <a:lnSpc>
                <a:spcPct val="130000"/>
              </a:lnSpc>
              <a:spcBef>
                <a:spcPct val="20000"/>
              </a:spcBef>
              <a:buFontTx/>
              <a:buChar char="•"/>
            </a:pPr>
            <a:r>
              <a:rPr lang="zh-CN" altLang="en-US" sz="2800" dirty="0">
                <a:solidFill>
                  <a:srgbClr val="FF0000"/>
                </a:solidFill>
                <a:latin typeface="黑体" panose="02010609060101010101" pitchFamily="49" charset="-122"/>
                <a:ea typeface="黑体" panose="02010609060101010101" pitchFamily="49" charset="-122"/>
              </a:rPr>
              <a:t>最优化理论</a:t>
            </a:r>
            <a:r>
              <a:rPr lang="zh-CN" altLang="en-US" sz="2800" dirty="0">
                <a:latin typeface="黑体" panose="02010609060101010101" pitchFamily="49" charset="-122"/>
                <a:ea typeface="黑体" panose="02010609060101010101" pitchFamily="49" charset="-122"/>
              </a:rPr>
              <a:t>就是最优化方法的理论。 </a:t>
            </a:r>
          </a:p>
        </p:txBody>
      </p:sp>
      <p:sp>
        <p:nvSpPr>
          <p:cNvPr id="10" name="矩形 9">
            <a:extLst>
              <a:ext uri="{FF2B5EF4-FFF2-40B4-BE49-F238E27FC236}">
                <a16:creationId xmlns:a16="http://schemas.microsoft.com/office/drawing/2014/main" id="{22F20D05-2824-40BE-A30F-86B81A217E72}"/>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最优化方法概述</a:t>
            </a:r>
          </a:p>
        </p:txBody>
      </p:sp>
    </p:spTree>
    <p:extLst>
      <p:ext uri="{BB962C8B-B14F-4D97-AF65-F5344CB8AC3E}">
        <p14:creationId xmlns:p14="http://schemas.microsoft.com/office/powerpoint/2010/main" val="1619770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9" name="Rectangle 7">
            <a:extLst>
              <a:ext uri="{FF2B5EF4-FFF2-40B4-BE49-F238E27FC236}">
                <a16:creationId xmlns:a16="http://schemas.microsoft.com/office/drawing/2014/main" id="{1EC4E589-7D0A-4A2A-ADC1-38FF29C5A3FE}"/>
              </a:ext>
            </a:extLst>
          </p:cNvPr>
          <p:cNvSpPr>
            <a:spLocks noChangeArrowheads="1"/>
          </p:cNvSpPr>
          <p:nvPr/>
        </p:nvSpPr>
        <p:spPr bwMode="auto">
          <a:xfrm>
            <a:off x="899592" y="1194979"/>
            <a:ext cx="7924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20000"/>
              </a:spcBef>
            </a:pPr>
            <a:r>
              <a:rPr lang="zh-CN" altLang="en-US" sz="2800" b="1" dirty="0">
                <a:ea typeface="+mn-ea"/>
              </a:rPr>
              <a:t>包括：</a:t>
            </a:r>
          </a:p>
          <a:p>
            <a:pPr>
              <a:lnSpc>
                <a:spcPct val="150000"/>
              </a:lnSpc>
              <a:spcBef>
                <a:spcPct val="20000"/>
              </a:spcBef>
            </a:pPr>
            <a:r>
              <a:rPr lang="zh-CN" altLang="en-US" sz="2800" b="1" dirty="0">
                <a:ea typeface="+mn-ea"/>
              </a:rPr>
              <a:t>①无约束极值问题</a:t>
            </a:r>
          </a:p>
          <a:p>
            <a:pPr>
              <a:lnSpc>
                <a:spcPct val="150000"/>
              </a:lnSpc>
              <a:spcBef>
                <a:spcPct val="20000"/>
              </a:spcBef>
            </a:pPr>
            <a:r>
              <a:rPr lang="zh-CN" altLang="en-US" sz="2800" b="1" dirty="0">
                <a:ea typeface="+mn-ea"/>
              </a:rPr>
              <a:t>②约束条件下的极值问题</a:t>
            </a:r>
          </a:p>
        </p:txBody>
      </p:sp>
      <p:sp>
        <p:nvSpPr>
          <p:cNvPr id="10" name="灯片编号占位符 5">
            <a:extLst>
              <a:ext uri="{FF2B5EF4-FFF2-40B4-BE49-F238E27FC236}">
                <a16:creationId xmlns:a16="http://schemas.microsoft.com/office/drawing/2014/main" id="{E69376F0-499C-47C6-9582-A270199C2BC4}"/>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5</a:t>
            </a:fld>
            <a:endParaRPr lang="zh-CN" altLang="en-US" b="1" dirty="0">
              <a:solidFill>
                <a:srgbClr val="FF0000"/>
              </a:solidFill>
            </a:endParaRPr>
          </a:p>
        </p:txBody>
      </p:sp>
    </p:spTree>
    <p:extLst>
      <p:ext uri="{BB962C8B-B14F-4D97-AF65-F5344CB8AC3E}">
        <p14:creationId xmlns:p14="http://schemas.microsoft.com/office/powerpoint/2010/main" val="134135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6" name="Rectangle 6">
            <a:extLst>
              <a:ext uri="{FF2B5EF4-FFF2-40B4-BE49-F238E27FC236}">
                <a16:creationId xmlns:a16="http://schemas.microsoft.com/office/drawing/2014/main" id="{C50FB3C6-161B-445E-99DB-2054531277FE}"/>
              </a:ext>
            </a:extLst>
          </p:cNvPr>
          <p:cNvSpPr>
            <a:spLocks noChangeArrowheads="1"/>
          </p:cNvSpPr>
          <p:nvPr/>
        </p:nvSpPr>
        <p:spPr bwMode="auto">
          <a:xfrm>
            <a:off x="687760" y="980728"/>
            <a:ext cx="7772400" cy="5232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2800" b="1" dirty="0"/>
              <a:t>1</a:t>
            </a:r>
            <a:r>
              <a:rPr lang="zh-CN" altLang="en-US" sz="2800" b="1" dirty="0"/>
              <a:t>、无约束极值问题的数学模型 </a:t>
            </a:r>
          </a:p>
        </p:txBody>
      </p:sp>
      <p:graphicFrame>
        <p:nvGraphicFramePr>
          <p:cNvPr id="7" name="Object 7">
            <a:extLst>
              <a:ext uri="{FF2B5EF4-FFF2-40B4-BE49-F238E27FC236}">
                <a16:creationId xmlns:a16="http://schemas.microsoft.com/office/drawing/2014/main" id="{5286A665-013A-4A29-9917-601DB8FD7869}"/>
              </a:ext>
            </a:extLst>
          </p:cNvPr>
          <p:cNvGraphicFramePr>
            <a:graphicFrameLocks noChangeAspect="1"/>
          </p:cNvGraphicFramePr>
          <p:nvPr>
            <p:extLst>
              <p:ext uri="{D42A27DB-BD31-4B8C-83A1-F6EECF244321}">
                <p14:modId xmlns:p14="http://schemas.microsoft.com/office/powerpoint/2010/main" val="2627550047"/>
              </p:ext>
            </p:extLst>
          </p:nvPr>
        </p:nvGraphicFramePr>
        <p:xfrm>
          <a:off x="3383335" y="1503948"/>
          <a:ext cx="1485900" cy="696913"/>
        </p:xfrm>
        <a:graphic>
          <a:graphicData uri="http://schemas.openxmlformats.org/presentationml/2006/ole">
            <mc:AlternateContent xmlns:mc="http://schemas.openxmlformats.org/markup-compatibility/2006">
              <mc:Choice xmlns:v="urn:schemas-microsoft-com:vml" Requires="v">
                <p:oleObj name="Equation" r:id="rId3" imgW="596880" imgH="279360" progId="Equation.DSMT4">
                  <p:embed/>
                </p:oleObj>
              </mc:Choice>
              <mc:Fallback>
                <p:oleObj name="Equation" r:id="rId3" imgW="596880" imgH="279360" progId="Equation.DSMT4">
                  <p:embed/>
                  <p:pic>
                    <p:nvPicPr>
                      <p:cNvPr id="91143" name="Object 7">
                        <a:extLst>
                          <a:ext uri="{FF2B5EF4-FFF2-40B4-BE49-F238E27FC236}">
                            <a16:creationId xmlns:a16="http://schemas.microsoft.com/office/drawing/2014/main" id="{B405A2E8-AB63-4D27-BF69-B2E2C685F9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3335" y="1503948"/>
                        <a:ext cx="148590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8">
            <a:extLst>
              <a:ext uri="{FF2B5EF4-FFF2-40B4-BE49-F238E27FC236}">
                <a16:creationId xmlns:a16="http://schemas.microsoft.com/office/drawing/2014/main" id="{2094487A-A25C-4489-B577-08F45F1586C9}"/>
              </a:ext>
            </a:extLst>
          </p:cNvPr>
          <p:cNvSpPr>
            <a:spLocks noChangeArrowheads="1"/>
          </p:cNvSpPr>
          <p:nvPr/>
        </p:nvSpPr>
        <p:spPr bwMode="auto">
          <a:xfrm>
            <a:off x="687760" y="2348880"/>
            <a:ext cx="7772400" cy="5232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2800" b="1" dirty="0"/>
              <a:t>2</a:t>
            </a:r>
            <a:r>
              <a:rPr lang="zh-CN" altLang="en-US" sz="2800" b="1" dirty="0"/>
              <a:t>、约束条件下极值问题的数学模型 </a:t>
            </a:r>
          </a:p>
        </p:txBody>
      </p:sp>
      <p:graphicFrame>
        <p:nvGraphicFramePr>
          <p:cNvPr id="11" name="Object 9">
            <a:extLst>
              <a:ext uri="{FF2B5EF4-FFF2-40B4-BE49-F238E27FC236}">
                <a16:creationId xmlns:a16="http://schemas.microsoft.com/office/drawing/2014/main" id="{48B3CA05-5D2E-4986-9D64-EC8F0149A784}"/>
              </a:ext>
            </a:extLst>
          </p:cNvPr>
          <p:cNvGraphicFramePr>
            <a:graphicFrameLocks noChangeAspect="1"/>
          </p:cNvGraphicFramePr>
          <p:nvPr>
            <p:extLst>
              <p:ext uri="{D42A27DB-BD31-4B8C-83A1-F6EECF244321}">
                <p14:modId xmlns:p14="http://schemas.microsoft.com/office/powerpoint/2010/main" val="3044060691"/>
              </p:ext>
            </p:extLst>
          </p:nvPr>
        </p:nvGraphicFramePr>
        <p:xfrm>
          <a:off x="1754560" y="2966120"/>
          <a:ext cx="1485900" cy="696913"/>
        </p:xfrm>
        <a:graphic>
          <a:graphicData uri="http://schemas.openxmlformats.org/presentationml/2006/ole">
            <mc:AlternateContent xmlns:mc="http://schemas.openxmlformats.org/markup-compatibility/2006">
              <mc:Choice xmlns:v="urn:schemas-microsoft-com:vml" Requires="v">
                <p:oleObj name="Equation" r:id="rId5" imgW="596880" imgH="279360" progId="Equation.DSMT4">
                  <p:embed/>
                </p:oleObj>
              </mc:Choice>
              <mc:Fallback>
                <p:oleObj name="Equation" r:id="rId5" imgW="596880" imgH="279360" progId="Equation.DSMT4">
                  <p:embed/>
                  <p:pic>
                    <p:nvPicPr>
                      <p:cNvPr id="91145" name="Object 9">
                        <a:extLst>
                          <a:ext uri="{FF2B5EF4-FFF2-40B4-BE49-F238E27FC236}">
                            <a16:creationId xmlns:a16="http://schemas.microsoft.com/office/drawing/2014/main" id="{55BF7A1F-064E-4918-87A6-C4187E909D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4560" y="2966120"/>
                        <a:ext cx="148590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a:extLst>
              <a:ext uri="{FF2B5EF4-FFF2-40B4-BE49-F238E27FC236}">
                <a16:creationId xmlns:a16="http://schemas.microsoft.com/office/drawing/2014/main" id="{3491159A-9048-40F9-971D-E36DE35B6D95}"/>
              </a:ext>
            </a:extLst>
          </p:cNvPr>
          <p:cNvGraphicFramePr>
            <a:graphicFrameLocks noChangeAspect="1"/>
          </p:cNvGraphicFramePr>
          <p:nvPr>
            <p:extLst>
              <p:ext uri="{D42A27DB-BD31-4B8C-83A1-F6EECF244321}">
                <p14:modId xmlns:p14="http://schemas.microsoft.com/office/powerpoint/2010/main" val="1510375539"/>
              </p:ext>
            </p:extLst>
          </p:nvPr>
        </p:nvGraphicFramePr>
        <p:xfrm>
          <a:off x="1830760" y="3553495"/>
          <a:ext cx="3914775" cy="1006475"/>
        </p:xfrm>
        <a:graphic>
          <a:graphicData uri="http://schemas.openxmlformats.org/presentationml/2006/ole">
            <mc:AlternateContent xmlns:mc="http://schemas.openxmlformats.org/markup-compatibility/2006">
              <mc:Choice xmlns:v="urn:schemas-microsoft-com:vml" Requires="v">
                <p:oleObj name="Equation" r:id="rId7" imgW="1777680" imgH="457200" progId="Equation.DSMT4">
                  <p:embed/>
                </p:oleObj>
              </mc:Choice>
              <mc:Fallback>
                <p:oleObj name="Equation" r:id="rId7" imgW="1777680" imgH="457200" progId="Equation.DSMT4">
                  <p:embed/>
                  <p:pic>
                    <p:nvPicPr>
                      <p:cNvPr id="91146" name="Object 10">
                        <a:extLst>
                          <a:ext uri="{FF2B5EF4-FFF2-40B4-BE49-F238E27FC236}">
                            <a16:creationId xmlns:a16="http://schemas.microsoft.com/office/drawing/2014/main" id="{CA03AE4E-431B-4A26-8946-644410F669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0760" y="3553495"/>
                        <a:ext cx="391477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11">
            <a:extLst>
              <a:ext uri="{FF2B5EF4-FFF2-40B4-BE49-F238E27FC236}">
                <a16:creationId xmlns:a16="http://schemas.microsoft.com/office/drawing/2014/main" id="{DA63D73F-0946-4093-9B22-361B321A20D2}"/>
              </a:ext>
            </a:extLst>
          </p:cNvPr>
          <p:cNvSpPr txBox="1">
            <a:spLocks noChangeArrowheads="1"/>
          </p:cNvSpPr>
          <p:nvPr/>
        </p:nvSpPr>
        <p:spPr bwMode="auto">
          <a:xfrm>
            <a:off x="611560" y="4566320"/>
            <a:ext cx="7848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a:solidFill>
                  <a:schemeClr val="tx1"/>
                </a:solidFill>
                <a:latin typeface="黑体" panose="02010609060101010101" pitchFamily="49" charset="-122"/>
                <a:ea typeface="黑体" panose="02010609060101010101" pitchFamily="49" charset="-122"/>
              </a:rPr>
              <a:t>    </a:t>
            </a:r>
            <a:r>
              <a:rPr lang="zh-CN" altLang="en-US">
                <a:solidFill>
                  <a:schemeClr val="tx1"/>
                </a:solidFill>
                <a:latin typeface="黑体" panose="02010609060101010101" pitchFamily="49" charset="-122"/>
                <a:ea typeface="黑体" panose="02010609060101010101" pitchFamily="49" charset="-122"/>
              </a:rPr>
              <a:t>其中，极大值问题可以转化为极小值问题来进行求解。如求：</a:t>
            </a:r>
          </a:p>
        </p:txBody>
      </p:sp>
      <p:graphicFrame>
        <p:nvGraphicFramePr>
          <p:cNvPr id="14" name="Object 12">
            <a:extLst>
              <a:ext uri="{FF2B5EF4-FFF2-40B4-BE49-F238E27FC236}">
                <a16:creationId xmlns:a16="http://schemas.microsoft.com/office/drawing/2014/main" id="{69F050E8-8F8A-4313-AA8E-BC748CB387DC}"/>
              </a:ext>
            </a:extLst>
          </p:cNvPr>
          <p:cNvGraphicFramePr>
            <a:graphicFrameLocks noChangeAspect="1"/>
          </p:cNvGraphicFramePr>
          <p:nvPr>
            <p:extLst>
              <p:ext uri="{D42A27DB-BD31-4B8C-83A1-F6EECF244321}">
                <p14:modId xmlns:p14="http://schemas.microsoft.com/office/powerpoint/2010/main" val="1767803609"/>
              </p:ext>
            </p:extLst>
          </p:nvPr>
        </p:nvGraphicFramePr>
        <p:xfrm>
          <a:off x="4137398" y="5187033"/>
          <a:ext cx="1549400" cy="696912"/>
        </p:xfrm>
        <a:graphic>
          <a:graphicData uri="http://schemas.openxmlformats.org/presentationml/2006/ole">
            <mc:AlternateContent xmlns:mc="http://schemas.openxmlformats.org/markup-compatibility/2006">
              <mc:Choice xmlns:v="urn:schemas-microsoft-com:vml" Requires="v">
                <p:oleObj name="Equation" r:id="rId9" imgW="622080" imgH="279360" progId="Equation.DSMT4">
                  <p:embed/>
                </p:oleObj>
              </mc:Choice>
              <mc:Fallback>
                <p:oleObj name="Equation" r:id="rId9" imgW="622080" imgH="279360" progId="Equation.DSMT4">
                  <p:embed/>
                  <p:pic>
                    <p:nvPicPr>
                      <p:cNvPr id="91148" name="Object 12">
                        <a:extLst>
                          <a:ext uri="{FF2B5EF4-FFF2-40B4-BE49-F238E27FC236}">
                            <a16:creationId xmlns:a16="http://schemas.microsoft.com/office/drawing/2014/main" id="{7AF74113-C41F-465D-9238-A47D109A37E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37398" y="5187033"/>
                        <a:ext cx="154940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ext Box 13">
            <a:extLst>
              <a:ext uri="{FF2B5EF4-FFF2-40B4-BE49-F238E27FC236}">
                <a16:creationId xmlns:a16="http://schemas.microsoft.com/office/drawing/2014/main" id="{0697A911-902A-4A25-98F1-C884D9220966}"/>
              </a:ext>
            </a:extLst>
          </p:cNvPr>
          <p:cNvSpPr txBox="1">
            <a:spLocks noChangeArrowheads="1"/>
          </p:cNvSpPr>
          <p:nvPr/>
        </p:nvSpPr>
        <p:spPr bwMode="auto">
          <a:xfrm>
            <a:off x="611560" y="5937920"/>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a:solidFill>
                  <a:schemeClr val="tx1"/>
                </a:solidFill>
                <a:latin typeface="黑体" panose="02010609060101010101" pitchFamily="49" charset="-122"/>
                <a:ea typeface="黑体" panose="02010609060101010101" pitchFamily="49" charset="-122"/>
              </a:rPr>
              <a:t>        </a:t>
            </a:r>
            <a:r>
              <a:rPr lang="zh-CN" altLang="en-US">
                <a:solidFill>
                  <a:schemeClr val="tx1"/>
                </a:solidFill>
                <a:latin typeface="黑体" panose="02010609060101010101" pitchFamily="49" charset="-122"/>
                <a:ea typeface="黑体" panose="02010609060101010101" pitchFamily="49" charset="-122"/>
              </a:rPr>
              <a:t>可以转化为：</a:t>
            </a:r>
          </a:p>
        </p:txBody>
      </p:sp>
      <p:graphicFrame>
        <p:nvGraphicFramePr>
          <p:cNvPr id="16" name="Object 14">
            <a:extLst>
              <a:ext uri="{FF2B5EF4-FFF2-40B4-BE49-F238E27FC236}">
                <a16:creationId xmlns:a16="http://schemas.microsoft.com/office/drawing/2014/main" id="{B9B83DE2-A0B6-4041-8A54-69117C500BF4}"/>
              </a:ext>
            </a:extLst>
          </p:cNvPr>
          <p:cNvGraphicFramePr>
            <a:graphicFrameLocks noChangeAspect="1"/>
          </p:cNvGraphicFramePr>
          <p:nvPr>
            <p:extLst>
              <p:ext uri="{D42A27DB-BD31-4B8C-83A1-F6EECF244321}">
                <p14:modId xmlns:p14="http://schemas.microsoft.com/office/powerpoint/2010/main" val="2653186342"/>
              </p:ext>
            </p:extLst>
          </p:nvPr>
        </p:nvGraphicFramePr>
        <p:xfrm>
          <a:off x="4126285" y="5979195"/>
          <a:ext cx="1739900" cy="696913"/>
        </p:xfrm>
        <a:graphic>
          <a:graphicData uri="http://schemas.openxmlformats.org/presentationml/2006/ole">
            <mc:AlternateContent xmlns:mc="http://schemas.openxmlformats.org/markup-compatibility/2006">
              <mc:Choice xmlns:v="urn:schemas-microsoft-com:vml" Requires="v">
                <p:oleObj name="Equation" r:id="rId11" imgW="698400" imgH="279360" progId="Equation.DSMT4">
                  <p:embed/>
                </p:oleObj>
              </mc:Choice>
              <mc:Fallback>
                <p:oleObj name="Equation" r:id="rId11" imgW="698400" imgH="279360" progId="Equation.DSMT4">
                  <p:embed/>
                  <p:pic>
                    <p:nvPicPr>
                      <p:cNvPr id="91150" name="Object 14">
                        <a:extLst>
                          <a:ext uri="{FF2B5EF4-FFF2-40B4-BE49-F238E27FC236}">
                            <a16:creationId xmlns:a16="http://schemas.microsoft.com/office/drawing/2014/main" id="{FB523204-914E-401B-BB8D-676B5E94462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26285" y="5979195"/>
                        <a:ext cx="173990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6</a:t>
            </a:fld>
            <a:endParaRPr lang="zh-CN" altLang="en-US" b="1" dirty="0">
              <a:solidFill>
                <a:srgbClr val="FF0000"/>
              </a:solidFill>
            </a:endParaRPr>
          </a:p>
        </p:txBody>
      </p:sp>
    </p:spTree>
    <p:extLst>
      <p:ext uri="{BB962C8B-B14F-4D97-AF65-F5344CB8AC3E}">
        <p14:creationId xmlns:p14="http://schemas.microsoft.com/office/powerpoint/2010/main" val="1389529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7</a:t>
            </a:fld>
            <a:endParaRPr lang="zh-CN" altLang="en-US" b="1" dirty="0">
              <a:solidFill>
                <a:srgbClr val="FF0000"/>
              </a:solidFill>
            </a:endParaRPr>
          </a:p>
        </p:txBody>
      </p:sp>
      <p:sp>
        <p:nvSpPr>
          <p:cNvPr id="18" name="Rectangle 6">
            <a:extLst>
              <a:ext uri="{FF2B5EF4-FFF2-40B4-BE49-F238E27FC236}">
                <a16:creationId xmlns:a16="http://schemas.microsoft.com/office/drawing/2014/main" id="{12184FB7-FADF-486B-9710-B4E58025B2E7}"/>
              </a:ext>
            </a:extLst>
          </p:cNvPr>
          <p:cNvSpPr>
            <a:spLocks noChangeArrowheads="1"/>
          </p:cNvSpPr>
          <p:nvPr/>
        </p:nvSpPr>
        <p:spPr bwMode="auto">
          <a:xfrm>
            <a:off x="541139" y="941196"/>
            <a:ext cx="4534917" cy="5232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2800" b="1" dirty="0"/>
              <a:t>1</a:t>
            </a:r>
            <a:r>
              <a:rPr lang="zh-CN" altLang="en-US" sz="2800" b="1" dirty="0"/>
              <a:t>、无约束极值问题的求解 </a:t>
            </a:r>
          </a:p>
        </p:txBody>
      </p:sp>
      <p:sp>
        <p:nvSpPr>
          <p:cNvPr id="20" name="Rectangle 7">
            <a:extLst>
              <a:ext uri="{FF2B5EF4-FFF2-40B4-BE49-F238E27FC236}">
                <a16:creationId xmlns:a16="http://schemas.microsoft.com/office/drawing/2014/main" id="{C9120B96-B109-469E-B6D2-F5CA9FD0AA56}"/>
              </a:ext>
            </a:extLst>
          </p:cNvPr>
          <p:cNvSpPr>
            <a:spLocks noChangeArrowheads="1"/>
          </p:cNvSpPr>
          <p:nvPr/>
        </p:nvSpPr>
        <p:spPr bwMode="auto">
          <a:xfrm>
            <a:off x="541139" y="1644352"/>
            <a:ext cx="8077200" cy="4592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0000"/>
              </a:lnSpc>
              <a:spcBef>
                <a:spcPct val="20000"/>
              </a:spcBef>
            </a:pPr>
            <a:r>
              <a:rPr lang="zh-CN" altLang="en-US" dirty="0">
                <a:ea typeface="黑体" panose="02010609060101010101" pitchFamily="49" charset="-122"/>
              </a:rPr>
              <a:t>例</a:t>
            </a:r>
            <a:r>
              <a:rPr lang="en-US" altLang="zh-CN" dirty="0">
                <a:ea typeface="黑体" panose="02010609060101010101" pitchFamily="49" charset="-122"/>
              </a:rPr>
              <a:t>1</a:t>
            </a:r>
            <a:r>
              <a:rPr lang="zh-CN" altLang="en-US" dirty="0">
                <a:ea typeface="黑体" panose="02010609060101010101" pitchFamily="49" charset="-122"/>
              </a:rPr>
              <a:t>：求函数</a:t>
            </a:r>
            <a:r>
              <a:rPr lang="en-US" altLang="zh-CN" dirty="0">
                <a:ea typeface="黑体" panose="02010609060101010101" pitchFamily="49" charset="-122"/>
              </a:rPr>
              <a:t>y=2x</a:t>
            </a:r>
            <a:r>
              <a:rPr lang="en-US" altLang="zh-CN" baseline="30000" dirty="0">
                <a:ea typeface="黑体" panose="02010609060101010101" pitchFamily="49" charset="-122"/>
              </a:rPr>
              <a:t>3</a:t>
            </a:r>
            <a:r>
              <a:rPr lang="en-US" altLang="zh-CN" dirty="0">
                <a:ea typeface="黑体" panose="02010609060101010101" pitchFamily="49" charset="-122"/>
              </a:rPr>
              <a:t>+3x</a:t>
            </a:r>
            <a:r>
              <a:rPr lang="en-US" altLang="zh-CN" baseline="30000" dirty="0">
                <a:ea typeface="黑体" panose="02010609060101010101" pitchFamily="49" charset="-122"/>
              </a:rPr>
              <a:t>2</a:t>
            </a:r>
            <a:r>
              <a:rPr lang="en-US" altLang="zh-CN" dirty="0">
                <a:ea typeface="黑体" panose="02010609060101010101" pitchFamily="49" charset="-122"/>
              </a:rPr>
              <a:t>-12x+14</a:t>
            </a:r>
            <a:r>
              <a:rPr lang="zh-CN" altLang="en-US" dirty="0">
                <a:ea typeface="黑体" panose="02010609060101010101" pitchFamily="49" charset="-122"/>
              </a:rPr>
              <a:t>在区间</a:t>
            </a:r>
            <a:r>
              <a:rPr lang="en-US" altLang="zh-CN" dirty="0">
                <a:ea typeface="黑体" panose="02010609060101010101" pitchFamily="49" charset="-122"/>
              </a:rPr>
              <a:t>[-3,4]</a:t>
            </a:r>
            <a:r>
              <a:rPr lang="zh-CN" altLang="en-US" dirty="0">
                <a:ea typeface="黑体" panose="02010609060101010101" pitchFamily="49" charset="-122"/>
              </a:rPr>
              <a:t>上的最大值与最小值。</a:t>
            </a:r>
          </a:p>
          <a:p>
            <a:pPr algn="just">
              <a:lnSpc>
                <a:spcPct val="110000"/>
              </a:lnSpc>
              <a:spcBef>
                <a:spcPct val="20000"/>
              </a:spcBef>
            </a:pPr>
            <a:r>
              <a:rPr lang="zh-CN" altLang="en-US" dirty="0">
                <a:ea typeface="黑体" panose="02010609060101010101" pitchFamily="49" charset="-122"/>
              </a:rPr>
              <a:t>解：令</a:t>
            </a:r>
            <a:r>
              <a:rPr lang="en-US" altLang="zh-CN" dirty="0">
                <a:ea typeface="黑体" panose="02010609060101010101" pitchFamily="49" charset="-122"/>
              </a:rPr>
              <a:t>f(x)=y=2x</a:t>
            </a:r>
            <a:r>
              <a:rPr lang="en-US" altLang="zh-CN" baseline="30000" dirty="0">
                <a:ea typeface="黑体" panose="02010609060101010101" pitchFamily="49" charset="-122"/>
              </a:rPr>
              <a:t>3</a:t>
            </a:r>
            <a:r>
              <a:rPr lang="en-US" altLang="zh-CN" dirty="0">
                <a:ea typeface="黑体" panose="02010609060101010101" pitchFamily="49" charset="-122"/>
              </a:rPr>
              <a:t>+3x</a:t>
            </a:r>
            <a:r>
              <a:rPr lang="en-US" altLang="zh-CN" baseline="30000" dirty="0">
                <a:ea typeface="黑体" panose="02010609060101010101" pitchFamily="49" charset="-122"/>
              </a:rPr>
              <a:t>2</a:t>
            </a:r>
            <a:r>
              <a:rPr lang="en-US" altLang="zh-CN" dirty="0">
                <a:ea typeface="黑体" panose="02010609060101010101" pitchFamily="49" charset="-122"/>
              </a:rPr>
              <a:t>-12x+14</a:t>
            </a:r>
          </a:p>
          <a:p>
            <a:pPr algn="just">
              <a:lnSpc>
                <a:spcPct val="110000"/>
              </a:lnSpc>
              <a:spcBef>
                <a:spcPct val="20000"/>
              </a:spcBef>
            </a:pPr>
            <a:r>
              <a:rPr lang="en-US" altLang="zh-CN" dirty="0">
                <a:ea typeface="黑体" panose="02010609060101010101" pitchFamily="49" charset="-122"/>
              </a:rPr>
              <a:t>	        f’(x)=6x</a:t>
            </a:r>
            <a:r>
              <a:rPr lang="en-US" altLang="zh-CN" baseline="30000" dirty="0">
                <a:ea typeface="黑体" panose="02010609060101010101" pitchFamily="49" charset="-122"/>
              </a:rPr>
              <a:t>2</a:t>
            </a:r>
            <a:r>
              <a:rPr lang="en-US" altLang="zh-CN" dirty="0">
                <a:ea typeface="黑体" panose="02010609060101010101" pitchFamily="49" charset="-122"/>
              </a:rPr>
              <a:t>+6x-12=6(x+2)(x-1)</a:t>
            </a:r>
          </a:p>
          <a:p>
            <a:pPr algn="just">
              <a:lnSpc>
                <a:spcPct val="110000"/>
              </a:lnSpc>
              <a:spcBef>
                <a:spcPct val="20000"/>
              </a:spcBef>
            </a:pPr>
            <a:r>
              <a:rPr lang="en-US" altLang="zh-CN" dirty="0">
                <a:ea typeface="黑体" panose="02010609060101010101" pitchFamily="49" charset="-122"/>
              </a:rPr>
              <a:t>	</a:t>
            </a:r>
            <a:r>
              <a:rPr lang="zh-CN" altLang="en-US" dirty="0">
                <a:ea typeface="黑体" panose="02010609060101010101" pitchFamily="49" charset="-122"/>
              </a:rPr>
              <a:t>解方程</a:t>
            </a:r>
            <a:r>
              <a:rPr lang="en-US" altLang="zh-CN" dirty="0">
                <a:ea typeface="黑体" panose="02010609060101010101" pitchFamily="49" charset="-122"/>
              </a:rPr>
              <a:t>f’(x)=0</a:t>
            </a:r>
            <a:r>
              <a:rPr lang="zh-CN" altLang="en-US" dirty="0">
                <a:ea typeface="黑体" panose="02010609060101010101" pitchFamily="49" charset="-122"/>
              </a:rPr>
              <a:t>，得到</a:t>
            </a:r>
            <a:r>
              <a:rPr lang="en-US" altLang="zh-CN" dirty="0">
                <a:ea typeface="黑体" panose="02010609060101010101" pitchFamily="49" charset="-122"/>
              </a:rPr>
              <a:t>x</a:t>
            </a:r>
            <a:r>
              <a:rPr lang="en-US" altLang="zh-CN" baseline="-30000" dirty="0">
                <a:ea typeface="黑体" panose="02010609060101010101" pitchFamily="49" charset="-122"/>
              </a:rPr>
              <a:t>1</a:t>
            </a:r>
            <a:r>
              <a:rPr lang="en-US" altLang="zh-CN" dirty="0">
                <a:ea typeface="黑体" panose="02010609060101010101" pitchFamily="49" charset="-122"/>
              </a:rPr>
              <a:t>= -2</a:t>
            </a:r>
            <a:r>
              <a:rPr lang="zh-CN" altLang="en-US" dirty="0">
                <a:ea typeface="黑体" panose="02010609060101010101" pitchFamily="49" charset="-122"/>
              </a:rPr>
              <a:t>，</a:t>
            </a:r>
            <a:r>
              <a:rPr lang="en-US" altLang="zh-CN" dirty="0">
                <a:ea typeface="黑体" panose="02010609060101010101" pitchFamily="49" charset="-122"/>
              </a:rPr>
              <a:t>x</a:t>
            </a:r>
            <a:r>
              <a:rPr lang="en-US" altLang="zh-CN" baseline="-30000" dirty="0">
                <a:ea typeface="黑体" panose="02010609060101010101" pitchFamily="49" charset="-122"/>
              </a:rPr>
              <a:t>2</a:t>
            </a:r>
            <a:r>
              <a:rPr lang="en-US" altLang="zh-CN" dirty="0">
                <a:ea typeface="黑体" panose="02010609060101010101" pitchFamily="49" charset="-122"/>
              </a:rPr>
              <a:t>=1</a:t>
            </a:r>
            <a:r>
              <a:rPr lang="zh-CN" altLang="en-US" dirty="0">
                <a:ea typeface="黑体" panose="02010609060101010101" pitchFamily="49" charset="-122"/>
              </a:rPr>
              <a:t>，又</a:t>
            </a:r>
          </a:p>
          <a:p>
            <a:pPr>
              <a:lnSpc>
                <a:spcPct val="110000"/>
              </a:lnSpc>
              <a:spcBef>
                <a:spcPct val="20000"/>
              </a:spcBef>
            </a:pPr>
            <a:r>
              <a:rPr lang="zh-CN" altLang="en-US" dirty="0">
                <a:ea typeface="黑体" panose="02010609060101010101" pitchFamily="49" charset="-122"/>
              </a:rPr>
              <a:t>	由于</a:t>
            </a:r>
            <a:r>
              <a:rPr lang="en-US" altLang="zh-CN" dirty="0">
                <a:ea typeface="黑体" panose="02010609060101010101" pitchFamily="49" charset="-122"/>
              </a:rPr>
              <a:t>f(-3)=23</a:t>
            </a:r>
            <a:r>
              <a:rPr lang="zh-CN" altLang="en-US" dirty="0">
                <a:ea typeface="黑体" panose="02010609060101010101" pitchFamily="49" charset="-122"/>
              </a:rPr>
              <a:t>，</a:t>
            </a:r>
            <a:r>
              <a:rPr lang="en-US" altLang="zh-CN" dirty="0">
                <a:ea typeface="黑体" panose="02010609060101010101" pitchFamily="49" charset="-122"/>
              </a:rPr>
              <a:t>f(-2)=34</a:t>
            </a:r>
            <a:r>
              <a:rPr lang="zh-CN" altLang="en-US" dirty="0">
                <a:ea typeface="黑体" panose="02010609060101010101" pitchFamily="49" charset="-122"/>
              </a:rPr>
              <a:t>，</a:t>
            </a:r>
            <a:r>
              <a:rPr lang="en-US" altLang="zh-CN" dirty="0">
                <a:ea typeface="黑体" panose="02010609060101010101" pitchFamily="49" charset="-122"/>
              </a:rPr>
              <a:t>f(1)=7</a:t>
            </a:r>
            <a:r>
              <a:rPr lang="zh-CN" altLang="en-US" dirty="0">
                <a:ea typeface="黑体" panose="02010609060101010101" pitchFamily="49" charset="-122"/>
              </a:rPr>
              <a:t>，</a:t>
            </a:r>
            <a:r>
              <a:rPr lang="en-US" altLang="zh-CN" dirty="0">
                <a:ea typeface="黑体" panose="02010609060101010101" pitchFamily="49" charset="-122"/>
              </a:rPr>
              <a:t>f(4)=142</a:t>
            </a:r>
            <a:r>
              <a:rPr lang="zh-CN" altLang="en-US" dirty="0">
                <a:ea typeface="黑体" panose="02010609060101010101" pitchFamily="49" charset="-122"/>
              </a:rPr>
              <a:t>，</a:t>
            </a:r>
          </a:p>
          <a:p>
            <a:pPr algn="just">
              <a:lnSpc>
                <a:spcPct val="110000"/>
              </a:lnSpc>
              <a:spcBef>
                <a:spcPct val="20000"/>
              </a:spcBef>
            </a:pPr>
            <a:endParaRPr lang="en-US" altLang="zh-CN" dirty="0">
              <a:ea typeface="黑体" panose="02010609060101010101" pitchFamily="49" charset="-122"/>
            </a:endParaRPr>
          </a:p>
          <a:p>
            <a:pPr algn="just">
              <a:lnSpc>
                <a:spcPct val="110000"/>
              </a:lnSpc>
              <a:spcBef>
                <a:spcPct val="20000"/>
              </a:spcBef>
            </a:pPr>
            <a:r>
              <a:rPr lang="zh-CN" altLang="en-US" dirty="0">
                <a:ea typeface="黑体" panose="02010609060101010101" pitchFamily="49" charset="-122"/>
              </a:rPr>
              <a:t>综上得，函数</a:t>
            </a:r>
            <a:r>
              <a:rPr lang="en-US" altLang="zh-CN" dirty="0">
                <a:ea typeface="黑体" panose="02010609060101010101" pitchFamily="49" charset="-122"/>
              </a:rPr>
              <a:t>f(x)</a:t>
            </a:r>
            <a:r>
              <a:rPr lang="zh-CN" altLang="en-US" dirty="0">
                <a:ea typeface="黑体" panose="02010609060101010101" pitchFamily="49" charset="-122"/>
              </a:rPr>
              <a:t>在</a:t>
            </a:r>
            <a:r>
              <a:rPr lang="en-US" altLang="zh-CN" dirty="0">
                <a:ea typeface="黑体" panose="02010609060101010101" pitchFamily="49" charset="-122"/>
              </a:rPr>
              <a:t>x=4</a:t>
            </a:r>
            <a:r>
              <a:rPr lang="zh-CN" altLang="en-US" dirty="0">
                <a:ea typeface="黑体" panose="02010609060101010101" pitchFamily="49" charset="-122"/>
              </a:rPr>
              <a:t>取得在</a:t>
            </a:r>
            <a:r>
              <a:rPr lang="en-US" altLang="zh-CN" dirty="0">
                <a:ea typeface="黑体" panose="02010609060101010101" pitchFamily="49" charset="-122"/>
              </a:rPr>
              <a:t>[-3,4]</a:t>
            </a:r>
            <a:r>
              <a:rPr lang="zh-CN" altLang="en-US" dirty="0">
                <a:ea typeface="黑体" panose="02010609060101010101" pitchFamily="49" charset="-122"/>
              </a:rPr>
              <a:t>上得最大值</a:t>
            </a:r>
            <a:r>
              <a:rPr lang="en-US" altLang="zh-CN" dirty="0">
                <a:ea typeface="黑体" panose="02010609060101010101" pitchFamily="49" charset="-122"/>
              </a:rPr>
              <a:t>f(4)=142</a:t>
            </a:r>
            <a:r>
              <a:rPr lang="zh-CN" altLang="en-US" dirty="0">
                <a:ea typeface="黑体" panose="02010609060101010101" pitchFamily="49" charset="-122"/>
              </a:rPr>
              <a:t>，在</a:t>
            </a:r>
            <a:r>
              <a:rPr lang="en-US" altLang="zh-CN" dirty="0">
                <a:ea typeface="黑体" panose="02010609060101010101" pitchFamily="49" charset="-122"/>
              </a:rPr>
              <a:t>x=1</a:t>
            </a:r>
            <a:r>
              <a:rPr lang="zh-CN" altLang="en-US" dirty="0">
                <a:ea typeface="黑体" panose="02010609060101010101" pitchFamily="49" charset="-122"/>
              </a:rPr>
              <a:t>处取得在</a:t>
            </a:r>
            <a:r>
              <a:rPr lang="en-US" altLang="zh-CN" dirty="0">
                <a:ea typeface="黑体" panose="02010609060101010101" pitchFamily="49" charset="-122"/>
              </a:rPr>
              <a:t>[-3,4]</a:t>
            </a:r>
            <a:r>
              <a:rPr lang="zh-CN" altLang="en-US" dirty="0">
                <a:ea typeface="黑体" panose="02010609060101010101" pitchFamily="49" charset="-122"/>
              </a:rPr>
              <a:t>上取得最小值</a:t>
            </a:r>
            <a:r>
              <a:rPr lang="en-US" altLang="zh-CN" dirty="0">
                <a:ea typeface="黑体" panose="02010609060101010101" pitchFamily="49" charset="-122"/>
              </a:rPr>
              <a:t>f(1)=7 </a:t>
            </a:r>
          </a:p>
        </p:txBody>
      </p:sp>
    </p:spTree>
    <p:extLst>
      <p:ext uri="{BB962C8B-B14F-4D97-AF65-F5344CB8AC3E}">
        <p14:creationId xmlns:p14="http://schemas.microsoft.com/office/powerpoint/2010/main" val="15929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8</a:t>
            </a:fld>
            <a:endParaRPr lang="zh-CN" altLang="en-US" b="1" dirty="0">
              <a:solidFill>
                <a:srgbClr val="FF0000"/>
              </a:solidFill>
            </a:endParaRPr>
          </a:p>
        </p:txBody>
      </p:sp>
      <p:sp>
        <p:nvSpPr>
          <p:cNvPr id="9" name="Text Box 2">
            <a:extLst>
              <a:ext uri="{FF2B5EF4-FFF2-40B4-BE49-F238E27FC236}">
                <a16:creationId xmlns:a16="http://schemas.microsoft.com/office/drawing/2014/main" id="{BACF4D32-8207-439B-A7AF-9124FA4661A5}"/>
              </a:ext>
            </a:extLst>
          </p:cNvPr>
          <p:cNvSpPr txBox="1">
            <a:spLocks noChangeArrowheads="1"/>
          </p:cNvSpPr>
          <p:nvPr/>
        </p:nvSpPr>
        <p:spPr bwMode="auto">
          <a:xfrm>
            <a:off x="1475657" y="1435506"/>
            <a:ext cx="3384376" cy="40011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lang="zh-CN" altLang="en-US" sz="2000" dirty="0">
                <a:solidFill>
                  <a:srgbClr val="000000"/>
                </a:solidFill>
                <a:ea typeface="黑体" panose="02010609060101010101" pitchFamily="49" charset="-122"/>
              </a:rPr>
              <a:t>用</a:t>
            </a:r>
            <a:r>
              <a:rPr lang="en-US" altLang="zh-CN" sz="2000" dirty="0">
                <a:solidFill>
                  <a:srgbClr val="000000"/>
                </a:solidFill>
                <a:ea typeface="黑体" panose="02010609060101010101" pitchFamily="49" charset="-122"/>
              </a:rPr>
              <a:t>MATLAB</a:t>
            </a:r>
            <a:r>
              <a:rPr lang="zh-CN" altLang="en-US" sz="2000" dirty="0">
                <a:solidFill>
                  <a:srgbClr val="000000"/>
                </a:solidFill>
                <a:ea typeface="黑体" panose="02010609060101010101" pitchFamily="49" charset="-122"/>
              </a:rPr>
              <a:t>解无约束优化问题 </a:t>
            </a:r>
            <a:endParaRPr lang="zh-CN" altLang="en-US" sz="2000" dirty="0">
              <a:solidFill>
                <a:schemeClr val="tx1"/>
              </a:solidFill>
              <a:ea typeface="黑体" panose="02010609060101010101" pitchFamily="49" charset="-122"/>
            </a:endParaRPr>
          </a:p>
        </p:txBody>
      </p:sp>
      <p:graphicFrame>
        <p:nvGraphicFramePr>
          <p:cNvPr id="10" name="Object 3">
            <a:extLst>
              <a:ext uri="{FF2B5EF4-FFF2-40B4-BE49-F238E27FC236}">
                <a16:creationId xmlns:a16="http://schemas.microsoft.com/office/drawing/2014/main" id="{39FFB2EE-CBFC-4C01-A0C8-92E45608C4E0}"/>
              </a:ext>
            </a:extLst>
          </p:cNvPr>
          <p:cNvGraphicFramePr>
            <a:graphicFrameLocks noChangeAspect="1"/>
          </p:cNvGraphicFramePr>
          <p:nvPr>
            <p:extLst>
              <p:ext uri="{D42A27DB-BD31-4B8C-83A1-F6EECF244321}">
                <p14:modId xmlns:p14="http://schemas.microsoft.com/office/powerpoint/2010/main" val="235604249"/>
              </p:ext>
            </p:extLst>
          </p:nvPr>
        </p:nvGraphicFramePr>
        <p:xfrm>
          <a:off x="249238" y="901700"/>
          <a:ext cx="8666162" cy="498475"/>
        </p:xfrm>
        <a:graphic>
          <a:graphicData uri="http://schemas.openxmlformats.org/presentationml/2006/ole">
            <mc:AlternateContent xmlns:mc="http://schemas.openxmlformats.org/markup-compatibility/2006">
              <mc:Choice xmlns:v="urn:schemas-microsoft-com:vml" Requires="v">
                <p:oleObj name="Document" r:id="rId3" imgW="3732342" imgH="215628" progId="Word.Document.8">
                  <p:embed/>
                </p:oleObj>
              </mc:Choice>
              <mc:Fallback>
                <p:oleObj name="Document" r:id="rId3" imgW="3732342" imgH="215628" progId="Word.Document.8">
                  <p:embed/>
                  <p:pic>
                    <p:nvPicPr>
                      <p:cNvPr id="128003" name="Object 3">
                        <a:extLst>
                          <a:ext uri="{FF2B5EF4-FFF2-40B4-BE49-F238E27FC236}">
                            <a16:creationId xmlns:a16="http://schemas.microsoft.com/office/drawing/2014/main" id="{44DC7A76-6A58-4A66-9E7F-09F2D5147302}"/>
                          </a:ext>
                        </a:extLst>
                      </p:cNvPr>
                      <p:cNvPicPr>
                        <a:picLocks noChangeAspect="1" noChangeArrowheads="1"/>
                      </p:cNvPicPr>
                      <p:nvPr/>
                    </p:nvPicPr>
                    <p:blipFill>
                      <a:blip r:embed="rId4"/>
                      <a:srcRect/>
                      <a:stretch>
                        <a:fillRect/>
                      </a:stretch>
                    </p:blipFill>
                    <p:spPr bwMode="auto">
                      <a:xfrm>
                        <a:off x="249238" y="901700"/>
                        <a:ext cx="866616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5">
            <a:extLst>
              <a:ext uri="{FF2B5EF4-FFF2-40B4-BE49-F238E27FC236}">
                <a16:creationId xmlns:a16="http://schemas.microsoft.com/office/drawing/2014/main" id="{97A38A48-DE11-4283-8BFF-86D6D5B8A83F}"/>
              </a:ext>
            </a:extLst>
          </p:cNvPr>
          <p:cNvSpPr txBox="1">
            <a:spLocks noChangeArrowheads="1"/>
          </p:cNvSpPr>
          <p:nvPr/>
        </p:nvSpPr>
        <p:spPr bwMode="auto">
          <a:xfrm>
            <a:off x="323850" y="2033885"/>
            <a:ext cx="860425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400" dirty="0">
                <a:solidFill>
                  <a:srgbClr val="000000"/>
                </a:solidFill>
                <a:ea typeface="黑体" panose="02010609060101010101" pitchFamily="49" charset="-122"/>
              </a:rPr>
              <a:t> </a:t>
            </a:r>
            <a:r>
              <a:rPr lang="zh-CN" altLang="en-US" sz="2400" dirty="0">
                <a:solidFill>
                  <a:srgbClr val="000000"/>
                </a:solidFill>
                <a:ea typeface="黑体" panose="02010609060101010101" pitchFamily="49" charset="-122"/>
              </a:rPr>
              <a:t>常用格式如下：</a:t>
            </a:r>
          </a:p>
          <a:p>
            <a:pPr algn="l">
              <a:spcBef>
                <a:spcPct val="0"/>
              </a:spcBef>
            </a:pP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1</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x= </a:t>
            </a:r>
            <a:r>
              <a:rPr lang="en-US" altLang="zh-CN" sz="2400" dirty="0" err="1">
                <a:solidFill>
                  <a:srgbClr val="000000"/>
                </a:solidFill>
                <a:ea typeface="黑体" panose="02010609060101010101" pitchFamily="49" charset="-122"/>
              </a:rPr>
              <a:t>fminbnd</a:t>
            </a:r>
            <a:r>
              <a:rPr lang="en-US" altLang="zh-CN" sz="2400" dirty="0">
                <a:solidFill>
                  <a:srgbClr val="000000"/>
                </a:solidFill>
                <a:ea typeface="黑体" panose="02010609060101010101" pitchFamily="49" charset="-122"/>
              </a:rPr>
              <a:t> (fun,x1,x2)</a:t>
            </a:r>
          </a:p>
          <a:p>
            <a:pPr algn="l">
              <a:spcBef>
                <a:spcPct val="0"/>
              </a:spcBef>
            </a:pP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2</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x= </a:t>
            </a:r>
            <a:r>
              <a:rPr lang="en-US" altLang="zh-CN" sz="2400" dirty="0" err="1">
                <a:solidFill>
                  <a:srgbClr val="000000"/>
                </a:solidFill>
                <a:ea typeface="黑体" panose="02010609060101010101" pitchFamily="49" charset="-122"/>
              </a:rPr>
              <a:t>fminbnd</a:t>
            </a:r>
            <a:r>
              <a:rPr lang="en-US" altLang="zh-CN" sz="2400" dirty="0">
                <a:solidFill>
                  <a:srgbClr val="000000"/>
                </a:solidFill>
                <a:ea typeface="黑体" panose="02010609060101010101" pitchFamily="49" charset="-122"/>
              </a:rPr>
              <a:t> (fun,x1,x2 </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options)</a:t>
            </a:r>
          </a:p>
          <a:p>
            <a:pPr algn="l">
              <a:spcBef>
                <a:spcPct val="0"/>
              </a:spcBef>
            </a:pP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3</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[x</a:t>
            </a:r>
            <a:r>
              <a:rPr lang="zh-CN" altLang="en-US" sz="2400" dirty="0">
                <a:solidFill>
                  <a:srgbClr val="000000"/>
                </a:solidFill>
                <a:ea typeface="黑体" panose="02010609060101010101" pitchFamily="49" charset="-122"/>
              </a:rPr>
              <a:t>，</a:t>
            </a:r>
            <a:r>
              <a:rPr lang="en-US" altLang="zh-CN" sz="2400" dirty="0" err="1">
                <a:solidFill>
                  <a:srgbClr val="000000"/>
                </a:solidFill>
                <a:ea typeface="黑体" panose="02010609060101010101" pitchFamily="49" charset="-122"/>
              </a:rPr>
              <a:t>fval</a:t>
            </a:r>
            <a:r>
              <a:rPr lang="en-US" altLang="zh-CN" sz="2400" dirty="0">
                <a:solidFill>
                  <a:srgbClr val="000000"/>
                </a:solidFill>
                <a:ea typeface="黑体" panose="02010609060101010101" pitchFamily="49" charset="-122"/>
              </a:rPr>
              <a:t>]= </a:t>
            </a:r>
            <a:r>
              <a:rPr lang="en-US" altLang="zh-CN" sz="2400" dirty="0" err="1">
                <a:solidFill>
                  <a:srgbClr val="000000"/>
                </a:solidFill>
                <a:ea typeface="黑体" panose="02010609060101010101" pitchFamily="49" charset="-122"/>
              </a:rPr>
              <a:t>fminbnd</a:t>
            </a:r>
            <a:r>
              <a:rPr lang="zh-CN" altLang="en-US" sz="2400" dirty="0">
                <a:solidFill>
                  <a:srgbClr val="000000"/>
                </a:solidFill>
                <a:ea typeface="黑体" panose="02010609060101010101" pitchFamily="49" charset="-122"/>
              </a:rPr>
              <a:t>（</a:t>
            </a:r>
            <a:r>
              <a:rPr lang="en-US" altLang="en-US" sz="3600" dirty="0">
                <a:solidFill>
                  <a:schemeClr val="tx1"/>
                </a:solidFill>
                <a:ea typeface="黑体" panose="02010609060101010101" pitchFamily="49" charset="-122"/>
              </a:rPr>
              <a:t>…</a:t>
            </a:r>
            <a:r>
              <a:rPr lang="zh-CN" altLang="en-US" sz="2400" dirty="0">
                <a:solidFill>
                  <a:srgbClr val="000000"/>
                </a:solidFill>
                <a:ea typeface="黑体" panose="02010609060101010101" pitchFamily="49" charset="-122"/>
              </a:rPr>
              <a:t>）</a:t>
            </a:r>
          </a:p>
          <a:p>
            <a:pPr algn="l">
              <a:spcBef>
                <a:spcPct val="0"/>
              </a:spcBef>
            </a:pP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4</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[x</a:t>
            </a:r>
            <a:r>
              <a:rPr lang="zh-CN" altLang="en-US" sz="2400" dirty="0">
                <a:solidFill>
                  <a:srgbClr val="000000"/>
                </a:solidFill>
                <a:ea typeface="黑体" panose="02010609060101010101" pitchFamily="49" charset="-122"/>
              </a:rPr>
              <a:t>，</a:t>
            </a:r>
            <a:r>
              <a:rPr lang="en-US" altLang="zh-CN" sz="2400" dirty="0" err="1">
                <a:solidFill>
                  <a:srgbClr val="000000"/>
                </a:solidFill>
                <a:ea typeface="黑体" panose="02010609060101010101" pitchFamily="49" charset="-122"/>
              </a:rPr>
              <a:t>fval</a:t>
            </a:r>
            <a:r>
              <a:rPr lang="zh-CN" altLang="en-US" sz="2400" dirty="0">
                <a:solidFill>
                  <a:srgbClr val="000000"/>
                </a:solidFill>
                <a:ea typeface="黑体" panose="02010609060101010101" pitchFamily="49" charset="-122"/>
              </a:rPr>
              <a:t>，</a:t>
            </a:r>
            <a:r>
              <a:rPr lang="en-US" altLang="zh-CN" sz="2400" dirty="0" err="1">
                <a:solidFill>
                  <a:srgbClr val="000000"/>
                </a:solidFill>
                <a:ea typeface="黑体" panose="02010609060101010101" pitchFamily="49" charset="-122"/>
              </a:rPr>
              <a:t>exitflag</a:t>
            </a:r>
            <a:r>
              <a:rPr lang="en-US" altLang="zh-CN" sz="2400" dirty="0">
                <a:solidFill>
                  <a:srgbClr val="000000"/>
                </a:solidFill>
                <a:ea typeface="黑体" panose="02010609060101010101" pitchFamily="49" charset="-122"/>
              </a:rPr>
              <a:t>]= </a:t>
            </a:r>
            <a:r>
              <a:rPr lang="en-US" altLang="zh-CN" sz="2400" dirty="0" err="1">
                <a:solidFill>
                  <a:srgbClr val="000000"/>
                </a:solidFill>
                <a:ea typeface="黑体" panose="02010609060101010101" pitchFamily="49" charset="-122"/>
              </a:rPr>
              <a:t>fminbnd</a:t>
            </a:r>
            <a:r>
              <a:rPr lang="zh-CN" altLang="en-US" sz="2400" dirty="0">
                <a:solidFill>
                  <a:srgbClr val="000000"/>
                </a:solidFill>
                <a:ea typeface="黑体" panose="02010609060101010101" pitchFamily="49" charset="-122"/>
              </a:rPr>
              <a:t>（</a:t>
            </a:r>
            <a:r>
              <a:rPr lang="en-US" altLang="en-US" sz="3600" dirty="0">
                <a:solidFill>
                  <a:schemeClr val="tx1"/>
                </a:solidFill>
                <a:ea typeface="黑体" panose="02010609060101010101" pitchFamily="49" charset="-122"/>
              </a:rPr>
              <a:t>…</a:t>
            </a:r>
            <a:r>
              <a:rPr lang="zh-CN" altLang="en-US" sz="2400" dirty="0">
                <a:solidFill>
                  <a:srgbClr val="000000"/>
                </a:solidFill>
                <a:ea typeface="黑体" panose="02010609060101010101" pitchFamily="49" charset="-122"/>
              </a:rPr>
              <a:t>）</a:t>
            </a:r>
          </a:p>
          <a:p>
            <a:pPr algn="l">
              <a:spcBef>
                <a:spcPct val="0"/>
              </a:spcBef>
            </a:pP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5</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[x</a:t>
            </a:r>
            <a:r>
              <a:rPr lang="zh-CN" altLang="en-US" sz="2400" dirty="0">
                <a:solidFill>
                  <a:srgbClr val="000000"/>
                </a:solidFill>
                <a:ea typeface="黑体" panose="02010609060101010101" pitchFamily="49" charset="-122"/>
              </a:rPr>
              <a:t>，</a:t>
            </a:r>
            <a:r>
              <a:rPr lang="en-US" altLang="zh-CN" sz="2400" dirty="0" err="1">
                <a:solidFill>
                  <a:srgbClr val="000000"/>
                </a:solidFill>
                <a:ea typeface="黑体" panose="02010609060101010101" pitchFamily="49" charset="-122"/>
              </a:rPr>
              <a:t>fval</a:t>
            </a:r>
            <a:r>
              <a:rPr lang="zh-CN" altLang="en-US" sz="2400" dirty="0">
                <a:solidFill>
                  <a:srgbClr val="000000"/>
                </a:solidFill>
                <a:ea typeface="黑体" panose="02010609060101010101" pitchFamily="49" charset="-122"/>
              </a:rPr>
              <a:t>，</a:t>
            </a:r>
            <a:r>
              <a:rPr lang="en-US" altLang="zh-CN" sz="2400" dirty="0" err="1">
                <a:solidFill>
                  <a:srgbClr val="000000"/>
                </a:solidFill>
                <a:ea typeface="黑体" panose="02010609060101010101" pitchFamily="49" charset="-122"/>
              </a:rPr>
              <a:t>exitflag</a:t>
            </a:r>
            <a:r>
              <a:rPr lang="zh-CN" altLang="en-US" sz="2400" dirty="0">
                <a:solidFill>
                  <a:srgbClr val="000000"/>
                </a:solidFill>
                <a:ea typeface="黑体" panose="02010609060101010101" pitchFamily="49" charset="-122"/>
              </a:rPr>
              <a:t>，</a:t>
            </a:r>
            <a:r>
              <a:rPr lang="en-US" altLang="zh-CN" sz="2400" dirty="0">
                <a:solidFill>
                  <a:srgbClr val="000000"/>
                </a:solidFill>
                <a:ea typeface="黑体" panose="02010609060101010101" pitchFamily="49" charset="-122"/>
              </a:rPr>
              <a:t>output]= </a:t>
            </a:r>
            <a:r>
              <a:rPr lang="en-US" altLang="zh-CN" sz="2400" dirty="0" err="1">
                <a:solidFill>
                  <a:srgbClr val="000000"/>
                </a:solidFill>
                <a:ea typeface="黑体" panose="02010609060101010101" pitchFamily="49" charset="-122"/>
              </a:rPr>
              <a:t>fminbnd</a:t>
            </a:r>
            <a:r>
              <a:rPr lang="zh-CN" altLang="en-US" sz="2400" dirty="0">
                <a:solidFill>
                  <a:srgbClr val="000000"/>
                </a:solidFill>
                <a:ea typeface="黑体" panose="02010609060101010101" pitchFamily="49" charset="-122"/>
              </a:rPr>
              <a:t>（</a:t>
            </a:r>
            <a:r>
              <a:rPr lang="en-US" altLang="en-US" sz="3600" dirty="0">
                <a:solidFill>
                  <a:schemeClr val="tx1"/>
                </a:solidFill>
                <a:ea typeface="黑体" panose="02010609060101010101" pitchFamily="49" charset="-122"/>
              </a:rPr>
              <a:t>…</a:t>
            </a:r>
            <a:r>
              <a:rPr lang="zh-CN" altLang="en-US" sz="2400" dirty="0">
                <a:solidFill>
                  <a:srgbClr val="000000"/>
                </a:solidFill>
                <a:ea typeface="黑体" panose="02010609060101010101" pitchFamily="49" charset="-122"/>
              </a:rPr>
              <a:t>）</a:t>
            </a:r>
          </a:p>
        </p:txBody>
      </p:sp>
    </p:spTree>
    <p:extLst>
      <p:ext uri="{BB962C8B-B14F-4D97-AF65-F5344CB8AC3E}">
        <p14:creationId xmlns:p14="http://schemas.microsoft.com/office/powerpoint/2010/main" val="269221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9</a:t>
            </a:fld>
            <a:endParaRPr lang="zh-CN" altLang="en-US" b="1" dirty="0">
              <a:solidFill>
                <a:srgbClr val="FF0000"/>
              </a:solidFill>
            </a:endParaRPr>
          </a:p>
        </p:txBody>
      </p:sp>
      <p:sp>
        <p:nvSpPr>
          <p:cNvPr id="14" name="Rectangle 6">
            <a:extLst>
              <a:ext uri="{FF2B5EF4-FFF2-40B4-BE49-F238E27FC236}">
                <a16:creationId xmlns:a16="http://schemas.microsoft.com/office/drawing/2014/main" id="{F52C5CF5-84E1-4C30-8723-E86D8A2224CB}"/>
              </a:ext>
            </a:extLst>
          </p:cNvPr>
          <p:cNvSpPr>
            <a:spLocks noChangeArrowheads="1"/>
          </p:cNvSpPr>
          <p:nvPr/>
        </p:nvSpPr>
        <p:spPr bwMode="auto">
          <a:xfrm>
            <a:off x="541139" y="941196"/>
            <a:ext cx="4534917" cy="5232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2800" b="1" dirty="0"/>
              <a:t>2</a:t>
            </a:r>
            <a:r>
              <a:rPr lang="zh-CN" altLang="en-US" sz="2800" b="1" dirty="0"/>
              <a:t>、有约束极值问题的求解 </a:t>
            </a:r>
          </a:p>
        </p:txBody>
      </p:sp>
      <p:sp>
        <p:nvSpPr>
          <p:cNvPr id="9" name="Rectangle 4">
            <a:extLst>
              <a:ext uri="{FF2B5EF4-FFF2-40B4-BE49-F238E27FC236}">
                <a16:creationId xmlns:a16="http://schemas.microsoft.com/office/drawing/2014/main" id="{174F709C-1DB5-4D13-A647-752D66ADD09D}"/>
              </a:ext>
            </a:extLst>
          </p:cNvPr>
          <p:cNvSpPr>
            <a:spLocks noChangeArrowheads="1"/>
          </p:cNvSpPr>
          <p:nvPr/>
        </p:nvSpPr>
        <p:spPr bwMode="auto">
          <a:xfrm>
            <a:off x="685800" y="1700213"/>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dirty="0">
                <a:ea typeface="黑体" panose="02010609060101010101" pitchFamily="49" charset="-122"/>
              </a:rPr>
              <a:t>有约束最优化模型一般具有以下形式：</a:t>
            </a:r>
          </a:p>
        </p:txBody>
      </p:sp>
      <p:graphicFrame>
        <p:nvGraphicFramePr>
          <p:cNvPr id="10" name="Object 5">
            <a:extLst>
              <a:ext uri="{FF2B5EF4-FFF2-40B4-BE49-F238E27FC236}">
                <a16:creationId xmlns:a16="http://schemas.microsoft.com/office/drawing/2014/main" id="{9369186C-A605-46C4-A059-D825E3C0D9E2}"/>
              </a:ext>
            </a:extLst>
          </p:cNvPr>
          <p:cNvGraphicFramePr>
            <a:graphicFrameLocks noChangeAspect="1"/>
          </p:cNvGraphicFramePr>
          <p:nvPr/>
        </p:nvGraphicFramePr>
        <p:xfrm>
          <a:off x="1600200" y="2386013"/>
          <a:ext cx="1446213" cy="1014412"/>
        </p:xfrm>
        <a:graphic>
          <a:graphicData uri="http://schemas.openxmlformats.org/presentationml/2006/ole">
            <mc:AlternateContent xmlns:mc="http://schemas.openxmlformats.org/markup-compatibility/2006">
              <mc:Choice xmlns:v="urn:schemas-microsoft-com:vml" Requires="v">
                <p:oleObj name="Equation" r:id="rId3" imgW="723600" imgH="507960" progId="Equation.DSMT4">
                  <p:embed/>
                </p:oleObj>
              </mc:Choice>
              <mc:Fallback>
                <p:oleObj name="Equation" r:id="rId3" imgW="723600" imgH="507960" progId="Equation.DSMT4">
                  <p:embed/>
                  <p:pic>
                    <p:nvPicPr>
                      <p:cNvPr id="152581" name="Object 5">
                        <a:extLst>
                          <a:ext uri="{FF2B5EF4-FFF2-40B4-BE49-F238E27FC236}">
                            <a16:creationId xmlns:a16="http://schemas.microsoft.com/office/drawing/2014/main" id="{0872266C-BD90-4FD4-8BDB-11E880F129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386013"/>
                        <a:ext cx="1446213"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6">
            <a:extLst>
              <a:ext uri="{FF2B5EF4-FFF2-40B4-BE49-F238E27FC236}">
                <a16:creationId xmlns:a16="http://schemas.microsoft.com/office/drawing/2014/main" id="{F8DF75F3-AB6B-4C49-A3AB-5885AD6C303C}"/>
              </a:ext>
            </a:extLst>
          </p:cNvPr>
          <p:cNvSpPr txBox="1">
            <a:spLocks noChangeArrowheads="1"/>
          </p:cNvSpPr>
          <p:nvPr/>
        </p:nvSpPr>
        <p:spPr bwMode="auto">
          <a:xfrm>
            <a:off x="3810000" y="2690813"/>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a:solidFill>
                  <a:schemeClr val="tx1"/>
                </a:solidFill>
                <a:ea typeface="黑体" panose="02010609060101010101" pitchFamily="49" charset="-122"/>
              </a:rPr>
              <a:t>或</a:t>
            </a:r>
          </a:p>
        </p:txBody>
      </p:sp>
      <p:graphicFrame>
        <p:nvGraphicFramePr>
          <p:cNvPr id="12" name="Object 7">
            <a:extLst>
              <a:ext uri="{FF2B5EF4-FFF2-40B4-BE49-F238E27FC236}">
                <a16:creationId xmlns:a16="http://schemas.microsoft.com/office/drawing/2014/main" id="{9FDFCC7D-DBD7-4270-9E2F-4F353CBE1515}"/>
              </a:ext>
            </a:extLst>
          </p:cNvPr>
          <p:cNvGraphicFramePr>
            <a:graphicFrameLocks noChangeAspect="1"/>
          </p:cNvGraphicFramePr>
          <p:nvPr/>
        </p:nvGraphicFramePr>
        <p:xfrm>
          <a:off x="5157788" y="2386013"/>
          <a:ext cx="1495425" cy="1014412"/>
        </p:xfrm>
        <a:graphic>
          <a:graphicData uri="http://schemas.openxmlformats.org/presentationml/2006/ole">
            <mc:AlternateContent xmlns:mc="http://schemas.openxmlformats.org/markup-compatibility/2006">
              <mc:Choice xmlns:v="urn:schemas-microsoft-com:vml" Requires="v">
                <p:oleObj name="Equation" r:id="rId5" imgW="749160" imgH="507960" progId="Equation.DSMT4">
                  <p:embed/>
                </p:oleObj>
              </mc:Choice>
              <mc:Fallback>
                <p:oleObj name="Equation" r:id="rId5" imgW="749160" imgH="507960" progId="Equation.DSMT4">
                  <p:embed/>
                  <p:pic>
                    <p:nvPicPr>
                      <p:cNvPr id="152583" name="Object 7">
                        <a:extLst>
                          <a:ext uri="{FF2B5EF4-FFF2-40B4-BE49-F238E27FC236}">
                            <a16:creationId xmlns:a16="http://schemas.microsoft.com/office/drawing/2014/main" id="{1AF93674-6A53-4D72-A64C-04EE7583FD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7788" y="2386013"/>
                        <a:ext cx="1495425"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ext Box 8">
            <a:extLst>
              <a:ext uri="{FF2B5EF4-FFF2-40B4-BE49-F238E27FC236}">
                <a16:creationId xmlns:a16="http://schemas.microsoft.com/office/drawing/2014/main" id="{76B54929-57FA-45FA-955B-D4D1CFC00978}"/>
              </a:ext>
            </a:extLst>
          </p:cNvPr>
          <p:cNvSpPr txBox="1">
            <a:spLocks noChangeArrowheads="1"/>
          </p:cNvSpPr>
          <p:nvPr/>
        </p:nvSpPr>
        <p:spPr bwMode="auto">
          <a:xfrm>
            <a:off x="685800" y="3686175"/>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ea typeface="黑体" panose="02010609060101010101" pitchFamily="49" charset="-122"/>
              </a:rPr>
              <a:t>其中</a:t>
            </a:r>
            <a:r>
              <a:rPr lang="en-US" altLang="zh-CN" sz="2400" dirty="0">
                <a:solidFill>
                  <a:schemeClr val="tx1"/>
                </a:solidFill>
                <a:ea typeface="黑体" panose="02010609060101010101" pitchFamily="49" charset="-122"/>
              </a:rPr>
              <a:t>f(x)</a:t>
            </a:r>
            <a:r>
              <a:rPr lang="zh-CN" altLang="en-US" sz="2400" dirty="0">
                <a:solidFill>
                  <a:schemeClr val="tx1"/>
                </a:solidFill>
                <a:ea typeface="黑体" panose="02010609060101010101" pitchFamily="49" charset="-122"/>
              </a:rPr>
              <a:t>为目标函数，省略号表示约束式子，可以是等式约束，也可以是不等式约束。</a:t>
            </a:r>
          </a:p>
        </p:txBody>
      </p:sp>
    </p:spTree>
    <p:extLst>
      <p:ext uri="{BB962C8B-B14F-4D97-AF65-F5344CB8AC3E}">
        <p14:creationId xmlns:p14="http://schemas.microsoft.com/office/powerpoint/2010/main" val="367501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10</a:t>
            </a:fld>
            <a:endParaRPr lang="zh-CN" altLang="en-US" b="1" dirty="0">
              <a:solidFill>
                <a:srgbClr val="FF0000"/>
              </a:solidFill>
            </a:endParaRPr>
          </a:p>
        </p:txBody>
      </p:sp>
      <p:sp>
        <p:nvSpPr>
          <p:cNvPr id="14" name="Text Box 6">
            <a:extLst>
              <a:ext uri="{FF2B5EF4-FFF2-40B4-BE49-F238E27FC236}">
                <a16:creationId xmlns:a16="http://schemas.microsoft.com/office/drawing/2014/main" id="{E769DB5E-B595-4FD5-B087-FE68BAA6FFCB}"/>
              </a:ext>
            </a:extLst>
          </p:cNvPr>
          <p:cNvSpPr txBox="1">
            <a:spLocks noChangeArrowheads="1"/>
          </p:cNvSpPr>
          <p:nvPr/>
        </p:nvSpPr>
        <p:spPr bwMode="auto">
          <a:xfrm>
            <a:off x="685800" y="2060848"/>
            <a:ext cx="7772400" cy="4437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288000">
              <a:lnSpc>
                <a:spcPct val="110000"/>
              </a:lnSpc>
              <a:spcBef>
                <a:spcPct val="50000"/>
              </a:spcBef>
            </a:pPr>
            <a:r>
              <a:rPr lang="zh-CN" altLang="en-US" dirty="0">
                <a:latin typeface="黑体" panose="02010609060101010101" pitchFamily="49" charset="-122"/>
                <a:ea typeface="黑体" panose="02010609060101010101" pitchFamily="49" charset="-122"/>
              </a:rPr>
              <a:t>①前期分析：分析问题，找出要解决的目标，约束条件，并确立最优化的目标。</a:t>
            </a:r>
          </a:p>
          <a:p>
            <a:pPr marL="288000">
              <a:lnSpc>
                <a:spcPct val="110000"/>
              </a:lnSpc>
              <a:spcBef>
                <a:spcPct val="50000"/>
              </a:spcBef>
            </a:pPr>
            <a:r>
              <a:rPr lang="zh-CN" altLang="en-US" dirty="0">
                <a:latin typeface="黑体" panose="02010609060101010101" pitchFamily="49" charset="-122"/>
                <a:ea typeface="黑体" panose="02010609060101010101" pitchFamily="49" charset="-122"/>
              </a:rPr>
              <a:t>②定义变量，建立最优化问题的数学模型，列出目标函数和约束条件。</a:t>
            </a:r>
          </a:p>
          <a:p>
            <a:pPr>
              <a:lnSpc>
                <a:spcPct val="110000"/>
              </a:lnSpc>
              <a:spcBef>
                <a:spcPct val="50000"/>
              </a:spcBef>
            </a:pPr>
            <a:r>
              <a:rPr lang="zh-CN" altLang="en-US" dirty="0">
                <a:latin typeface="黑体" panose="02010609060101010101" pitchFamily="49" charset="-122"/>
                <a:ea typeface="黑体" panose="02010609060101010101" pitchFamily="49" charset="-122"/>
              </a:rPr>
              <a:t>③针对建立的模型，选择合适的求解方法或数学软件。</a:t>
            </a:r>
          </a:p>
          <a:p>
            <a:pPr>
              <a:lnSpc>
                <a:spcPct val="110000"/>
              </a:lnSpc>
              <a:spcBef>
                <a:spcPct val="50000"/>
              </a:spcBef>
            </a:pPr>
            <a:r>
              <a:rPr lang="zh-CN" altLang="en-US" dirty="0">
                <a:latin typeface="黑体" panose="02010609060101010101" pitchFamily="49" charset="-122"/>
                <a:ea typeface="黑体" panose="02010609060101010101" pitchFamily="49" charset="-122"/>
              </a:rPr>
              <a:t>④编写程序，利用计算机求解。</a:t>
            </a:r>
          </a:p>
          <a:p>
            <a:pPr marL="288000">
              <a:lnSpc>
                <a:spcPct val="110000"/>
              </a:lnSpc>
              <a:spcBef>
                <a:spcPct val="50000"/>
              </a:spcBef>
            </a:pPr>
            <a:r>
              <a:rPr lang="zh-CN" altLang="en-US" dirty="0">
                <a:latin typeface="黑体" panose="02010609060101010101" pitchFamily="49" charset="-122"/>
                <a:ea typeface="黑体" panose="02010609060101010101" pitchFamily="49" charset="-122"/>
              </a:rPr>
              <a:t>⑤对结果进行分析，讨论诸如：结果的合理性、正确性，算法的收敛性，模型的适用性和通用性，算法效率与误差等。</a:t>
            </a:r>
          </a:p>
        </p:txBody>
      </p:sp>
      <p:sp>
        <p:nvSpPr>
          <p:cNvPr id="2" name="矩形 1">
            <a:extLst>
              <a:ext uri="{FF2B5EF4-FFF2-40B4-BE49-F238E27FC236}">
                <a16:creationId xmlns:a16="http://schemas.microsoft.com/office/drawing/2014/main" id="{2709A42E-A789-4D8C-9776-720CCBFAC5F3}"/>
              </a:ext>
            </a:extLst>
          </p:cNvPr>
          <p:cNvSpPr/>
          <p:nvPr/>
        </p:nvSpPr>
        <p:spPr>
          <a:xfrm>
            <a:off x="605086" y="1021051"/>
            <a:ext cx="7475140" cy="1009572"/>
          </a:xfrm>
          <a:prstGeom prst="rect">
            <a:avLst/>
          </a:prstGeom>
        </p:spPr>
        <p:txBody>
          <a:bodyPr wrap="square">
            <a:spAutoFit/>
          </a:bodyPr>
          <a:lstStyle/>
          <a:p>
            <a:pPr>
              <a:lnSpc>
                <a:spcPct val="110000"/>
              </a:lnSpc>
              <a:spcBef>
                <a:spcPct val="20000"/>
              </a:spcBef>
            </a:pPr>
            <a:r>
              <a:rPr lang="zh-CN" altLang="en-US" sz="2800" b="1" dirty="0">
                <a:solidFill>
                  <a:schemeClr val="tx2"/>
                </a:solidFill>
              </a:rPr>
              <a:t>运用数学规划方法解决最优化问题的一般方法步骤如下：</a:t>
            </a:r>
          </a:p>
        </p:txBody>
      </p:sp>
    </p:spTree>
    <p:extLst>
      <p:ext uri="{BB962C8B-B14F-4D97-AF65-F5344CB8AC3E}">
        <p14:creationId xmlns:p14="http://schemas.microsoft.com/office/powerpoint/2010/main" val="4254171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最优化方法：经典极值问题</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11</a:t>
            </a:fld>
            <a:endParaRPr lang="zh-CN" altLang="en-US" b="1" dirty="0">
              <a:solidFill>
                <a:srgbClr val="FF0000"/>
              </a:solidFill>
            </a:endParaRPr>
          </a:p>
        </p:txBody>
      </p:sp>
      <p:sp>
        <p:nvSpPr>
          <p:cNvPr id="14" name="Rectangle 6">
            <a:extLst>
              <a:ext uri="{FF2B5EF4-FFF2-40B4-BE49-F238E27FC236}">
                <a16:creationId xmlns:a16="http://schemas.microsoft.com/office/drawing/2014/main" id="{F52C5CF5-84E1-4C30-8723-E86D8A2224CB}"/>
              </a:ext>
            </a:extLst>
          </p:cNvPr>
          <p:cNvSpPr>
            <a:spLocks noChangeArrowheads="1"/>
          </p:cNvSpPr>
          <p:nvPr/>
        </p:nvSpPr>
        <p:spPr bwMode="auto">
          <a:xfrm>
            <a:off x="541139" y="941196"/>
            <a:ext cx="4534917" cy="5232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2800" b="1" dirty="0"/>
              <a:t>2</a:t>
            </a:r>
            <a:r>
              <a:rPr lang="zh-CN" altLang="en-US" sz="2800" b="1" dirty="0"/>
              <a:t>、有约束极值问题的求解 </a:t>
            </a:r>
          </a:p>
        </p:txBody>
      </p:sp>
      <p:sp>
        <p:nvSpPr>
          <p:cNvPr id="13" name="Text Box 6">
            <a:extLst>
              <a:ext uri="{FF2B5EF4-FFF2-40B4-BE49-F238E27FC236}">
                <a16:creationId xmlns:a16="http://schemas.microsoft.com/office/drawing/2014/main" id="{C8F9B224-E965-4378-940C-34010E31A341}"/>
              </a:ext>
            </a:extLst>
          </p:cNvPr>
          <p:cNvSpPr txBox="1">
            <a:spLocks noChangeArrowheads="1"/>
          </p:cNvSpPr>
          <p:nvPr/>
        </p:nvSpPr>
        <p:spPr bwMode="auto">
          <a:xfrm>
            <a:off x="685800" y="1676400"/>
            <a:ext cx="7198568" cy="2666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kumimoji="1" lang="zh-CN" altLang="en-US" sz="2400" b="1" dirty="0">
                <a:latin typeface="Times New Roman" panose="02020603050405020304" pitchFamily="18" charset="0"/>
                <a:ea typeface="宋体" panose="02010600030101010101" pitchFamily="2" charset="-122"/>
              </a:rPr>
              <a:t>根据目标函数、约束条件的特点将最优化方法包含的主要内容大致如下划分：</a:t>
            </a:r>
          </a:p>
          <a:p>
            <a:pPr marL="342900" indent="-342900">
              <a:lnSpc>
                <a:spcPct val="120000"/>
              </a:lnSpc>
              <a:spcBef>
                <a:spcPct val="20000"/>
              </a:spcBef>
              <a:buFont typeface="Wingdings" panose="05000000000000000000" pitchFamily="2" charset="2"/>
              <a:buChar char="n"/>
            </a:pPr>
            <a:r>
              <a:rPr kumimoji="1" lang="zh-CN" altLang="en-US" sz="2000" b="1" dirty="0">
                <a:latin typeface="Times New Roman" panose="02020603050405020304" pitchFamily="18" charset="0"/>
                <a:ea typeface="宋体" panose="02010600030101010101" pitchFamily="2" charset="-122"/>
              </a:rPr>
              <a:t>线性规划：</a:t>
            </a:r>
            <a:r>
              <a:rPr lang="zh-CN" altLang="en-US" sz="2000" dirty="0">
                <a:latin typeface="黑体" panose="02010609060101010101" pitchFamily="49" charset="-122"/>
                <a:ea typeface="黑体" panose="02010609060101010101" pitchFamily="49" charset="-122"/>
              </a:rPr>
              <a:t>目标函数和约束条件都是</a:t>
            </a:r>
            <a:r>
              <a:rPr lang="zh-CN" altLang="en-US" sz="2000" dirty="0">
                <a:solidFill>
                  <a:srgbClr val="FF0000"/>
                </a:solidFill>
                <a:latin typeface="黑体" panose="02010609060101010101" pitchFamily="49" charset="-122"/>
                <a:ea typeface="黑体" panose="02010609060101010101" pitchFamily="49" charset="-122"/>
              </a:rPr>
              <a:t>线性</a:t>
            </a:r>
            <a:r>
              <a:rPr lang="zh-CN" altLang="en-US" sz="2000" dirty="0">
                <a:latin typeface="黑体" panose="02010609060101010101" pitchFamily="49" charset="-122"/>
                <a:ea typeface="黑体" panose="02010609060101010101" pitchFamily="49" charset="-122"/>
              </a:rPr>
              <a:t>的</a:t>
            </a:r>
            <a:endParaRPr kumimoji="1" lang="en-US" altLang="zh-CN" sz="2000" b="1" dirty="0">
              <a:latin typeface="Times New Roman" panose="02020603050405020304" pitchFamily="18" charset="0"/>
              <a:ea typeface="宋体" panose="02010600030101010101" pitchFamily="2" charset="-122"/>
            </a:endParaRPr>
          </a:p>
          <a:p>
            <a:pPr marL="342900" indent="-342900">
              <a:lnSpc>
                <a:spcPct val="120000"/>
              </a:lnSpc>
              <a:spcBef>
                <a:spcPct val="20000"/>
              </a:spcBef>
              <a:buFont typeface="Wingdings" panose="05000000000000000000" pitchFamily="2" charset="2"/>
              <a:buChar char="n"/>
            </a:pPr>
            <a:r>
              <a:rPr kumimoji="1" lang="zh-CN" altLang="en-US" sz="2000" b="1" dirty="0">
                <a:latin typeface="Times New Roman" panose="02020603050405020304" pitchFamily="18" charset="0"/>
                <a:ea typeface="宋体" panose="02010600030101010101" pitchFamily="2" charset="-122"/>
              </a:rPr>
              <a:t>整数规划：所有变量为</a:t>
            </a:r>
            <a:r>
              <a:rPr kumimoji="1" lang="zh-CN" altLang="en-US" sz="2000" b="1" dirty="0">
                <a:solidFill>
                  <a:srgbClr val="FF0000"/>
                </a:solidFill>
                <a:latin typeface="Times New Roman" panose="02020603050405020304" pitchFamily="18" charset="0"/>
                <a:ea typeface="宋体" panose="02010600030101010101" pitchFamily="2" charset="-122"/>
              </a:rPr>
              <a:t>整数</a:t>
            </a:r>
            <a:endParaRPr kumimoji="1" lang="en-US" altLang="zh-CN" sz="2000" b="1" dirty="0">
              <a:solidFill>
                <a:srgbClr val="FF0000"/>
              </a:solidFill>
              <a:latin typeface="Times New Roman" panose="02020603050405020304" pitchFamily="18" charset="0"/>
              <a:ea typeface="宋体" panose="02010600030101010101" pitchFamily="2" charset="-122"/>
            </a:endParaRPr>
          </a:p>
          <a:p>
            <a:pPr marL="342900" indent="-342900">
              <a:lnSpc>
                <a:spcPct val="120000"/>
              </a:lnSpc>
              <a:spcBef>
                <a:spcPct val="20000"/>
              </a:spcBef>
              <a:buFont typeface="Wingdings" panose="05000000000000000000" pitchFamily="2" charset="2"/>
              <a:buChar char="n"/>
            </a:pPr>
            <a:r>
              <a:rPr kumimoji="1" lang="zh-CN" altLang="en-US" sz="2000" b="1" dirty="0">
                <a:latin typeface="Times New Roman" panose="02020603050405020304" pitchFamily="18" charset="0"/>
                <a:ea typeface="宋体" panose="02010600030101010101" pitchFamily="2" charset="-122"/>
              </a:rPr>
              <a:t>非线性规划：</a:t>
            </a:r>
            <a:r>
              <a:rPr lang="zh-CN" altLang="en-US" sz="2000" dirty="0">
                <a:latin typeface="黑体" panose="02010609060101010101" pitchFamily="49" charset="-122"/>
                <a:ea typeface="黑体" panose="02010609060101010101" pitchFamily="49" charset="-122"/>
              </a:rPr>
              <a:t>目标函数或约束条件包含</a:t>
            </a:r>
            <a:r>
              <a:rPr lang="zh-CN" altLang="en-US" sz="2000" dirty="0">
                <a:solidFill>
                  <a:srgbClr val="FF0000"/>
                </a:solidFill>
                <a:latin typeface="黑体" panose="02010609060101010101" pitchFamily="49" charset="-122"/>
                <a:ea typeface="黑体" panose="02010609060101010101" pitchFamily="49" charset="-122"/>
              </a:rPr>
              <a:t>非线性</a:t>
            </a:r>
            <a:r>
              <a:rPr lang="zh-CN" altLang="en-US" sz="2000" dirty="0">
                <a:latin typeface="黑体" panose="02010609060101010101" pitchFamily="49" charset="-122"/>
                <a:ea typeface="黑体" panose="02010609060101010101" pitchFamily="49" charset="-122"/>
              </a:rPr>
              <a:t>函数</a:t>
            </a:r>
            <a:endParaRPr kumimoji="1" lang="en-US" altLang="zh-CN" sz="2000" b="1" dirty="0">
              <a:latin typeface="Times New Roman" panose="02020603050405020304" pitchFamily="18" charset="0"/>
              <a:ea typeface="宋体" panose="02010600030101010101" pitchFamily="2" charset="-122"/>
            </a:endParaRPr>
          </a:p>
          <a:p>
            <a:pPr marL="342900" indent="-342900">
              <a:lnSpc>
                <a:spcPct val="120000"/>
              </a:lnSpc>
              <a:spcBef>
                <a:spcPct val="20000"/>
              </a:spcBef>
              <a:buFont typeface="Wingdings" panose="05000000000000000000" pitchFamily="2" charset="2"/>
              <a:buChar char="n"/>
            </a:pPr>
            <a:r>
              <a:rPr kumimoji="1" lang="zh-CN" altLang="en-US" sz="2000" b="1" dirty="0">
                <a:latin typeface="Times New Roman" panose="02020603050405020304" pitchFamily="18" charset="0"/>
                <a:ea typeface="宋体" panose="02010600030101010101" pitchFamily="2" charset="-122"/>
              </a:rPr>
              <a:t>多目标规划：有多个目标函数</a:t>
            </a:r>
            <a:endParaRPr kumimoji="1" lang="en-US" altLang="zh-CN" sz="2000" b="1"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730216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7200800"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12</a:t>
            </a:fld>
            <a:endParaRPr lang="zh-CN" altLang="en-US" b="1" dirty="0">
              <a:solidFill>
                <a:srgbClr val="FF0000"/>
              </a:solidFill>
            </a:endParaRPr>
          </a:p>
        </p:txBody>
      </p:sp>
      <p:sp>
        <p:nvSpPr>
          <p:cNvPr id="14" name="Text Box 3">
            <a:extLst>
              <a:ext uri="{FF2B5EF4-FFF2-40B4-BE49-F238E27FC236}">
                <a16:creationId xmlns:a16="http://schemas.microsoft.com/office/drawing/2014/main" id="{9553FF15-1BD3-45F5-BA2C-D25348FE7186}"/>
              </a:ext>
            </a:extLst>
          </p:cNvPr>
          <p:cNvSpPr txBox="1">
            <a:spLocks noChangeArrowheads="1"/>
          </p:cNvSpPr>
          <p:nvPr/>
        </p:nvSpPr>
        <p:spPr bwMode="auto">
          <a:xfrm>
            <a:off x="683568" y="1124744"/>
            <a:ext cx="782083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2400" b="0" dirty="0">
                <a:solidFill>
                  <a:schemeClr val="tx1"/>
                </a:solidFill>
                <a:latin typeface="黑体" panose="02010609060101010101" pitchFamily="49" charset="-122"/>
                <a:ea typeface="黑体" panose="02010609060101010101" pitchFamily="49" charset="-122"/>
              </a:rPr>
              <a:t>例</a:t>
            </a:r>
            <a:r>
              <a:rPr lang="en-US" altLang="zh-CN" sz="2400" b="0" dirty="0">
                <a:solidFill>
                  <a:schemeClr val="tx1"/>
                </a:solidFill>
                <a:latin typeface="黑体" panose="02010609060101010101" pitchFamily="49" charset="-122"/>
                <a:ea typeface="黑体" panose="02010609060101010101" pitchFamily="49" charset="-122"/>
              </a:rPr>
              <a:t>1</a:t>
            </a:r>
            <a:r>
              <a:rPr lang="zh-CN" altLang="en-US" sz="2400" b="0" dirty="0">
                <a:solidFill>
                  <a:schemeClr val="tx1"/>
                </a:solidFill>
                <a:latin typeface="黑体" panose="02010609060101010101" pitchFamily="49" charset="-122"/>
                <a:ea typeface="黑体" panose="02010609060101010101" pitchFamily="49" charset="-122"/>
              </a:rPr>
              <a:t>：某</a:t>
            </a:r>
            <a:r>
              <a:rPr lang="zh-CN" altLang="zh-CN" sz="2400" b="0" dirty="0">
                <a:solidFill>
                  <a:schemeClr val="tx1"/>
                </a:solidFill>
                <a:latin typeface="黑体" panose="02010609060101010101" pitchFamily="49" charset="-122"/>
                <a:ea typeface="黑体" panose="02010609060101010101" pitchFamily="49" charset="-122"/>
              </a:rPr>
              <a:t>豆腐店用黄豆制作两种不同口感的豆腐出售。制作口感较鲜嫩的豆腐每千克需要</a:t>
            </a:r>
            <a:r>
              <a:rPr lang="en-US" altLang="zh-CN" sz="2400" b="0" dirty="0">
                <a:solidFill>
                  <a:schemeClr val="tx1"/>
                </a:solidFill>
                <a:latin typeface="黑体" panose="02010609060101010101" pitchFamily="49" charset="-122"/>
                <a:ea typeface="黑体" panose="02010609060101010101" pitchFamily="49" charset="-122"/>
              </a:rPr>
              <a:t>0.3</a:t>
            </a:r>
            <a:r>
              <a:rPr lang="zh-CN" altLang="en-US" sz="2400" b="0" dirty="0">
                <a:solidFill>
                  <a:schemeClr val="tx1"/>
                </a:solidFill>
                <a:latin typeface="黑体" panose="02010609060101010101" pitchFamily="49" charset="-122"/>
                <a:ea typeface="黑体" panose="02010609060101010101" pitchFamily="49" charset="-122"/>
              </a:rPr>
              <a:t>千克一级黄豆及</a:t>
            </a:r>
            <a:r>
              <a:rPr lang="en-US" altLang="zh-CN" sz="2400" b="0" dirty="0">
                <a:solidFill>
                  <a:schemeClr val="tx1"/>
                </a:solidFill>
                <a:latin typeface="黑体" panose="02010609060101010101" pitchFamily="49" charset="-122"/>
                <a:ea typeface="黑体" panose="02010609060101010101" pitchFamily="49" charset="-122"/>
              </a:rPr>
              <a:t>0.5</a:t>
            </a:r>
            <a:r>
              <a:rPr lang="zh-CN" altLang="en-US" sz="2400" b="0" dirty="0">
                <a:solidFill>
                  <a:schemeClr val="tx1"/>
                </a:solidFill>
                <a:latin typeface="黑体" panose="02010609060101010101" pitchFamily="49" charset="-122"/>
                <a:ea typeface="黑体" panose="02010609060101010101" pitchFamily="49" charset="-122"/>
              </a:rPr>
              <a:t>千克二级黄豆，售价</a:t>
            </a:r>
            <a:r>
              <a:rPr lang="en-US" altLang="zh-CN" sz="2400" b="0" dirty="0">
                <a:solidFill>
                  <a:schemeClr val="tx1"/>
                </a:solidFill>
                <a:latin typeface="黑体" panose="02010609060101010101" pitchFamily="49" charset="-122"/>
                <a:ea typeface="黑体" panose="02010609060101010101" pitchFamily="49" charset="-122"/>
              </a:rPr>
              <a:t>10</a:t>
            </a:r>
            <a:r>
              <a:rPr lang="zh-CN" altLang="en-US" sz="2400" b="0" dirty="0">
                <a:solidFill>
                  <a:schemeClr val="tx1"/>
                </a:solidFill>
                <a:latin typeface="黑体" panose="02010609060101010101" pitchFamily="49" charset="-122"/>
                <a:ea typeface="黑体" panose="02010609060101010101" pitchFamily="49" charset="-122"/>
              </a:rPr>
              <a:t>元；制作口感较厚实的豆腐每千克需要</a:t>
            </a:r>
            <a:r>
              <a:rPr lang="en-US" altLang="zh-CN" sz="2400" b="0" dirty="0">
                <a:solidFill>
                  <a:schemeClr val="tx1"/>
                </a:solidFill>
                <a:latin typeface="黑体" panose="02010609060101010101" pitchFamily="49" charset="-122"/>
                <a:ea typeface="黑体" panose="02010609060101010101" pitchFamily="49" charset="-122"/>
              </a:rPr>
              <a:t>0.4</a:t>
            </a:r>
            <a:r>
              <a:rPr lang="zh-CN" altLang="en-US" sz="2400" b="0" dirty="0">
                <a:solidFill>
                  <a:schemeClr val="tx1"/>
                </a:solidFill>
                <a:latin typeface="黑体" panose="02010609060101010101" pitchFamily="49" charset="-122"/>
                <a:ea typeface="黑体" panose="02010609060101010101" pitchFamily="49" charset="-122"/>
              </a:rPr>
              <a:t>千克一级黄豆及</a:t>
            </a:r>
            <a:r>
              <a:rPr lang="en-US" altLang="zh-CN" sz="2400" b="0" dirty="0">
                <a:solidFill>
                  <a:schemeClr val="tx1"/>
                </a:solidFill>
                <a:latin typeface="黑体" panose="02010609060101010101" pitchFamily="49" charset="-122"/>
                <a:ea typeface="黑体" panose="02010609060101010101" pitchFamily="49" charset="-122"/>
              </a:rPr>
              <a:t>0.2</a:t>
            </a:r>
            <a:r>
              <a:rPr lang="zh-CN" altLang="en-US" sz="2400" b="0" dirty="0">
                <a:solidFill>
                  <a:schemeClr val="tx1"/>
                </a:solidFill>
                <a:latin typeface="黑体" panose="02010609060101010101" pitchFamily="49" charset="-122"/>
                <a:ea typeface="黑体" panose="02010609060101010101" pitchFamily="49" charset="-122"/>
              </a:rPr>
              <a:t>千克二级黄豆，售价</a:t>
            </a:r>
            <a:r>
              <a:rPr lang="en-US" altLang="zh-CN" sz="2400" b="0" dirty="0">
                <a:solidFill>
                  <a:schemeClr val="tx1"/>
                </a:solidFill>
                <a:latin typeface="黑体" panose="02010609060101010101" pitchFamily="49" charset="-122"/>
                <a:ea typeface="黑体" panose="02010609060101010101" pitchFamily="49" charset="-122"/>
              </a:rPr>
              <a:t>5</a:t>
            </a:r>
            <a:r>
              <a:rPr lang="zh-CN" altLang="en-US" sz="2400" b="0" dirty="0">
                <a:solidFill>
                  <a:schemeClr val="tx1"/>
                </a:solidFill>
                <a:latin typeface="黑体" panose="02010609060101010101" pitchFamily="49" charset="-122"/>
                <a:ea typeface="黑体" panose="02010609060101010101" pitchFamily="49" charset="-122"/>
              </a:rPr>
              <a:t>元。现小店购入</a:t>
            </a:r>
            <a:r>
              <a:rPr lang="en-US" altLang="zh-CN" sz="2400" b="0" dirty="0">
                <a:solidFill>
                  <a:schemeClr val="tx1"/>
                </a:solidFill>
                <a:latin typeface="黑体" panose="02010609060101010101" pitchFamily="49" charset="-122"/>
                <a:ea typeface="黑体" panose="02010609060101010101" pitchFamily="49" charset="-122"/>
              </a:rPr>
              <a:t>9</a:t>
            </a:r>
            <a:r>
              <a:rPr lang="zh-CN" altLang="en-US" sz="2400" b="0" dirty="0">
                <a:solidFill>
                  <a:schemeClr val="tx1"/>
                </a:solidFill>
                <a:latin typeface="黑体" panose="02010609060101010101" pitchFamily="49" charset="-122"/>
                <a:ea typeface="黑体" panose="02010609060101010101" pitchFamily="49" charset="-122"/>
              </a:rPr>
              <a:t>千克一级黄豆和</a:t>
            </a:r>
            <a:r>
              <a:rPr lang="en-US" altLang="zh-CN" sz="2400" b="0" dirty="0">
                <a:solidFill>
                  <a:schemeClr val="tx1"/>
                </a:solidFill>
                <a:latin typeface="黑体" panose="02010609060101010101" pitchFamily="49" charset="-122"/>
                <a:ea typeface="黑体" panose="02010609060101010101" pitchFamily="49" charset="-122"/>
              </a:rPr>
              <a:t>8</a:t>
            </a:r>
            <a:r>
              <a:rPr lang="zh-CN" altLang="en-US" sz="2400" b="0" dirty="0">
                <a:solidFill>
                  <a:schemeClr val="tx1"/>
                </a:solidFill>
                <a:latin typeface="黑体" panose="02010609060101010101" pitchFamily="49" charset="-122"/>
                <a:ea typeface="黑体" panose="02010609060101010101" pitchFamily="49" charset="-122"/>
              </a:rPr>
              <a:t>千克二级黄豆。</a:t>
            </a:r>
            <a:endParaRPr lang="en-US" altLang="zh-CN" sz="2400" b="0" dirty="0">
              <a:solidFill>
                <a:schemeClr val="tx1"/>
              </a:solidFill>
              <a:latin typeface="黑体" panose="02010609060101010101" pitchFamily="49" charset="-122"/>
              <a:ea typeface="黑体" panose="02010609060101010101" pitchFamily="49" charset="-122"/>
            </a:endParaRPr>
          </a:p>
          <a:p>
            <a:pPr algn="just"/>
            <a:endParaRPr lang="zh-CN" altLang="en-US" sz="2400" b="0" dirty="0">
              <a:solidFill>
                <a:schemeClr val="tx1"/>
              </a:solidFill>
              <a:latin typeface="黑体" panose="02010609060101010101" pitchFamily="49" charset="-122"/>
              <a:ea typeface="黑体" panose="02010609060101010101" pitchFamily="49" charset="-122"/>
            </a:endParaRPr>
          </a:p>
          <a:p>
            <a:pPr algn="just"/>
            <a:r>
              <a:rPr lang="zh-CN" altLang="en-US" sz="2400" b="0" dirty="0">
                <a:solidFill>
                  <a:schemeClr val="tx1"/>
                </a:solidFill>
                <a:latin typeface="黑体" panose="02010609060101010101" pitchFamily="49" charset="-122"/>
                <a:ea typeface="黑体" panose="02010609060101010101" pitchFamily="49" charset="-122"/>
              </a:rPr>
              <a:t>问：应如何安排制作计划才能获得最大收益。</a:t>
            </a:r>
            <a:endParaRPr lang="en-US" altLang="zh-CN" sz="2400" b="0" dirty="0">
              <a:solidFill>
                <a:schemeClr val="tx1"/>
              </a:solidFill>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EFD6E7A4-2718-430E-8709-8835843C6797}"/>
              </a:ext>
            </a:extLst>
          </p:cNvPr>
          <p:cNvGraphicFramePr>
            <a:graphicFrameLocks noGrp="1"/>
          </p:cNvGraphicFramePr>
          <p:nvPr>
            <p:extLst>
              <p:ext uri="{D42A27DB-BD31-4B8C-83A1-F6EECF244321}">
                <p14:modId xmlns:p14="http://schemas.microsoft.com/office/powerpoint/2010/main" val="1475472467"/>
              </p:ext>
            </p:extLst>
          </p:nvPr>
        </p:nvGraphicFramePr>
        <p:xfrm>
          <a:off x="1475656" y="4437112"/>
          <a:ext cx="5544616" cy="1112520"/>
        </p:xfrm>
        <a:graphic>
          <a:graphicData uri="http://schemas.openxmlformats.org/drawingml/2006/table">
            <a:tbl>
              <a:tblPr firstRow="1" bandRow="1">
                <a:tableStyleId>{5C22544A-7EE6-4342-B048-85BDC9FD1C3A}</a:tableStyleId>
              </a:tblPr>
              <a:tblGrid>
                <a:gridCol w="1386154">
                  <a:extLst>
                    <a:ext uri="{9D8B030D-6E8A-4147-A177-3AD203B41FA5}">
                      <a16:colId xmlns:a16="http://schemas.microsoft.com/office/drawing/2014/main" val="3703971574"/>
                    </a:ext>
                  </a:extLst>
                </a:gridCol>
                <a:gridCol w="1386154">
                  <a:extLst>
                    <a:ext uri="{9D8B030D-6E8A-4147-A177-3AD203B41FA5}">
                      <a16:colId xmlns:a16="http://schemas.microsoft.com/office/drawing/2014/main" val="2118633434"/>
                    </a:ext>
                  </a:extLst>
                </a:gridCol>
                <a:gridCol w="1207831">
                  <a:extLst>
                    <a:ext uri="{9D8B030D-6E8A-4147-A177-3AD203B41FA5}">
                      <a16:colId xmlns:a16="http://schemas.microsoft.com/office/drawing/2014/main" val="2032208973"/>
                    </a:ext>
                  </a:extLst>
                </a:gridCol>
                <a:gridCol w="1564477">
                  <a:extLst>
                    <a:ext uri="{9D8B030D-6E8A-4147-A177-3AD203B41FA5}">
                      <a16:colId xmlns:a16="http://schemas.microsoft.com/office/drawing/2014/main" val="2295139765"/>
                    </a:ext>
                  </a:extLst>
                </a:gridCol>
              </a:tblGrid>
              <a:tr h="370840">
                <a:tc>
                  <a:txBody>
                    <a:bodyPr/>
                    <a:lstStyle/>
                    <a:p>
                      <a:pPr algn="ctr"/>
                      <a:r>
                        <a:rPr lang="zh-CN" altLang="en-US" dirty="0"/>
                        <a:t>资源消耗</a:t>
                      </a:r>
                    </a:p>
                  </a:txBody>
                  <a:tcPr/>
                </a:tc>
                <a:tc>
                  <a:txBody>
                    <a:bodyPr/>
                    <a:lstStyle/>
                    <a:p>
                      <a:pPr algn="ctr"/>
                      <a:r>
                        <a:rPr lang="zh-CN" altLang="en-US" dirty="0"/>
                        <a:t>新鲜豆腐</a:t>
                      </a:r>
                    </a:p>
                  </a:txBody>
                  <a:tcPr/>
                </a:tc>
                <a:tc>
                  <a:txBody>
                    <a:bodyPr/>
                    <a:lstStyle/>
                    <a:p>
                      <a:pPr algn="ctr"/>
                      <a:r>
                        <a:rPr lang="zh-CN" altLang="en-US" dirty="0"/>
                        <a:t>厚实豆腐</a:t>
                      </a:r>
                    </a:p>
                  </a:txBody>
                  <a:tcPr/>
                </a:tc>
                <a:tc>
                  <a:txBody>
                    <a:bodyPr/>
                    <a:lstStyle/>
                    <a:p>
                      <a:pPr algn="ctr"/>
                      <a:r>
                        <a:rPr lang="zh-CN" altLang="en-US" dirty="0"/>
                        <a:t>总资源数</a:t>
                      </a:r>
                    </a:p>
                  </a:txBody>
                  <a:tcPr/>
                </a:tc>
                <a:extLst>
                  <a:ext uri="{0D108BD9-81ED-4DB2-BD59-A6C34878D82A}">
                    <a16:rowId xmlns:a16="http://schemas.microsoft.com/office/drawing/2014/main" val="4032510809"/>
                  </a:ext>
                </a:extLst>
              </a:tr>
              <a:tr h="370840">
                <a:tc>
                  <a:txBody>
                    <a:bodyPr/>
                    <a:lstStyle/>
                    <a:p>
                      <a:pPr algn="ctr"/>
                      <a:r>
                        <a:rPr lang="zh-CN" altLang="en-US" dirty="0"/>
                        <a:t>一级黄豆</a:t>
                      </a:r>
                    </a:p>
                  </a:txBody>
                  <a:tcPr/>
                </a:tc>
                <a:tc>
                  <a:txBody>
                    <a:bodyPr/>
                    <a:lstStyle/>
                    <a:p>
                      <a:pPr algn="ctr"/>
                      <a:r>
                        <a:rPr lang="en-US" altLang="zh-CN" dirty="0"/>
                        <a:t>0.3kg</a:t>
                      </a:r>
                      <a:endParaRPr lang="zh-CN" altLang="en-US" dirty="0"/>
                    </a:p>
                  </a:txBody>
                  <a:tcPr/>
                </a:tc>
                <a:tc>
                  <a:txBody>
                    <a:bodyPr/>
                    <a:lstStyle/>
                    <a:p>
                      <a:pPr algn="ctr"/>
                      <a:r>
                        <a:rPr lang="en-US" altLang="zh-CN" dirty="0"/>
                        <a:t>0.4kg</a:t>
                      </a:r>
                      <a:endParaRPr lang="zh-CN" altLang="en-US" dirty="0"/>
                    </a:p>
                  </a:txBody>
                  <a:tcPr/>
                </a:tc>
                <a:tc>
                  <a:txBody>
                    <a:bodyPr/>
                    <a:lstStyle/>
                    <a:p>
                      <a:pPr algn="ctr"/>
                      <a:r>
                        <a:rPr lang="en-US" altLang="zh-CN" dirty="0"/>
                        <a:t>9kg</a:t>
                      </a:r>
                      <a:endParaRPr lang="zh-CN" altLang="en-US" dirty="0"/>
                    </a:p>
                  </a:txBody>
                  <a:tcPr/>
                </a:tc>
                <a:extLst>
                  <a:ext uri="{0D108BD9-81ED-4DB2-BD59-A6C34878D82A}">
                    <a16:rowId xmlns:a16="http://schemas.microsoft.com/office/drawing/2014/main" val="2948129445"/>
                  </a:ext>
                </a:extLst>
              </a:tr>
              <a:tr h="370840">
                <a:tc>
                  <a:txBody>
                    <a:bodyPr/>
                    <a:lstStyle/>
                    <a:p>
                      <a:pPr algn="ctr"/>
                      <a:r>
                        <a:rPr lang="zh-CN" altLang="en-US" dirty="0"/>
                        <a:t>二级黄豆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0.5kg</a:t>
                      </a:r>
                      <a:endParaRPr lang="zh-CN" altLang="en-US" dirty="0"/>
                    </a:p>
                  </a:txBody>
                  <a:tcPr/>
                </a:tc>
                <a:tc>
                  <a:txBody>
                    <a:bodyPr/>
                    <a:lstStyle/>
                    <a:p>
                      <a:pPr algn="ctr"/>
                      <a:r>
                        <a:rPr lang="en-US" altLang="zh-CN" dirty="0"/>
                        <a:t>0.2kg</a:t>
                      </a:r>
                      <a:endParaRPr lang="zh-CN" altLang="en-US" dirty="0"/>
                    </a:p>
                  </a:txBody>
                  <a:tcPr/>
                </a:tc>
                <a:tc>
                  <a:txBody>
                    <a:bodyPr/>
                    <a:lstStyle/>
                    <a:p>
                      <a:pPr algn="ctr"/>
                      <a:r>
                        <a:rPr lang="en-US" altLang="zh-CN" dirty="0"/>
                        <a:t>8kg</a:t>
                      </a:r>
                      <a:endParaRPr lang="zh-CN" altLang="en-US" dirty="0"/>
                    </a:p>
                  </a:txBody>
                  <a:tcPr/>
                </a:tc>
                <a:extLst>
                  <a:ext uri="{0D108BD9-81ED-4DB2-BD59-A6C34878D82A}">
                    <a16:rowId xmlns:a16="http://schemas.microsoft.com/office/drawing/2014/main" val="718235710"/>
                  </a:ext>
                </a:extLst>
              </a:tr>
            </a:tbl>
          </a:graphicData>
        </a:graphic>
      </p:graphicFrame>
    </p:spTree>
    <p:extLst>
      <p:ext uri="{BB962C8B-B14F-4D97-AF65-F5344CB8AC3E}">
        <p14:creationId xmlns:p14="http://schemas.microsoft.com/office/powerpoint/2010/main" val="295176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13</a:t>
            </a:fld>
            <a:endParaRPr lang="zh-CN" altLang="en-US" b="1" dirty="0">
              <a:solidFill>
                <a:srgbClr val="FF0000"/>
              </a:solidFill>
            </a:endParaRPr>
          </a:p>
        </p:txBody>
      </p:sp>
      <p:graphicFrame>
        <p:nvGraphicFramePr>
          <p:cNvPr id="2" name="表格 1">
            <a:extLst>
              <a:ext uri="{FF2B5EF4-FFF2-40B4-BE49-F238E27FC236}">
                <a16:creationId xmlns:a16="http://schemas.microsoft.com/office/drawing/2014/main" id="{EFD6E7A4-2718-430E-8709-8835843C6797}"/>
              </a:ext>
            </a:extLst>
          </p:cNvPr>
          <p:cNvGraphicFramePr>
            <a:graphicFrameLocks noGrp="1"/>
          </p:cNvGraphicFramePr>
          <p:nvPr>
            <p:extLst>
              <p:ext uri="{D42A27DB-BD31-4B8C-83A1-F6EECF244321}">
                <p14:modId xmlns:p14="http://schemas.microsoft.com/office/powerpoint/2010/main" val="1271213248"/>
              </p:ext>
            </p:extLst>
          </p:nvPr>
        </p:nvGraphicFramePr>
        <p:xfrm>
          <a:off x="1475656" y="1020336"/>
          <a:ext cx="5544616" cy="1112520"/>
        </p:xfrm>
        <a:graphic>
          <a:graphicData uri="http://schemas.openxmlformats.org/drawingml/2006/table">
            <a:tbl>
              <a:tblPr firstRow="1" bandRow="1">
                <a:tableStyleId>{5C22544A-7EE6-4342-B048-85BDC9FD1C3A}</a:tableStyleId>
              </a:tblPr>
              <a:tblGrid>
                <a:gridCol w="1386154">
                  <a:extLst>
                    <a:ext uri="{9D8B030D-6E8A-4147-A177-3AD203B41FA5}">
                      <a16:colId xmlns:a16="http://schemas.microsoft.com/office/drawing/2014/main" val="3703971574"/>
                    </a:ext>
                  </a:extLst>
                </a:gridCol>
                <a:gridCol w="1386154">
                  <a:extLst>
                    <a:ext uri="{9D8B030D-6E8A-4147-A177-3AD203B41FA5}">
                      <a16:colId xmlns:a16="http://schemas.microsoft.com/office/drawing/2014/main" val="2118633434"/>
                    </a:ext>
                  </a:extLst>
                </a:gridCol>
                <a:gridCol w="1207831">
                  <a:extLst>
                    <a:ext uri="{9D8B030D-6E8A-4147-A177-3AD203B41FA5}">
                      <a16:colId xmlns:a16="http://schemas.microsoft.com/office/drawing/2014/main" val="2032208973"/>
                    </a:ext>
                  </a:extLst>
                </a:gridCol>
                <a:gridCol w="1564477">
                  <a:extLst>
                    <a:ext uri="{9D8B030D-6E8A-4147-A177-3AD203B41FA5}">
                      <a16:colId xmlns:a16="http://schemas.microsoft.com/office/drawing/2014/main" val="2295139765"/>
                    </a:ext>
                  </a:extLst>
                </a:gridCol>
              </a:tblGrid>
              <a:tr h="370840">
                <a:tc>
                  <a:txBody>
                    <a:bodyPr/>
                    <a:lstStyle/>
                    <a:p>
                      <a:pPr algn="ctr"/>
                      <a:r>
                        <a:rPr lang="zh-CN" altLang="en-US" dirty="0"/>
                        <a:t>资源消耗</a:t>
                      </a:r>
                    </a:p>
                  </a:txBody>
                  <a:tcPr/>
                </a:tc>
                <a:tc>
                  <a:txBody>
                    <a:bodyPr/>
                    <a:lstStyle/>
                    <a:p>
                      <a:pPr algn="ctr"/>
                      <a:r>
                        <a:rPr lang="zh-CN" altLang="en-US" dirty="0"/>
                        <a:t>新鲜豆腐</a:t>
                      </a:r>
                    </a:p>
                  </a:txBody>
                  <a:tcPr/>
                </a:tc>
                <a:tc>
                  <a:txBody>
                    <a:bodyPr/>
                    <a:lstStyle/>
                    <a:p>
                      <a:pPr algn="ctr"/>
                      <a:r>
                        <a:rPr lang="zh-CN" altLang="en-US" dirty="0"/>
                        <a:t>厚实豆腐</a:t>
                      </a:r>
                    </a:p>
                  </a:txBody>
                  <a:tcPr/>
                </a:tc>
                <a:tc>
                  <a:txBody>
                    <a:bodyPr/>
                    <a:lstStyle/>
                    <a:p>
                      <a:pPr algn="ctr"/>
                      <a:r>
                        <a:rPr lang="zh-CN" altLang="en-US" dirty="0"/>
                        <a:t>总资源数</a:t>
                      </a:r>
                    </a:p>
                  </a:txBody>
                  <a:tcPr/>
                </a:tc>
                <a:extLst>
                  <a:ext uri="{0D108BD9-81ED-4DB2-BD59-A6C34878D82A}">
                    <a16:rowId xmlns:a16="http://schemas.microsoft.com/office/drawing/2014/main" val="4032510809"/>
                  </a:ext>
                </a:extLst>
              </a:tr>
              <a:tr h="370840">
                <a:tc>
                  <a:txBody>
                    <a:bodyPr/>
                    <a:lstStyle/>
                    <a:p>
                      <a:pPr algn="ctr"/>
                      <a:r>
                        <a:rPr lang="zh-CN" altLang="en-US" dirty="0"/>
                        <a:t>一级黄豆</a:t>
                      </a:r>
                    </a:p>
                  </a:txBody>
                  <a:tcPr/>
                </a:tc>
                <a:tc>
                  <a:txBody>
                    <a:bodyPr/>
                    <a:lstStyle/>
                    <a:p>
                      <a:pPr algn="ctr"/>
                      <a:r>
                        <a:rPr lang="en-US" altLang="zh-CN" dirty="0"/>
                        <a:t>0.3kg</a:t>
                      </a:r>
                      <a:endParaRPr lang="zh-CN" altLang="en-US" dirty="0"/>
                    </a:p>
                  </a:txBody>
                  <a:tcPr/>
                </a:tc>
                <a:tc>
                  <a:txBody>
                    <a:bodyPr/>
                    <a:lstStyle/>
                    <a:p>
                      <a:pPr algn="ctr"/>
                      <a:r>
                        <a:rPr lang="en-US" altLang="zh-CN" dirty="0"/>
                        <a:t>0.4kg</a:t>
                      </a:r>
                      <a:endParaRPr lang="zh-CN" altLang="en-US" dirty="0"/>
                    </a:p>
                  </a:txBody>
                  <a:tcPr/>
                </a:tc>
                <a:tc>
                  <a:txBody>
                    <a:bodyPr/>
                    <a:lstStyle/>
                    <a:p>
                      <a:pPr algn="ctr"/>
                      <a:r>
                        <a:rPr lang="en-US" altLang="zh-CN" dirty="0"/>
                        <a:t>9kg</a:t>
                      </a:r>
                      <a:endParaRPr lang="zh-CN" altLang="en-US" dirty="0"/>
                    </a:p>
                  </a:txBody>
                  <a:tcPr/>
                </a:tc>
                <a:extLst>
                  <a:ext uri="{0D108BD9-81ED-4DB2-BD59-A6C34878D82A}">
                    <a16:rowId xmlns:a16="http://schemas.microsoft.com/office/drawing/2014/main" val="2948129445"/>
                  </a:ext>
                </a:extLst>
              </a:tr>
              <a:tr h="370840">
                <a:tc>
                  <a:txBody>
                    <a:bodyPr/>
                    <a:lstStyle/>
                    <a:p>
                      <a:pPr algn="ctr"/>
                      <a:r>
                        <a:rPr lang="zh-CN" altLang="en-US" dirty="0"/>
                        <a:t>二级黄豆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0.5kg</a:t>
                      </a:r>
                      <a:endParaRPr lang="zh-CN" altLang="en-US" dirty="0"/>
                    </a:p>
                  </a:txBody>
                  <a:tcPr/>
                </a:tc>
                <a:tc>
                  <a:txBody>
                    <a:bodyPr/>
                    <a:lstStyle/>
                    <a:p>
                      <a:pPr algn="ctr"/>
                      <a:r>
                        <a:rPr lang="en-US" altLang="zh-CN" dirty="0"/>
                        <a:t>0.2kg</a:t>
                      </a:r>
                      <a:endParaRPr lang="zh-CN" altLang="en-US" dirty="0"/>
                    </a:p>
                  </a:txBody>
                  <a:tcPr/>
                </a:tc>
                <a:tc>
                  <a:txBody>
                    <a:bodyPr/>
                    <a:lstStyle/>
                    <a:p>
                      <a:pPr algn="ctr"/>
                      <a:r>
                        <a:rPr lang="en-US" altLang="zh-CN" dirty="0"/>
                        <a:t>8kg</a:t>
                      </a:r>
                      <a:endParaRPr lang="zh-CN" altLang="en-US" dirty="0"/>
                    </a:p>
                  </a:txBody>
                  <a:tcPr/>
                </a:tc>
                <a:extLst>
                  <a:ext uri="{0D108BD9-81ED-4DB2-BD59-A6C34878D82A}">
                    <a16:rowId xmlns:a16="http://schemas.microsoft.com/office/drawing/2014/main" val="718235710"/>
                  </a:ext>
                </a:extLst>
              </a:tr>
            </a:tbl>
          </a:graphicData>
        </a:graphic>
      </p:graphicFrame>
      <p:sp>
        <p:nvSpPr>
          <p:cNvPr id="9" name="Text Box 3">
            <a:extLst>
              <a:ext uri="{FF2B5EF4-FFF2-40B4-BE49-F238E27FC236}">
                <a16:creationId xmlns:a16="http://schemas.microsoft.com/office/drawing/2014/main" id="{57A6301F-AFC3-498F-A911-C36FEE868D2B}"/>
              </a:ext>
            </a:extLst>
          </p:cNvPr>
          <p:cNvSpPr txBox="1">
            <a:spLocks noChangeArrowheads="1"/>
          </p:cNvSpPr>
          <p:nvPr/>
        </p:nvSpPr>
        <p:spPr bwMode="auto">
          <a:xfrm>
            <a:off x="589314" y="2342966"/>
            <a:ext cx="1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zh-CN" sz="2000" b="1" dirty="0">
                <a:solidFill>
                  <a:schemeClr val="tx1"/>
                </a:solidFill>
              </a:rPr>
              <a:t>变量假设：</a:t>
            </a:r>
            <a:endParaRPr lang="zh-CN" altLang="en-US" sz="2000" b="1" dirty="0">
              <a:solidFill>
                <a:schemeClr val="tx1"/>
              </a:solidFill>
            </a:endParaRPr>
          </a:p>
        </p:txBody>
      </p:sp>
      <p:sp>
        <p:nvSpPr>
          <p:cNvPr id="12" name="Rectangle 7">
            <a:extLst>
              <a:ext uri="{FF2B5EF4-FFF2-40B4-BE49-F238E27FC236}">
                <a16:creationId xmlns:a16="http://schemas.microsoft.com/office/drawing/2014/main" id="{C39D9FA4-F00D-465B-87EC-D9F6BDE0208D}"/>
              </a:ext>
            </a:extLst>
          </p:cNvPr>
          <p:cNvSpPr>
            <a:spLocks noChangeArrowheads="1"/>
          </p:cNvSpPr>
          <p:nvPr/>
        </p:nvSpPr>
        <p:spPr bwMode="auto">
          <a:xfrm>
            <a:off x="657418" y="4442046"/>
            <a:ext cx="28937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chemeClr val="tx1"/>
                </a:solidFill>
              </a:rPr>
              <a:t>1</a:t>
            </a:r>
            <a:r>
              <a:rPr lang="zh-CN" altLang="en-US" dirty="0">
                <a:solidFill>
                  <a:schemeClr val="tx1"/>
                </a:solidFill>
              </a:rPr>
              <a:t>）受一级黄豆数量限制： </a:t>
            </a:r>
          </a:p>
        </p:txBody>
      </p:sp>
      <p:sp>
        <p:nvSpPr>
          <p:cNvPr id="15" name="Rectangle 8">
            <a:extLst>
              <a:ext uri="{FF2B5EF4-FFF2-40B4-BE49-F238E27FC236}">
                <a16:creationId xmlns:a16="http://schemas.microsoft.com/office/drawing/2014/main" id="{E063B1DC-4C3E-4C16-B3E8-F7E31E65BFE7}"/>
              </a:ext>
            </a:extLst>
          </p:cNvPr>
          <p:cNvSpPr>
            <a:spLocks noChangeArrowheads="1"/>
          </p:cNvSpPr>
          <p:nvPr/>
        </p:nvSpPr>
        <p:spPr bwMode="auto">
          <a:xfrm>
            <a:off x="657418" y="5229200"/>
            <a:ext cx="28937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chemeClr val="tx1"/>
                </a:solidFill>
              </a:rPr>
              <a:t>2</a:t>
            </a:r>
            <a:r>
              <a:rPr lang="zh-CN" altLang="en-US" dirty="0">
                <a:solidFill>
                  <a:schemeClr val="tx1"/>
                </a:solidFill>
              </a:rPr>
              <a:t>）受二级黄豆数量限制： </a:t>
            </a:r>
          </a:p>
        </p:txBody>
      </p:sp>
      <p:sp>
        <p:nvSpPr>
          <p:cNvPr id="3" name="矩形 2">
            <a:extLst>
              <a:ext uri="{FF2B5EF4-FFF2-40B4-BE49-F238E27FC236}">
                <a16:creationId xmlns:a16="http://schemas.microsoft.com/office/drawing/2014/main" id="{2BAF672A-9B2A-457B-B5DE-CC3976CB7AB4}"/>
              </a:ext>
            </a:extLst>
          </p:cNvPr>
          <p:cNvSpPr/>
          <p:nvPr/>
        </p:nvSpPr>
        <p:spPr>
          <a:xfrm>
            <a:off x="526232" y="2803655"/>
            <a:ext cx="7416824" cy="369332"/>
          </a:xfrm>
          <a:prstGeom prst="rect">
            <a:avLst/>
          </a:prstGeom>
        </p:spPr>
        <p:txBody>
          <a:bodyPr wrap="square">
            <a:spAutoFit/>
          </a:bodyPr>
          <a:lstStyle/>
          <a:p>
            <a:r>
              <a:rPr lang="zh-CN" altLang="en-US" dirty="0"/>
              <a:t>设计划制作口感鲜嫩和厚实的豆腐各</a:t>
            </a:r>
            <a:r>
              <a:rPr lang="en-US" altLang="zh-CN" dirty="0"/>
              <a:t>x1</a:t>
            </a:r>
            <a:r>
              <a:rPr lang="zh-CN" altLang="en-US" dirty="0"/>
              <a:t>千克和 </a:t>
            </a:r>
            <a:r>
              <a:rPr lang="en-US" altLang="zh-CN" dirty="0"/>
              <a:t>x2</a:t>
            </a:r>
            <a:r>
              <a:rPr lang="zh-CN" altLang="en-US" dirty="0"/>
              <a:t>千克，可获得收益</a:t>
            </a:r>
            <a:r>
              <a:rPr lang="en-US" altLang="zh-CN" dirty="0"/>
              <a:t>R</a:t>
            </a:r>
            <a:r>
              <a:rPr lang="zh-CN" altLang="en-US" dirty="0"/>
              <a:t>元。</a:t>
            </a:r>
          </a:p>
        </p:txBody>
      </p:sp>
      <p:sp>
        <p:nvSpPr>
          <p:cNvPr id="4" name="矩形 3">
            <a:extLst>
              <a:ext uri="{FF2B5EF4-FFF2-40B4-BE49-F238E27FC236}">
                <a16:creationId xmlns:a16="http://schemas.microsoft.com/office/drawing/2014/main" id="{10067DB6-50A2-4E93-9FA3-C4279B19009B}"/>
              </a:ext>
            </a:extLst>
          </p:cNvPr>
          <p:cNvSpPr/>
          <p:nvPr/>
        </p:nvSpPr>
        <p:spPr>
          <a:xfrm>
            <a:off x="589314" y="3411878"/>
            <a:ext cx="3605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t>目标函数</a:t>
            </a:r>
            <a:r>
              <a:rPr lang="zh-CN" altLang="en-US" sz="2000" dirty="0"/>
              <a:t>（总收益最大）</a:t>
            </a:r>
            <a:r>
              <a:rPr lang="zh-CN" altLang="en-US" sz="2000" b="1" dirty="0"/>
              <a:t>：</a:t>
            </a:r>
          </a:p>
        </p:txBody>
      </p:sp>
      <p:graphicFrame>
        <p:nvGraphicFramePr>
          <p:cNvPr id="16" name="Object 6">
            <a:extLst>
              <a:ext uri="{FF2B5EF4-FFF2-40B4-BE49-F238E27FC236}">
                <a16:creationId xmlns:a16="http://schemas.microsoft.com/office/drawing/2014/main" id="{737EB4A8-0F4A-47EE-A9E4-42DA943320AE}"/>
              </a:ext>
            </a:extLst>
          </p:cNvPr>
          <p:cNvGraphicFramePr>
            <a:graphicFrameLocks noChangeAspect="1"/>
          </p:cNvGraphicFramePr>
          <p:nvPr>
            <p:extLst>
              <p:ext uri="{D42A27DB-BD31-4B8C-83A1-F6EECF244321}">
                <p14:modId xmlns:p14="http://schemas.microsoft.com/office/powerpoint/2010/main" val="2237419118"/>
              </p:ext>
            </p:extLst>
          </p:nvPr>
        </p:nvGraphicFramePr>
        <p:xfrm>
          <a:off x="2843808" y="3747154"/>
          <a:ext cx="2339975" cy="460375"/>
        </p:xfrm>
        <a:graphic>
          <a:graphicData uri="http://schemas.openxmlformats.org/presentationml/2006/ole">
            <mc:AlternateContent xmlns:mc="http://schemas.openxmlformats.org/markup-compatibility/2006">
              <mc:Choice xmlns:v="urn:schemas-microsoft-com:vml" Requires="v">
                <p:oleObj name="Equation" r:id="rId3" imgW="1168200" imgH="228600" progId="Equation.DSMT4">
                  <p:embed/>
                </p:oleObj>
              </mc:Choice>
              <mc:Fallback>
                <p:oleObj name="Equation" r:id="rId3" imgW="1168200" imgH="228600" progId="Equation.DSMT4">
                  <p:embed/>
                  <p:pic>
                    <p:nvPicPr>
                      <p:cNvPr id="158726" name="Object 6">
                        <a:extLst>
                          <a:ext uri="{FF2B5EF4-FFF2-40B4-BE49-F238E27FC236}">
                            <a16:creationId xmlns:a16="http://schemas.microsoft.com/office/drawing/2014/main" id="{8CC9C4DD-3950-442E-907E-B48D1326CB3B}"/>
                          </a:ext>
                        </a:extLst>
                      </p:cNvPr>
                      <p:cNvPicPr>
                        <a:picLocks noChangeAspect="1" noChangeArrowheads="1"/>
                      </p:cNvPicPr>
                      <p:nvPr/>
                    </p:nvPicPr>
                    <p:blipFill>
                      <a:blip r:embed="rId4"/>
                      <a:srcRect/>
                      <a:stretch>
                        <a:fillRect/>
                      </a:stretch>
                    </p:blipFill>
                    <p:spPr bwMode="auto">
                      <a:xfrm>
                        <a:off x="2843808" y="3747154"/>
                        <a:ext cx="233997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9">
            <a:extLst>
              <a:ext uri="{FF2B5EF4-FFF2-40B4-BE49-F238E27FC236}">
                <a16:creationId xmlns:a16="http://schemas.microsoft.com/office/drawing/2014/main" id="{CBBEC904-93F7-4583-9B79-D89A7B2C996D}"/>
              </a:ext>
            </a:extLst>
          </p:cNvPr>
          <p:cNvGraphicFramePr>
            <a:graphicFrameLocks noChangeAspect="1"/>
          </p:cNvGraphicFramePr>
          <p:nvPr>
            <p:extLst>
              <p:ext uri="{D42A27DB-BD31-4B8C-83A1-F6EECF244321}">
                <p14:modId xmlns:p14="http://schemas.microsoft.com/office/powerpoint/2010/main" val="3280641812"/>
              </p:ext>
            </p:extLst>
          </p:nvPr>
        </p:nvGraphicFramePr>
        <p:xfrm>
          <a:off x="2915816" y="4811847"/>
          <a:ext cx="2084388" cy="434975"/>
        </p:xfrm>
        <a:graphic>
          <a:graphicData uri="http://schemas.openxmlformats.org/presentationml/2006/ole">
            <mc:AlternateContent xmlns:mc="http://schemas.openxmlformats.org/markup-compatibility/2006">
              <mc:Choice xmlns:v="urn:schemas-microsoft-com:vml" Requires="v">
                <p:oleObj name="公式" r:id="rId5" imgW="1041120" imgH="215640" progId="Equation.3">
                  <p:embed/>
                </p:oleObj>
              </mc:Choice>
              <mc:Fallback>
                <p:oleObj name="公式" r:id="rId5" imgW="1041120" imgH="215640" progId="Equation.3">
                  <p:embed/>
                  <p:pic>
                    <p:nvPicPr>
                      <p:cNvPr id="158729" name="Object 9">
                        <a:extLst>
                          <a:ext uri="{FF2B5EF4-FFF2-40B4-BE49-F238E27FC236}">
                            <a16:creationId xmlns:a16="http://schemas.microsoft.com/office/drawing/2014/main" id="{BF840FC4-BC60-4B34-B8BA-14A8FDDC18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5816" y="4811847"/>
                        <a:ext cx="20843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0">
            <a:extLst>
              <a:ext uri="{FF2B5EF4-FFF2-40B4-BE49-F238E27FC236}">
                <a16:creationId xmlns:a16="http://schemas.microsoft.com/office/drawing/2014/main" id="{871C99B9-33D4-4AAC-AA63-7E7B6E33829B}"/>
              </a:ext>
            </a:extLst>
          </p:cNvPr>
          <p:cNvGraphicFramePr>
            <a:graphicFrameLocks noChangeAspect="1"/>
          </p:cNvGraphicFramePr>
          <p:nvPr>
            <p:extLst>
              <p:ext uri="{D42A27DB-BD31-4B8C-83A1-F6EECF244321}">
                <p14:modId xmlns:p14="http://schemas.microsoft.com/office/powerpoint/2010/main" val="80454797"/>
              </p:ext>
            </p:extLst>
          </p:nvPr>
        </p:nvGraphicFramePr>
        <p:xfrm>
          <a:off x="2926537" y="5630698"/>
          <a:ext cx="2084387" cy="434975"/>
        </p:xfrm>
        <a:graphic>
          <a:graphicData uri="http://schemas.openxmlformats.org/presentationml/2006/ole">
            <mc:AlternateContent xmlns:mc="http://schemas.openxmlformats.org/markup-compatibility/2006">
              <mc:Choice xmlns:v="urn:schemas-microsoft-com:vml" Requires="v">
                <p:oleObj name="公式" r:id="rId7" imgW="1041120" imgH="215640" progId="Equation.3">
                  <p:embed/>
                </p:oleObj>
              </mc:Choice>
              <mc:Fallback>
                <p:oleObj name="公式" r:id="rId7" imgW="1041120" imgH="215640" progId="Equation.3">
                  <p:embed/>
                  <p:pic>
                    <p:nvPicPr>
                      <p:cNvPr id="158730" name="Object 10">
                        <a:extLst>
                          <a:ext uri="{FF2B5EF4-FFF2-40B4-BE49-F238E27FC236}">
                            <a16:creationId xmlns:a16="http://schemas.microsoft.com/office/drawing/2014/main" id="{8C727BD0-004B-4BAF-9CE4-78AB6D1249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6537" y="5630698"/>
                        <a:ext cx="20843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2200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5"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14</a:t>
            </a:fld>
            <a:endParaRPr lang="zh-CN" altLang="en-US" b="1" dirty="0">
              <a:solidFill>
                <a:srgbClr val="FF0000"/>
              </a:solidFill>
            </a:endParaRPr>
          </a:p>
        </p:txBody>
      </p:sp>
      <p:graphicFrame>
        <p:nvGraphicFramePr>
          <p:cNvPr id="21" name="Object 5">
            <a:extLst>
              <a:ext uri="{FF2B5EF4-FFF2-40B4-BE49-F238E27FC236}">
                <a16:creationId xmlns:a16="http://schemas.microsoft.com/office/drawing/2014/main" id="{B6929118-D645-4CB4-99A0-0CAE5B830107}"/>
              </a:ext>
            </a:extLst>
          </p:cNvPr>
          <p:cNvGraphicFramePr>
            <a:graphicFrameLocks noChangeAspect="1"/>
          </p:cNvGraphicFramePr>
          <p:nvPr>
            <p:extLst>
              <p:ext uri="{D42A27DB-BD31-4B8C-83A1-F6EECF244321}">
                <p14:modId xmlns:p14="http://schemas.microsoft.com/office/powerpoint/2010/main" val="1193568166"/>
              </p:ext>
            </p:extLst>
          </p:nvPr>
        </p:nvGraphicFramePr>
        <p:xfrm>
          <a:off x="2483768" y="1793505"/>
          <a:ext cx="2363788" cy="434975"/>
        </p:xfrm>
        <a:graphic>
          <a:graphicData uri="http://schemas.openxmlformats.org/presentationml/2006/ole">
            <mc:AlternateContent xmlns:mc="http://schemas.openxmlformats.org/markup-compatibility/2006">
              <mc:Choice xmlns:v="urn:schemas-microsoft-com:vml" Requires="v">
                <p:oleObj name="公式" r:id="rId3" imgW="1180800" imgH="215640" progId="Equation.3">
                  <p:embed/>
                </p:oleObj>
              </mc:Choice>
              <mc:Fallback>
                <p:oleObj name="公式" r:id="rId3" imgW="1180800" imgH="215640" progId="Equation.3">
                  <p:embed/>
                  <p:pic>
                    <p:nvPicPr>
                      <p:cNvPr id="160773" name="Object 5">
                        <a:extLst>
                          <a:ext uri="{FF2B5EF4-FFF2-40B4-BE49-F238E27FC236}">
                            <a16:creationId xmlns:a16="http://schemas.microsoft.com/office/drawing/2014/main" id="{F3416D1E-BD2B-4D08-BFE2-696237517C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1793505"/>
                        <a:ext cx="2363788" cy="434975"/>
                      </a:xfrm>
                      <a:prstGeom prst="rect">
                        <a:avLst/>
                      </a:prstGeom>
                      <a:solidFill>
                        <a:schemeClr val="accent3">
                          <a:lumMod val="20000"/>
                          <a:lumOff val="80000"/>
                        </a:schemeClr>
                      </a:solidFill>
                    </p:spPr>
                  </p:pic>
                </p:oleObj>
              </mc:Fallback>
            </mc:AlternateContent>
          </a:graphicData>
        </a:graphic>
      </p:graphicFrame>
      <p:graphicFrame>
        <p:nvGraphicFramePr>
          <p:cNvPr id="23" name="Object 8">
            <a:extLst>
              <a:ext uri="{FF2B5EF4-FFF2-40B4-BE49-F238E27FC236}">
                <a16:creationId xmlns:a16="http://schemas.microsoft.com/office/drawing/2014/main" id="{BC15C878-083E-4FF5-964D-6C821671B96A}"/>
              </a:ext>
            </a:extLst>
          </p:cNvPr>
          <p:cNvGraphicFramePr>
            <a:graphicFrameLocks noChangeAspect="1"/>
          </p:cNvGraphicFramePr>
          <p:nvPr/>
        </p:nvGraphicFramePr>
        <p:xfrm>
          <a:off x="2700338" y="2420938"/>
          <a:ext cx="2084387" cy="434975"/>
        </p:xfrm>
        <a:graphic>
          <a:graphicData uri="http://schemas.openxmlformats.org/presentationml/2006/ole">
            <mc:AlternateContent xmlns:mc="http://schemas.openxmlformats.org/markup-compatibility/2006">
              <mc:Choice xmlns:v="urn:schemas-microsoft-com:vml" Requires="v">
                <p:oleObj name="公式" r:id="rId5" imgW="1041120" imgH="215640" progId="Equation.3">
                  <p:embed/>
                </p:oleObj>
              </mc:Choice>
              <mc:Fallback>
                <p:oleObj name="公式" r:id="rId5" imgW="1041120" imgH="215640" progId="Equation.3">
                  <p:embed/>
                  <p:pic>
                    <p:nvPicPr>
                      <p:cNvPr id="160776" name="Object 8">
                        <a:extLst>
                          <a:ext uri="{FF2B5EF4-FFF2-40B4-BE49-F238E27FC236}">
                            <a16:creationId xmlns:a16="http://schemas.microsoft.com/office/drawing/2014/main" id="{F05BFC61-8007-488B-BDD2-75C8C6A127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2420938"/>
                        <a:ext cx="20843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9">
            <a:extLst>
              <a:ext uri="{FF2B5EF4-FFF2-40B4-BE49-F238E27FC236}">
                <a16:creationId xmlns:a16="http://schemas.microsoft.com/office/drawing/2014/main" id="{99EB538B-2BC1-4DE3-A79F-CA594E564D71}"/>
              </a:ext>
            </a:extLst>
          </p:cNvPr>
          <p:cNvGraphicFramePr>
            <a:graphicFrameLocks noChangeAspect="1"/>
          </p:cNvGraphicFramePr>
          <p:nvPr/>
        </p:nvGraphicFramePr>
        <p:xfrm>
          <a:off x="2703513" y="3141663"/>
          <a:ext cx="2084387" cy="434975"/>
        </p:xfrm>
        <a:graphic>
          <a:graphicData uri="http://schemas.openxmlformats.org/presentationml/2006/ole">
            <mc:AlternateContent xmlns:mc="http://schemas.openxmlformats.org/markup-compatibility/2006">
              <mc:Choice xmlns:v="urn:schemas-microsoft-com:vml" Requires="v">
                <p:oleObj name="公式" r:id="rId7" imgW="1041120" imgH="215640" progId="Equation.3">
                  <p:embed/>
                </p:oleObj>
              </mc:Choice>
              <mc:Fallback>
                <p:oleObj name="公式" r:id="rId7" imgW="1041120" imgH="215640" progId="Equation.3">
                  <p:embed/>
                  <p:pic>
                    <p:nvPicPr>
                      <p:cNvPr id="160777" name="Object 9">
                        <a:extLst>
                          <a:ext uri="{FF2B5EF4-FFF2-40B4-BE49-F238E27FC236}">
                            <a16:creationId xmlns:a16="http://schemas.microsoft.com/office/drawing/2014/main" id="{B5DEA51C-2D0E-4717-A145-ED81D7C5D0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3513" y="3141663"/>
                        <a:ext cx="20843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0">
            <a:extLst>
              <a:ext uri="{FF2B5EF4-FFF2-40B4-BE49-F238E27FC236}">
                <a16:creationId xmlns:a16="http://schemas.microsoft.com/office/drawing/2014/main" id="{6218F25B-FD52-48DD-AB89-D9FB3B0AE0F9}"/>
              </a:ext>
            </a:extLst>
          </p:cNvPr>
          <p:cNvGraphicFramePr>
            <a:graphicFrameLocks noChangeAspect="1"/>
          </p:cNvGraphicFramePr>
          <p:nvPr/>
        </p:nvGraphicFramePr>
        <p:xfrm>
          <a:off x="2771775" y="3860800"/>
          <a:ext cx="1169988" cy="434975"/>
        </p:xfrm>
        <a:graphic>
          <a:graphicData uri="http://schemas.openxmlformats.org/presentationml/2006/ole">
            <mc:AlternateContent xmlns:mc="http://schemas.openxmlformats.org/markup-compatibility/2006">
              <mc:Choice xmlns:v="urn:schemas-microsoft-com:vml" Requires="v">
                <p:oleObj name="公式" r:id="rId9" imgW="583920" imgH="215640" progId="Equation.3">
                  <p:embed/>
                </p:oleObj>
              </mc:Choice>
              <mc:Fallback>
                <p:oleObj name="公式" r:id="rId9" imgW="583920" imgH="215640" progId="Equation.3">
                  <p:embed/>
                  <p:pic>
                    <p:nvPicPr>
                      <p:cNvPr id="160778" name="Object 10">
                        <a:extLst>
                          <a:ext uri="{FF2B5EF4-FFF2-40B4-BE49-F238E27FC236}">
                            <a16:creationId xmlns:a16="http://schemas.microsoft.com/office/drawing/2014/main" id="{5B88EF0A-80C9-4216-8A43-2CA8D2B2FB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1775" y="3860800"/>
                        <a:ext cx="11699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AutoShape 11">
            <a:extLst>
              <a:ext uri="{FF2B5EF4-FFF2-40B4-BE49-F238E27FC236}">
                <a16:creationId xmlns:a16="http://schemas.microsoft.com/office/drawing/2014/main" id="{1AE1B530-9E80-430E-A298-10BFE0C035CE}"/>
              </a:ext>
            </a:extLst>
          </p:cNvPr>
          <p:cNvSpPr>
            <a:spLocks/>
          </p:cNvSpPr>
          <p:nvPr/>
        </p:nvSpPr>
        <p:spPr bwMode="auto">
          <a:xfrm>
            <a:off x="2195513" y="2565400"/>
            <a:ext cx="504825" cy="1584325"/>
          </a:xfrm>
          <a:prstGeom prst="leftBrace">
            <a:avLst>
              <a:gd name="adj1" fmla="val 261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Rectangle 12">
            <a:extLst>
              <a:ext uri="{FF2B5EF4-FFF2-40B4-BE49-F238E27FC236}">
                <a16:creationId xmlns:a16="http://schemas.microsoft.com/office/drawing/2014/main" id="{381C8C4B-FE50-42E8-BDFC-A705C5B94152}"/>
              </a:ext>
            </a:extLst>
          </p:cNvPr>
          <p:cNvSpPr>
            <a:spLocks noChangeArrowheads="1"/>
          </p:cNvSpPr>
          <p:nvPr/>
        </p:nvSpPr>
        <p:spPr bwMode="auto">
          <a:xfrm>
            <a:off x="1219200" y="3090863"/>
            <a:ext cx="619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1"/>
                </a:solidFill>
              </a:rPr>
              <a:t>s.t.</a:t>
            </a:r>
          </a:p>
        </p:txBody>
      </p:sp>
      <p:sp>
        <p:nvSpPr>
          <p:cNvPr id="28" name="Text Box 2">
            <a:extLst>
              <a:ext uri="{FF2B5EF4-FFF2-40B4-BE49-F238E27FC236}">
                <a16:creationId xmlns:a16="http://schemas.microsoft.com/office/drawing/2014/main" id="{A9BA3574-0B97-4D9A-9409-CC3A1EBF0022}"/>
              </a:ext>
            </a:extLst>
          </p:cNvPr>
          <p:cNvSpPr txBox="1">
            <a:spLocks noChangeArrowheads="1"/>
          </p:cNvSpPr>
          <p:nvPr/>
        </p:nvSpPr>
        <p:spPr bwMode="auto">
          <a:xfrm>
            <a:off x="494556" y="1078173"/>
            <a:ext cx="769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rPr>
              <a:t>综上分析，得到该问题的线性规划模型 </a:t>
            </a:r>
          </a:p>
        </p:txBody>
      </p:sp>
      <p:sp>
        <p:nvSpPr>
          <p:cNvPr id="29" name="矩形 28">
            <a:extLst>
              <a:ext uri="{FF2B5EF4-FFF2-40B4-BE49-F238E27FC236}">
                <a16:creationId xmlns:a16="http://schemas.microsoft.com/office/drawing/2014/main" id="{95792DF4-D4DF-49EB-B95C-FCC6826FC62B}"/>
              </a:ext>
            </a:extLst>
          </p:cNvPr>
          <p:cNvSpPr/>
          <p:nvPr/>
        </p:nvSpPr>
        <p:spPr>
          <a:xfrm>
            <a:off x="481347" y="5069859"/>
            <a:ext cx="8067747" cy="830997"/>
          </a:xfrm>
          <a:prstGeom prst="rect">
            <a:avLst/>
          </a:prstGeom>
          <a:solidFill>
            <a:srgbClr val="FFC000"/>
          </a:solidFill>
        </p:spPr>
        <p:txBody>
          <a:bodyPr wrap="square">
            <a:spAutoFit/>
          </a:bodyPr>
          <a:lstStyle/>
          <a:p>
            <a:pPr marL="342900" indent="-342900">
              <a:spcBef>
                <a:spcPct val="50000"/>
              </a:spcBef>
              <a:buClrTx/>
              <a:buSzTx/>
              <a:buFont typeface="Wingdings" panose="05000000000000000000" pitchFamily="2" charset="2"/>
              <a:buChar char="n"/>
            </a:pPr>
            <a:r>
              <a:rPr lang="zh-CN" altLang="en-US" sz="2400" b="1" dirty="0">
                <a:solidFill>
                  <a:schemeClr val="tx2"/>
                </a:solidFill>
              </a:rPr>
              <a:t>线性规划：就是一个线性函数在线性等式或不等式约束条件下的极值问题。</a:t>
            </a:r>
          </a:p>
        </p:txBody>
      </p:sp>
    </p:spTree>
    <p:extLst>
      <p:ext uri="{BB962C8B-B14F-4D97-AF65-F5344CB8AC3E}">
        <p14:creationId xmlns:p14="http://schemas.microsoft.com/office/powerpoint/2010/main" val="2197048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15</a:t>
            </a:fld>
            <a:endParaRPr lang="zh-CN" altLang="en-US" b="1" dirty="0">
              <a:solidFill>
                <a:srgbClr val="FF0000"/>
              </a:solidFill>
            </a:endParaRPr>
          </a:p>
        </p:txBody>
      </p:sp>
      <p:sp>
        <p:nvSpPr>
          <p:cNvPr id="13" name="Text Box 2">
            <a:extLst>
              <a:ext uri="{FF2B5EF4-FFF2-40B4-BE49-F238E27FC236}">
                <a16:creationId xmlns:a16="http://schemas.microsoft.com/office/drawing/2014/main" id="{6DDB922B-5DD2-47BA-83E7-C84143354C3F}"/>
              </a:ext>
            </a:extLst>
          </p:cNvPr>
          <p:cNvSpPr txBox="1">
            <a:spLocks noChangeArrowheads="1"/>
          </p:cNvSpPr>
          <p:nvPr/>
        </p:nvSpPr>
        <p:spPr bwMode="auto">
          <a:xfrm>
            <a:off x="539552" y="1014823"/>
            <a:ext cx="7696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rPr>
              <a:t>用</a:t>
            </a:r>
            <a:r>
              <a:rPr lang="en-US" altLang="zh-CN" sz="2400" dirty="0" err="1">
                <a:solidFill>
                  <a:schemeClr val="tx1"/>
                </a:solidFill>
              </a:rPr>
              <a:t>Matlab</a:t>
            </a:r>
            <a:r>
              <a:rPr lang="zh-CN" altLang="en-US" sz="2400" dirty="0">
                <a:solidFill>
                  <a:schemeClr val="tx1"/>
                </a:solidFill>
              </a:rPr>
              <a:t>编程求解程序如下：</a:t>
            </a:r>
            <a:endParaRPr lang="en-US" altLang="zh-CN" sz="2400" dirty="0">
              <a:solidFill>
                <a:schemeClr val="tx1"/>
              </a:solidFill>
            </a:endParaRPr>
          </a:p>
          <a:p>
            <a:pPr algn="l"/>
            <a:endParaRPr lang="zh-CN" altLang="en-US" sz="2000" dirty="0">
              <a:solidFill>
                <a:schemeClr val="tx1"/>
              </a:solidFill>
            </a:endParaRPr>
          </a:p>
          <a:p>
            <a:pPr algn="l"/>
            <a:r>
              <a:rPr lang="en-US" altLang="zh-CN" sz="2000" b="0" dirty="0"/>
              <a:t>[X,FVAL,EXITFLAG,OUTPUT] = LINPROG(</a:t>
            </a:r>
            <a:r>
              <a:rPr lang="en-US" altLang="zh-CN" sz="2000" b="0" dirty="0" err="1"/>
              <a:t>f,A,b</a:t>
            </a:r>
            <a:r>
              <a:rPr lang="en-US" altLang="zh-CN" sz="2000" b="0" dirty="0"/>
              <a:t>)</a:t>
            </a:r>
            <a:r>
              <a:rPr lang="en-US" altLang="zh-CN" sz="2000" dirty="0">
                <a:solidFill>
                  <a:schemeClr val="tx1"/>
                </a:solidFill>
              </a:rPr>
              <a:t> </a:t>
            </a:r>
          </a:p>
          <a:p>
            <a:pPr algn="l"/>
            <a:r>
              <a:rPr lang="en-US" altLang="zh-CN" sz="2000" dirty="0">
                <a:solidFill>
                  <a:schemeClr val="tx1"/>
                </a:solidFill>
              </a:rPr>
              <a:t>f = -[10  5];</a:t>
            </a:r>
          </a:p>
          <a:p>
            <a:pPr algn="l"/>
            <a:r>
              <a:rPr lang="en-US" altLang="zh-CN" sz="2000" dirty="0">
                <a:solidFill>
                  <a:schemeClr val="tx1"/>
                </a:solidFill>
              </a:rPr>
              <a:t>A = [0.3  0.4;0.5  0.2];</a:t>
            </a:r>
          </a:p>
          <a:p>
            <a:pPr algn="l"/>
            <a:r>
              <a:rPr lang="en-US" altLang="zh-CN" sz="2000" dirty="0">
                <a:solidFill>
                  <a:schemeClr val="tx1"/>
                </a:solidFill>
              </a:rPr>
              <a:t>B = [9;8];</a:t>
            </a:r>
          </a:p>
          <a:p>
            <a:pPr algn="l"/>
            <a:r>
              <a:rPr lang="en-US" altLang="zh-CN" sz="2000" b="0" dirty="0">
                <a:solidFill>
                  <a:srgbClr val="FF0000"/>
                </a:solidFill>
              </a:rPr>
              <a:t>[X,FVAL,EXITFLAG,OUTPUT] = LINPROG(</a:t>
            </a:r>
            <a:r>
              <a:rPr lang="en-US" altLang="zh-CN" sz="2000" b="0" dirty="0" err="1">
                <a:solidFill>
                  <a:srgbClr val="FF0000"/>
                </a:solidFill>
              </a:rPr>
              <a:t>f,A,b</a:t>
            </a:r>
            <a:r>
              <a:rPr lang="en-US" altLang="zh-CN" sz="2000" b="0" dirty="0">
                <a:solidFill>
                  <a:srgbClr val="FF0000"/>
                </a:solidFill>
              </a:rPr>
              <a:t>)</a:t>
            </a:r>
          </a:p>
        </p:txBody>
      </p:sp>
      <p:sp>
        <p:nvSpPr>
          <p:cNvPr id="14" name="Rectangle 3">
            <a:extLst>
              <a:ext uri="{FF2B5EF4-FFF2-40B4-BE49-F238E27FC236}">
                <a16:creationId xmlns:a16="http://schemas.microsoft.com/office/drawing/2014/main" id="{9FDF43AB-3399-4958-AD0A-FDBBAD7A9D76}"/>
              </a:ext>
            </a:extLst>
          </p:cNvPr>
          <p:cNvSpPr>
            <a:spLocks noChangeArrowheads="1"/>
          </p:cNvSpPr>
          <p:nvPr/>
        </p:nvSpPr>
        <p:spPr bwMode="auto">
          <a:xfrm>
            <a:off x="742256" y="3861048"/>
            <a:ext cx="4572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fr-FR" altLang="zh-CN" sz="2000" b="0" dirty="0"/>
              <a:t>X =</a:t>
            </a:r>
          </a:p>
          <a:p>
            <a:pPr algn="l"/>
            <a:r>
              <a:rPr lang="fr-FR" altLang="zh-CN" sz="2000" b="0" dirty="0"/>
              <a:t>      10.0000</a:t>
            </a:r>
          </a:p>
          <a:p>
            <a:pPr algn="l"/>
            <a:r>
              <a:rPr lang="fr-FR" altLang="zh-CN" sz="2000" b="0" dirty="0"/>
              <a:t>      15.0000</a:t>
            </a:r>
          </a:p>
          <a:p>
            <a:pPr algn="l"/>
            <a:r>
              <a:rPr lang="fr-FR" altLang="zh-CN" sz="2000" b="0" dirty="0"/>
              <a:t>FVAL =</a:t>
            </a:r>
          </a:p>
          <a:p>
            <a:pPr algn="l"/>
            <a:r>
              <a:rPr lang="fr-FR" altLang="zh-CN" sz="2000" b="0" dirty="0"/>
              <a:t>     -175.0000</a:t>
            </a:r>
          </a:p>
        </p:txBody>
      </p:sp>
    </p:spTree>
    <p:extLst>
      <p:ext uri="{BB962C8B-B14F-4D97-AF65-F5344CB8AC3E}">
        <p14:creationId xmlns:p14="http://schemas.microsoft.com/office/powerpoint/2010/main" val="3865742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16</a:t>
            </a:fld>
            <a:endParaRPr lang="zh-CN" altLang="en-US" b="1" dirty="0">
              <a:solidFill>
                <a:srgbClr val="FF0000"/>
              </a:solidFill>
            </a:endParaRPr>
          </a:p>
        </p:txBody>
      </p:sp>
      <p:sp>
        <p:nvSpPr>
          <p:cNvPr id="14" name="Text Box 3">
            <a:extLst>
              <a:ext uri="{FF2B5EF4-FFF2-40B4-BE49-F238E27FC236}">
                <a16:creationId xmlns:a16="http://schemas.microsoft.com/office/drawing/2014/main" id="{9553FF15-1BD3-45F5-BA2C-D25348FE7186}"/>
              </a:ext>
            </a:extLst>
          </p:cNvPr>
          <p:cNvSpPr txBox="1">
            <a:spLocks noChangeArrowheads="1"/>
          </p:cNvSpPr>
          <p:nvPr/>
        </p:nvSpPr>
        <p:spPr bwMode="auto">
          <a:xfrm>
            <a:off x="683568" y="1052736"/>
            <a:ext cx="782083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2400" b="0" dirty="0">
                <a:solidFill>
                  <a:schemeClr val="tx1"/>
                </a:solidFill>
                <a:latin typeface="黑体" panose="02010609060101010101" pitchFamily="49" charset="-122"/>
                <a:ea typeface="黑体" panose="02010609060101010101" pitchFamily="49" charset="-122"/>
              </a:rPr>
              <a:t>例</a:t>
            </a:r>
            <a:r>
              <a:rPr lang="en-US" altLang="zh-CN" sz="2400" b="0" dirty="0">
                <a:solidFill>
                  <a:schemeClr val="tx1"/>
                </a:solidFill>
                <a:latin typeface="黑体" panose="02010609060101010101" pitchFamily="49" charset="-122"/>
                <a:ea typeface="黑体" panose="02010609060101010101" pitchFamily="49" charset="-122"/>
              </a:rPr>
              <a:t>2</a:t>
            </a:r>
            <a:r>
              <a:rPr lang="zh-CN" altLang="en-US" sz="2400" b="0" dirty="0">
                <a:solidFill>
                  <a:schemeClr val="tx1"/>
                </a:solidFill>
                <a:latin typeface="黑体" panose="02010609060101010101" pitchFamily="49" charset="-122"/>
                <a:ea typeface="黑体" panose="02010609060101010101" pitchFamily="49" charset="-122"/>
              </a:rPr>
              <a:t>：</a:t>
            </a:r>
            <a:r>
              <a:rPr lang="zh-CN" altLang="en-US" sz="2400" dirty="0">
                <a:ea typeface="黑体" panose="02010609060101010101" pitchFamily="49" charset="-122"/>
              </a:rPr>
              <a:t>设某工厂有甲、乙、丙、丁四个车间，生产</a:t>
            </a:r>
            <a:r>
              <a:rPr lang="en-US" altLang="zh-CN" sz="2400" dirty="0">
                <a:ea typeface="黑体" panose="02010609060101010101" pitchFamily="49" charset="-122"/>
              </a:rPr>
              <a:t>A</a:t>
            </a:r>
            <a:r>
              <a:rPr lang="zh-CN" altLang="en-US" sz="2400" dirty="0">
                <a:ea typeface="黑体" panose="02010609060101010101" pitchFamily="49" charset="-122"/>
              </a:rPr>
              <a:t>、</a:t>
            </a:r>
            <a:r>
              <a:rPr lang="en-US" altLang="zh-CN" sz="2400" dirty="0">
                <a:ea typeface="黑体" panose="02010609060101010101" pitchFamily="49" charset="-122"/>
              </a:rPr>
              <a:t>B</a:t>
            </a:r>
            <a:r>
              <a:rPr lang="zh-CN" altLang="en-US" sz="2400" dirty="0">
                <a:ea typeface="黑体" panose="02010609060101010101" pitchFamily="49" charset="-122"/>
              </a:rPr>
              <a:t>、</a:t>
            </a:r>
            <a:r>
              <a:rPr lang="en-US" altLang="zh-CN" sz="2400" dirty="0">
                <a:ea typeface="黑体" panose="02010609060101010101" pitchFamily="49" charset="-122"/>
              </a:rPr>
              <a:t>C</a:t>
            </a:r>
            <a:r>
              <a:rPr lang="zh-CN" altLang="en-US" sz="2400" dirty="0">
                <a:ea typeface="黑体" panose="02010609060101010101" pitchFamily="49" charset="-122"/>
              </a:rPr>
              <a:t>、</a:t>
            </a:r>
            <a:r>
              <a:rPr lang="en-US" altLang="zh-CN" sz="2400" dirty="0">
                <a:ea typeface="黑体" panose="02010609060101010101" pitchFamily="49" charset="-122"/>
              </a:rPr>
              <a:t>D</a:t>
            </a:r>
            <a:r>
              <a:rPr lang="zh-CN" altLang="en-US" sz="2400" dirty="0">
                <a:ea typeface="黑体" panose="02010609060101010101" pitchFamily="49" charset="-122"/>
              </a:rPr>
              <a:t>、</a:t>
            </a:r>
            <a:r>
              <a:rPr lang="en-US" altLang="zh-CN" sz="2400" dirty="0">
                <a:ea typeface="黑体" panose="02010609060101010101" pitchFamily="49" charset="-122"/>
              </a:rPr>
              <a:t>E</a:t>
            </a:r>
            <a:r>
              <a:rPr lang="zh-CN" altLang="en-US" sz="2400" dirty="0">
                <a:ea typeface="黑体" panose="02010609060101010101" pitchFamily="49" charset="-122"/>
              </a:rPr>
              <a:t>、</a:t>
            </a:r>
            <a:r>
              <a:rPr lang="en-US" altLang="zh-CN" sz="2400" dirty="0">
                <a:ea typeface="黑体" panose="02010609060101010101" pitchFamily="49" charset="-122"/>
              </a:rPr>
              <a:t>F</a:t>
            </a:r>
            <a:r>
              <a:rPr lang="zh-CN" altLang="en-US" sz="2400" dirty="0">
                <a:ea typeface="黑体" panose="02010609060101010101" pitchFamily="49" charset="-122"/>
              </a:rPr>
              <a:t>六种产品。根据机床性能和以前的生产情况，得知每单位产品所需车间的工作小时数、每个车间在一个季度工作小时的上限以及单位产品的利润，如下表所示</a:t>
            </a:r>
            <a:r>
              <a:rPr lang="en-US" altLang="zh-CN" sz="2400" dirty="0">
                <a:ea typeface="黑体" panose="02010609060101010101" pitchFamily="49" charset="-122"/>
              </a:rPr>
              <a:t>(</a:t>
            </a:r>
            <a:r>
              <a:rPr lang="zh-CN" altLang="en-US" sz="2000" dirty="0">
                <a:ea typeface="黑体" panose="02010609060101010101" pitchFamily="49" charset="-122"/>
              </a:rPr>
              <a:t>例如，生产一个单位的</a:t>
            </a:r>
            <a:r>
              <a:rPr lang="en-US" altLang="zh-CN" sz="2000" dirty="0">
                <a:ea typeface="黑体" panose="02010609060101010101" pitchFamily="49" charset="-122"/>
              </a:rPr>
              <a:t>A</a:t>
            </a:r>
            <a:r>
              <a:rPr lang="zh-CN" altLang="en-US" sz="2000" dirty="0">
                <a:ea typeface="黑体" panose="02010609060101010101" pitchFamily="49" charset="-122"/>
              </a:rPr>
              <a:t>产品，需要甲、乙、丙三个车间分别工作</a:t>
            </a:r>
            <a:r>
              <a:rPr lang="en-US" altLang="zh-CN" sz="2000" dirty="0">
                <a:ea typeface="黑体" panose="02010609060101010101" pitchFamily="49" charset="-122"/>
              </a:rPr>
              <a:t>1</a:t>
            </a:r>
            <a:r>
              <a:rPr lang="zh-CN" altLang="en-US" sz="2000" dirty="0">
                <a:ea typeface="黑体" panose="02010609060101010101" pitchFamily="49" charset="-122"/>
              </a:rPr>
              <a:t>小时、</a:t>
            </a:r>
            <a:r>
              <a:rPr lang="en-US" altLang="zh-CN" sz="2000" dirty="0">
                <a:ea typeface="黑体" panose="02010609060101010101" pitchFamily="49" charset="-122"/>
              </a:rPr>
              <a:t>2</a:t>
            </a:r>
            <a:r>
              <a:rPr lang="zh-CN" altLang="en-US" sz="2000" dirty="0">
                <a:ea typeface="黑体" panose="02010609060101010101" pitchFamily="49" charset="-122"/>
              </a:rPr>
              <a:t>小时和</a:t>
            </a:r>
            <a:r>
              <a:rPr lang="en-US" altLang="zh-CN" sz="2000" dirty="0">
                <a:ea typeface="黑体" panose="02010609060101010101" pitchFamily="49" charset="-122"/>
              </a:rPr>
              <a:t>4</a:t>
            </a:r>
            <a:r>
              <a:rPr lang="zh-CN" altLang="en-US" sz="2000" dirty="0">
                <a:ea typeface="黑体" panose="02010609060101010101" pitchFamily="49" charset="-122"/>
              </a:rPr>
              <a:t>小时</a:t>
            </a:r>
            <a:r>
              <a:rPr lang="en-US" altLang="zh-CN" sz="2400" dirty="0">
                <a:ea typeface="黑体" panose="02010609060101010101" pitchFamily="49" charset="-122"/>
              </a:rPr>
              <a:t>)</a:t>
            </a:r>
          </a:p>
          <a:p>
            <a:pPr algn="just"/>
            <a:endParaRPr lang="en-US" altLang="zh-CN" sz="2400" dirty="0">
              <a:ea typeface="黑体" panose="02010609060101010101" pitchFamily="49" charset="-122"/>
            </a:endParaRPr>
          </a:p>
          <a:p>
            <a:r>
              <a:rPr lang="zh-CN" altLang="en-US" sz="2400" dirty="0">
                <a:ea typeface="黑体" panose="02010609060101010101" pitchFamily="49" charset="-122"/>
              </a:rPr>
              <a:t>问：每种产品各应该每季度生产多少，才能使这个工厂每季度生产利润达到最大。</a:t>
            </a:r>
            <a:r>
              <a:rPr lang="zh-CN" altLang="en-US" sz="2000" dirty="0">
                <a:ea typeface="黑体" panose="02010609060101010101" pitchFamily="49" charset="-122"/>
              </a:rPr>
              <a:t> </a:t>
            </a:r>
          </a:p>
        </p:txBody>
      </p:sp>
    </p:spTree>
    <p:extLst>
      <p:ext uri="{BB962C8B-B14F-4D97-AF65-F5344CB8AC3E}">
        <p14:creationId xmlns:p14="http://schemas.microsoft.com/office/powerpoint/2010/main" val="3073412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66248"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17</a:t>
            </a:fld>
            <a:endParaRPr lang="zh-CN" altLang="en-US" b="1" dirty="0">
              <a:solidFill>
                <a:srgbClr val="FF0000"/>
              </a:solidFill>
            </a:endParaRPr>
          </a:p>
        </p:txBody>
      </p:sp>
      <p:graphicFrame>
        <p:nvGraphicFramePr>
          <p:cNvPr id="7" name="Group 6">
            <a:extLst>
              <a:ext uri="{FF2B5EF4-FFF2-40B4-BE49-F238E27FC236}">
                <a16:creationId xmlns:a16="http://schemas.microsoft.com/office/drawing/2014/main" id="{DC1F3A19-57CC-4194-A36A-D6AEC98513E9}"/>
              </a:ext>
            </a:extLst>
          </p:cNvPr>
          <p:cNvGraphicFramePr>
            <a:graphicFrameLocks noGrp="1"/>
          </p:cNvGraphicFramePr>
          <p:nvPr>
            <p:extLst>
              <p:ext uri="{D42A27DB-BD31-4B8C-83A1-F6EECF244321}">
                <p14:modId xmlns:p14="http://schemas.microsoft.com/office/powerpoint/2010/main" val="1146131037"/>
              </p:ext>
            </p:extLst>
          </p:nvPr>
        </p:nvGraphicFramePr>
        <p:xfrm>
          <a:off x="467544" y="1518811"/>
          <a:ext cx="8136904" cy="3656758"/>
        </p:xfrm>
        <a:graphic>
          <a:graphicData uri="http://schemas.openxmlformats.org/drawingml/2006/table">
            <a:tbl>
              <a:tblPr/>
              <a:tblGrid>
                <a:gridCol w="1872208">
                  <a:extLst>
                    <a:ext uri="{9D8B030D-6E8A-4147-A177-3AD203B41FA5}">
                      <a16:colId xmlns:a16="http://schemas.microsoft.com/office/drawing/2014/main" val="1973848207"/>
                    </a:ext>
                  </a:extLst>
                </a:gridCol>
                <a:gridCol w="777874">
                  <a:extLst>
                    <a:ext uri="{9D8B030D-6E8A-4147-A177-3AD203B41FA5}">
                      <a16:colId xmlns:a16="http://schemas.microsoft.com/office/drawing/2014/main" val="460346845"/>
                    </a:ext>
                  </a:extLst>
                </a:gridCol>
                <a:gridCol w="603080">
                  <a:extLst>
                    <a:ext uri="{9D8B030D-6E8A-4147-A177-3AD203B41FA5}">
                      <a16:colId xmlns:a16="http://schemas.microsoft.com/office/drawing/2014/main" val="4213162825"/>
                    </a:ext>
                  </a:extLst>
                </a:gridCol>
                <a:gridCol w="575969">
                  <a:extLst>
                    <a:ext uri="{9D8B030D-6E8A-4147-A177-3AD203B41FA5}">
                      <a16:colId xmlns:a16="http://schemas.microsoft.com/office/drawing/2014/main" val="1005501758"/>
                    </a:ext>
                  </a:extLst>
                </a:gridCol>
                <a:gridCol w="618582">
                  <a:extLst>
                    <a:ext uri="{9D8B030D-6E8A-4147-A177-3AD203B41FA5}">
                      <a16:colId xmlns:a16="http://schemas.microsoft.com/office/drawing/2014/main" val="1171990378"/>
                    </a:ext>
                  </a:extLst>
                </a:gridCol>
                <a:gridCol w="690073">
                  <a:extLst>
                    <a:ext uri="{9D8B030D-6E8A-4147-A177-3AD203B41FA5}">
                      <a16:colId xmlns:a16="http://schemas.microsoft.com/office/drawing/2014/main" val="1769568708"/>
                    </a:ext>
                  </a:extLst>
                </a:gridCol>
                <a:gridCol w="766870">
                  <a:extLst>
                    <a:ext uri="{9D8B030D-6E8A-4147-A177-3AD203B41FA5}">
                      <a16:colId xmlns:a16="http://schemas.microsoft.com/office/drawing/2014/main" val="426432195"/>
                    </a:ext>
                  </a:extLst>
                </a:gridCol>
                <a:gridCol w="2232248">
                  <a:extLst>
                    <a:ext uri="{9D8B030D-6E8A-4147-A177-3AD203B41FA5}">
                      <a16:colId xmlns:a16="http://schemas.microsoft.com/office/drawing/2014/main" val="1963895466"/>
                    </a:ext>
                  </a:extLst>
                </a:gridCol>
              </a:tblGrid>
              <a:tr h="776423">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单位产品所需工作小时数 </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A</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C</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D</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F</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每车间一个季度工作小时的上限</a:t>
                      </a: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7462703"/>
                  </a:ext>
                </a:extLst>
              </a:tr>
              <a:tr h="444481">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甲</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3</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3</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500</a:t>
                      </a: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1954945"/>
                  </a:ext>
                </a:extLst>
              </a:tr>
              <a:tr h="498724">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乙</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500</a:t>
                      </a: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0507627"/>
                  </a:ext>
                </a:extLst>
              </a:tr>
              <a:tr h="556132">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丙</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4</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500</a:t>
                      </a: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8555680"/>
                  </a:ext>
                </a:extLst>
              </a:tr>
              <a:tr h="556132">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丁</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3</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8</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500</a:t>
                      </a: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96184096"/>
                  </a:ext>
                </a:extLst>
              </a:tr>
              <a:tr h="824866">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利润</a:t>
                      </a: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a:t>
                      </a:r>
                      <a:r>
                        <a:rPr kumimoji="1"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百元</a:t>
                      </a: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a:t>
                      </a:r>
                    </a:p>
                  </a:txBody>
                  <a:tcPr marL="15240" marR="15240" marT="7620" marB="76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4.0</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2.4</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5.0</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4.5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8.5</a:t>
                      </a:r>
                    </a:p>
                  </a:txBody>
                  <a:tcPr marL="15240" marR="15240" marT="7620" marB="76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15240" marR="15240" marT="7620" marB="76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7334343"/>
                  </a:ext>
                </a:extLst>
              </a:tr>
            </a:tbl>
          </a:graphicData>
        </a:graphic>
      </p:graphicFrame>
    </p:spTree>
    <p:extLst>
      <p:ext uri="{BB962C8B-B14F-4D97-AF65-F5344CB8AC3E}">
        <p14:creationId xmlns:p14="http://schemas.microsoft.com/office/powerpoint/2010/main" val="1492653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18</a:t>
            </a:fld>
            <a:endParaRPr lang="zh-CN" altLang="en-US" b="1" dirty="0">
              <a:solidFill>
                <a:srgbClr val="FF0000"/>
              </a:solidFill>
            </a:endParaRPr>
          </a:p>
        </p:txBody>
      </p:sp>
      <p:sp>
        <p:nvSpPr>
          <p:cNvPr id="9" name="Text Box 6">
            <a:extLst>
              <a:ext uri="{FF2B5EF4-FFF2-40B4-BE49-F238E27FC236}">
                <a16:creationId xmlns:a16="http://schemas.microsoft.com/office/drawing/2014/main" id="{C1492F11-1DFB-4940-9B61-17CEFA9A910F}"/>
              </a:ext>
            </a:extLst>
          </p:cNvPr>
          <p:cNvSpPr txBox="1">
            <a:spLocks noChangeArrowheads="1"/>
          </p:cNvSpPr>
          <p:nvPr/>
        </p:nvSpPr>
        <p:spPr bwMode="auto">
          <a:xfrm>
            <a:off x="742256" y="980728"/>
            <a:ext cx="77724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ea typeface="黑体" panose="02010609060101010101" pitchFamily="49" charset="-122"/>
              </a:rPr>
              <a:t>这是一个典型的最优化问题，属线性规划。</a:t>
            </a:r>
          </a:p>
          <a:p>
            <a:pPr algn="l"/>
            <a:r>
              <a:rPr lang="zh-CN" altLang="en-US" sz="2400" dirty="0">
                <a:solidFill>
                  <a:schemeClr val="tx1"/>
                </a:solidFill>
                <a:ea typeface="黑体" panose="02010609060101010101" pitchFamily="49" charset="-122"/>
              </a:rPr>
              <a:t>假设：产品合格且能及时销售出去；工作无等待情况等 </a:t>
            </a:r>
          </a:p>
          <a:p>
            <a:pPr algn="l"/>
            <a:endParaRPr lang="en-US" altLang="zh-CN" sz="2400" dirty="0">
              <a:solidFill>
                <a:schemeClr val="tx1"/>
              </a:solidFill>
              <a:ea typeface="黑体" panose="02010609060101010101" pitchFamily="49" charset="-122"/>
            </a:endParaRPr>
          </a:p>
          <a:p>
            <a:pPr algn="l"/>
            <a:r>
              <a:rPr lang="zh-CN" altLang="en-US" sz="2400" dirty="0">
                <a:solidFill>
                  <a:schemeClr val="tx1"/>
                </a:solidFill>
                <a:ea typeface="黑体" panose="02010609060101010101" pitchFamily="49" charset="-122"/>
              </a:rPr>
              <a:t>变量说明：</a:t>
            </a:r>
            <a:endParaRPr lang="en-US" altLang="zh-CN" sz="2400" dirty="0">
              <a:solidFill>
                <a:schemeClr val="tx1"/>
              </a:solidFill>
              <a:ea typeface="黑体" panose="02010609060101010101" pitchFamily="49" charset="-122"/>
            </a:endParaRPr>
          </a:p>
          <a:p>
            <a:r>
              <a:rPr lang="zh-CN" altLang="en-US" sz="2400" dirty="0">
                <a:ea typeface="黑体" panose="02010609060101010101" pitchFamily="49" charset="-122"/>
              </a:rPr>
              <a:t>              </a:t>
            </a:r>
            <a:r>
              <a:rPr lang="en-US" altLang="zh-CN" sz="2400" dirty="0" err="1">
                <a:ea typeface="黑体" panose="02010609060101010101" pitchFamily="49" charset="-122"/>
              </a:rPr>
              <a:t>x</a:t>
            </a:r>
            <a:r>
              <a:rPr lang="en-US" altLang="zh-CN" sz="2400" baseline="-25000" dirty="0" err="1">
                <a:ea typeface="黑体" panose="02010609060101010101" pitchFamily="49" charset="-122"/>
              </a:rPr>
              <a:t>j</a:t>
            </a:r>
            <a:r>
              <a:rPr lang="zh-CN" altLang="en-US" sz="2400" dirty="0">
                <a:ea typeface="黑体" panose="02010609060101010101" pitchFamily="49" charset="-122"/>
              </a:rPr>
              <a:t>：第</a:t>
            </a:r>
            <a:r>
              <a:rPr lang="en-US" altLang="zh-CN" sz="2400" dirty="0">
                <a:ea typeface="黑体" panose="02010609060101010101" pitchFamily="49" charset="-122"/>
              </a:rPr>
              <a:t>j</a:t>
            </a:r>
            <a:r>
              <a:rPr lang="zh-CN" altLang="en-US" sz="2400" dirty="0">
                <a:ea typeface="黑体" panose="02010609060101010101" pitchFamily="49" charset="-122"/>
              </a:rPr>
              <a:t>种产品的生产量（</a:t>
            </a:r>
            <a:r>
              <a:rPr lang="en-US" altLang="zh-CN" sz="2400" dirty="0">
                <a:ea typeface="黑体" panose="02010609060101010101" pitchFamily="49" charset="-122"/>
              </a:rPr>
              <a:t>j=1,2,……,6</a:t>
            </a:r>
            <a:r>
              <a:rPr lang="zh-CN" altLang="en-US" sz="2400" dirty="0">
                <a:ea typeface="黑体" panose="02010609060101010101" pitchFamily="49" charset="-122"/>
              </a:rPr>
              <a:t>） </a:t>
            </a:r>
            <a:endParaRPr lang="en-US" altLang="zh-CN" sz="2400" dirty="0">
              <a:solidFill>
                <a:schemeClr val="tx1"/>
              </a:solidFill>
              <a:ea typeface="黑体" panose="02010609060101010101" pitchFamily="49" charset="-122"/>
            </a:endParaRPr>
          </a:p>
          <a:p>
            <a:pPr algn="l"/>
            <a:endParaRPr lang="en-US" altLang="zh-CN" sz="2400" dirty="0">
              <a:ea typeface="黑体" panose="02010609060101010101" pitchFamily="49" charset="-122"/>
            </a:endParaRPr>
          </a:p>
          <a:p>
            <a:pPr algn="l"/>
            <a:r>
              <a:rPr lang="zh-CN" altLang="en-US" sz="2400" dirty="0">
                <a:ea typeface="黑体" panose="02010609060101010101" pitchFamily="49" charset="-122"/>
              </a:rPr>
              <a:t>符号说明：</a:t>
            </a:r>
            <a:endParaRPr lang="zh-CN" altLang="en-US" sz="2400" dirty="0">
              <a:solidFill>
                <a:schemeClr val="tx1"/>
              </a:solidFill>
              <a:ea typeface="黑体" panose="02010609060101010101" pitchFamily="49" charset="-122"/>
            </a:endParaRPr>
          </a:p>
          <a:p>
            <a:pPr lvl="1" algn="l"/>
            <a:r>
              <a:rPr lang="zh-CN" altLang="en-US" sz="2400" dirty="0">
                <a:solidFill>
                  <a:schemeClr val="tx1"/>
                </a:solidFill>
                <a:ea typeface="黑体" panose="02010609060101010101" pitchFamily="49" charset="-122"/>
              </a:rPr>
              <a:t>        </a:t>
            </a:r>
            <a:r>
              <a:rPr lang="en-US" altLang="zh-CN" sz="2400" dirty="0" err="1">
                <a:solidFill>
                  <a:schemeClr val="tx1"/>
                </a:solidFill>
                <a:ea typeface="黑体" panose="02010609060101010101" pitchFamily="49" charset="-122"/>
              </a:rPr>
              <a:t>a</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：第</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车间生产单位第</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种产品所需工作小时数</a:t>
            </a:r>
          </a:p>
          <a:p>
            <a:pPr lvl="1" algn="l"/>
            <a:r>
              <a:rPr lang="zh-CN" altLang="en-US" sz="2400" dirty="0">
                <a:solidFill>
                  <a:schemeClr val="tx1"/>
                </a:solidFill>
                <a:ea typeface="黑体" panose="02010609060101010101" pitchFamily="49" charset="-122"/>
              </a:rPr>
              <a:t>               （</a:t>
            </a:r>
            <a:r>
              <a:rPr lang="en-US" altLang="zh-CN" sz="2400" dirty="0" err="1">
                <a:solidFill>
                  <a:schemeClr val="tx1"/>
                </a:solidFill>
                <a:ea typeface="黑体" panose="02010609060101010101" pitchFamily="49" charset="-122"/>
              </a:rPr>
              <a:t>i</a:t>
            </a:r>
            <a:r>
              <a:rPr lang="en-US" altLang="zh-CN" sz="2400" dirty="0">
                <a:solidFill>
                  <a:schemeClr val="tx1"/>
                </a:solidFill>
                <a:ea typeface="黑体" panose="02010609060101010101" pitchFamily="49" charset="-122"/>
              </a:rPr>
              <a:t>=1,2,3,4;j=1,2,……,6</a:t>
            </a:r>
            <a:r>
              <a:rPr lang="zh-CN" altLang="en-US" sz="2400" dirty="0">
                <a:solidFill>
                  <a:schemeClr val="tx1"/>
                </a:solidFill>
                <a:ea typeface="黑体" panose="02010609060101010101" pitchFamily="49" charset="-122"/>
              </a:rPr>
              <a:t>） </a:t>
            </a:r>
          </a:p>
          <a:p>
            <a:pPr lvl="1" algn="l"/>
            <a:r>
              <a:rPr lang="zh-CN" altLang="en-US" sz="2400" dirty="0">
                <a:solidFill>
                  <a:schemeClr val="tx1"/>
                </a:solidFill>
                <a:ea typeface="黑体" panose="02010609060101010101" pitchFamily="49" charset="-122"/>
              </a:rPr>
              <a:t>        </a:t>
            </a:r>
            <a:r>
              <a:rPr lang="en-US" altLang="zh-CN" sz="2400" dirty="0">
                <a:solidFill>
                  <a:schemeClr val="tx1"/>
                </a:solidFill>
                <a:ea typeface="黑体" panose="02010609060101010101" pitchFamily="49" charset="-122"/>
              </a:rPr>
              <a:t>b</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：第</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车间的最大工作上限</a:t>
            </a:r>
          </a:p>
          <a:p>
            <a:pPr lvl="1" algn="l"/>
            <a:r>
              <a:rPr lang="zh-CN" altLang="en-US" sz="2400" dirty="0">
                <a:solidFill>
                  <a:schemeClr val="tx1"/>
                </a:solidFill>
                <a:ea typeface="黑体" panose="02010609060101010101" pitchFamily="49" charset="-122"/>
              </a:rPr>
              <a:t>        </a:t>
            </a:r>
            <a:r>
              <a:rPr lang="en-US" altLang="zh-CN" sz="2400" dirty="0" err="1">
                <a:solidFill>
                  <a:schemeClr val="tx1"/>
                </a:solidFill>
                <a:ea typeface="黑体" panose="02010609060101010101" pitchFamily="49" charset="-122"/>
              </a:rPr>
              <a:t>c</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：第</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种产品的单位利润 </a:t>
            </a:r>
            <a:endParaRPr lang="en-US" altLang="zh-CN" sz="2400" dirty="0">
              <a:solidFill>
                <a:schemeClr val="tx1"/>
              </a:solidFill>
              <a:ea typeface="黑体" panose="02010609060101010101" pitchFamily="49" charset="-122"/>
            </a:endParaRPr>
          </a:p>
          <a:p>
            <a:pPr lvl="1" algn="l"/>
            <a:endParaRPr lang="zh-CN" altLang="en-US" sz="2400" dirty="0">
              <a:solidFill>
                <a:schemeClr val="tx1"/>
              </a:solidFill>
              <a:ea typeface="黑体" panose="02010609060101010101" pitchFamily="49" charset="-122"/>
            </a:endParaRPr>
          </a:p>
          <a:p>
            <a:pPr algn="l"/>
            <a:r>
              <a:rPr lang="zh-CN" altLang="en-US" sz="2400" dirty="0">
                <a:solidFill>
                  <a:schemeClr val="tx1"/>
                </a:solidFill>
                <a:ea typeface="黑体" panose="02010609060101010101" pitchFamily="49" charset="-122"/>
              </a:rPr>
              <a:t>则：      </a:t>
            </a:r>
            <a:r>
              <a:rPr lang="en-US" altLang="zh-CN" sz="2400" dirty="0" err="1">
                <a:solidFill>
                  <a:schemeClr val="tx1"/>
                </a:solidFill>
                <a:ea typeface="黑体" panose="02010609060101010101" pitchFamily="49" charset="-122"/>
              </a:rPr>
              <a:t>c</a:t>
            </a:r>
            <a:r>
              <a:rPr lang="en-US" altLang="zh-CN" sz="2400" baseline="-25000" dirty="0" err="1">
                <a:solidFill>
                  <a:schemeClr val="tx1"/>
                </a:solidFill>
                <a:ea typeface="黑体" panose="02010609060101010101" pitchFamily="49" charset="-122"/>
              </a:rPr>
              <a:t>j</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为第</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种产品的利润总额；</a:t>
            </a:r>
          </a:p>
          <a:p>
            <a:pPr algn="l"/>
            <a:r>
              <a:rPr lang="zh-CN" altLang="en-US" sz="2400" dirty="0">
                <a:solidFill>
                  <a:schemeClr val="tx1"/>
                </a:solidFill>
                <a:ea typeface="黑体" panose="02010609060101010101" pitchFamily="49" charset="-122"/>
              </a:rPr>
              <a:t>              </a:t>
            </a:r>
            <a:r>
              <a:rPr lang="en-US" altLang="zh-CN" sz="2400" dirty="0" err="1">
                <a:solidFill>
                  <a:schemeClr val="tx1"/>
                </a:solidFill>
                <a:ea typeface="黑体" panose="02010609060101010101" pitchFamily="49" charset="-122"/>
              </a:rPr>
              <a:t>a</a:t>
            </a:r>
            <a:r>
              <a:rPr lang="en-US" altLang="zh-CN" sz="2400" baseline="-25000" dirty="0" err="1">
                <a:solidFill>
                  <a:schemeClr val="tx1"/>
                </a:solidFill>
                <a:ea typeface="黑体" panose="02010609060101010101" pitchFamily="49" charset="-122"/>
              </a:rPr>
              <a:t>ij</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表示第</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车间生产第</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种产品所花时间总数；</a:t>
            </a:r>
            <a:endParaRPr lang="en-US" altLang="zh-CN" sz="2400" dirty="0">
              <a:solidFill>
                <a:schemeClr val="tx1"/>
              </a:solidFill>
              <a:ea typeface="黑体" panose="02010609060101010101" pitchFamily="49" charset="-122"/>
            </a:endParaRPr>
          </a:p>
          <a:p>
            <a:pPr algn="l"/>
            <a:r>
              <a:rPr lang="zh-CN" altLang="en-US" sz="2400" dirty="0">
                <a:solidFill>
                  <a:schemeClr val="tx1"/>
                </a:solidFill>
                <a:ea typeface="黑体" panose="02010609060101010101" pitchFamily="49" charset="-122"/>
              </a:rPr>
              <a:t>  </a:t>
            </a:r>
          </a:p>
        </p:txBody>
      </p:sp>
    </p:spTree>
    <p:extLst>
      <p:ext uri="{BB962C8B-B14F-4D97-AF65-F5344CB8AC3E}">
        <p14:creationId xmlns:p14="http://schemas.microsoft.com/office/powerpoint/2010/main" val="70628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19</a:t>
            </a:fld>
            <a:endParaRPr lang="zh-CN" altLang="en-US" b="1" dirty="0">
              <a:solidFill>
                <a:srgbClr val="FF0000"/>
              </a:solidFill>
            </a:endParaRPr>
          </a:p>
        </p:txBody>
      </p:sp>
      <p:sp>
        <p:nvSpPr>
          <p:cNvPr id="7" name="Text Box 6">
            <a:extLst>
              <a:ext uri="{FF2B5EF4-FFF2-40B4-BE49-F238E27FC236}">
                <a16:creationId xmlns:a16="http://schemas.microsoft.com/office/drawing/2014/main" id="{315A7181-55A1-41C9-8B18-971B1A978CCC}"/>
              </a:ext>
            </a:extLst>
          </p:cNvPr>
          <p:cNvSpPr txBox="1">
            <a:spLocks noChangeArrowheads="1"/>
          </p:cNvSpPr>
          <p:nvPr/>
        </p:nvSpPr>
        <p:spPr bwMode="auto">
          <a:xfrm>
            <a:off x="815978" y="1133282"/>
            <a:ext cx="172819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dirty="0">
                <a:solidFill>
                  <a:schemeClr val="tx1"/>
                </a:solidFill>
                <a:ea typeface="黑体" panose="02010609060101010101" pitchFamily="49" charset="-122"/>
              </a:rPr>
              <a:t>数学模型：</a:t>
            </a:r>
          </a:p>
        </p:txBody>
      </p:sp>
      <p:graphicFrame>
        <p:nvGraphicFramePr>
          <p:cNvPr id="10" name="Object 8">
            <a:extLst>
              <a:ext uri="{FF2B5EF4-FFF2-40B4-BE49-F238E27FC236}">
                <a16:creationId xmlns:a16="http://schemas.microsoft.com/office/drawing/2014/main" id="{25661166-9459-411E-908A-48F5CA790FA0}"/>
              </a:ext>
            </a:extLst>
          </p:cNvPr>
          <p:cNvGraphicFramePr>
            <a:graphicFrameLocks noChangeAspect="1"/>
          </p:cNvGraphicFramePr>
          <p:nvPr>
            <p:extLst>
              <p:ext uri="{D42A27DB-BD31-4B8C-83A1-F6EECF244321}">
                <p14:modId xmlns:p14="http://schemas.microsoft.com/office/powerpoint/2010/main" val="481096826"/>
              </p:ext>
            </p:extLst>
          </p:nvPr>
        </p:nvGraphicFramePr>
        <p:xfrm>
          <a:off x="1547664" y="1704462"/>
          <a:ext cx="2286000" cy="887413"/>
        </p:xfrm>
        <a:graphic>
          <a:graphicData uri="http://schemas.openxmlformats.org/presentationml/2006/ole">
            <mc:AlternateContent xmlns:mc="http://schemas.openxmlformats.org/markup-compatibility/2006">
              <mc:Choice xmlns:v="urn:schemas-microsoft-com:vml" Requires="v">
                <p:oleObj r:id="rId3" imgW="1155199" imgH="444307" progId="Equation.3">
                  <p:embed/>
                </p:oleObj>
              </mc:Choice>
              <mc:Fallback>
                <p:oleObj r:id="rId3" imgW="1155199" imgH="444307" progId="Equation.3">
                  <p:embed/>
                  <p:pic>
                    <p:nvPicPr>
                      <p:cNvPr id="107528" name="Object 8">
                        <a:extLst>
                          <a:ext uri="{FF2B5EF4-FFF2-40B4-BE49-F238E27FC236}">
                            <a16:creationId xmlns:a16="http://schemas.microsoft.com/office/drawing/2014/main" id="{F714BFBF-5F65-472A-A814-841A69AA3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704462"/>
                        <a:ext cx="2286000" cy="887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9">
            <a:extLst>
              <a:ext uri="{FF2B5EF4-FFF2-40B4-BE49-F238E27FC236}">
                <a16:creationId xmlns:a16="http://schemas.microsoft.com/office/drawing/2014/main" id="{0CE55740-3FFC-4581-B778-39C5B097DB6C}"/>
              </a:ext>
            </a:extLst>
          </p:cNvPr>
          <p:cNvGraphicFramePr>
            <a:graphicFrameLocks noChangeAspect="1"/>
          </p:cNvGraphicFramePr>
          <p:nvPr>
            <p:extLst>
              <p:ext uri="{D42A27DB-BD31-4B8C-83A1-F6EECF244321}">
                <p14:modId xmlns:p14="http://schemas.microsoft.com/office/powerpoint/2010/main" val="4186497822"/>
              </p:ext>
            </p:extLst>
          </p:nvPr>
        </p:nvGraphicFramePr>
        <p:xfrm>
          <a:off x="2195736" y="2869791"/>
          <a:ext cx="4424362" cy="1417637"/>
        </p:xfrm>
        <a:graphic>
          <a:graphicData uri="http://schemas.openxmlformats.org/presentationml/2006/ole">
            <mc:AlternateContent xmlns:mc="http://schemas.openxmlformats.org/markup-compatibility/2006">
              <mc:Choice xmlns:v="urn:schemas-microsoft-com:vml" Requires="v">
                <p:oleObj name="Equation" r:id="rId5" imgW="2209680" imgH="711000" progId="Equation.DSMT4">
                  <p:embed/>
                </p:oleObj>
              </mc:Choice>
              <mc:Fallback>
                <p:oleObj name="Equation" r:id="rId5" imgW="2209680" imgH="711000" progId="Equation.DSMT4">
                  <p:embed/>
                  <p:pic>
                    <p:nvPicPr>
                      <p:cNvPr id="107529" name="Object 9">
                        <a:extLst>
                          <a:ext uri="{FF2B5EF4-FFF2-40B4-BE49-F238E27FC236}">
                            <a16:creationId xmlns:a16="http://schemas.microsoft.com/office/drawing/2014/main" id="{D851E96A-3FCD-4137-B466-57E627D7C935}"/>
                          </a:ext>
                        </a:extLst>
                      </p:cNvPr>
                      <p:cNvPicPr>
                        <a:picLocks noChangeAspect="1" noChangeArrowheads="1"/>
                      </p:cNvPicPr>
                      <p:nvPr/>
                    </p:nvPicPr>
                    <p:blipFill>
                      <a:blip r:embed="rId6"/>
                      <a:srcRect/>
                      <a:stretch>
                        <a:fillRect/>
                      </a:stretch>
                    </p:blipFill>
                    <p:spPr bwMode="auto">
                      <a:xfrm>
                        <a:off x="2195736" y="2869791"/>
                        <a:ext cx="4424362"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10">
            <a:extLst>
              <a:ext uri="{FF2B5EF4-FFF2-40B4-BE49-F238E27FC236}">
                <a16:creationId xmlns:a16="http://schemas.microsoft.com/office/drawing/2014/main" id="{C91C2AAC-8995-4264-9BE8-90956E49CCB1}"/>
              </a:ext>
            </a:extLst>
          </p:cNvPr>
          <p:cNvSpPr txBox="1">
            <a:spLocks noChangeArrowheads="1"/>
          </p:cNvSpPr>
          <p:nvPr/>
        </p:nvSpPr>
        <p:spPr bwMode="auto">
          <a:xfrm>
            <a:off x="1115616" y="3232519"/>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dirty="0" err="1">
                <a:solidFill>
                  <a:schemeClr val="tx1"/>
                </a:solidFill>
                <a:ea typeface="黑体" panose="02010609060101010101" pitchFamily="49" charset="-122"/>
              </a:rPr>
              <a:t>s.t.</a:t>
            </a:r>
            <a:endParaRPr lang="en-US" altLang="zh-CN" sz="2400" dirty="0">
              <a:solidFill>
                <a:schemeClr val="tx1"/>
              </a:solidFill>
              <a:ea typeface="黑体" panose="02010609060101010101" pitchFamily="49" charset="-122"/>
            </a:endParaRPr>
          </a:p>
        </p:txBody>
      </p:sp>
      <p:sp>
        <p:nvSpPr>
          <p:cNvPr id="13" name="Text Box 11">
            <a:extLst>
              <a:ext uri="{FF2B5EF4-FFF2-40B4-BE49-F238E27FC236}">
                <a16:creationId xmlns:a16="http://schemas.microsoft.com/office/drawing/2014/main" id="{DF9F06DE-D284-45DC-9C6F-2BE37A562FE7}"/>
              </a:ext>
            </a:extLst>
          </p:cNvPr>
          <p:cNvSpPr txBox="1">
            <a:spLocks noChangeArrowheads="1"/>
          </p:cNvSpPr>
          <p:nvPr/>
        </p:nvSpPr>
        <p:spPr bwMode="auto">
          <a:xfrm>
            <a:off x="827584" y="4581128"/>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ea typeface="黑体" panose="02010609060101010101" pitchFamily="49" charset="-122"/>
              </a:rPr>
              <a:t>计算结果：</a:t>
            </a:r>
          </a:p>
        </p:txBody>
      </p:sp>
      <p:graphicFrame>
        <p:nvGraphicFramePr>
          <p:cNvPr id="14" name="Group 12">
            <a:extLst>
              <a:ext uri="{FF2B5EF4-FFF2-40B4-BE49-F238E27FC236}">
                <a16:creationId xmlns:a16="http://schemas.microsoft.com/office/drawing/2014/main" id="{00F0E238-E451-4375-BFEB-4E5891E483FE}"/>
              </a:ext>
            </a:extLst>
          </p:cNvPr>
          <p:cNvGraphicFramePr>
            <a:graphicFrameLocks noGrp="1"/>
          </p:cNvGraphicFramePr>
          <p:nvPr>
            <p:extLst>
              <p:ext uri="{D42A27DB-BD31-4B8C-83A1-F6EECF244321}">
                <p14:modId xmlns:p14="http://schemas.microsoft.com/office/powerpoint/2010/main" val="3866260884"/>
              </p:ext>
            </p:extLst>
          </p:nvPr>
        </p:nvGraphicFramePr>
        <p:xfrm>
          <a:off x="1043608" y="5163741"/>
          <a:ext cx="7128792" cy="914400"/>
        </p:xfrm>
        <a:graphic>
          <a:graphicData uri="http://schemas.openxmlformats.org/drawingml/2006/table">
            <a:tbl>
              <a:tblPr/>
              <a:tblGrid>
                <a:gridCol w="1255640">
                  <a:extLst>
                    <a:ext uri="{9D8B030D-6E8A-4147-A177-3AD203B41FA5}">
                      <a16:colId xmlns:a16="http://schemas.microsoft.com/office/drawing/2014/main" val="109173647"/>
                    </a:ext>
                  </a:extLst>
                </a:gridCol>
                <a:gridCol w="979608">
                  <a:extLst>
                    <a:ext uri="{9D8B030D-6E8A-4147-A177-3AD203B41FA5}">
                      <a16:colId xmlns:a16="http://schemas.microsoft.com/office/drawing/2014/main" val="3407256625"/>
                    </a:ext>
                  </a:extLst>
                </a:gridCol>
                <a:gridCol w="978109">
                  <a:extLst>
                    <a:ext uri="{9D8B030D-6E8A-4147-A177-3AD203B41FA5}">
                      <a16:colId xmlns:a16="http://schemas.microsoft.com/office/drawing/2014/main" val="1538545787"/>
                    </a:ext>
                  </a:extLst>
                </a:gridCol>
                <a:gridCol w="978109">
                  <a:extLst>
                    <a:ext uri="{9D8B030D-6E8A-4147-A177-3AD203B41FA5}">
                      <a16:colId xmlns:a16="http://schemas.microsoft.com/office/drawing/2014/main" val="2708006252"/>
                    </a:ext>
                  </a:extLst>
                </a:gridCol>
                <a:gridCol w="979609">
                  <a:extLst>
                    <a:ext uri="{9D8B030D-6E8A-4147-A177-3AD203B41FA5}">
                      <a16:colId xmlns:a16="http://schemas.microsoft.com/office/drawing/2014/main" val="26529304"/>
                    </a:ext>
                  </a:extLst>
                </a:gridCol>
                <a:gridCol w="978109">
                  <a:extLst>
                    <a:ext uri="{9D8B030D-6E8A-4147-A177-3AD203B41FA5}">
                      <a16:colId xmlns:a16="http://schemas.microsoft.com/office/drawing/2014/main" val="528316090"/>
                    </a:ext>
                  </a:extLst>
                </a:gridCol>
                <a:gridCol w="979608">
                  <a:extLst>
                    <a:ext uri="{9D8B030D-6E8A-4147-A177-3AD203B41FA5}">
                      <a16:colId xmlns:a16="http://schemas.microsoft.com/office/drawing/2014/main" val="1300905901"/>
                    </a:ext>
                  </a:extLst>
                </a:gridCol>
              </a:tblGrid>
              <a:tr h="427929">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r>
                        <a:rPr kumimoji="1" lang="zh-CN" alt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百元</a:t>
                      </a: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6</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0284086"/>
                  </a:ext>
                </a:extLst>
              </a:tr>
              <a:tr h="427929">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1320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60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40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636438"/>
                  </a:ext>
                </a:extLst>
              </a:tr>
            </a:tbl>
          </a:graphicData>
        </a:graphic>
      </p:graphicFrame>
    </p:spTree>
    <p:extLst>
      <p:ext uri="{BB962C8B-B14F-4D97-AF65-F5344CB8AC3E}">
        <p14:creationId xmlns:p14="http://schemas.microsoft.com/office/powerpoint/2010/main" val="272820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12"/>
                                        </p:tgtEl>
                                        <p:attrNameLst>
                                          <p:attrName>style.visibility</p:attrName>
                                        </p:attrNameLst>
                                      </p:cBhvr>
                                      <p:to>
                                        <p:strVal val="visible"/>
                                      </p:to>
                                    </p:set>
                                    <p:anim to="" calcmode="lin" valueType="num">
                                      <p:cBhvr>
                                        <p:cTn id="12" dur="1" fill="hold"/>
                                        <p:tgtEl>
                                          <p:spTgt spid="12"/>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13"/>
                                        </p:tgtEl>
                                        <p:attrNameLst>
                                          <p:attrName>style.visibility</p:attrName>
                                        </p:attrNameLst>
                                      </p:cBhvr>
                                      <p:to>
                                        <p:strVal val="visible"/>
                                      </p:to>
                                    </p:set>
                                    <p:anim to="" calcmode="lin" valueType="num">
                                      <p:cBhvr>
                                        <p:cTn id="17" dur="1" fill="hold"/>
                                        <p:tgtEl>
                                          <p:spTgt spid="13"/>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499"/>
                                          </p:stCondLst>
                                        </p:cTn>
                                        <p:tgtEl>
                                          <p:spTgt spid="11"/>
                                        </p:tgtEl>
                                        <p:attrNameLst>
                                          <p:attrName>style.visibility</p:attrName>
                                        </p:attrNameLst>
                                      </p:cBhvr>
                                      <p:to>
                                        <p:strVal val="visible"/>
                                      </p:to>
                                    </p:set>
                                    <p:anim to="" calcmode="lin" valueType="num">
                                      <p:cBhvr>
                                        <p:cTn id="22" dur="1" fill="hold"/>
                                        <p:tgtEl>
                                          <p:spTgt spid="11"/>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499"/>
                                          </p:stCondLst>
                                        </p:cTn>
                                        <p:tgtEl>
                                          <p:spTgt spid="14"/>
                                        </p:tgtEl>
                                        <p:attrNameLst>
                                          <p:attrName>style.visibility</p:attrName>
                                        </p:attrNameLst>
                                      </p:cBhvr>
                                      <p:to>
                                        <p:strVal val="visible"/>
                                      </p:to>
                                    </p:set>
                                    <p:anim to="" calcmode="lin" valueType="num">
                                      <p:cBhvr>
                                        <p:cTn id="27"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整数规划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20</a:t>
            </a:fld>
            <a:endParaRPr lang="zh-CN" altLang="en-US" b="1" dirty="0">
              <a:solidFill>
                <a:srgbClr val="FF0000"/>
              </a:solidFill>
            </a:endParaRPr>
          </a:p>
        </p:txBody>
      </p:sp>
      <p:sp>
        <p:nvSpPr>
          <p:cNvPr id="16" name="Text Box 7">
            <a:extLst>
              <a:ext uri="{FF2B5EF4-FFF2-40B4-BE49-F238E27FC236}">
                <a16:creationId xmlns:a16="http://schemas.microsoft.com/office/drawing/2014/main" id="{F43E5223-5036-4C2A-9AAB-77A1427C9F71}"/>
              </a:ext>
            </a:extLst>
          </p:cNvPr>
          <p:cNvSpPr txBox="1">
            <a:spLocks noChangeArrowheads="1"/>
          </p:cNvSpPr>
          <p:nvPr/>
        </p:nvSpPr>
        <p:spPr bwMode="auto">
          <a:xfrm>
            <a:off x="539552" y="1196752"/>
            <a:ext cx="7848600"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5750" indent="-285750" algn="l">
              <a:spcBef>
                <a:spcPts val="1200"/>
              </a:spcBef>
              <a:buFont typeface="Wingdings" panose="05000000000000000000" pitchFamily="2" charset="2"/>
              <a:buChar char="n"/>
            </a:pPr>
            <a:r>
              <a:rPr lang="zh-CN" altLang="en-US" sz="2400" dirty="0">
                <a:solidFill>
                  <a:schemeClr val="tx1"/>
                </a:solidFill>
                <a:latin typeface="黑体" panose="02010609060101010101" pitchFamily="49" charset="-122"/>
                <a:ea typeface="黑体" panose="02010609060101010101" pitchFamily="49" charset="-122"/>
              </a:rPr>
              <a:t>最优化问题中的所有变量均为</a:t>
            </a:r>
            <a:r>
              <a:rPr lang="zh-CN" altLang="en-US" sz="2400" dirty="0">
                <a:solidFill>
                  <a:srgbClr val="FF0000"/>
                </a:solidFill>
                <a:latin typeface="黑体" panose="02010609060101010101" pitchFamily="49" charset="-122"/>
                <a:ea typeface="黑体" panose="02010609060101010101" pitchFamily="49" charset="-122"/>
              </a:rPr>
              <a:t>整数</a:t>
            </a:r>
            <a:r>
              <a:rPr lang="zh-CN" altLang="en-US" sz="2400" dirty="0">
                <a:solidFill>
                  <a:schemeClr val="tx1"/>
                </a:solidFill>
                <a:latin typeface="黑体" panose="02010609060101010101" pitchFamily="49" charset="-122"/>
                <a:ea typeface="黑体" panose="02010609060101010101" pitchFamily="49" charset="-122"/>
              </a:rPr>
              <a:t>时，这类问题称为</a:t>
            </a:r>
            <a:r>
              <a:rPr lang="zh-CN" altLang="en-US" sz="2400" dirty="0">
                <a:solidFill>
                  <a:srgbClr val="FF0000"/>
                </a:solidFill>
                <a:latin typeface="黑体" panose="02010609060101010101" pitchFamily="49" charset="-122"/>
                <a:ea typeface="黑体" panose="02010609060101010101" pitchFamily="49" charset="-122"/>
              </a:rPr>
              <a:t>整数规划</a:t>
            </a:r>
            <a:r>
              <a:rPr lang="zh-CN" altLang="en-US" sz="2400" dirty="0">
                <a:solidFill>
                  <a:schemeClr val="tx1"/>
                </a:solidFill>
                <a:latin typeface="黑体" panose="02010609060101010101" pitchFamily="49" charset="-122"/>
                <a:ea typeface="黑体" panose="02010609060101010101" pitchFamily="49" charset="-122"/>
              </a:rPr>
              <a:t>问题。</a:t>
            </a:r>
            <a:endParaRPr lang="en-US" altLang="zh-CN" sz="2400" dirty="0">
              <a:solidFill>
                <a:schemeClr val="tx1"/>
              </a:solidFill>
              <a:latin typeface="黑体" panose="02010609060101010101" pitchFamily="49" charset="-122"/>
              <a:ea typeface="黑体" panose="02010609060101010101" pitchFamily="49" charset="-122"/>
            </a:endParaRPr>
          </a:p>
          <a:p>
            <a:pPr marL="285750" indent="-285750" algn="l">
              <a:spcBef>
                <a:spcPts val="1200"/>
              </a:spcBef>
              <a:buFont typeface="Wingdings" panose="05000000000000000000" pitchFamily="2" charset="2"/>
              <a:buChar char="n"/>
            </a:pPr>
            <a:r>
              <a:rPr lang="zh-CN" altLang="en-US" sz="2400" dirty="0">
                <a:solidFill>
                  <a:schemeClr val="tx1"/>
                </a:solidFill>
                <a:latin typeface="黑体" panose="02010609060101010101" pitchFamily="49" charset="-122"/>
                <a:ea typeface="黑体" panose="02010609060101010101" pitchFamily="49" charset="-122"/>
              </a:rPr>
              <a:t>如果</a:t>
            </a:r>
            <a:r>
              <a:rPr lang="zh-CN" altLang="en-US" sz="2400" dirty="0">
                <a:solidFill>
                  <a:srgbClr val="0070C0"/>
                </a:solidFill>
                <a:latin typeface="黑体" panose="02010609060101010101" pitchFamily="49" charset="-122"/>
                <a:ea typeface="黑体" panose="02010609060101010101" pitchFamily="49" charset="-122"/>
              </a:rPr>
              <a:t>线性规划</a:t>
            </a:r>
            <a:r>
              <a:rPr lang="zh-CN" altLang="en-US" sz="2400" dirty="0">
                <a:solidFill>
                  <a:schemeClr val="tx1"/>
                </a:solidFill>
                <a:latin typeface="黑体" panose="02010609060101010101" pitchFamily="49" charset="-122"/>
                <a:ea typeface="黑体" panose="02010609060101010101" pitchFamily="49" charset="-122"/>
              </a:rPr>
              <a:t>中的所有变量均为</a:t>
            </a:r>
            <a:r>
              <a:rPr lang="zh-CN" altLang="en-US" sz="2400" dirty="0">
                <a:solidFill>
                  <a:srgbClr val="FF0000"/>
                </a:solidFill>
                <a:latin typeface="黑体" panose="02010609060101010101" pitchFamily="49" charset="-122"/>
                <a:ea typeface="黑体" panose="02010609060101010101" pitchFamily="49" charset="-122"/>
              </a:rPr>
              <a:t>整数</a:t>
            </a:r>
            <a:r>
              <a:rPr lang="zh-CN" altLang="en-US" sz="2400" dirty="0">
                <a:solidFill>
                  <a:schemeClr val="tx1"/>
                </a:solidFill>
                <a:latin typeface="黑体" panose="02010609060101010101" pitchFamily="49" charset="-122"/>
                <a:ea typeface="黑体" panose="02010609060101010101" pitchFamily="49" charset="-122"/>
              </a:rPr>
              <a:t>时，称这类问题为</a:t>
            </a:r>
            <a:r>
              <a:rPr lang="zh-CN" altLang="en-US" sz="2400" dirty="0">
                <a:solidFill>
                  <a:schemeClr val="tx2">
                    <a:lumMod val="60000"/>
                    <a:lumOff val="40000"/>
                  </a:schemeClr>
                </a:solidFill>
                <a:latin typeface="黑体" panose="02010609060101010101" pitchFamily="49" charset="-122"/>
                <a:ea typeface="黑体" panose="02010609060101010101" pitchFamily="49" charset="-122"/>
              </a:rPr>
              <a:t>线性</a:t>
            </a:r>
            <a:r>
              <a:rPr lang="zh-CN" altLang="en-US" sz="2400" dirty="0">
                <a:solidFill>
                  <a:srgbClr val="FF0000"/>
                </a:solidFill>
                <a:latin typeface="黑体" panose="02010609060101010101" pitchFamily="49" charset="-122"/>
                <a:ea typeface="黑体" panose="02010609060101010101" pitchFamily="49" charset="-122"/>
              </a:rPr>
              <a:t>整数规划</a:t>
            </a:r>
            <a:r>
              <a:rPr lang="zh-CN" altLang="en-US" sz="2400" dirty="0">
                <a:solidFill>
                  <a:schemeClr val="tx1"/>
                </a:solidFill>
                <a:latin typeface="黑体" panose="02010609060101010101" pitchFamily="49" charset="-122"/>
                <a:ea typeface="黑体" panose="02010609060101010101" pitchFamily="49" charset="-122"/>
              </a:rPr>
              <a:t>问题。</a:t>
            </a:r>
            <a:endParaRPr lang="en-US" altLang="zh-CN" sz="2400" dirty="0">
              <a:solidFill>
                <a:schemeClr val="tx1"/>
              </a:solidFill>
              <a:latin typeface="黑体" panose="02010609060101010101" pitchFamily="49" charset="-122"/>
              <a:ea typeface="黑体" panose="02010609060101010101" pitchFamily="49" charset="-122"/>
            </a:endParaRPr>
          </a:p>
          <a:p>
            <a:pPr marL="285750" indent="-285750" algn="l">
              <a:spcBef>
                <a:spcPts val="1200"/>
              </a:spcBef>
              <a:buFont typeface="Wingdings" panose="05000000000000000000" pitchFamily="2" charset="2"/>
              <a:buChar char="n"/>
            </a:pPr>
            <a:r>
              <a:rPr lang="zh-CN" altLang="en-US" sz="2400" dirty="0">
                <a:solidFill>
                  <a:schemeClr val="tx1"/>
                </a:solidFill>
                <a:latin typeface="黑体" panose="02010609060101010101" pitchFamily="49" charset="-122"/>
                <a:ea typeface="黑体" panose="02010609060101010101" pitchFamily="49" charset="-122"/>
              </a:rPr>
              <a:t>整数规划可分为</a:t>
            </a:r>
            <a:r>
              <a:rPr lang="zh-CN" altLang="en-US" sz="2400" dirty="0">
                <a:solidFill>
                  <a:schemeClr val="tx2">
                    <a:lumMod val="60000"/>
                    <a:lumOff val="40000"/>
                  </a:schemeClr>
                </a:solidFill>
                <a:latin typeface="黑体" panose="02010609060101010101" pitchFamily="49" charset="-122"/>
                <a:ea typeface="黑体" panose="02010609060101010101" pitchFamily="49" charset="-122"/>
              </a:rPr>
              <a:t>线性</a:t>
            </a:r>
            <a:r>
              <a:rPr lang="zh-CN" altLang="en-US" sz="2400" dirty="0">
                <a:solidFill>
                  <a:srgbClr val="FF0000"/>
                </a:solidFill>
                <a:latin typeface="黑体" panose="02010609060101010101" pitchFamily="49" charset="-122"/>
                <a:ea typeface="黑体" panose="02010609060101010101" pitchFamily="49" charset="-122"/>
              </a:rPr>
              <a:t>整数规划</a:t>
            </a:r>
            <a:r>
              <a:rPr lang="zh-CN" altLang="en-US" sz="2400" dirty="0">
                <a:solidFill>
                  <a:schemeClr val="tx1"/>
                </a:solidFill>
                <a:latin typeface="黑体" panose="02010609060101010101" pitchFamily="49" charset="-122"/>
                <a:ea typeface="黑体" panose="02010609060101010101" pitchFamily="49" charset="-122"/>
              </a:rPr>
              <a:t>和</a:t>
            </a:r>
            <a:r>
              <a:rPr lang="zh-CN" altLang="en-US" sz="2400" dirty="0">
                <a:solidFill>
                  <a:schemeClr val="tx2">
                    <a:lumMod val="60000"/>
                    <a:lumOff val="40000"/>
                  </a:schemeClr>
                </a:solidFill>
                <a:latin typeface="黑体" panose="02010609060101010101" pitchFamily="49" charset="-122"/>
                <a:ea typeface="黑体" panose="02010609060101010101" pitchFamily="49" charset="-122"/>
              </a:rPr>
              <a:t>非线性</a:t>
            </a:r>
            <a:r>
              <a:rPr lang="zh-CN" altLang="en-US" sz="2400" dirty="0">
                <a:solidFill>
                  <a:srgbClr val="FF0000"/>
                </a:solidFill>
                <a:latin typeface="黑体" panose="02010609060101010101" pitchFamily="49" charset="-122"/>
                <a:ea typeface="黑体" panose="02010609060101010101" pitchFamily="49" charset="-122"/>
              </a:rPr>
              <a:t>整数规划</a:t>
            </a:r>
            <a:r>
              <a:rPr lang="zh-CN" altLang="en-US" sz="2400" dirty="0">
                <a:solidFill>
                  <a:schemeClr val="tx1"/>
                </a:solidFill>
                <a:latin typeface="黑体" panose="02010609060101010101" pitchFamily="49" charset="-122"/>
                <a:ea typeface="黑体" panose="02010609060101010101" pitchFamily="49" charset="-122"/>
              </a:rPr>
              <a:t>，以及混合整数规划等。</a:t>
            </a:r>
            <a:endParaRPr lang="en-US" altLang="zh-CN" sz="2400" dirty="0">
              <a:solidFill>
                <a:schemeClr val="tx1"/>
              </a:solidFill>
              <a:latin typeface="黑体" panose="02010609060101010101" pitchFamily="49" charset="-122"/>
              <a:ea typeface="黑体" panose="02010609060101010101" pitchFamily="49" charset="-122"/>
            </a:endParaRPr>
          </a:p>
          <a:p>
            <a:pPr marL="285750" indent="-285750" algn="l">
              <a:spcBef>
                <a:spcPts val="1200"/>
              </a:spcBef>
              <a:buFont typeface="Wingdings" panose="05000000000000000000" pitchFamily="2" charset="2"/>
              <a:buChar char="n"/>
            </a:pPr>
            <a:r>
              <a:rPr lang="zh-CN" altLang="en-US" sz="2400" dirty="0">
                <a:solidFill>
                  <a:schemeClr val="tx1"/>
                </a:solidFill>
                <a:latin typeface="黑体" panose="02010609060101010101" pitchFamily="49" charset="-122"/>
                <a:ea typeface="黑体" panose="02010609060101010101" pitchFamily="49" charset="-122"/>
              </a:rPr>
              <a:t>如果决策变量的取值</a:t>
            </a:r>
            <a:r>
              <a:rPr lang="zh-CN" altLang="en-US" sz="2400" dirty="0">
                <a:solidFill>
                  <a:srgbClr val="92D050"/>
                </a:solidFill>
                <a:latin typeface="黑体" panose="02010609060101010101" pitchFamily="49" charset="-122"/>
                <a:ea typeface="黑体" panose="02010609060101010101" pitchFamily="49" charset="-122"/>
              </a:rPr>
              <a:t>要么为</a:t>
            </a:r>
            <a:r>
              <a:rPr lang="en-US" altLang="zh-CN" sz="2400" dirty="0">
                <a:solidFill>
                  <a:srgbClr val="92D050"/>
                </a:solidFill>
                <a:latin typeface="黑体" panose="02010609060101010101" pitchFamily="49" charset="-122"/>
                <a:ea typeface="黑体" panose="02010609060101010101" pitchFamily="49" charset="-122"/>
              </a:rPr>
              <a:t>0</a:t>
            </a:r>
            <a:r>
              <a:rPr lang="zh-CN" altLang="en-US" sz="2400" dirty="0">
                <a:solidFill>
                  <a:schemeClr val="tx1"/>
                </a:solidFill>
                <a:latin typeface="黑体" panose="02010609060101010101" pitchFamily="49" charset="-122"/>
                <a:ea typeface="黑体" panose="02010609060101010101" pitchFamily="49" charset="-122"/>
              </a:rPr>
              <a:t>，</a:t>
            </a:r>
            <a:r>
              <a:rPr lang="zh-CN" altLang="en-US" sz="2400" dirty="0">
                <a:solidFill>
                  <a:srgbClr val="92D050"/>
                </a:solidFill>
                <a:latin typeface="黑体" panose="02010609060101010101" pitchFamily="49" charset="-122"/>
                <a:ea typeface="黑体" panose="02010609060101010101" pitchFamily="49" charset="-122"/>
              </a:rPr>
              <a:t>要么为</a:t>
            </a:r>
            <a:r>
              <a:rPr lang="en-US" altLang="zh-CN" sz="2400" dirty="0">
                <a:solidFill>
                  <a:srgbClr val="92D050"/>
                </a:solidFill>
                <a:latin typeface="黑体" panose="02010609060101010101" pitchFamily="49" charset="-122"/>
                <a:ea typeface="黑体" panose="02010609060101010101" pitchFamily="49" charset="-122"/>
              </a:rPr>
              <a:t>1</a:t>
            </a:r>
            <a:r>
              <a:rPr lang="zh-CN" altLang="en-US" sz="2400" dirty="0">
                <a:solidFill>
                  <a:schemeClr val="tx1"/>
                </a:solidFill>
                <a:latin typeface="黑体" panose="02010609060101010101" pitchFamily="49" charset="-122"/>
                <a:ea typeface="黑体" panose="02010609060101010101" pitchFamily="49" charset="-122"/>
              </a:rPr>
              <a:t>，则这样的规划问题称为</a:t>
            </a:r>
            <a:r>
              <a:rPr lang="en-US" altLang="zh-CN" sz="2400" dirty="0">
                <a:solidFill>
                  <a:srgbClr val="FF0000"/>
                </a:solidFill>
                <a:latin typeface="黑体" panose="02010609060101010101" pitchFamily="49" charset="-122"/>
                <a:ea typeface="黑体" panose="02010609060101010101" pitchFamily="49" charset="-122"/>
              </a:rPr>
              <a:t>0</a:t>
            </a:r>
            <a:r>
              <a:rPr lang="zh-CN" altLang="en-US" sz="2400" dirty="0">
                <a:solidFill>
                  <a:srgbClr val="FF0000"/>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规划</a:t>
            </a:r>
            <a:r>
              <a:rPr lang="zh-CN" altLang="en-US" sz="2400" dirty="0">
                <a:solidFill>
                  <a:schemeClr val="tx1"/>
                </a:solidFill>
                <a:latin typeface="黑体" panose="02010609060101010101" pitchFamily="49" charset="-122"/>
                <a:ea typeface="黑体" panose="02010609060101010101" pitchFamily="49" charset="-122"/>
              </a:rPr>
              <a:t>。</a:t>
            </a:r>
            <a:endParaRPr lang="en-US" altLang="zh-CN" sz="240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95424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整数规划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21</a:t>
            </a:fld>
            <a:endParaRPr lang="zh-CN" altLang="en-US" b="1" dirty="0">
              <a:solidFill>
                <a:srgbClr val="FF0000"/>
              </a:solidFill>
            </a:endParaRPr>
          </a:p>
        </p:txBody>
      </p:sp>
      <p:sp>
        <p:nvSpPr>
          <p:cNvPr id="7" name="Text Box 2">
            <a:extLst>
              <a:ext uri="{FF2B5EF4-FFF2-40B4-BE49-F238E27FC236}">
                <a16:creationId xmlns:a16="http://schemas.microsoft.com/office/drawing/2014/main" id="{DCA3C748-40E3-4FC2-9CC1-B7631FB20801}"/>
              </a:ext>
            </a:extLst>
          </p:cNvPr>
          <p:cNvSpPr txBox="1">
            <a:spLocks noChangeArrowheads="1"/>
          </p:cNvSpPr>
          <p:nvPr/>
        </p:nvSpPr>
        <p:spPr bwMode="auto">
          <a:xfrm>
            <a:off x="494556" y="1124744"/>
            <a:ext cx="7696200" cy="2928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2400" dirty="0">
                <a:solidFill>
                  <a:schemeClr val="tx1"/>
                </a:solidFill>
                <a:ea typeface="黑体" panose="02010609060101010101" pitchFamily="49" charset="-122"/>
              </a:rPr>
              <a:t>例</a:t>
            </a:r>
            <a:r>
              <a:rPr lang="en-US" altLang="zh-CN" sz="2400" dirty="0">
                <a:solidFill>
                  <a:schemeClr val="tx1"/>
                </a:solidFill>
                <a:ea typeface="黑体" panose="02010609060101010101" pitchFamily="49" charset="-122"/>
              </a:rPr>
              <a:t>    </a:t>
            </a:r>
            <a:r>
              <a:rPr lang="zh-CN" altLang="en-US" sz="2400" dirty="0">
                <a:solidFill>
                  <a:schemeClr val="tx1"/>
                </a:solidFill>
                <a:ea typeface="黑体" panose="02010609060101010101" pitchFamily="49" charset="-122"/>
              </a:rPr>
              <a:t>某钢厂两个炼钢炉同时各用一种方法炼钢。第一种炼法每炉用</a:t>
            </a:r>
            <a:r>
              <a:rPr lang="en-US" altLang="zh-CN" sz="2400" dirty="0">
                <a:solidFill>
                  <a:schemeClr val="tx1"/>
                </a:solidFill>
                <a:ea typeface="黑体" panose="02010609060101010101" pitchFamily="49" charset="-122"/>
              </a:rPr>
              <a:t>a</a:t>
            </a:r>
            <a:r>
              <a:rPr lang="zh-CN" altLang="en-US" sz="2400" dirty="0">
                <a:solidFill>
                  <a:schemeClr val="tx1"/>
                </a:solidFill>
                <a:ea typeface="黑体" panose="02010609060101010101" pitchFamily="49" charset="-122"/>
              </a:rPr>
              <a:t>小时，第二种用</a:t>
            </a:r>
            <a:r>
              <a:rPr lang="en-US" altLang="zh-CN" sz="2400" dirty="0">
                <a:solidFill>
                  <a:schemeClr val="tx1"/>
                </a:solidFill>
                <a:ea typeface="黑体" panose="02010609060101010101" pitchFamily="49" charset="-122"/>
              </a:rPr>
              <a:t>b</a:t>
            </a:r>
            <a:r>
              <a:rPr lang="zh-CN" altLang="en-US" sz="2400" dirty="0">
                <a:solidFill>
                  <a:schemeClr val="tx1"/>
                </a:solidFill>
                <a:ea typeface="黑体" panose="02010609060101010101" pitchFamily="49" charset="-122"/>
              </a:rPr>
              <a:t>小时（包括清炉时间）。假定这两种炼法，每炉出钢都是</a:t>
            </a:r>
            <a:r>
              <a:rPr lang="en-US" altLang="zh-CN" sz="2400" dirty="0">
                <a:solidFill>
                  <a:schemeClr val="tx1"/>
                </a:solidFill>
                <a:ea typeface="黑体" panose="02010609060101010101" pitchFamily="49" charset="-122"/>
              </a:rPr>
              <a:t>k</a:t>
            </a:r>
            <a:r>
              <a:rPr lang="zh-CN" altLang="en-US" sz="2400" dirty="0">
                <a:solidFill>
                  <a:schemeClr val="tx1"/>
                </a:solidFill>
                <a:ea typeface="黑体" panose="02010609060101010101" pitchFamily="49" charset="-122"/>
              </a:rPr>
              <a:t>公斤，而炼</a:t>
            </a:r>
            <a:r>
              <a:rPr lang="en-US" altLang="zh-CN" sz="2400" dirty="0">
                <a:solidFill>
                  <a:schemeClr val="tx1"/>
                </a:solidFill>
                <a:ea typeface="黑体" panose="02010609060101010101" pitchFamily="49" charset="-122"/>
              </a:rPr>
              <a:t>1</a:t>
            </a:r>
            <a:r>
              <a:rPr lang="zh-CN" altLang="en-US" sz="2400" dirty="0">
                <a:solidFill>
                  <a:schemeClr val="tx1"/>
                </a:solidFill>
                <a:ea typeface="黑体" panose="02010609060101010101" pitchFamily="49" charset="-122"/>
              </a:rPr>
              <a:t>公斤钢的平均燃料费第一法为</a:t>
            </a:r>
            <a:r>
              <a:rPr lang="en-US" altLang="zh-CN" sz="2400" dirty="0">
                <a:solidFill>
                  <a:schemeClr val="tx1"/>
                </a:solidFill>
                <a:ea typeface="黑体" panose="02010609060101010101" pitchFamily="49" charset="-122"/>
              </a:rPr>
              <a:t>m</a:t>
            </a:r>
            <a:r>
              <a:rPr lang="zh-CN" altLang="en-US" sz="2400" dirty="0">
                <a:solidFill>
                  <a:schemeClr val="tx1"/>
                </a:solidFill>
                <a:ea typeface="黑体" panose="02010609060101010101" pitchFamily="49" charset="-122"/>
              </a:rPr>
              <a:t>元，第二法为</a:t>
            </a:r>
            <a:r>
              <a:rPr lang="en-US" altLang="zh-CN" sz="2400" dirty="0">
                <a:solidFill>
                  <a:schemeClr val="tx1"/>
                </a:solidFill>
                <a:ea typeface="黑体" panose="02010609060101010101" pitchFamily="49" charset="-122"/>
              </a:rPr>
              <a:t>n</a:t>
            </a:r>
            <a:r>
              <a:rPr lang="zh-CN" altLang="en-US" sz="2400" dirty="0">
                <a:solidFill>
                  <a:schemeClr val="tx1"/>
                </a:solidFill>
                <a:ea typeface="黑体" panose="02010609060101010101" pitchFamily="49" charset="-122"/>
              </a:rPr>
              <a:t>元。若要求在</a:t>
            </a:r>
            <a:r>
              <a:rPr lang="en-US" altLang="zh-CN" sz="2400" dirty="0">
                <a:solidFill>
                  <a:schemeClr val="tx1"/>
                </a:solidFill>
                <a:ea typeface="黑体" panose="02010609060101010101" pitchFamily="49" charset="-122"/>
              </a:rPr>
              <a:t>c</a:t>
            </a:r>
            <a:r>
              <a:rPr lang="zh-CN" altLang="en-US" sz="2400" dirty="0">
                <a:solidFill>
                  <a:schemeClr val="tx1"/>
                </a:solidFill>
                <a:ea typeface="黑体" panose="02010609060101010101" pitchFamily="49" charset="-122"/>
              </a:rPr>
              <a:t>小时内炼钢公斤数不少于</a:t>
            </a:r>
            <a:r>
              <a:rPr lang="en-US" altLang="zh-CN" sz="2400" dirty="0">
                <a:solidFill>
                  <a:schemeClr val="tx1"/>
                </a:solidFill>
                <a:ea typeface="黑体" panose="02010609060101010101" pitchFamily="49" charset="-122"/>
              </a:rPr>
              <a:t>d</a:t>
            </a:r>
            <a:r>
              <a:rPr lang="zh-CN" altLang="en-US" sz="2400" dirty="0">
                <a:solidFill>
                  <a:schemeClr val="tx1"/>
                </a:solidFill>
                <a:ea typeface="黑体" panose="02010609060101010101" pitchFamily="49" charset="-122"/>
              </a:rPr>
              <a:t>，试列出燃料费最省的两种方法的分配方案的数学模型。</a:t>
            </a:r>
            <a:endParaRPr lang="en-US" altLang="zh-CN" sz="2400" dirty="0">
              <a:solidFill>
                <a:schemeClr val="tx1"/>
              </a:solidFill>
              <a:ea typeface="黑体" panose="02010609060101010101" pitchFamily="49" charset="-122"/>
            </a:endParaRPr>
          </a:p>
        </p:txBody>
      </p:sp>
    </p:spTree>
    <p:extLst>
      <p:ext uri="{BB962C8B-B14F-4D97-AF65-F5344CB8AC3E}">
        <p14:creationId xmlns:p14="http://schemas.microsoft.com/office/powerpoint/2010/main" val="2002128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整数规划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22</a:t>
            </a:fld>
            <a:endParaRPr lang="zh-CN" altLang="en-US" b="1" dirty="0">
              <a:solidFill>
                <a:srgbClr val="FF0000"/>
              </a:solidFill>
            </a:endParaRPr>
          </a:p>
        </p:txBody>
      </p:sp>
      <p:sp>
        <p:nvSpPr>
          <p:cNvPr id="9" name="Text Box 2">
            <a:extLst>
              <a:ext uri="{FF2B5EF4-FFF2-40B4-BE49-F238E27FC236}">
                <a16:creationId xmlns:a16="http://schemas.microsoft.com/office/drawing/2014/main" id="{EDBFB27F-9877-47F2-8007-C6AB9D128D19}"/>
              </a:ext>
            </a:extLst>
          </p:cNvPr>
          <p:cNvSpPr txBox="1">
            <a:spLocks noChangeArrowheads="1"/>
          </p:cNvSpPr>
          <p:nvPr/>
        </p:nvSpPr>
        <p:spPr bwMode="auto">
          <a:xfrm>
            <a:off x="611560" y="1114860"/>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chemeClr val="tx1"/>
                </a:solidFill>
              </a:rPr>
              <a:t>设用第一种炼法炼钢</a:t>
            </a:r>
            <a:r>
              <a:rPr lang="en-US" altLang="zh-CN" sz="2400" b="1" i="1" dirty="0">
                <a:solidFill>
                  <a:schemeClr val="tx1"/>
                </a:solidFill>
              </a:rPr>
              <a:t>x</a:t>
            </a:r>
            <a:r>
              <a:rPr lang="en-US" altLang="zh-CN" sz="2400" b="1" baseline="-25000" dirty="0">
                <a:solidFill>
                  <a:schemeClr val="tx1"/>
                </a:solidFill>
              </a:rPr>
              <a:t>1</a:t>
            </a:r>
            <a:r>
              <a:rPr lang="zh-CN" altLang="en-US" sz="2400" b="1" dirty="0">
                <a:solidFill>
                  <a:schemeClr val="tx1"/>
                </a:solidFill>
              </a:rPr>
              <a:t>炉，第二种炼钢</a:t>
            </a:r>
            <a:r>
              <a:rPr lang="en-US" altLang="zh-CN" sz="2400" b="1" i="1" dirty="0">
                <a:solidFill>
                  <a:schemeClr val="tx1"/>
                </a:solidFill>
              </a:rPr>
              <a:t>x</a:t>
            </a:r>
            <a:r>
              <a:rPr lang="en-US" altLang="zh-CN" sz="2400" b="1" baseline="-25000" dirty="0">
                <a:solidFill>
                  <a:schemeClr val="tx1"/>
                </a:solidFill>
              </a:rPr>
              <a:t>2</a:t>
            </a:r>
            <a:r>
              <a:rPr lang="zh-CN" altLang="en-US" sz="2400" b="1" dirty="0">
                <a:solidFill>
                  <a:schemeClr val="tx1"/>
                </a:solidFill>
              </a:rPr>
              <a:t>炉 </a:t>
            </a:r>
          </a:p>
        </p:txBody>
      </p:sp>
      <mc:AlternateContent xmlns:mc="http://schemas.openxmlformats.org/markup-compatibility/2006" xmlns:a14="http://schemas.microsoft.com/office/drawing/2010/main">
        <mc:Choice Requires="a14">
          <p:sp>
            <p:nvSpPr>
              <p:cNvPr id="10" name="Object 3">
                <a:extLst>
                  <a:ext uri="{FF2B5EF4-FFF2-40B4-BE49-F238E27FC236}">
                    <a16:creationId xmlns:a16="http://schemas.microsoft.com/office/drawing/2014/main" id="{3062788C-B673-4E4D-B714-79099FD7059E}"/>
                  </a:ext>
                </a:extLst>
              </p:cNvPr>
              <p:cNvSpPr txBox="1"/>
              <p:nvPr/>
            </p:nvSpPr>
            <p:spPr bwMode="auto">
              <a:xfrm>
                <a:off x="1979612" y="1930400"/>
                <a:ext cx="4104555" cy="77852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m:t>
                          </m:r>
                          <m:r>
                            <m:rPr>
                              <m:sty m:val="p"/>
                            </m:rPr>
                            <a:rPr lang="en-US" altLang="zh-CN" b="0" i="0" smtClean="0">
                              <a:solidFill>
                                <a:srgbClr val="000000"/>
                              </a:solidFill>
                              <a:latin typeface="Cambria Math" panose="02040503050406030204" pitchFamily="18" charset="0"/>
                            </a:rPr>
                            <m:t>i</m:t>
                          </m:r>
                          <m:r>
                            <a:rPr lang="en-US" altLang="zh-CN" b="0" i="1" smtClean="0">
                              <a:solidFill>
                                <a:srgbClr val="000000"/>
                              </a:solidFill>
                              <a:latin typeface="Cambria Math" panose="02040503050406030204" pitchFamily="18" charset="0"/>
                            </a:rPr>
                            <m:t>𝑛</m:t>
                          </m:r>
                        </m:fName>
                        <m:e>
                          <m:r>
                            <a:rPr lang="zh-CN" altLang="en-US" i="1">
                              <a:solidFill>
                                <a:srgbClr val="000000"/>
                              </a:solidFill>
                              <a:latin typeface="Cambria Math" panose="02040503050406030204" pitchFamily="18" charset="0"/>
                            </a:rPr>
                            <m:t> </m:t>
                          </m:r>
                        </m:e>
                      </m:func>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𝑚𝑥</m:t>
                      </m:r>
                      <m:r>
                        <a:rPr lang="en-US" altLang="zh-CN" b="0" i="1" smtClean="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𝑛𝑥</m:t>
                      </m:r>
                      <m:r>
                        <a:rPr lang="en-US" altLang="zh-CN" b="0" i="1" smtClean="0">
                          <a:solidFill>
                            <a:srgbClr val="000000"/>
                          </a:solidFill>
                          <a:latin typeface="Cambria Math" panose="02040503050406030204" pitchFamily="18" charset="0"/>
                        </a:rPr>
                        <m:t>2)</m:t>
                      </m:r>
                    </m:oMath>
                  </m:oMathPara>
                </a14:m>
                <a:endParaRPr lang="zh-CN" altLang="en-US" dirty="0"/>
              </a:p>
            </p:txBody>
          </p:sp>
        </mc:Choice>
        <mc:Fallback xmlns="">
          <p:sp>
            <p:nvSpPr>
              <p:cNvPr id="10" name="Object 3">
                <a:extLst>
                  <a:ext uri="{FF2B5EF4-FFF2-40B4-BE49-F238E27FC236}">
                    <a16:creationId xmlns:a16="http://schemas.microsoft.com/office/drawing/2014/main" id="{3062788C-B673-4E4D-B714-79099FD7059E}"/>
                  </a:ext>
                </a:extLst>
              </p:cNvPr>
              <p:cNvSpPr txBox="1">
                <a:spLocks noRot="1" noChangeAspect="1" noMove="1" noResize="1" noEditPoints="1" noAdjustHandles="1" noChangeArrowheads="1" noChangeShapeType="1" noTextEdit="1"/>
              </p:cNvSpPr>
              <p:nvPr/>
            </p:nvSpPr>
            <p:spPr bwMode="auto">
              <a:xfrm>
                <a:off x="1979612" y="1930400"/>
                <a:ext cx="4104555" cy="778520"/>
              </a:xfrm>
              <a:prstGeom prst="rect">
                <a:avLst/>
              </a:prstGeom>
              <a:blipFill>
                <a:blip r:embed="rId4"/>
                <a:stretch>
                  <a:fillRect t="-1575"/>
                </a:stretch>
              </a:blipFill>
            </p:spPr>
            <p:txBody>
              <a:bodyPr/>
              <a:lstStyle/>
              <a:p>
                <a:r>
                  <a:rPr lang="zh-CN" altLang="en-US">
                    <a:noFill/>
                  </a:rPr>
                  <a:t> </a:t>
                </a:r>
              </a:p>
            </p:txBody>
          </p:sp>
        </mc:Fallback>
      </mc:AlternateContent>
      <p:graphicFrame>
        <p:nvGraphicFramePr>
          <p:cNvPr id="11" name="Object 4">
            <a:extLst>
              <a:ext uri="{FF2B5EF4-FFF2-40B4-BE49-F238E27FC236}">
                <a16:creationId xmlns:a16="http://schemas.microsoft.com/office/drawing/2014/main" id="{CCB6D85B-1E69-4F33-BA09-23A74DC77200}"/>
              </a:ext>
            </a:extLst>
          </p:cNvPr>
          <p:cNvGraphicFramePr>
            <a:graphicFrameLocks noChangeAspect="1"/>
          </p:cNvGraphicFramePr>
          <p:nvPr>
            <p:extLst>
              <p:ext uri="{D42A27DB-BD31-4B8C-83A1-F6EECF244321}">
                <p14:modId xmlns:p14="http://schemas.microsoft.com/office/powerpoint/2010/main" val="3008126081"/>
              </p:ext>
            </p:extLst>
          </p:nvPr>
        </p:nvGraphicFramePr>
        <p:xfrm>
          <a:off x="2194991" y="2708920"/>
          <a:ext cx="3313113" cy="2439988"/>
        </p:xfrm>
        <a:graphic>
          <a:graphicData uri="http://schemas.openxmlformats.org/presentationml/2006/ole">
            <mc:AlternateContent xmlns:mc="http://schemas.openxmlformats.org/markup-compatibility/2006">
              <mc:Choice xmlns:v="urn:schemas-microsoft-com:vml" Requires="v">
                <p:oleObj name="公式" r:id="rId5" imgW="1269720" imgH="939600" progId="Equation.3">
                  <p:embed/>
                </p:oleObj>
              </mc:Choice>
              <mc:Fallback>
                <p:oleObj name="公式" r:id="rId5" imgW="1269720" imgH="939600" progId="Equation.3">
                  <p:embed/>
                  <p:pic>
                    <p:nvPicPr>
                      <p:cNvPr id="156676" name="Object 4">
                        <a:extLst>
                          <a:ext uri="{FF2B5EF4-FFF2-40B4-BE49-F238E27FC236}">
                            <a16:creationId xmlns:a16="http://schemas.microsoft.com/office/drawing/2014/main" id="{10D8DC4A-547F-472A-9FF0-D2E615DF32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4991" y="2708920"/>
                        <a:ext cx="3313113"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5">
            <a:extLst>
              <a:ext uri="{FF2B5EF4-FFF2-40B4-BE49-F238E27FC236}">
                <a16:creationId xmlns:a16="http://schemas.microsoft.com/office/drawing/2014/main" id="{16D41273-86A5-4189-BCB0-1B198D8CAFE0}"/>
              </a:ext>
            </a:extLst>
          </p:cNvPr>
          <p:cNvSpPr txBox="1">
            <a:spLocks noChangeArrowheads="1"/>
          </p:cNvSpPr>
          <p:nvPr/>
        </p:nvSpPr>
        <p:spPr bwMode="auto">
          <a:xfrm>
            <a:off x="1619672" y="3760320"/>
            <a:ext cx="609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err="1">
                <a:solidFill>
                  <a:schemeClr val="tx1"/>
                </a:solidFill>
                <a:ea typeface="黑体" panose="02010609060101010101" pitchFamily="49" charset="-122"/>
              </a:rPr>
              <a:t>s.t.</a:t>
            </a:r>
            <a:endParaRPr lang="en-US" altLang="zh-CN" dirty="0">
              <a:solidFill>
                <a:schemeClr val="tx1"/>
              </a:solidFill>
              <a:ea typeface="黑体" panose="02010609060101010101" pitchFamily="49" charset="-122"/>
            </a:endParaRPr>
          </a:p>
        </p:txBody>
      </p:sp>
    </p:spTree>
    <p:extLst>
      <p:ext uri="{BB962C8B-B14F-4D97-AF65-F5344CB8AC3E}">
        <p14:creationId xmlns:p14="http://schemas.microsoft.com/office/powerpoint/2010/main" val="4046730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非线性规划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23</a:t>
            </a:fld>
            <a:endParaRPr lang="zh-CN" altLang="en-US" b="1" dirty="0">
              <a:solidFill>
                <a:srgbClr val="FF0000"/>
              </a:solidFill>
            </a:endParaRPr>
          </a:p>
        </p:txBody>
      </p:sp>
      <p:sp>
        <p:nvSpPr>
          <p:cNvPr id="13" name="Text Box 7">
            <a:extLst>
              <a:ext uri="{FF2B5EF4-FFF2-40B4-BE49-F238E27FC236}">
                <a16:creationId xmlns:a16="http://schemas.microsoft.com/office/drawing/2014/main" id="{B9D7FC2A-F20A-422C-9B4D-EB38D1FEABD8}"/>
              </a:ext>
            </a:extLst>
          </p:cNvPr>
          <p:cNvSpPr txBox="1">
            <a:spLocks noChangeArrowheads="1"/>
          </p:cNvSpPr>
          <p:nvPr/>
        </p:nvSpPr>
        <p:spPr bwMode="auto">
          <a:xfrm>
            <a:off x="683568" y="1074737"/>
            <a:ext cx="7772400" cy="4187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20000"/>
              </a:spcBef>
            </a:pPr>
            <a:r>
              <a:rPr lang="zh-CN" altLang="en-US" sz="2800" dirty="0">
                <a:solidFill>
                  <a:schemeClr val="tx1"/>
                </a:solidFill>
                <a:ea typeface="黑体" panose="02010609060101010101" pitchFamily="49" charset="-122"/>
              </a:rPr>
              <a:t>非线性规划问题的一般数学模型：</a:t>
            </a:r>
          </a:p>
          <a:p>
            <a:pPr algn="l">
              <a:lnSpc>
                <a:spcPct val="120000"/>
              </a:lnSpc>
              <a:spcBef>
                <a:spcPct val="20000"/>
              </a:spcBef>
            </a:pPr>
            <a:endParaRPr lang="zh-CN" altLang="en-US" sz="2800" dirty="0">
              <a:solidFill>
                <a:schemeClr val="tx1"/>
              </a:solidFill>
              <a:ea typeface="黑体" panose="02010609060101010101" pitchFamily="49" charset="-122"/>
            </a:endParaRPr>
          </a:p>
          <a:p>
            <a:pPr algn="l">
              <a:lnSpc>
                <a:spcPct val="120000"/>
              </a:lnSpc>
              <a:spcBef>
                <a:spcPct val="20000"/>
              </a:spcBef>
            </a:pPr>
            <a:endParaRPr lang="zh-CN" altLang="en-US" sz="2800" dirty="0">
              <a:solidFill>
                <a:schemeClr val="tx1"/>
              </a:solidFill>
              <a:ea typeface="黑体" panose="02010609060101010101" pitchFamily="49" charset="-122"/>
            </a:endParaRPr>
          </a:p>
          <a:p>
            <a:pPr algn="l">
              <a:lnSpc>
                <a:spcPct val="120000"/>
              </a:lnSpc>
              <a:spcBef>
                <a:spcPct val="20000"/>
              </a:spcBef>
            </a:pPr>
            <a:endParaRPr lang="zh-CN" altLang="en-US" sz="2800" dirty="0">
              <a:solidFill>
                <a:schemeClr val="tx1"/>
              </a:solidFill>
              <a:ea typeface="黑体" panose="02010609060101010101" pitchFamily="49" charset="-122"/>
            </a:endParaRPr>
          </a:p>
          <a:p>
            <a:pPr algn="l">
              <a:lnSpc>
                <a:spcPct val="120000"/>
              </a:lnSpc>
              <a:spcBef>
                <a:spcPct val="20000"/>
              </a:spcBef>
            </a:pPr>
            <a:endParaRPr lang="zh-CN" altLang="en-US" sz="2800" dirty="0">
              <a:solidFill>
                <a:schemeClr val="tx1"/>
              </a:solidFill>
              <a:ea typeface="黑体" panose="02010609060101010101" pitchFamily="49" charset="-122"/>
            </a:endParaRPr>
          </a:p>
          <a:p>
            <a:pPr algn="l">
              <a:lnSpc>
                <a:spcPct val="120000"/>
              </a:lnSpc>
              <a:spcBef>
                <a:spcPct val="20000"/>
              </a:spcBef>
            </a:pPr>
            <a:r>
              <a:rPr lang="zh-CN" altLang="en-US" sz="2800" dirty="0">
                <a:solidFill>
                  <a:schemeClr val="tx1"/>
                </a:solidFill>
                <a:ea typeface="黑体" panose="02010609060101010101" pitchFamily="49" charset="-122"/>
              </a:rPr>
              <a:t>其中，            ，</a:t>
            </a:r>
            <a:r>
              <a:rPr lang="en-US" altLang="zh-CN" sz="2800" i="1" dirty="0">
                <a:solidFill>
                  <a:schemeClr val="tx1"/>
                </a:solidFill>
                <a:ea typeface="黑体" panose="02010609060101010101" pitchFamily="49" charset="-122"/>
              </a:rPr>
              <a:t>f(x)</a:t>
            </a:r>
            <a:r>
              <a:rPr lang="zh-CN" altLang="en-US" sz="2800" dirty="0">
                <a:solidFill>
                  <a:schemeClr val="tx1"/>
                </a:solidFill>
                <a:ea typeface="黑体" panose="02010609060101010101" pitchFamily="49" charset="-122"/>
              </a:rPr>
              <a:t>为目标函数；</a:t>
            </a:r>
            <a:r>
              <a:rPr lang="en-US" altLang="zh-CN" sz="2800" i="1" dirty="0" err="1">
                <a:solidFill>
                  <a:schemeClr val="tx1"/>
                </a:solidFill>
                <a:ea typeface="黑体" panose="02010609060101010101" pitchFamily="49" charset="-122"/>
              </a:rPr>
              <a:t>g</a:t>
            </a:r>
            <a:r>
              <a:rPr lang="en-US" altLang="zh-CN" sz="2800" i="1" baseline="-25000" dirty="0" err="1">
                <a:solidFill>
                  <a:schemeClr val="tx1"/>
                </a:solidFill>
                <a:ea typeface="黑体" panose="02010609060101010101" pitchFamily="49" charset="-122"/>
              </a:rPr>
              <a:t>i</a:t>
            </a:r>
            <a:r>
              <a:rPr lang="en-US" altLang="zh-CN" sz="2800" i="1" dirty="0">
                <a:solidFill>
                  <a:schemeClr val="tx1"/>
                </a:solidFill>
                <a:ea typeface="黑体" panose="02010609060101010101" pitchFamily="49" charset="-122"/>
              </a:rPr>
              <a:t>(x)</a:t>
            </a:r>
            <a:r>
              <a:rPr lang="zh-CN" altLang="en-US" sz="2800" dirty="0">
                <a:solidFill>
                  <a:schemeClr val="tx1"/>
                </a:solidFill>
                <a:ea typeface="黑体" panose="02010609060101010101" pitchFamily="49" charset="-122"/>
              </a:rPr>
              <a:t>，</a:t>
            </a:r>
            <a:r>
              <a:rPr lang="en-US" altLang="zh-CN" sz="2800" i="1" dirty="0" err="1">
                <a:solidFill>
                  <a:schemeClr val="tx1"/>
                </a:solidFill>
                <a:ea typeface="黑体" panose="02010609060101010101" pitchFamily="49" charset="-122"/>
              </a:rPr>
              <a:t>h</a:t>
            </a:r>
            <a:r>
              <a:rPr lang="en-US" altLang="zh-CN" sz="2800" i="1" baseline="-25000" dirty="0" err="1">
                <a:solidFill>
                  <a:schemeClr val="tx1"/>
                </a:solidFill>
                <a:ea typeface="黑体" panose="02010609060101010101" pitchFamily="49" charset="-122"/>
              </a:rPr>
              <a:t>j</a:t>
            </a:r>
            <a:r>
              <a:rPr lang="en-US" altLang="zh-CN" sz="2800" i="1" dirty="0">
                <a:solidFill>
                  <a:schemeClr val="tx1"/>
                </a:solidFill>
                <a:ea typeface="黑体" panose="02010609060101010101" pitchFamily="49" charset="-122"/>
              </a:rPr>
              <a:t>(x)</a:t>
            </a:r>
            <a:r>
              <a:rPr lang="zh-CN" altLang="en-US" sz="2800" dirty="0">
                <a:solidFill>
                  <a:schemeClr val="tx1"/>
                </a:solidFill>
                <a:ea typeface="黑体" panose="02010609060101010101" pitchFamily="49" charset="-122"/>
              </a:rPr>
              <a:t>为约束函数</a:t>
            </a:r>
            <a:r>
              <a:rPr lang="en-US" altLang="zh-CN" sz="2800" dirty="0">
                <a:solidFill>
                  <a:schemeClr val="tx1"/>
                </a:solidFill>
                <a:ea typeface="黑体" panose="02010609060101010101" pitchFamily="49" charset="-122"/>
              </a:rPr>
              <a:t>,</a:t>
            </a:r>
            <a:r>
              <a:rPr lang="zh-CN" altLang="en-US" sz="2800" dirty="0">
                <a:solidFill>
                  <a:schemeClr val="tx1"/>
                </a:solidFill>
                <a:ea typeface="黑体" panose="02010609060101010101" pitchFamily="49" charset="-122"/>
              </a:rPr>
              <a:t>这些函数中至少有一个是</a:t>
            </a:r>
            <a:r>
              <a:rPr lang="zh-CN" altLang="en-US" sz="2800" dirty="0">
                <a:solidFill>
                  <a:srgbClr val="FF0000"/>
                </a:solidFill>
                <a:ea typeface="黑体" panose="02010609060101010101" pitchFamily="49" charset="-122"/>
              </a:rPr>
              <a:t>非线性</a:t>
            </a:r>
            <a:r>
              <a:rPr lang="zh-CN" altLang="en-US" sz="2800" dirty="0">
                <a:solidFill>
                  <a:schemeClr val="tx1"/>
                </a:solidFill>
                <a:ea typeface="黑体" panose="02010609060101010101" pitchFamily="49" charset="-122"/>
              </a:rPr>
              <a:t>函数。</a:t>
            </a:r>
          </a:p>
        </p:txBody>
      </p:sp>
      <p:graphicFrame>
        <p:nvGraphicFramePr>
          <p:cNvPr id="14" name="Object 8">
            <a:extLst>
              <a:ext uri="{FF2B5EF4-FFF2-40B4-BE49-F238E27FC236}">
                <a16:creationId xmlns:a16="http://schemas.microsoft.com/office/drawing/2014/main" id="{2BD17847-21B2-4BC1-89F0-BCC45589EFEF}"/>
              </a:ext>
            </a:extLst>
          </p:cNvPr>
          <p:cNvGraphicFramePr>
            <a:graphicFrameLocks noChangeAspect="1"/>
          </p:cNvGraphicFramePr>
          <p:nvPr>
            <p:extLst>
              <p:ext uri="{D42A27DB-BD31-4B8C-83A1-F6EECF244321}">
                <p14:modId xmlns:p14="http://schemas.microsoft.com/office/powerpoint/2010/main" val="3613059323"/>
              </p:ext>
            </p:extLst>
          </p:nvPr>
        </p:nvGraphicFramePr>
        <p:xfrm>
          <a:off x="2339752" y="1767792"/>
          <a:ext cx="4152900" cy="1646238"/>
        </p:xfrm>
        <a:graphic>
          <a:graphicData uri="http://schemas.openxmlformats.org/presentationml/2006/ole">
            <mc:AlternateContent xmlns:mc="http://schemas.openxmlformats.org/markup-compatibility/2006">
              <mc:Choice xmlns:v="urn:schemas-microsoft-com:vml" Requires="v">
                <p:oleObj name="Equation" r:id="rId3" imgW="1726920" imgH="685800" progId="Equation.DSMT4">
                  <p:embed/>
                </p:oleObj>
              </mc:Choice>
              <mc:Fallback>
                <p:oleObj name="Equation" r:id="rId3" imgW="1726920" imgH="685800" progId="Equation.DSMT4">
                  <p:embed/>
                  <p:pic>
                    <p:nvPicPr>
                      <p:cNvPr id="116744" name="Object 8">
                        <a:extLst>
                          <a:ext uri="{FF2B5EF4-FFF2-40B4-BE49-F238E27FC236}">
                            <a16:creationId xmlns:a16="http://schemas.microsoft.com/office/drawing/2014/main" id="{5AE437E2-8179-45CE-A1E6-0315AC9BE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767792"/>
                        <a:ext cx="415290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9">
            <a:extLst>
              <a:ext uri="{FF2B5EF4-FFF2-40B4-BE49-F238E27FC236}">
                <a16:creationId xmlns:a16="http://schemas.microsoft.com/office/drawing/2014/main" id="{BB0E0117-A382-40C2-BE92-45B9922284EF}"/>
              </a:ext>
            </a:extLst>
          </p:cNvPr>
          <p:cNvGraphicFramePr>
            <a:graphicFrameLocks noChangeAspect="1"/>
          </p:cNvGraphicFramePr>
          <p:nvPr>
            <p:extLst>
              <p:ext uri="{D42A27DB-BD31-4B8C-83A1-F6EECF244321}">
                <p14:modId xmlns:p14="http://schemas.microsoft.com/office/powerpoint/2010/main" val="3004162051"/>
              </p:ext>
            </p:extLst>
          </p:nvPr>
        </p:nvGraphicFramePr>
        <p:xfrm>
          <a:off x="1691680" y="4098584"/>
          <a:ext cx="1147762" cy="500062"/>
        </p:xfrm>
        <a:graphic>
          <a:graphicData uri="http://schemas.openxmlformats.org/presentationml/2006/ole">
            <mc:AlternateContent xmlns:mc="http://schemas.openxmlformats.org/markup-compatibility/2006">
              <mc:Choice xmlns:v="urn:schemas-microsoft-com:vml" Requires="v">
                <p:oleObj r:id="rId5" imgW="520700" imgH="228600" progId="Equation.3">
                  <p:embed/>
                </p:oleObj>
              </mc:Choice>
              <mc:Fallback>
                <p:oleObj r:id="rId5" imgW="520700" imgH="228600" progId="Equation.3">
                  <p:embed/>
                  <p:pic>
                    <p:nvPicPr>
                      <p:cNvPr id="116745" name="Object 9">
                        <a:extLst>
                          <a:ext uri="{FF2B5EF4-FFF2-40B4-BE49-F238E27FC236}">
                            <a16:creationId xmlns:a16="http://schemas.microsoft.com/office/drawing/2014/main" id="{42E853E2-41B8-4E74-9307-9CB683F4C1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4098584"/>
                        <a:ext cx="1147762"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4078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非线性规划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24</a:t>
            </a:fld>
            <a:endParaRPr lang="zh-CN" altLang="en-US" b="1" dirty="0">
              <a:solidFill>
                <a:srgbClr val="FF0000"/>
              </a:solidFill>
            </a:endParaRPr>
          </a:p>
        </p:txBody>
      </p:sp>
      <p:sp>
        <p:nvSpPr>
          <p:cNvPr id="9" name="Text Box 3">
            <a:extLst>
              <a:ext uri="{FF2B5EF4-FFF2-40B4-BE49-F238E27FC236}">
                <a16:creationId xmlns:a16="http://schemas.microsoft.com/office/drawing/2014/main" id="{449573FD-9362-47BE-83FE-09A6CD9B8A2A}"/>
              </a:ext>
            </a:extLst>
          </p:cNvPr>
          <p:cNvSpPr txBox="1">
            <a:spLocks noChangeArrowheads="1"/>
          </p:cNvSpPr>
          <p:nvPr/>
        </p:nvSpPr>
        <p:spPr bwMode="auto">
          <a:xfrm>
            <a:off x="62880" y="1052736"/>
            <a:ext cx="9083675" cy="304698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dirty="0">
                <a:ea typeface="黑体" panose="02010609060101010101" pitchFamily="49" charset="-122"/>
              </a:rPr>
              <a:t>例：</a:t>
            </a:r>
            <a:r>
              <a:rPr lang="zh-CN" altLang="en-US" sz="2400" dirty="0">
                <a:solidFill>
                  <a:schemeClr val="tx1"/>
                </a:solidFill>
                <a:ea typeface="黑体" panose="02010609060101010101" pitchFamily="49" charset="-122"/>
              </a:rPr>
              <a:t>某公司有</a:t>
            </a:r>
            <a:r>
              <a:rPr lang="en-US" altLang="zh-CN" sz="2400" dirty="0">
                <a:solidFill>
                  <a:schemeClr val="tx1"/>
                </a:solidFill>
                <a:ea typeface="黑体" panose="02010609060101010101" pitchFamily="49" charset="-122"/>
              </a:rPr>
              <a:t>6</a:t>
            </a:r>
            <a:r>
              <a:rPr lang="zh-CN" altLang="en-US" sz="2400" dirty="0">
                <a:solidFill>
                  <a:schemeClr val="tx1"/>
                </a:solidFill>
                <a:ea typeface="黑体" panose="02010609060101010101" pitchFamily="49" charset="-122"/>
              </a:rPr>
              <a:t>个建筑工地要开工，每个工地的位置（用平面坐标系</a:t>
            </a:r>
            <a:r>
              <a:rPr lang="en-US" altLang="zh-CN" sz="2400" dirty="0">
                <a:solidFill>
                  <a:schemeClr val="tx1"/>
                </a:solidFill>
                <a:ea typeface="黑体" panose="02010609060101010101" pitchFamily="49" charset="-122"/>
              </a:rPr>
              <a:t>a</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b</a:t>
            </a:r>
            <a:r>
              <a:rPr lang="zh-CN" altLang="en-US" sz="2400" dirty="0">
                <a:solidFill>
                  <a:schemeClr val="tx1"/>
                </a:solidFill>
                <a:ea typeface="黑体" panose="02010609060101010101" pitchFamily="49" charset="-122"/>
              </a:rPr>
              <a:t>表示，距离单位：</a:t>
            </a:r>
            <a:r>
              <a:rPr lang="en-US" altLang="zh-CN" sz="2400" dirty="0">
                <a:solidFill>
                  <a:schemeClr val="tx1"/>
                </a:solidFill>
                <a:ea typeface="黑体" panose="02010609060101010101" pitchFamily="49" charset="-122"/>
              </a:rPr>
              <a:t>km</a:t>
            </a:r>
            <a:r>
              <a:rPr lang="zh-CN" altLang="en-US" sz="2400" dirty="0">
                <a:solidFill>
                  <a:schemeClr val="tx1"/>
                </a:solidFill>
                <a:ea typeface="黑体" panose="02010609060101010101" pitchFamily="49" charset="-122"/>
              </a:rPr>
              <a:t>）及水泥日用量</a:t>
            </a:r>
            <a:r>
              <a:rPr lang="en-US" altLang="zh-CN" sz="2400" dirty="0">
                <a:solidFill>
                  <a:schemeClr val="tx1"/>
                </a:solidFill>
                <a:ea typeface="黑体" panose="02010609060101010101" pitchFamily="49" charset="-122"/>
              </a:rPr>
              <a:t>d(t)</a:t>
            </a:r>
            <a:r>
              <a:rPr lang="zh-CN" altLang="en-US" sz="2400" dirty="0">
                <a:solidFill>
                  <a:schemeClr val="tx1"/>
                </a:solidFill>
                <a:ea typeface="黑体" panose="02010609060101010101" pitchFamily="49" charset="-122"/>
              </a:rPr>
              <a:t>由下表给出．目前有两个临时料场位于</a:t>
            </a:r>
            <a:r>
              <a:rPr lang="en-US" altLang="zh-CN" sz="2400" dirty="0">
                <a:solidFill>
                  <a:schemeClr val="tx1"/>
                </a:solidFill>
                <a:ea typeface="黑体" panose="02010609060101010101" pitchFamily="49" charset="-122"/>
              </a:rPr>
              <a:t>A(5,1)</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B(2,7)</a:t>
            </a:r>
            <a:r>
              <a:rPr lang="zh-CN" altLang="en-US" sz="2400" dirty="0">
                <a:solidFill>
                  <a:schemeClr val="tx1"/>
                </a:solidFill>
                <a:ea typeface="黑体" panose="02010609060101010101" pitchFamily="49" charset="-122"/>
              </a:rPr>
              <a:t>，日储量各有</a:t>
            </a:r>
            <a:r>
              <a:rPr lang="en-US" altLang="zh-CN" sz="2400" dirty="0">
                <a:solidFill>
                  <a:schemeClr val="tx1"/>
                </a:solidFill>
                <a:ea typeface="黑体" panose="02010609060101010101" pitchFamily="49" charset="-122"/>
              </a:rPr>
              <a:t>20t</a:t>
            </a:r>
            <a:r>
              <a:rPr lang="zh-CN" altLang="en-US" sz="2400" dirty="0">
                <a:solidFill>
                  <a:schemeClr val="tx1"/>
                </a:solidFill>
                <a:ea typeface="黑体" panose="02010609060101010101" pitchFamily="49" charset="-122"/>
              </a:rPr>
              <a:t>．假设从料场到工地之间均有直线道路相连．</a:t>
            </a:r>
          </a:p>
          <a:p>
            <a:pPr algn="l">
              <a:spcBef>
                <a:spcPct val="0"/>
              </a:spcBef>
            </a:pPr>
            <a:r>
              <a:rPr lang="zh-CN" altLang="en-US" sz="2400" dirty="0">
                <a:solidFill>
                  <a:schemeClr val="tx1"/>
                </a:solidFill>
                <a:ea typeface="黑体" panose="02010609060101010101" pitchFamily="49" charset="-122"/>
              </a:rPr>
              <a:t>  （</a:t>
            </a:r>
            <a:r>
              <a:rPr lang="en-US" altLang="zh-CN" sz="2400" dirty="0">
                <a:solidFill>
                  <a:schemeClr val="tx1"/>
                </a:solidFill>
                <a:ea typeface="黑体" panose="02010609060101010101" pitchFamily="49" charset="-122"/>
              </a:rPr>
              <a:t>1</a:t>
            </a:r>
            <a:r>
              <a:rPr lang="zh-CN" altLang="en-US" sz="2400" dirty="0">
                <a:solidFill>
                  <a:schemeClr val="tx1"/>
                </a:solidFill>
                <a:ea typeface="黑体" panose="02010609060101010101" pitchFamily="49" charset="-122"/>
              </a:rPr>
              <a:t>）试制定每天的供应计划，即从</a:t>
            </a:r>
            <a:r>
              <a:rPr lang="en-US" altLang="zh-CN" sz="2400" dirty="0">
                <a:solidFill>
                  <a:schemeClr val="tx1"/>
                </a:solidFill>
                <a:ea typeface="黑体" panose="02010609060101010101" pitchFamily="49" charset="-122"/>
              </a:rPr>
              <a:t>A</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B</a:t>
            </a:r>
            <a:r>
              <a:rPr lang="zh-CN" altLang="en-US" sz="2400" dirty="0">
                <a:solidFill>
                  <a:schemeClr val="tx1"/>
                </a:solidFill>
                <a:ea typeface="黑体" panose="02010609060101010101" pitchFamily="49" charset="-122"/>
              </a:rPr>
              <a:t>两料场分别向各工地运送多少水泥，可使总的吨千米数最小．</a:t>
            </a:r>
          </a:p>
          <a:p>
            <a:pPr algn="l">
              <a:spcBef>
                <a:spcPct val="0"/>
              </a:spcBef>
            </a:pPr>
            <a:r>
              <a:rPr lang="zh-CN" altLang="en-US" sz="2400" dirty="0">
                <a:solidFill>
                  <a:schemeClr val="tx1"/>
                </a:solidFill>
                <a:ea typeface="黑体" panose="02010609060101010101" pitchFamily="49" charset="-122"/>
              </a:rPr>
              <a:t> （</a:t>
            </a:r>
            <a:r>
              <a:rPr lang="en-US" altLang="zh-CN" sz="2400" dirty="0">
                <a:solidFill>
                  <a:schemeClr val="tx1"/>
                </a:solidFill>
                <a:ea typeface="黑体" panose="02010609060101010101" pitchFamily="49" charset="-122"/>
              </a:rPr>
              <a:t>2</a:t>
            </a:r>
            <a:r>
              <a:rPr lang="zh-CN" altLang="en-US" sz="2400" dirty="0">
                <a:solidFill>
                  <a:schemeClr val="tx1"/>
                </a:solidFill>
                <a:ea typeface="黑体" panose="02010609060101010101" pitchFamily="49" charset="-122"/>
              </a:rPr>
              <a:t>）为了进一步减少吨千米数，打算舍弃两个临时料场，改建两个新的，日储量各为</a:t>
            </a:r>
            <a:r>
              <a:rPr lang="en-US" altLang="zh-CN" sz="2400" dirty="0">
                <a:solidFill>
                  <a:schemeClr val="tx1"/>
                </a:solidFill>
                <a:ea typeface="黑体" panose="02010609060101010101" pitchFamily="49" charset="-122"/>
              </a:rPr>
              <a:t>20t</a:t>
            </a:r>
            <a:r>
              <a:rPr lang="zh-CN" altLang="en-US" sz="2400" dirty="0">
                <a:solidFill>
                  <a:schemeClr val="tx1"/>
                </a:solidFill>
                <a:ea typeface="黑体" panose="02010609060101010101" pitchFamily="49" charset="-122"/>
              </a:rPr>
              <a:t>，问应建在何处，节省的吨千米数有多大？</a:t>
            </a:r>
          </a:p>
        </p:txBody>
      </p:sp>
      <p:graphicFrame>
        <p:nvGraphicFramePr>
          <p:cNvPr id="10" name="Object 4">
            <a:extLst>
              <a:ext uri="{FF2B5EF4-FFF2-40B4-BE49-F238E27FC236}">
                <a16:creationId xmlns:a16="http://schemas.microsoft.com/office/drawing/2014/main" id="{45778809-06F7-4FAF-B67A-CA5044FA477A}"/>
              </a:ext>
            </a:extLst>
          </p:cNvPr>
          <p:cNvGraphicFramePr>
            <a:graphicFrameLocks noChangeAspect="1"/>
          </p:cNvGraphicFramePr>
          <p:nvPr>
            <p:extLst>
              <p:ext uri="{D42A27DB-BD31-4B8C-83A1-F6EECF244321}">
                <p14:modId xmlns:p14="http://schemas.microsoft.com/office/powerpoint/2010/main" val="905956337"/>
              </p:ext>
            </p:extLst>
          </p:nvPr>
        </p:nvGraphicFramePr>
        <p:xfrm>
          <a:off x="107504" y="4321175"/>
          <a:ext cx="8856984" cy="1765300"/>
        </p:xfrm>
        <a:graphic>
          <a:graphicData uri="http://schemas.openxmlformats.org/presentationml/2006/ole">
            <mc:AlternateContent xmlns:mc="http://schemas.openxmlformats.org/markup-compatibility/2006">
              <mc:Choice xmlns:v="urn:schemas-microsoft-com:vml" Requires="v">
                <p:oleObj name="文档" r:id="rId3" imgW="5637375" imgH="988694" progId="Word.Document.8">
                  <p:embed/>
                </p:oleObj>
              </mc:Choice>
              <mc:Fallback>
                <p:oleObj name="文档" r:id="rId3" imgW="5637375" imgH="988694" progId="Word.Document.8">
                  <p:embed/>
                  <p:pic>
                    <p:nvPicPr>
                      <p:cNvPr id="148484" name="Object 4">
                        <a:extLst>
                          <a:ext uri="{FF2B5EF4-FFF2-40B4-BE49-F238E27FC236}">
                            <a16:creationId xmlns:a16="http://schemas.microsoft.com/office/drawing/2014/main" id="{FC1CD9E7-04F9-4D02-B5CD-4BDCCF07E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4321175"/>
                        <a:ext cx="8856984" cy="17653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77062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非线性规划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25</a:t>
            </a:fld>
            <a:endParaRPr lang="zh-CN" altLang="en-US" b="1" dirty="0">
              <a:solidFill>
                <a:srgbClr val="FF0000"/>
              </a:solidFill>
            </a:endParaRPr>
          </a:p>
        </p:txBody>
      </p:sp>
      <p:sp>
        <p:nvSpPr>
          <p:cNvPr id="11" name="Text Box 2">
            <a:extLst>
              <a:ext uri="{FF2B5EF4-FFF2-40B4-BE49-F238E27FC236}">
                <a16:creationId xmlns:a16="http://schemas.microsoft.com/office/drawing/2014/main" id="{C2453E80-6A33-4C50-8406-B438E398C16D}"/>
              </a:ext>
            </a:extLst>
          </p:cNvPr>
          <p:cNvSpPr txBox="1">
            <a:spLocks noChangeArrowheads="1"/>
          </p:cNvSpPr>
          <p:nvPr/>
        </p:nvSpPr>
        <p:spPr bwMode="auto">
          <a:xfrm>
            <a:off x="220062" y="973123"/>
            <a:ext cx="1620957"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建立模型</a:t>
            </a:r>
          </a:p>
        </p:txBody>
      </p:sp>
      <p:sp>
        <p:nvSpPr>
          <p:cNvPr id="12" name="Text Box 3">
            <a:extLst>
              <a:ext uri="{FF2B5EF4-FFF2-40B4-BE49-F238E27FC236}">
                <a16:creationId xmlns:a16="http://schemas.microsoft.com/office/drawing/2014/main" id="{058E34C4-A4D4-44E0-9D2E-563C5D5B8C12}"/>
              </a:ext>
            </a:extLst>
          </p:cNvPr>
          <p:cNvSpPr txBox="1">
            <a:spLocks noChangeArrowheads="1"/>
          </p:cNvSpPr>
          <p:nvPr/>
        </p:nvSpPr>
        <p:spPr bwMode="auto">
          <a:xfrm>
            <a:off x="242965" y="1532785"/>
            <a:ext cx="8384386" cy="83099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dirty="0">
                <a:solidFill>
                  <a:schemeClr val="tx1"/>
                </a:solidFill>
                <a:ea typeface="黑体" panose="02010609060101010101" pitchFamily="49" charset="-122"/>
              </a:rPr>
              <a:t>记工地的位置为</a:t>
            </a:r>
            <a:r>
              <a:rPr lang="en-US" altLang="zh-CN" sz="2400" dirty="0">
                <a:solidFill>
                  <a:schemeClr val="tx1"/>
                </a:solidFill>
                <a:ea typeface="黑体" panose="02010609060101010101" pitchFamily="49" charset="-122"/>
              </a:rPr>
              <a:t>(a</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b</a:t>
            </a:r>
            <a:r>
              <a:rPr lang="en-US" altLang="zh-CN" sz="2400" baseline="-25000" dirty="0">
                <a:solidFill>
                  <a:schemeClr val="tx1"/>
                </a:solidFill>
                <a:ea typeface="黑体" panose="02010609060101010101" pitchFamily="49" charset="-122"/>
              </a:rPr>
              <a:t>i</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，水泥日用量为</a:t>
            </a:r>
            <a:r>
              <a:rPr lang="en-US" altLang="zh-CN" sz="2400" dirty="0">
                <a:solidFill>
                  <a:schemeClr val="tx1"/>
                </a:solidFill>
                <a:ea typeface="黑体" panose="02010609060101010101" pitchFamily="49" charset="-122"/>
              </a:rPr>
              <a:t>d</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i</a:t>
            </a:r>
            <a:r>
              <a:rPr lang="en-US" altLang="zh-CN" sz="2400" dirty="0">
                <a:solidFill>
                  <a:schemeClr val="tx1"/>
                </a:solidFill>
                <a:ea typeface="黑体" panose="02010609060101010101" pitchFamily="49" charset="-122"/>
              </a:rPr>
              <a:t>=1,…,6;</a:t>
            </a:r>
            <a:r>
              <a:rPr lang="zh-CN" altLang="en-US" sz="2400" dirty="0">
                <a:solidFill>
                  <a:schemeClr val="tx1"/>
                </a:solidFill>
                <a:ea typeface="黑体" panose="02010609060101010101" pitchFamily="49" charset="-122"/>
              </a:rPr>
              <a:t>料场位置为</a:t>
            </a:r>
            <a:r>
              <a:rPr lang="en-US" altLang="zh-CN"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y</a:t>
            </a:r>
            <a:r>
              <a:rPr lang="en-US" altLang="zh-CN" sz="2400" baseline="-25000" dirty="0" err="1">
                <a:solidFill>
                  <a:schemeClr val="tx1"/>
                </a:solidFill>
                <a:ea typeface="黑体" panose="02010609060101010101" pitchFamily="49" charset="-122"/>
              </a:rPr>
              <a:t>j</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，日储量为</a:t>
            </a:r>
            <a:r>
              <a:rPr lang="en-US" altLang="zh-CN" sz="2400" dirty="0" err="1">
                <a:solidFill>
                  <a:schemeClr val="tx1"/>
                </a:solidFill>
                <a:ea typeface="黑体" panose="02010609060101010101" pitchFamily="49" charset="-122"/>
              </a:rPr>
              <a:t>e</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j=1,2</a:t>
            </a:r>
            <a:r>
              <a:rPr lang="zh-CN" altLang="en-US" sz="2400" dirty="0">
                <a:solidFill>
                  <a:schemeClr val="tx1"/>
                </a:solidFill>
                <a:ea typeface="黑体" panose="02010609060101010101" pitchFamily="49" charset="-122"/>
              </a:rPr>
              <a:t>；料场</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向工地</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的运送量为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endParaRPr lang="zh-CN" altLang="en-US" sz="2400" dirty="0">
              <a:solidFill>
                <a:srgbClr val="FF0000"/>
              </a:solidFill>
              <a:ea typeface="黑体" panose="02010609060101010101" pitchFamily="49" charset="-122"/>
            </a:endParaRPr>
          </a:p>
        </p:txBody>
      </p:sp>
      <p:graphicFrame>
        <p:nvGraphicFramePr>
          <p:cNvPr id="13" name="Object 4">
            <a:extLst>
              <a:ext uri="{FF2B5EF4-FFF2-40B4-BE49-F238E27FC236}">
                <a16:creationId xmlns:a16="http://schemas.microsoft.com/office/drawing/2014/main" id="{797257FD-E0BE-439A-A7EB-6151319EA53F}"/>
              </a:ext>
            </a:extLst>
          </p:cNvPr>
          <p:cNvGraphicFramePr>
            <a:graphicFrameLocks noChangeAspect="1"/>
          </p:cNvGraphicFramePr>
          <p:nvPr>
            <p:extLst>
              <p:ext uri="{D42A27DB-BD31-4B8C-83A1-F6EECF244321}">
                <p14:modId xmlns:p14="http://schemas.microsoft.com/office/powerpoint/2010/main" val="54368174"/>
              </p:ext>
            </p:extLst>
          </p:nvPr>
        </p:nvGraphicFramePr>
        <p:xfrm>
          <a:off x="119063" y="2595563"/>
          <a:ext cx="8604250" cy="2095500"/>
        </p:xfrm>
        <a:graphic>
          <a:graphicData uri="http://schemas.openxmlformats.org/presentationml/2006/ole">
            <mc:AlternateContent xmlns:mc="http://schemas.openxmlformats.org/markup-compatibility/2006">
              <mc:Choice xmlns:v="urn:schemas-microsoft-com:vml" Requires="v">
                <p:oleObj name="Document" r:id="rId3" imgW="5458995" imgH="1331141" progId="Word.Document.8">
                  <p:embed/>
                </p:oleObj>
              </mc:Choice>
              <mc:Fallback>
                <p:oleObj name="Document" r:id="rId3" imgW="5458995" imgH="1331141" progId="Word.Document.8">
                  <p:embed/>
                  <p:pic>
                    <p:nvPicPr>
                      <p:cNvPr id="149508" name="Object 4">
                        <a:extLst>
                          <a:ext uri="{FF2B5EF4-FFF2-40B4-BE49-F238E27FC236}">
                            <a16:creationId xmlns:a16="http://schemas.microsoft.com/office/drawing/2014/main" id="{AFFFE09C-E251-4647-B22C-3232DA8665C8}"/>
                          </a:ext>
                        </a:extLst>
                      </p:cNvPr>
                      <p:cNvPicPr>
                        <a:picLocks noChangeAspect="1" noChangeArrowheads="1"/>
                      </p:cNvPicPr>
                      <p:nvPr/>
                    </p:nvPicPr>
                    <p:blipFill>
                      <a:blip r:embed="rId4"/>
                      <a:srcRect/>
                      <a:stretch>
                        <a:fillRect/>
                      </a:stretch>
                    </p:blipFill>
                    <p:spPr bwMode="auto">
                      <a:xfrm>
                        <a:off x="119063" y="2595563"/>
                        <a:ext cx="8604250" cy="2095500"/>
                      </a:xfrm>
                      <a:prstGeom prst="rect">
                        <a:avLst/>
                      </a:prstGeom>
                      <a:noFill/>
                      <a:ln>
                        <a:noFill/>
                      </a:ln>
                      <a:effectLst/>
                    </p:spPr>
                  </p:pic>
                </p:oleObj>
              </mc:Fallback>
            </mc:AlternateContent>
          </a:graphicData>
        </a:graphic>
      </p:graphicFrame>
      <p:sp>
        <p:nvSpPr>
          <p:cNvPr id="14" name="Text Box 5">
            <a:extLst>
              <a:ext uri="{FF2B5EF4-FFF2-40B4-BE49-F238E27FC236}">
                <a16:creationId xmlns:a16="http://schemas.microsoft.com/office/drawing/2014/main" id="{BF19234B-50B9-4866-BE73-E446AB09BF19}"/>
              </a:ext>
            </a:extLst>
          </p:cNvPr>
          <p:cNvSpPr txBox="1">
            <a:spLocks noChangeArrowheads="1"/>
          </p:cNvSpPr>
          <p:nvPr/>
        </p:nvSpPr>
        <p:spPr bwMode="auto">
          <a:xfrm>
            <a:off x="356587" y="5084415"/>
            <a:ext cx="8778875" cy="8223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dirty="0">
                <a:solidFill>
                  <a:schemeClr val="tx1"/>
                </a:solidFill>
                <a:ea typeface="黑体" panose="02010609060101010101" pitchFamily="49" charset="-122"/>
              </a:rPr>
              <a:t>当用临时料场时决策变量为：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p>
          <a:p>
            <a:pPr algn="l">
              <a:spcBef>
                <a:spcPct val="0"/>
              </a:spcBef>
            </a:pPr>
            <a:r>
              <a:rPr lang="zh-CN" altLang="en-US" sz="2400" dirty="0">
                <a:solidFill>
                  <a:schemeClr val="tx1"/>
                </a:solidFill>
                <a:ea typeface="黑体" panose="02010609060101010101" pitchFamily="49" charset="-122"/>
              </a:rPr>
              <a:t>当不用临时料场时决策变量为：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y</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endParaRPr lang="zh-CN" altLang="en-US" sz="2400" dirty="0">
              <a:solidFill>
                <a:srgbClr val="FF0000"/>
              </a:solidFill>
              <a:ea typeface="黑体" panose="02010609060101010101" pitchFamily="49" charset="-122"/>
            </a:endParaRPr>
          </a:p>
        </p:txBody>
      </p:sp>
    </p:spTree>
    <p:extLst>
      <p:ext uri="{BB962C8B-B14F-4D97-AF65-F5344CB8AC3E}">
        <p14:creationId xmlns:p14="http://schemas.microsoft.com/office/powerpoint/2010/main" val="176787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heckerboard(across)">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401744"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非线性规划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26</a:t>
            </a:fld>
            <a:endParaRPr lang="zh-CN" altLang="en-US" b="1" dirty="0">
              <a:solidFill>
                <a:srgbClr val="FF0000"/>
              </a:solidFill>
            </a:endParaRPr>
          </a:p>
        </p:txBody>
      </p:sp>
      <p:sp>
        <p:nvSpPr>
          <p:cNvPr id="11" name="Text Box 2">
            <a:extLst>
              <a:ext uri="{FF2B5EF4-FFF2-40B4-BE49-F238E27FC236}">
                <a16:creationId xmlns:a16="http://schemas.microsoft.com/office/drawing/2014/main" id="{C2453E80-6A33-4C50-8406-B438E398C16D}"/>
              </a:ext>
            </a:extLst>
          </p:cNvPr>
          <p:cNvSpPr txBox="1">
            <a:spLocks noChangeArrowheads="1"/>
          </p:cNvSpPr>
          <p:nvPr/>
        </p:nvSpPr>
        <p:spPr bwMode="auto">
          <a:xfrm>
            <a:off x="220062" y="973123"/>
            <a:ext cx="1620957"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建立模型</a:t>
            </a:r>
          </a:p>
        </p:txBody>
      </p:sp>
      <p:sp>
        <p:nvSpPr>
          <p:cNvPr id="12" name="Text Box 3">
            <a:extLst>
              <a:ext uri="{FF2B5EF4-FFF2-40B4-BE49-F238E27FC236}">
                <a16:creationId xmlns:a16="http://schemas.microsoft.com/office/drawing/2014/main" id="{058E34C4-A4D4-44E0-9D2E-563C5D5B8C12}"/>
              </a:ext>
            </a:extLst>
          </p:cNvPr>
          <p:cNvSpPr txBox="1">
            <a:spLocks noChangeArrowheads="1"/>
          </p:cNvSpPr>
          <p:nvPr/>
        </p:nvSpPr>
        <p:spPr bwMode="auto">
          <a:xfrm>
            <a:off x="242965" y="1532785"/>
            <a:ext cx="8384386" cy="83099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dirty="0">
                <a:solidFill>
                  <a:schemeClr val="tx1"/>
                </a:solidFill>
                <a:ea typeface="黑体" panose="02010609060101010101" pitchFamily="49" charset="-122"/>
              </a:rPr>
              <a:t>记工地的位置为</a:t>
            </a:r>
            <a:r>
              <a:rPr lang="en-US" altLang="zh-CN" sz="2400" dirty="0">
                <a:solidFill>
                  <a:schemeClr val="tx1"/>
                </a:solidFill>
                <a:ea typeface="黑体" panose="02010609060101010101" pitchFamily="49" charset="-122"/>
              </a:rPr>
              <a:t>(a</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b</a:t>
            </a:r>
            <a:r>
              <a:rPr lang="en-US" altLang="zh-CN" sz="2400" baseline="-25000" dirty="0">
                <a:solidFill>
                  <a:schemeClr val="tx1"/>
                </a:solidFill>
                <a:ea typeface="黑体" panose="02010609060101010101" pitchFamily="49" charset="-122"/>
              </a:rPr>
              <a:t>i</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，水泥日用量为</a:t>
            </a:r>
            <a:r>
              <a:rPr lang="en-US" altLang="zh-CN" sz="2400" dirty="0">
                <a:solidFill>
                  <a:schemeClr val="tx1"/>
                </a:solidFill>
                <a:ea typeface="黑体" panose="02010609060101010101" pitchFamily="49" charset="-122"/>
              </a:rPr>
              <a:t>d</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i</a:t>
            </a:r>
            <a:r>
              <a:rPr lang="en-US" altLang="zh-CN" sz="2400" dirty="0">
                <a:solidFill>
                  <a:schemeClr val="tx1"/>
                </a:solidFill>
                <a:ea typeface="黑体" panose="02010609060101010101" pitchFamily="49" charset="-122"/>
              </a:rPr>
              <a:t>=1,…,6;</a:t>
            </a:r>
            <a:r>
              <a:rPr lang="zh-CN" altLang="en-US" sz="2400" dirty="0">
                <a:solidFill>
                  <a:schemeClr val="tx1"/>
                </a:solidFill>
                <a:ea typeface="黑体" panose="02010609060101010101" pitchFamily="49" charset="-122"/>
              </a:rPr>
              <a:t>料场位置为</a:t>
            </a:r>
            <a:r>
              <a:rPr lang="en-US" altLang="zh-CN"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y</a:t>
            </a:r>
            <a:r>
              <a:rPr lang="en-US" altLang="zh-CN" sz="2400" baseline="-25000" dirty="0" err="1">
                <a:solidFill>
                  <a:schemeClr val="tx1"/>
                </a:solidFill>
                <a:ea typeface="黑体" panose="02010609060101010101" pitchFamily="49" charset="-122"/>
              </a:rPr>
              <a:t>j</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，日储量为</a:t>
            </a:r>
            <a:r>
              <a:rPr lang="en-US" altLang="zh-CN" sz="2400" dirty="0" err="1">
                <a:solidFill>
                  <a:schemeClr val="tx1"/>
                </a:solidFill>
                <a:ea typeface="黑体" panose="02010609060101010101" pitchFamily="49" charset="-122"/>
              </a:rPr>
              <a:t>e</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a:solidFill>
                  <a:schemeClr val="tx1"/>
                </a:solidFill>
                <a:ea typeface="黑体" panose="02010609060101010101" pitchFamily="49" charset="-122"/>
              </a:rPr>
              <a:t>j=1,2</a:t>
            </a:r>
            <a:r>
              <a:rPr lang="zh-CN" altLang="en-US" sz="2400" dirty="0">
                <a:solidFill>
                  <a:schemeClr val="tx1"/>
                </a:solidFill>
                <a:ea typeface="黑体" panose="02010609060101010101" pitchFamily="49" charset="-122"/>
              </a:rPr>
              <a:t>；料场</a:t>
            </a:r>
            <a:r>
              <a:rPr lang="en-US" altLang="zh-CN" sz="2400" dirty="0">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向工地</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的运送量为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endParaRPr lang="zh-CN" altLang="en-US" sz="2400" dirty="0">
              <a:solidFill>
                <a:srgbClr val="FF0000"/>
              </a:solidFill>
              <a:ea typeface="黑体" panose="02010609060101010101" pitchFamily="49" charset="-122"/>
            </a:endParaRPr>
          </a:p>
        </p:txBody>
      </p:sp>
      <p:graphicFrame>
        <p:nvGraphicFramePr>
          <p:cNvPr id="13" name="Object 4">
            <a:extLst>
              <a:ext uri="{FF2B5EF4-FFF2-40B4-BE49-F238E27FC236}">
                <a16:creationId xmlns:a16="http://schemas.microsoft.com/office/drawing/2014/main" id="{797257FD-E0BE-439A-A7EB-6151319EA53F}"/>
              </a:ext>
            </a:extLst>
          </p:cNvPr>
          <p:cNvGraphicFramePr>
            <a:graphicFrameLocks noChangeAspect="1"/>
          </p:cNvGraphicFramePr>
          <p:nvPr>
            <p:extLst>
              <p:ext uri="{D42A27DB-BD31-4B8C-83A1-F6EECF244321}">
                <p14:modId xmlns:p14="http://schemas.microsoft.com/office/powerpoint/2010/main" val="3442865784"/>
              </p:ext>
            </p:extLst>
          </p:nvPr>
        </p:nvGraphicFramePr>
        <p:xfrm>
          <a:off x="133033" y="2564904"/>
          <a:ext cx="8604250" cy="2095500"/>
        </p:xfrm>
        <a:graphic>
          <a:graphicData uri="http://schemas.openxmlformats.org/presentationml/2006/ole">
            <mc:AlternateContent xmlns:mc="http://schemas.openxmlformats.org/markup-compatibility/2006">
              <mc:Choice xmlns:v="urn:schemas-microsoft-com:vml" Requires="v">
                <p:oleObj name="Document" r:id="rId3" imgW="5473001" imgH="1332938" progId="Word.Document.8">
                  <p:embed/>
                </p:oleObj>
              </mc:Choice>
              <mc:Fallback>
                <p:oleObj name="Document" r:id="rId3" imgW="5473001" imgH="1332938" progId="Word.Document.8">
                  <p:embed/>
                  <p:pic>
                    <p:nvPicPr>
                      <p:cNvPr id="13" name="Object 4">
                        <a:extLst>
                          <a:ext uri="{FF2B5EF4-FFF2-40B4-BE49-F238E27FC236}">
                            <a16:creationId xmlns:a16="http://schemas.microsoft.com/office/drawing/2014/main" id="{797257FD-E0BE-439A-A7EB-6151319EA53F}"/>
                          </a:ext>
                        </a:extLst>
                      </p:cNvPr>
                      <p:cNvPicPr>
                        <a:picLocks noChangeAspect="1" noChangeArrowheads="1"/>
                      </p:cNvPicPr>
                      <p:nvPr/>
                    </p:nvPicPr>
                    <p:blipFill>
                      <a:blip r:embed="rId4"/>
                      <a:srcRect/>
                      <a:stretch>
                        <a:fillRect/>
                      </a:stretch>
                    </p:blipFill>
                    <p:spPr bwMode="auto">
                      <a:xfrm>
                        <a:off x="133033" y="2564904"/>
                        <a:ext cx="8604250" cy="2095500"/>
                      </a:xfrm>
                      <a:prstGeom prst="rect">
                        <a:avLst/>
                      </a:prstGeom>
                      <a:noFill/>
                      <a:ln>
                        <a:noFill/>
                      </a:ln>
                      <a:effectLst/>
                    </p:spPr>
                  </p:pic>
                </p:oleObj>
              </mc:Fallback>
            </mc:AlternateContent>
          </a:graphicData>
        </a:graphic>
      </p:graphicFrame>
      <p:sp>
        <p:nvSpPr>
          <p:cNvPr id="14" name="Text Box 5">
            <a:extLst>
              <a:ext uri="{FF2B5EF4-FFF2-40B4-BE49-F238E27FC236}">
                <a16:creationId xmlns:a16="http://schemas.microsoft.com/office/drawing/2014/main" id="{BF19234B-50B9-4866-BE73-E446AB09BF19}"/>
              </a:ext>
            </a:extLst>
          </p:cNvPr>
          <p:cNvSpPr txBox="1">
            <a:spLocks noChangeArrowheads="1"/>
          </p:cNvSpPr>
          <p:nvPr/>
        </p:nvSpPr>
        <p:spPr bwMode="auto">
          <a:xfrm>
            <a:off x="356587" y="5084415"/>
            <a:ext cx="8778875" cy="8223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dirty="0">
                <a:solidFill>
                  <a:schemeClr val="tx1"/>
                </a:solidFill>
                <a:ea typeface="黑体" panose="02010609060101010101" pitchFamily="49" charset="-122"/>
              </a:rPr>
              <a:t>当用临时料场时决策变量为：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p>
          <a:p>
            <a:pPr algn="l">
              <a:spcBef>
                <a:spcPct val="0"/>
              </a:spcBef>
            </a:pPr>
            <a:r>
              <a:rPr lang="zh-CN" altLang="en-US" sz="2400" dirty="0">
                <a:solidFill>
                  <a:schemeClr val="tx1"/>
                </a:solidFill>
                <a:ea typeface="黑体" panose="02010609060101010101" pitchFamily="49" charset="-122"/>
              </a:rPr>
              <a:t>当不用临时料场时决策变量为：</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ij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x</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r>
              <a:rPr lang="en-US" altLang="zh-CN" sz="2400" dirty="0" err="1">
                <a:solidFill>
                  <a:schemeClr val="tx1"/>
                </a:solidFill>
                <a:ea typeface="黑体" panose="02010609060101010101" pitchFamily="49" charset="-122"/>
              </a:rPr>
              <a:t>y</a:t>
            </a:r>
            <a:r>
              <a:rPr lang="en-US" altLang="zh-CN" sz="2400" baseline="-25000" dirty="0" err="1">
                <a:solidFill>
                  <a:schemeClr val="tx1"/>
                </a:solidFill>
                <a:ea typeface="黑体" panose="02010609060101010101" pitchFamily="49" charset="-122"/>
              </a:rPr>
              <a:t>j</a:t>
            </a:r>
            <a:r>
              <a:rPr lang="zh-CN" altLang="en-US" sz="2400" dirty="0">
                <a:solidFill>
                  <a:schemeClr val="tx1"/>
                </a:solidFill>
                <a:ea typeface="黑体" panose="02010609060101010101" pitchFamily="49" charset="-122"/>
              </a:rPr>
              <a:t>．</a:t>
            </a:r>
            <a:endParaRPr lang="zh-CN" altLang="en-US" sz="2400" dirty="0">
              <a:solidFill>
                <a:srgbClr val="FF0000"/>
              </a:solidFill>
              <a:ea typeface="黑体" panose="02010609060101010101" pitchFamily="49" charset="-122"/>
            </a:endParaRPr>
          </a:p>
        </p:txBody>
      </p:sp>
    </p:spTree>
    <p:extLst>
      <p:ext uri="{BB962C8B-B14F-4D97-AF65-F5344CB8AC3E}">
        <p14:creationId xmlns:p14="http://schemas.microsoft.com/office/powerpoint/2010/main" val="215075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heckerboard(across)">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多目标优化</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27</a:t>
            </a:fld>
            <a:endParaRPr lang="zh-CN" altLang="en-US" b="1" dirty="0">
              <a:solidFill>
                <a:srgbClr val="FF0000"/>
              </a:solidFill>
            </a:endParaRPr>
          </a:p>
        </p:txBody>
      </p:sp>
      <p:sp>
        <p:nvSpPr>
          <p:cNvPr id="10" name="Text Box 7">
            <a:extLst>
              <a:ext uri="{FF2B5EF4-FFF2-40B4-BE49-F238E27FC236}">
                <a16:creationId xmlns:a16="http://schemas.microsoft.com/office/drawing/2014/main" id="{92EF68CB-CEBA-4B42-84C7-801E81067F6B}"/>
              </a:ext>
            </a:extLst>
          </p:cNvPr>
          <p:cNvSpPr txBox="1">
            <a:spLocks noChangeArrowheads="1"/>
          </p:cNvSpPr>
          <p:nvPr/>
        </p:nvSpPr>
        <p:spPr bwMode="auto">
          <a:xfrm>
            <a:off x="467544" y="1124744"/>
            <a:ext cx="79248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2400" dirty="0">
                <a:solidFill>
                  <a:schemeClr val="tx1"/>
                </a:solidFill>
                <a:ea typeface="黑体" panose="02010609060101010101" pitchFamily="49" charset="-122"/>
              </a:rPr>
              <a:t>引例</a:t>
            </a:r>
            <a:r>
              <a:rPr lang="en-US" altLang="zh-CN" sz="2400" dirty="0">
                <a:solidFill>
                  <a:schemeClr val="tx1"/>
                </a:solidFill>
                <a:ea typeface="黑体" panose="02010609060101010101" pitchFamily="49" charset="-122"/>
              </a:rPr>
              <a:t>1.</a:t>
            </a:r>
            <a:r>
              <a:rPr lang="zh-CN" altLang="en-US" sz="2400" dirty="0">
                <a:solidFill>
                  <a:schemeClr val="tx1"/>
                </a:solidFill>
                <a:ea typeface="黑体" panose="02010609060101010101" pitchFamily="49" charset="-122"/>
              </a:rPr>
              <a:t>投资问题</a:t>
            </a:r>
          </a:p>
          <a:p>
            <a:pPr algn="l">
              <a:lnSpc>
                <a:spcPct val="130000"/>
              </a:lnSpc>
            </a:pPr>
            <a:r>
              <a:rPr lang="zh-CN" altLang="en-US" sz="2400" dirty="0">
                <a:solidFill>
                  <a:schemeClr val="tx1"/>
                </a:solidFill>
                <a:ea typeface="黑体" panose="02010609060101010101" pitchFamily="49" charset="-122"/>
              </a:rPr>
              <a:t>        某公司在一段时间内有</a:t>
            </a:r>
            <a:r>
              <a:rPr lang="en-US" altLang="zh-CN" sz="2400" dirty="0">
                <a:solidFill>
                  <a:schemeClr val="tx1"/>
                </a:solidFill>
                <a:ea typeface="黑体" panose="02010609060101010101" pitchFamily="49" charset="-122"/>
              </a:rPr>
              <a:t>a(</a:t>
            </a:r>
            <a:r>
              <a:rPr lang="zh-CN" altLang="en-US" sz="2400" dirty="0">
                <a:solidFill>
                  <a:schemeClr val="tx1"/>
                </a:solidFill>
                <a:ea typeface="黑体" panose="02010609060101010101" pitchFamily="49" charset="-122"/>
              </a:rPr>
              <a:t>亿元</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的资金可用于建厂投资。若可供选择的项目记为</a:t>
            </a:r>
            <a:r>
              <a:rPr lang="en-US" altLang="zh-CN" sz="2400" dirty="0">
                <a:solidFill>
                  <a:schemeClr val="tx1"/>
                </a:solidFill>
                <a:ea typeface="黑体" panose="02010609060101010101" pitchFamily="49" charset="-122"/>
              </a:rPr>
              <a:t>1,2,…,m</a:t>
            </a:r>
            <a:r>
              <a:rPr lang="zh-CN" altLang="en-US" sz="2400" dirty="0">
                <a:solidFill>
                  <a:schemeClr val="tx1"/>
                </a:solidFill>
                <a:ea typeface="黑体" panose="02010609060101010101" pitchFamily="49" charset="-122"/>
              </a:rPr>
              <a:t>。而且一旦对第</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个项目投资就用去</a:t>
            </a:r>
            <a:r>
              <a:rPr lang="en-US" altLang="zh-CN" sz="2400" dirty="0">
                <a:solidFill>
                  <a:schemeClr val="tx1"/>
                </a:solidFill>
                <a:ea typeface="黑体" panose="02010609060101010101" pitchFamily="49" charset="-122"/>
              </a:rPr>
              <a:t>a</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亿元；而这段时间内可得收益</a:t>
            </a:r>
            <a:r>
              <a:rPr lang="en-US" altLang="zh-CN" sz="2400" dirty="0">
                <a:solidFill>
                  <a:schemeClr val="tx1"/>
                </a:solidFill>
                <a:ea typeface="黑体" panose="02010609060101010101" pitchFamily="49" charset="-122"/>
              </a:rPr>
              <a:t>c</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亿元。问如何确定最佳的投资方案？</a:t>
            </a:r>
          </a:p>
        </p:txBody>
      </p:sp>
      <p:graphicFrame>
        <p:nvGraphicFramePr>
          <p:cNvPr id="15" name="Object 8">
            <a:extLst>
              <a:ext uri="{FF2B5EF4-FFF2-40B4-BE49-F238E27FC236}">
                <a16:creationId xmlns:a16="http://schemas.microsoft.com/office/drawing/2014/main" id="{B6CA6C72-B238-4BDC-B7F7-C95B3DD04028}"/>
              </a:ext>
            </a:extLst>
          </p:cNvPr>
          <p:cNvGraphicFramePr>
            <a:graphicFrameLocks noChangeAspect="1"/>
          </p:cNvGraphicFramePr>
          <p:nvPr>
            <p:extLst>
              <p:ext uri="{D42A27DB-BD31-4B8C-83A1-F6EECF244321}">
                <p14:modId xmlns:p14="http://schemas.microsoft.com/office/powerpoint/2010/main" val="2187789124"/>
              </p:ext>
            </p:extLst>
          </p:nvPr>
        </p:nvGraphicFramePr>
        <p:xfrm>
          <a:off x="2372544" y="3950494"/>
          <a:ext cx="3735388" cy="965200"/>
        </p:xfrm>
        <a:graphic>
          <a:graphicData uri="http://schemas.openxmlformats.org/presentationml/2006/ole">
            <mc:AlternateContent xmlns:mc="http://schemas.openxmlformats.org/markup-compatibility/2006">
              <mc:Choice xmlns:v="urn:schemas-microsoft-com:vml" Requires="v">
                <p:oleObj name="Equation" r:id="rId3" imgW="1866600" imgH="482400" progId="Equation.DSMT4">
                  <p:embed/>
                </p:oleObj>
              </mc:Choice>
              <mc:Fallback>
                <p:oleObj name="Equation" r:id="rId3" imgW="1866600" imgH="482400" progId="Equation.DSMT4">
                  <p:embed/>
                  <p:pic>
                    <p:nvPicPr>
                      <p:cNvPr id="118792" name="Object 8">
                        <a:extLst>
                          <a:ext uri="{FF2B5EF4-FFF2-40B4-BE49-F238E27FC236}">
                            <a16:creationId xmlns:a16="http://schemas.microsoft.com/office/drawing/2014/main" id="{94C76F0C-F5EB-4259-8C16-C03076B14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544" y="3950494"/>
                        <a:ext cx="3735388"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9">
            <a:extLst>
              <a:ext uri="{FF2B5EF4-FFF2-40B4-BE49-F238E27FC236}">
                <a16:creationId xmlns:a16="http://schemas.microsoft.com/office/drawing/2014/main" id="{81B24482-755D-4B79-889A-1340B5163AE9}"/>
              </a:ext>
            </a:extLst>
          </p:cNvPr>
          <p:cNvSpPr txBox="1">
            <a:spLocks noChangeArrowheads="1"/>
          </p:cNvSpPr>
          <p:nvPr/>
        </p:nvSpPr>
        <p:spPr bwMode="auto">
          <a:xfrm>
            <a:off x="467544" y="5220494"/>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dirty="0">
                <a:solidFill>
                  <a:schemeClr val="tx1"/>
                </a:solidFill>
                <a:ea typeface="黑体" panose="02010609060101010101" pitchFamily="49" charset="-122"/>
              </a:rPr>
              <a:t>        </a:t>
            </a:r>
            <a:r>
              <a:rPr lang="zh-CN" altLang="en-US" sz="2400" dirty="0">
                <a:solidFill>
                  <a:schemeClr val="tx1"/>
                </a:solidFill>
                <a:ea typeface="黑体" panose="02010609060101010101" pitchFamily="49" charset="-122"/>
              </a:rPr>
              <a:t>最佳投资方案：投资最少，收益最大！</a:t>
            </a:r>
          </a:p>
        </p:txBody>
      </p:sp>
    </p:spTree>
    <p:extLst>
      <p:ext uri="{BB962C8B-B14F-4D97-AF65-F5344CB8AC3E}">
        <p14:creationId xmlns:p14="http://schemas.microsoft.com/office/powerpoint/2010/main" val="405629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多目标优化</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28</a:t>
            </a:fld>
            <a:endParaRPr lang="zh-CN" altLang="en-US" b="1" dirty="0">
              <a:solidFill>
                <a:srgbClr val="FF0000"/>
              </a:solidFill>
            </a:endParaRPr>
          </a:p>
        </p:txBody>
      </p:sp>
      <p:sp>
        <p:nvSpPr>
          <p:cNvPr id="10" name="Text Box 7">
            <a:extLst>
              <a:ext uri="{FF2B5EF4-FFF2-40B4-BE49-F238E27FC236}">
                <a16:creationId xmlns:a16="http://schemas.microsoft.com/office/drawing/2014/main" id="{92EF68CB-CEBA-4B42-84C7-801E81067F6B}"/>
              </a:ext>
            </a:extLst>
          </p:cNvPr>
          <p:cNvSpPr txBox="1">
            <a:spLocks noChangeArrowheads="1"/>
          </p:cNvSpPr>
          <p:nvPr/>
        </p:nvSpPr>
        <p:spPr bwMode="auto">
          <a:xfrm>
            <a:off x="467544" y="1124744"/>
            <a:ext cx="79248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2400" dirty="0">
                <a:solidFill>
                  <a:schemeClr val="tx1"/>
                </a:solidFill>
                <a:ea typeface="黑体" panose="02010609060101010101" pitchFamily="49" charset="-122"/>
              </a:rPr>
              <a:t>引例</a:t>
            </a:r>
            <a:r>
              <a:rPr lang="en-US" altLang="zh-CN" sz="2400" dirty="0">
                <a:solidFill>
                  <a:schemeClr val="tx1"/>
                </a:solidFill>
                <a:ea typeface="黑体" panose="02010609060101010101" pitchFamily="49" charset="-122"/>
              </a:rPr>
              <a:t>1.</a:t>
            </a:r>
            <a:r>
              <a:rPr lang="zh-CN" altLang="en-US" sz="2400" dirty="0">
                <a:solidFill>
                  <a:schemeClr val="tx1"/>
                </a:solidFill>
                <a:ea typeface="黑体" panose="02010609060101010101" pitchFamily="49" charset="-122"/>
              </a:rPr>
              <a:t>投资问题</a:t>
            </a:r>
          </a:p>
          <a:p>
            <a:pPr algn="l">
              <a:lnSpc>
                <a:spcPct val="130000"/>
              </a:lnSpc>
            </a:pPr>
            <a:r>
              <a:rPr lang="zh-CN" altLang="en-US" sz="2400" dirty="0">
                <a:solidFill>
                  <a:schemeClr val="tx1"/>
                </a:solidFill>
                <a:ea typeface="黑体" panose="02010609060101010101" pitchFamily="49" charset="-122"/>
              </a:rPr>
              <a:t>        某公司在一段时间内有</a:t>
            </a:r>
            <a:r>
              <a:rPr lang="en-US" altLang="zh-CN" sz="2400" dirty="0">
                <a:solidFill>
                  <a:schemeClr val="tx1"/>
                </a:solidFill>
                <a:ea typeface="黑体" panose="02010609060101010101" pitchFamily="49" charset="-122"/>
              </a:rPr>
              <a:t>a(</a:t>
            </a:r>
            <a:r>
              <a:rPr lang="zh-CN" altLang="en-US" sz="2400" dirty="0">
                <a:solidFill>
                  <a:schemeClr val="tx1"/>
                </a:solidFill>
                <a:ea typeface="黑体" panose="02010609060101010101" pitchFamily="49" charset="-122"/>
              </a:rPr>
              <a:t>亿元</a:t>
            </a:r>
            <a:r>
              <a:rPr lang="en-US" altLang="zh-CN" sz="2400" dirty="0">
                <a:solidFill>
                  <a:schemeClr val="tx1"/>
                </a:solidFill>
                <a:ea typeface="黑体" panose="02010609060101010101" pitchFamily="49" charset="-122"/>
              </a:rPr>
              <a:t>)</a:t>
            </a:r>
            <a:r>
              <a:rPr lang="zh-CN" altLang="en-US" sz="2400" dirty="0">
                <a:solidFill>
                  <a:schemeClr val="tx1"/>
                </a:solidFill>
                <a:ea typeface="黑体" panose="02010609060101010101" pitchFamily="49" charset="-122"/>
              </a:rPr>
              <a:t>的资金可用于建厂投资。若可供选择的项目记为</a:t>
            </a:r>
            <a:r>
              <a:rPr lang="en-US" altLang="zh-CN" sz="2400" dirty="0">
                <a:solidFill>
                  <a:schemeClr val="tx1"/>
                </a:solidFill>
                <a:ea typeface="黑体" panose="02010609060101010101" pitchFamily="49" charset="-122"/>
              </a:rPr>
              <a:t>1,2,…,m</a:t>
            </a:r>
            <a:r>
              <a:rPr lang="zh-CN" altLang="en-US" sz="2400" dirty="0">
                <a:solidFill>
                  <a:schemeClr val="tx1"/>
                </a:solidFill>
                <a:ea typeface="黑体" panose="02010609060101010101" pitchFamily="49" charset="-122"/>
              </a:rPr>
              <a:t>。而且一旦对第</a:t>
            </a:r>
            <a:r>
              <a:rPr lang="en-US" altLang="zh-CN" sz="2400" dirty="0" err="1">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个项目投资就用去</a:t>
            </a:r>
            <a:r>
              <a:rPr lang="en-US" altLang="zh-CN" sz="2400" dirty="0">
                <a:solidFill>
                  <a:schemeClr val="tx1"/>
                </a:solidFill>
                <a:ea typeface="黑体" panose="02010609060101010101" pitchFamily="49" charset="-122"/>
              </a:rPr>
              <a:t>a</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亿元；而这段时间内可得收益</a:t>
            </a:r>
            <a:r>
              <a:rPr lang="en-US" altLang="zh-CN" sz="2400" dirty="0">
                <a:solidFill>
                  <a:schemeClr val="tx1"/>
                </a:solidFill>
                <a:ea typeface="黑体" panose="02010609060101010101" pitchFamily="49" charset="-122"/>
              </a:rPr>
              <a:t>c</a:t>
            </a:r>
            <a:r>
              <a:rPr lang="en-US" altLang="zh-CN" sz="2400" baseline="-25000" dirty="0">
                <a:solidFill>
                  <a:schemeClr val="tx1"/>
                </a:solidFill>
                <a:ea typeface="黑体" panose="02010609060101010101" pitchFamily="49" charset="-122"/>
              </a:rPr>
              <a:t>i</a:t>
            </a:r>
            <a:r>
              <a:rPr lang="zh-CN" altLang="en-US" sz="2400" dirty="0">
                <a:solidFill>
                  <a:schemeClr val="tx1"/>
                </a:solidFill>
                <a:ea typeface="黑体" panose="02010609060101010101" pitchFamily="49" charset="-122"/>
              </a:rPr>
              <a:t>亿元。问如何确定最佳的投资方案？</a:t>
            </a:r>
          </a:p>
        </p:txBody>
      </p:sp>
      <p:graphicFrame>
        <p:nvGraphicFramePr>
          <p:cNvPr id="15" name="Object 8">
            <a:extLst>
              <a:ext uri="{FF2B5EF4-FFF2-40B4-BE49-F238E27FC236}">
                <a16:creationId xmlns:a16="http://schemas.microsoft.com/office/drawing/2014/main" id="{B6CA6C72-B238-4BDC-B7F7-C95B3DD04028}"/>
              </a:ext>
            </a:extLst>
          </p:cNvPr>
          <p:cNvGraphicFramePr>
            <a:graphicFrameLocks noChangeAspect="1"/>
          </p:cNvGraphicFramePr>
          <p:nvPr/>
        </p:nvGraphicFramePr>
        <p:xfrm>
          <a:off x="2372544" y="3950494"/>
          <a:ext cx="3735388" cy="965200"/>
        </p:xfrm>
        <a:graphic>
          <a:graphicData uri="http://schemas.openxmlformats.org/presentationml/2006/ole">
            <mc:AlternateContent xmlns:mc="http://schemas.openxmlformats.org/markup-compatibility/2006">
              <mc:Choice xmlns:v="urn:schemas-microsoft-com:vml" Requires="v">
                <p:oleObj name="Equation" r:id="rId3" imgW="1866600" imgH="482400" progId="Equation.DSMT4">
                  <p:embed/>
                </p:oleObj>
              </mc:Choice>
              <mc:Fallback>
                <p:oleObj name="Equation" r:id="rId3" imgW="1866600" imgH="482400" progId="Equation.DSMT4">
                  <p:embed/>
                  <p:pic>
                    <p:nvPicPr>
                      <p:cNvPr id="15" name="Object 8">
                        <a:extLst>
                          <a:ext uri="{FF2B5EF4-FFF2-40B4-BE49-F238E27FC236}">
                            <a16:creationId xmlns:a16="http://schemas.microsoft.com/office/drawing/2014/main" id="{B6CA6C72-B238-4BDC-B7F7-C95B3DD040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544" y="3950494"/>
                        <a:ext cx="3735388"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9">
            <a:extLst>
              <a:ext uri="{FF2B5EF4-FFF2-40B4-BE49-F238E27FC236}">
                <a16:creationId xmlns:a16="http://schemas.microsoft.com/office/drawing/2014/main" id="{81B24482-755D-4B79-889A-1340B5163AE9}"/>
              </a:ext>
            </a:extLst>
          </p:cNvPr>
          <p:cNvSpPr txBox="1">
            <a:spLocks noChangeArrowheads="1"/>
          </p:cNvSpPr>
          <p:nvPr/>
        </p:nvSpPr>
        <p:spPr bwMode="auto">
          <a:xfrm>
            <a:off x="467544" y="5220494"/>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dirty="0">
                <a:solidFill>
                  <a:schemeClr val="tx1"/>
                </a:solidFill>
                <a:ea typeface="黑体" panose="02010609060101010101" pitchFamily="49" charset="-122"/>
              </a:rPr>
              <a:t>        </a:t>
            </a:r>
            <a:r>
              <a:rPr lang="zh-CN" altLang="en-US" sz="2400" dirty="0">
                <a:solidFill>
                  <a:schemeClr val="tx1"/>
                </a:solidFill>
                <a:ea typeface="黑体" panose="02010609060101010101" pitchFamily="49" charset="-122"/>
              </a:rPr>
              <a:t>最佳投资方案：投资最少，收益最大！</a:t>
            </a:r>
          </a:p>
        </p:txBody>
      </p:sp>
    </p:spTree>
    <p:extLst>
      <p:ext uri="{BB962C8B-B14F-4D97-AF65-F5344CB8AC3E}">
        <p14:creationId xmlns:p14="http://schemas.microsoft.com/office/powerpoint/2010/main" val="4100978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多目标优化</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29</a:t>
            </a:fld>
            <a:endParaRPr lang="zh-CN" altLang="en-US" b="1" dirty="0">
              <a:solidFill>
                <a:srgbClr val="FF0000"/>
              </a:solidFill>
            </a:endParaRPr>
          </a:p>
        </p:txBody>
      </p:sp>
      <p:sp>
        <p:nvSpPr>
          <p:cNvPr id="9" name="Text Box 6">
            <a:extLst>
              <a:ext uri="{FF2B5EF4-FFF2-40B4-BE49-F238E27FC236}">
                <a16:creationId xmlns:a16="http://schemas.microsoft.com/office/drawing/2014/main" id="{C0B930BE-C39E-44B3-B722-B3F79ADC97EE}"/>
              </a:ext>
            </a:extLst>
          </p:cNvPr>
          <p:cNvSpPr txBox="1">
            <a:spLocks noChangeArrowheads="1"/>
          </p:cNvSpPr>
          <p:nvPr/>
        </p:nvSpPr>
        <p:spPr bwMode="auto">
          <a:xfrm>
            <a:off x="859433" y="1473471"/>
            <a:ext cx="2017713" cy="38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0000"/>
              </a:lnSpc>
            </a:pPr>
            <a:r>
              <a:rPr lang="zh-CN" altLang="en-US" sz="2400" dirty="0">
                <a:solidFill>
                  <a:schemeClr val="tx1"/>
                </a:solidFill>
                <a:ea typeface="黑体" panose="02010609060101010101" pitchFamily="49" charset="-122"/>
              </a:rPr>
              <a:t>投资最少：</a:t>
            </a:r>
          </a:p>
        </p:txBody>
      </p:sp>
      <p:graphicFrame>
        <p:nvGraphicFramePr>
          <p:cNvPr id="11" name="Object 7">
            <a:extLst>
              <a:ext uri="{FF2B5EF4-FFF2-40B4-BE49-F238E27FC236}">
                <a16:creationId xmlns:a16="http://schemas.microsoft.com/office/drawing/2014/main" id="{C6B00D49-F6D7-4923-8430-4AE282008BFE}"/>
              </a:ext>
            </a:extLst>
          </p:cNvPr>
          <p:cNvGraphicFramePr>
            <a:graphicFrameLocks noChangeAspect="1"/>
          </p:cNvGraphicFramePr>
          <p:nvPr>
            <p:extLst>
              <p:ext uri="{D42A27DB-BD31-4B8C-83A1-F6EECF244321}">
                <p14:modId xmlns:p14="http://schemas.microsoft.com/office/powerpoint/2010/main" val="1968998989"/>
              </p:ext>
            </p:extLst>
          </p:nvPr>
        </p:nvGraphicFramePr>
        <p:xfrm>
          <a:off x="2843808" y="1248046"/>
          <a:ext cx="3757613" cy="863600"/>
        </p:xfrm>
        <a:graphic>
          <a:graphicData uri="http://schemas.openxmlformats.org/presentationml/2006/ole">
            <mc:AlternateContent xmlns:mc="http://schemas.openxmlformats.org/markup-compatibility/2006">
              <mc:Choice xmlns:v="urn:schemas-microsoft-com:vml" Requires="v">
                <p:oleObj name="Equation" r:id="rId3" imgW="1879560" imgH="431640" progId="Equation.DSMT4">
                  <p:embed/>
                </p:oleObj>
              </mc:Choice>
              <mc:Fallback>
                <p:oleObj name="Equation" r:id="rId3" imgW="1879560" imgH="431640" progId="Equation.DSMT4">
                  <p:embed/>
                  <p:pic>
                    <p:nvPicPr>
                      <p:cNvPr id="119815" name="Object 7">
                        <a:extLst>
                          <a:ext uri="{FF2B5EF4-FFF2-40B4-BE49-F238E27FC236}">
                            <a16:creationId xmlns:a16="http://schemas.microsoft.com/office/drawing/2014/main" id="{36FF1C5E-5064-481F-896B-85E929C88B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1248046"/>
                        <a:ext cx="37576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8">
            <a:extLst>
              <a:ext uri="{FF2B5EF4-FFF2-40B4-BE49-F238E27FC236}">
                <a16:creationId xmlns:a16="http://schemas.microsoft.com/office/drawing/2014/main" id="{A85CD45C-23CC-4A4A-99F6-18B51A96C613}"/>
              </a:ext>
            </a:extLst>
          </p:cNvPr>
          <p:cNvGraphicFramePr>
            <a:graphicFrameLocks noChangeAspect="1"/>
          </p:cNvGraphicFramePr>
          <p:nvPr>
            <p:extLst>
              <p:ext uri="{D42A27DB-BD31-4B8C-83A1-F6EECF244321}">
                <p14:modId xmlns:p14="http://schemas.microsoft.com/office/powerpoint/2010/main" val="4243107640"/>
              </p:ext>
            </p:extLst>
          </p:nvPr>
        </p:nvGraphicFramePr>
        <p:xfrm>
          <a:off x="2818408" y="2411684"/>
          <a:ext cx="3808413" cy="863600"/>
        </p:xfrm>
        <a:graphic>
          <a:graphicData uri="http://schemas.openxmlformats.org/presentationml/2006/ole">
            <mc:AlternateContent xmlns:mc="http://schemas.openxmlformats.org/markup-compatibility/2006">
              <mc:Choice xmlns:v="urn:schemas-microsoft-com:vml" Requires="v">
                <p:oleObj name="Equation" r:id="rId5" imgW="1904760" imgH="431640" progId="Equation.DSMT4">
                  <p:embed/>
                </p:oleObj>
              </mc:Choice>
              <mc:Fallback>
                <p:oleObj name="Equation" r:id="rId5" imgW="1904760" imgH="431640" progId="Equation.DSMT4">
                  <p:embed/>
                  <p:pic>
                    <p:nvPicPr>
                      <p:cNvPr id="119816" name="Object 8">
                        <a:extLst>
                          <a:ext uri="{FF2B5EF4-FFF2-40B4-BE49-F238E27FC236}">
                            <a16:creationId xmlns:a16="http://schemas.microsoft.com/office/drawing/2014/main" id="{212346BC-4A55-47D2-806B-B6ED871B07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8408" y="2411684"/>
                        <a:ext cx="38084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9">
            <a:extLst>
              <a:ext uri="{FF2B5EF4-FFF2-40B4-BE49-F238E27FC236}">
                <a16:creationId xmlns:a16="http://schemas.microsoft.com/office/drawing/2014/main" id="{D00472EC-6861-47F4-AF4B-CD689307BB6B}"/>
              </a:ext>
            </a:extLst>
          </p:cNvPr>
          <p:cNvSpPr txBox="1">
            <a:spLocks noChangeArrowheads="1"/>
          </p:cNvSpPr>
          <p:nvPr/>
        </p:nvSpPr>
        <p:spPr bwMode="auto">
          <a:xfrm>
            <a:off x="787996" y="3748359"/>
            <a:ext cx="373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dirty="0">
                <a:solidFill>
                  <a:schemeClr val="tx1"/>
                </a:solidFill>
                <a:ea typeface="黑体" panose="02010609060101010101" pitchFamily="49" charset="-122"/>
              </a:rPr>
              <a:t>约束条件为：</a:t>
            </a:r>
          </a:p>
        </p:txBody>
      </p:sp>
      <p:graphicFrame>
        <p:nvGraphicFramePr>
          <p:cNvPr id="14" name="Object 10">
            <a:extLst>
              <a:ext uri="{FF2B5EF4-FFF2-40B4-BE49-F238E27FC236}">
                <a16:creationId xmlns:a16="http://schemas.microsoft.com/office/drawing/2014/main" id="{3DB3DC07-2879-466D-A66F-1C6D64345D06}"/>
              </a:ext>
            </a:extLst>
          </p:cNvPr>
          <p:cNvGraphicFramePr>
            <a:graphicFrameLocks noChangeAspect="1"/>
          </p:cNvGraphicFramePr>
          <p:nvPr>
            <p:extLst>
              <p:ext uri="{D42A27DB-BD31-4B8C-83A1-F6EECF244321}">
                <p14:modId xmlns:p14="http://schemas.microsoft.com/office/powerpoint/2010/main" val="2580379712"/>
              </p:ext>
            </p:extLst>
          </p:nvPr>
        </p:nvGraphicFramePr>
        <p:xfrm>
          <a:off x="3160514" y="4600880"/>
          <a:ext cx="3124200" cy="1371600"/>
        </p:xfrm>
        <a:graphic>
          <a:graphicData uri="http://schemas.openxmlformats.org/presentationml/2006/ole">
            <mc:AlternateContent xmlns:mc="http://schemas.openxmlformats.org/markup-compatibility/2006">
              <mc:Choice xmlns:v="urn:schemas-microsoft-com:vml" Requires="v">
                <p:oleObj name="Equation" r:id="rId7" imgW="1562040" imgH="685800" progId="Equation.DSMT4">
                  <p:embed/>
                </p:oleObj>
              </mc:Choice>
              <mc:Fallback>
                <p:oleObj name="Equation" r:id="rId7" imgW="1562040" imgH="685800" progId="Equation.DSMT4">
                  <p:embed/>
                  <p:pic>
                    <p:nvPicPr>
                      <p:cNvPr id="119818" name="Object 10">
                        <a:extLst>
                          <a:ext uri="{FF2B5EF4-FFF2-40B4-BE49-F238E27FC236}">
                            <a16:creationId xmlns:a16="http://schemas.microsoft.com/office/drawing/2014/main" id="{B6869B36-BE92-4C7B-AD22-69FB21378D2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0514" y="4600880"/>
                        <a:ext cx="31242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Rectangle 11">
            <a:extLst>
              <a:ext uri="{FF2B5EF4-FFF2-40B4-BE49-F238E27FC236}">
                <a16:creationId xmlns:a16="http://schemas.microsoft.com/office/drawing/2014/main" id="{81D727B9-F4E9-4CFD-8FC6-B8C57BB9B225}"/>
              </a:ext>
            </a:extLst>
          </p:cNvPr>
          <p:cNvSpPr>
            <a:spLocks noChangeArrowheads="1"/>
          </p:cNvSpPr>
          <p:nvPr/>
        </p:nvSpPr>
        <p:spPr bwMode="auto">
          <a:xfrm>
            <a:off x="834033" y="2627584"/>
            <a:ext cx="1723549" cy="38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zh-CN" altLang="en-US" sz="2400" dirty="0">
                <a:solidFill>
                  <a:schemeClr val="tx1"/>
                </a:solidFill>
                <a:ea typeface="黑体" panose="02010609060101010101" pitchFamily="49" charset="-122"/>
              </a:rPr>
              <a:t>收益最大：</a:t>
            </a:r>
          </a:p>
        </p:txBody>
      </p:sp>
      <mc:AlternateContent xmlns:mc="http://schemas.openxmlformats.org/markup-compatibility/2006" xmlns:a14="http://schemas.microsoft.com/office/drawing/2010/main">
        <mc:Choice Requires="a14">
          <p:sp>
            <p:nvSpPr>
              <p:cNvPr id="20" name="Object 7">
                <a:extLst>
                  <a:ext uri="{FF2B5EF4-FFF2-40B4-BE49-F238E27FC236}">
                    <a16:creationId xmlns:a16="http://schemas.microsoft.com/office/drawing/2014/main" id="{4CB0A2E2-BA52-4E96-8834-1FD8BF1317FD}"/>
                  </a:ext>
                </a:extLst>
              </p:cNvPr>
              <p:cNvSpPr txBox="1"/>
              <p:nvPr/>
            </p:nvSpPr>
            <p:spPr bwMode="auto">
              <a:xfrm>
                <a:off x="2817813" y="3830638"/>
                <a:ext cx="4748212" cy="4572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min</m:t>
                          </m:r>
                        </m:fName>
                        <m:e>
                          <m:r>
                            <a:rPr lang="zh-CN" altLang="en-US" i="1">
                              <a:solidFill>
                                <a:srgbClr val="000000"/>
                              </a:solidFill>
                              <a:latin typeface="Cambria Math" panose="02040503050406030204" pitchFamily="18" charset="0"/>
                            </a:rPr>
                            <m:t> </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𝛼</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en-US" altLang="zh-CN" b="0" i="1" smtClean="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0" name="Object 7">
                <a:extLst>
                  <a:ext uri="{FF2B5EF4-FFF2-40B4-BE49-F238E27FC236}">
                    <a16:creationId xmlns:a16="http://schemas.microsoft.com/office/drawing/2014/main" id="{4CB0A2E2-BA52-4E96-8834-1FD8BF1317FD}"/>
                  </a:ext>
                </a:extLst>
              </p:cNvPr>
              <p:cNvSpPr txBox="1">
                <a:spLocks noRot="1" noChangeAspect="1" noMove="1" noResize="1" noEditPoints="1" noAdjustHandles="1" noChangeArrowheads="1" noChangeShapeType="1" noTextEdit="1"/>
              </p:cNvSpPr>
              <p:nvPr/>
            </p:nvSpPr>
            <p:spPr bwMode="auto">
              <a:xfrm>
                <a:off x="2817813" y="3830638"/>
                <a:ext cx="4748212" cy="457200"/>
              </a:xfrm>
              <a:prstGeom prst="rect">
                <a:avLst/>
              </a:prstGeom>
              <a:blipFill>
                <a:blip r:embed="rId10"/>
                <a:stretch>
                  <a:fillRect t="-1333" b="-6667"/>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4067182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赛题讲解</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30</a:t>
            </a:fld>
            <a:endParaRPr lang="zh-CN" altLang="en-US" b="1" dirty="0">
              <a:solidFill>
                <a:srgbClr val="FF0000"/>
              </a:solidFill>
            </a:endParaRPr>
          </a:p>
        </p:txBody>
      </p:sp>
      <p:sp>
        <p:nvSpPr>
          <p:cNvPr id="9" name="Text Box 6">
            <a:extLst>
              <a:ext uri="{FF2B5EF4-FFF2-40B4-BE49-F238E27FC236}">
                <a16:creationId xmlns:a16="http://schemas.microsoft.com/office/drawing/2014/main" id="{C0B930BE-C39E-44B3-B722-B3F79ADC97EE}"/>
              </a:ext>
            </a:extLst>
          </p:cNvPr>
          <p:cNvSpPr txBox="1">
            <a:spLocks noChangeArrowheads="1"/>
          </p:cNvSpPr>
          <p:nvPr/>
        </p:nvSpPr>
        <p:spPr bwMode="auto">
          <a:xfrm>
            <a:off x="396815" y="1268760"/>
            <a:ext cx="44326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71500" indent="-571500">
              <a:buFont typeface="Wingdings" panose="05000000000000000000" pitchFamily="2" charset="2"/>
              <a:buChar char="l"/>
            </a:pPr>
            <a:r>
              <a:rPr lang="en-US" altLang="zh-CN" sz="3200" dirty="0"/>
              <a:t>2021</a:t>
            </a:r>
            <a:r>
              <a:rPr lang="zh-CN" altLang="en-US" sz="3200" dirty="0"/>
              <a:t>年</a:t>
            </a:r>
            <a:r>
              <a:rPr lang="en-US" altLang="zh-CN" sz="3200" dirty="0"/>
              <a:t>C</a:t>
            </a:r>
            <a:r>
              <a:rPr lang="zh-CN" altLang="en-US" sz="3200" dirty="0"/>
              <a:t>题为例</a:t>
            </a:r>
          </a:p>
        </p:txBody>
      </p:sp>
    </p:spTree>
    <p:extLst>
      <p:ext uri="{BB962C8B-B14F-4D97-AF65-F5344CB8AC3E}">
        <p14:creationId xmlns:p14="http://schemas.microsoft.com/office/powerpoint/2010/main" val="3179019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31</a:t>
            </a:fld>
            <a:endParaRPr lang="zh-CN" altLang="en-US" b="1" dirty="0">
              <a:solidFill>
                <a:srgbClr val="FF0000"/>
              </a:solidFill>
            </a:endParaRPr>
          </a:p>
        </p:txBody>
      </p:sp>
      <p:pic>
        <p:nvPicPr>
          <p:cNvPr id="3" name="图片 2">
            <a:extLst>
              <a:ext uri="{FF2B5EF4-FFF2-40B4-BE49-F238E27FC236}">
                <a16:creationId xmlns:a16="http://schemas.microsoft.com/office/drawing/2014/main" id="{D6DD5370-603A-4189-83C5-74AEE9EF5B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664" y="-28419"/>
            <a:ext cx="5949108" cy="6858000"/>
          </a:xfrm>
          <a:prstGeom prst="rect">
            <a:avLst/>
          </a:prstGeom>
        </p:spPr>
      </p:pic>
    </p:spTree>
    <p:extLst>
      <p:ext uri="{BB962C8B-B14F-4D97-AF65-F5344CB8AC3E}">
        <p14:creationId xmlns:p14="http://schemas.microsoft.com/office/powerpoint/2010/main" val="2915556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数学规划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32</a:t>
            </a:fld>
            <a:endParaRPr lang="zh-CN" altLang="en-US" b="1" dirty="0">
              <a:solidFill>
                <a:srgbClr val="FF0000"/>
              </a:solidFill>
            </a:endParaRPr>
          </a:p>
        </p:txBody>
      </p:sp>
      <p:sp>
        <p:nvSpPr>
          <p:cNvPr id="10" name="Text Box 2">
            <a:extLst>
              <a:ext uri="{FF2B5EF4-FFF2-40B4-BE49-F238E27FC236}">
                <a16:creationId xmlns:a16="http://schemas.microsoft.com/office/drawing/2014/main" id="{E1B7F56B-1726-4615-B52C-BE4523887F2D}"/>
              </a:ext>
            </a:extLst>
          </p:cNvPr>
          <p:cNvSpPr txBox="1">
            <a:spLocks noChangeArrowheads="1"/>
          </p:cNvSpPr>
          <p:nvPr/>
        </p:nvSpPr>
        <p:spPr bwMode="auto">
          <a:xfrm>
            <a:off x="239071" y="2893835"/>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ea typeface="黑体" panose="02010609060101010101" pitchFamily="49" charset="-122"/>
              </a:rPr>
              <a:t>目标函数</a:t>
            </a:r>
            <a:endParaRPr lang="zh-CN" altLang="en-US" sz="2800" b="1" dirty="0">
              <a:solidFill>
                <a:schemeClr val="tx1"/>
              </a:solidFill>
              <a:ea typeface="黑体" panose="02010609060101010101" pitchFamily="49" charset="-122"/>
            </a:endParaRPr>
          </a:p>
        </p:txBody>
      </p:sp>
      <p:sp>
        <p:nvSpPr>
          <p:cNvPr id="15" name="Text Box 3">
            <a:extLst>
              <a:ext uri="{FF2B5EF4-FFF2-40B4-BE49-F238E27FC236}">
                <a16:creationId xmlns:a16="http://schemas.microsoft.com/office/drawing/2014/main" id="{DFE9FC9E-BEB9-47ED-9EBF-9222A377273E}"/>
              </a:ext>
            </a:extLst>
          </p:cNvPr>
          <p:cNvSpPr txBox="1">
            <a:spLocks noChangeArrowheads="1"/>
          </p:cNvSpPr>
          <p:nvPr/>
        </p:nvSpPr>
        <p:spPr bwMode="auto">
          <a:xfrm>
            <a:off x="266670" y="3471391"/>
            <a:ext cx="8384386" cy="4616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dirty="0">
                <a:ea typeface="黑体" panose="02010609060101010101" pitchFamily="49" charset="-122"/>
              </a:rPr>
              <a:t>最小化成本</a:t>
            </a:r>
          </a:p>
        </p:txBody>
      </p:sp>
      <p:sp>
        <p:nvSpPr>
          <p:cNvPr id="16" name="Text Box 2">
            <a:extLst>
              <a:ext uri="{FF2B5EF4-FFF2-40B4-BE49-F238E27FC236}">
                <a16:creationId xmlns:a16="http://schemas.microsoft.com/office/drawing/2014/main" id="{38955F37-844B-4796-988D-141D55D1FAA3}"/>
              </a:ext>
            </a:extLst>
          </p:cNvPr>
          <p:cNvSpPr txBox="1">
            <a:spLocks noChangeArrowheads="1"/>
          </p:cNvSpPr>
          <p:nvPr/>
        </p:nvSpPr>
        <p:spPr bwMode="auto">
          <a:xfrm>
            <a:off x="197159" y="980728"/>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决策变量</a:t>
            </a:r>
          </a:p>
        </p:txBody>
      </p:sp>
      <p:sp>
        <p:nvSpPr>
          <p:cNvPr id="18" name="Text Box 3">
            <a:extLst>
              <a:ext uri="{FF2B5EF4-FFF2-40B4-BE49-F238E27FC236}">
                <a16:creationId xmlns:a16="http://schemas.microsoft.com/office/drawing/2014/main" id="{658D31B4-C907-4341-83C4-4B8671E9E709}"/>
              </a:ext>
            </a:extLst>
          </p:cNvPr>
          <p:cNvSpPr txBox="1">
            <a:spLocks noChangeArrowheads="1"/>
          </p:cNvSpPr>
          <p:nvPr/>
        </p:nvSpPr>
        <p:spPr bwMode="auto">
          <a:xfrm>
            <a:off x="220062" y="1540390"/>
            <a:ext cx="8384386" cy="83099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dirty="0">
                <a:ea typeface="黑体" panose="02010609060101010101" pitchFamily="49" charset="-122"/>
              </a:rPr>
              <a:t>供应商选择：每家供货商每周供货多少</a:t>
            </a:r>
            <a:endParaRPr lang="en-US" altLang="zh-CN" sz="2400" dirty="0">
              <a:ea typeface="黑体" panose="02010609060101010101" pitchFamily="49" charset="-122"/>
            </a:endParaRPr>
          </a:p>
          <a:p>
            <a:pPr algn="l"/>
            <a:r>
              <a:rPr lang="zh-CN" altLang="en-US" sz="2400" dirty="0">
                <a:ea typeface="黑体" panose="02010609060101010101" pitchFamily="49" charset="-122"/>
              </a:rPr>
              <a:t>转运商选择：每家供货商选择哪家运转商进行运转</a:t>
            </a:r>
          </a:p>
        </p:txBody>
      </p:sp>
      <p:sp>
        <p:nvSpPr>
          <p:cNvPr id="20" name="文本框 19">
            <a:extLst>
              <a:ext uri="{FF2B5EF4-FFF2-40B4-BE49-F238E27FC236}">
                <a16:creationId xmlns:a16="http://schemas.microsoft.com/office/drawing/2014/main" id="{1E62F1B9-ABBC-4528-B8A5-D00D2C6A84EC}"/>
              </a:ext>
            </a:extLst>
          </p:cNvPr>
          <p:cNvSpPr txBox="1"/>
          <p:nvPr/>
        </p:nvSpPr>
        <p:spPr>
          <a:xfrm>
            <a:off x="2843808" y="2893835"/>
            <a:ext cx="5807248" cy="1323439"/>
          </a:xfrm>
          <a:prstGeom prst="rect">
            <a:avLst/>
          </a:prstGeom>
          <a:noFill/>
        </p:spPr>
        <p:txBody>
          <a:bodyPr wrap="square">
            <a:spAutoFit/>
          </a:bodyPr>
          <a:lstStyle/>
          <a:p>
            <a:pPr algn="just"/>
            <a:r>
              <a:rPr lang="zh-CN" altLang="en-US" sz="2000" b="1" dirty="0">
                <a:solidFill>
                  <a:srgbClr val="000000"/>
                </a:solidFill>
                <a:effectLst/>
                <a:latin typeface="宋体" panose="02010600030101010101" pitchFamily="2" charset="-122"/>
                <a:ea typeface="宋体" panose="02010600030101010101" pitchFamily="2" charset="-122"/>
              </a:rPr>
              <a:t>原材料的采购成本直接影响到企业的生产效益，实际中</a:t>
            </a:r>
            <a:r>
              <a:rPr lang="en-US" altLang="zh-CN" sz="2000" b="1" dirty="0">
                <a:solidFill>
                  <a:srgbClr val="000000"/>
                </a:solidFill>
                <a:effectLst/>
                <a:latin typeface="宋体" panose="02010600030101010101" pitchFamily="2" charset="-122"/>
                <a:ea typeface="宋体" panose="02010600030101010101" pitchFamily="2" charset="-122"/>
              </a:rPr>
              <a:t>A</a:t>
            </a:r>
            <a:r>
              <a:rPr lang="zh-CN" altLang="en-US" sz="2000" b="1" dirty="0">
                <a:solidFill>
                  <a:srgbClr val="000000"/>
                </a:solidFill>
                <a:effectLst/>
                <a:latin typeface="宋体" panose="02010600030101010101" pitchFamily="2" charset="-122"/>
                <a:ea typeface="宋体" panose="02010600030101010101" pitchFamily="2" charset="-122"/>
              </a:rPr>
              <a:t>类和</a:t>
            </a:r>
            <a:r>
              <a:rPr lang="en-US" altLang="zh-CN" sz="2000" b="1" dirty="0">
                <a:solidFill>
                  <a:srgbClr val="000000"/>
                </a:solidFill>
                <a:effectLst/>
                <a:latin typeface="宋体" panose="02010600030101010101" pitchFamily="2" charset="-122"/>
                <a:ea typeface="宋体" panose="02010600030101010101" pitchFamily="2" charset="-122"/>
              </a:rPr>
              <a:t>B</a:t>
            </a:r>
            <a:r>
              <a:rPr lang="zh-CN" altLang="en-US" sz="2000" b="1" dirty="0">
                <a:solidFill>
                  <a:srgbClr val="000000"/>
                </a:solidFill>
                <a:effectLst/>
                <a:latin typeface="宋体" panose="02010600030101010101" pitchFamily="2" charset="-122"/>
                <a:ea typeface="宋体" panose="02010600030101010101" pitchFamily="2" charset="-122"/>
              </a:rPr>
              <a:t>类原材料的采购单价分别比</a:t>
            </a:r>
            <a:r>
              <a:rPr lang="en-US" altLang="zh-CN" sz="2000" b="1" dirty="0">
                <a:solidFill>
                  <a:srgbClr val="000000"/>
                </a:solidFill>
                <a:effectLst/>
                <a:latin typeface="宋体" panose="02010600030101010101" pitchFamily="2" charset="-122"/>
                <a:ea typeface="宋体" panose="02010600030101010101" pitchFamily="2" charset="-122"/>
              </a:rPr>
              <a:t>C</a:t>
            </a:r>
            <a:r>
              <a:rPr lang="zh-CN" altLang="en-US" sz="2000" b="1" dirty="0">
                <a:solidFill>
                  <a:srgbClr val="000000"/>
                </a:solidFill>
                <a:effectLst/>
                <a:latin typeface="宋体" panose="02010600030101010101" pitchFamily="2" charset="-122"/>
                <a:ea typeface="宋体" panose="02010600030101010101" pitchFamily="2" charset="-122"/>
              </a:rPr>
              <a:t>类原材料高</a:t>
            </a:r>
            <a:r>
              <a:rPr lang="en-US" altLang="zh-CN" sz="2000" b="1" dirty="0">
                <a:solidFill>
                  <a:srgbClr val="000000"/>
                </a:solidFill>
                <a:effectLst/>
                <a:latin typeface="宋体" panose="02010600030101010101" pitchFamily="2" charset="-122"/>
                <a:ea typeface="宋体" panose="02010600030101010101" pitchFamily="2" charset="-122"/>
              </a:rPr>
              <a:t>20%</a:t>
            </a:r>
            <a:r>
              <a:rPr lang="zh-CN" altLang="en-US" sz="2000" b="1" dirty="0">
                <a:solidFill>
                  <a:srgbClr val="000000"/>
                </a:solidFill>
                <a:effectLst/>
                <a:latin typeface="宋体" panose="02010600030101010101" pitchFamily="2" charset="-122"/>
                <a:ea typeface="宋体" panose="02010600030101010101" pitchFamily="2" charset="-122"/>
              </a:rPr>
              <a:t>和</a:t>
            </a:r>
            <a:r>
              <a:rPr lang="en-US" altLang="zh-CN" sz="2000" b="1" dirty="0">
                <a:solidFill>
                  <a:srgbClr val="000000"/>
                </a:solidFill>
                <a:effectLst/>
                <a:latin typeface="宋体" panose="02010600030101010101" pitchFamily="2" charset="-122"/>
                <a:ea typeface="宋体" panose="02010600030101010101" pitchFamily="2" charset="-122"/>
              </a:rPr>
              <a:t>10%</a:t>
            </a:r>
            <a:r>
              <a:rPr lang="zh-CN" altLang="en-US" sz="2000" b="1" dirty="0">
                <a:solidFill>
                  <a:srgbClr val="000000"/>
                </a:solidFill>
                <a:effectLst/>
                <a:latin typeface="宋体" panose="02010600030101010101" pitchFamily="2" charset="-122"/>
                <a:ea typeface="宋体" panose="02010600030101010101" pitchFamily="2" charset="-122"/>
              </a:rPr>
              <a:t>。三类原材料运输和储存的单位费用相同。</a:t>
            </a:r>
            <a:endParaRPr lang="zh-CN" altLang="en-US" sz="2000" b="1" dirty="0"/>
          </a:p>
        </p:txBody>
      </p:sp>
    </p:spTree>
    <p:extLst>
      <p:ext uri="{BB962C8B-B14F-4D97-AF65-F5344CB8AC3E}">
        <p14:creationId xmlns:p14="http://schemas.microsoft.com/office/powerpoint/2010/main" val="3119283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数学规划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33</a:t>
            </a:fld>
            <a:endParaRPr lang="zh-CN" altLang="en-US" b="1" dirty="0">
              <a:solidFill>
                <a:srgbClr val="FF0000"/>
              </a:solidFill>
            </a:endParaRPr>
          </a:p>
        </p:txBody>
      </p:sp>
      <p:sp>
        <p:nvSpPr>
          <p:cNvPr id="16" name="Text Box 2">
            <a:extLst>
              <a:ext uri="{FF2B5EF4-FFF2-40B4-BE49-F238E27FC236}">
                <a16:creationId xmlns:a16="http://schemas.microsoft.com/office/drawing/2014/main" id="{38955F37-844B-4796-988D-141D55D1FAA3}"/>
              </a:ext>
            </a:extLst>
          </p:cNvPr>
          <p:cNvSpPr txBox="1">
            <a:spLocks noChangeArrowheads="1"/>
          </p:cNvSpPr>
          <p:nvPr/>
        </p:nvSpPr>
        <p:spPr bwMode="auto">
          <a:xfrm>
            <a:off x="220062" y="890385"/>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约束条件</a:t>
            </a:r>
          </a:p>
        </p:txBody>
      </p:sp>
      <p:sp>
        <p:nvSpPr>
          <p:cNvPr id="18" name="Text Box 3">
            <a:extLst>
              <a:ext uri="{FF2B5EF4-FFF2-40B4-BE49-F238E27FC236}">
                <a16:creationId xmlns:a16="http://schemas.microsoft.com/office/drawing/2014/main" id="{658D31B4-C907-4341-83C4-4B8671E9E709}"/>
              </a:ext>
            </a:extLst>
          </p:cNvPr>
          <p:cNvSpPr txBox="1">
            <a:spLocks noChangeArrowheads="1"/>
          </p:cNvSpPr>
          <p:nvPr/>
        </p:nvSpPr>
        <p:spPr bwMode="auto">
          <a:xfrm>
            <a:off x="177103" y="1420997"/>
            <a:ext cx="8789794" cy="529375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Aft>
                <a:spcPts val="1200"/>
              </a:spcAft>
              <a:buAutoNum type="arabicParenBoth"/>
            </a:pPr>
            <a:r>
              <a:rPr lang="zh-CN" altLang="en-US" sz="2400" b="1" dirty="0">
                <a:solidFill>
                  <a:srgbClr val="000000"/>
                </a:solidFill>
                <a:effectLst/>
                <a:latin typeface="宋体" panose="02010600030101010101" pitchFamily="2" charset="-122"/>
                <a:ea typeface="宋体" panose="02010600030101010101" pitchFamily="2" charset="-122"/>
              </a:rPr>
              <a:t>该企业每周的产能为</a:t>
            </a:r>
            <a:r>
              <a:rPr lang="en-US" altLang="zh-CN" sz="2400" b="1" dirty="0">
                <a:solidFill>
                  <a:srgbClr val="000000"/>
                </a:solidFill>
                <a:effectLst/>
                <a:latin typeface="宋体" panose="02010600030101010101" pitchFamily="2" charset="-122"/>
                <a:ea typeface="宋体" panose="02010600030101010101" pitchFamily="2" charset="-122"/>
              </a:rPr>
              <a:t>2.82</a:t>
            </a:r>
            <a:r>
              <a:rPr lang="zh-CN" altLang="en-US" sz="2400" b="1" dirty="0">
                <a:solidFill>
                  <a:srgbClr val="000000"/>
                </a:solidFill>
                <a:effectLst/>
                <a:latin typeface="宋体" panose="02010600030101010101" pitchFamily="2" charset="-122"/>
                <a:ea typeface="宋体" panose="02010600030101010101" pitchFamily="2" charset="-122"/>
              </a:rPr>
              <a:t>万立方米，每立方米产品需消耗</a:t>
            </a:r>
            <a:r>
              <a:rPr lang="en-US" altLang="zh-CN" sz="2400" b="1" dirty="0">
                <a:solidFill>
                  <a:srgbClr val="000000"/>
                </a:solidFill>
                <a:effectLst/>
                <a:latin typeface="宋体" panose="02010600030101010101" pitchFamily="2" charset="-122"/>
                <a:ea typeface="宋体" panose="02010600030101010101" pitchFamily="2" charset="-122"/>
              </a:rPr>
              <a:t>A</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0.6</a:t>
            </a:r>
            <a:r>
              <a:rPr lang="zh-CN" altLang="en-US" sz="2400" b="1" dirty="0">
                <a:solidFill>
                  <a:srgbClr val="000000"/>
                </a:solidFill>
                <a:effectLst/>
                <a:latin typeface="宋体" panose="02010600030101010101" pitchFamily="2" charset="-122"/>
                <a:ea typeface="宋体" panose="02010600030101010101" pitchFamily="2" charset="-122"/>
              </a:rPr>
              <a:t>立方米，或</a:t>
            </a:r>
            <a:r>
              <a:rPr lang="en-US" altLang="zh-CN" sz="2400" b="1" dirty="0">
                <a:solidFill>
                  <a:srgbClr val="000000"/>
                </a:solidFill>
                <a:effectLst/>
                <a:latin typeface="宋体" panose="02010600030101010101" pitchFamily="2" charset="-122"/>
                <a:ea typeface="宋体" panose="02010600030101010101" pitchFamily="2" charset="-122"/>
              </a:rPr>
              <a:t>B</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0.66</a:t>
            </a:r>
            <a:r>
              <a:rPr lang="zh-CN" altLang="en-US" sz="2400" b="1" dirty="0">
                <a:solidFill>
                  <a:srgbClr val="000000"/>
                </a:solidFill>
                <a:effectLst/>
                <a:latin typeface="宋体" panose="02010600030101010101" pitchFamily="2" charset="-122"/>
                <a:ea typeface="宋体" panose="02010600030101010101" pitchFamily="2" charset="-122"/>
              </a:rPr>
              <a:t>立方米，或</a:t>
            </a:r>
            <a:r>
              <a:rPr lang="en-US" altLang="zh-CN" sz="2400" b="1" dirty="0">
                <a:solidFill>
                  <a:srgbClr val="000000"/>
                </a:solidFill>
                <a:effectLst/>
                <a:latin typeface="宋体" panose="02010600030101010101" pitchFamily="2" charset="-122"/>
                <a:ea typeface="宋体" panose="02010600030101010101" pitchFamily="2" charset="-122"/>
              </a:rPr>
              <a:t>C</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0.72</a:t>
            </a:r>
            <a:r>
              <a:rPr lang="zh-CN" altLang="en-US" sz="2400" b="1" dirty="0">
                <a:solidFill>
                  <a:srgbClr val="000000"/>
                </a:solidFill>
                <a:effectLst/>
                <a:latin typeface="宋体" panose="02010600030101010101" pitchFamily="2" charset="-122"/>
                <a:ea typeface="宋体" panose="02010600030101010101" pitchFamily="2" charset="-122"/>
              </a:rPr>
              <a:t>立方米。</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为了保证正常生产的需要，该企业要尽可能保持不少于满足两周生产需求的原材料库存量。</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该企业对供应商实际提供的原材料总是全部收购。</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在实际转运过程中，原材料会有一定的损耗（损耗量占供货量的百分比称为“损耗率”），转运商实际运送到企业仓库的原材料数量称为“接收量”。</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每家转运商的运输能力为</a:t>
            </a:r>
            <a:r>
              <a:rPr lang="en-US" altLang="zh-CN" sz="2400" b="1" dirty="0">
                <a:solidFill>
                  <a:srgbClr val="000000"/>
                </a:solidFill>
                <a:latin typeface="宋体" panose="02010600030101010101" pitchFamily="2" charset="-122"/>
                <a:ea typeface="宋体" panose="02010600030101010101" pitchFamily="2" charset="-122"/>
              </a:rPr>
              <a:t>6000</a:t>
            </a:r>
            <a:r>
              <a:rPr lang="zh-CN" altLang="en-US" sz="2400" b="1" dirty="0">
                <a:solidFill>
                  <a:srgbClr val="000000"/>
                </a:solidFill>
                <a:latin typeface="宋体" panose="02010600030101010101" pitchFamily="2" charset="-122"/>
                <a:ea typeface="宋体" panose="02010600030101010101" pitchFamily="2" charset="-122"/>
              </a:rPr>
              <a:t>立方米</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周。</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通常情况下，一家供应商每周供应的原材料尽量由一家转运商运输。</a:t>
            </a:r>
            <a:endParaRPr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73311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64084" y="5341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数学规划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34</a:t>
            </a:fld>
            <a:endParaRPr lang="zh-CN" altLang="en-US" b="1" dirty="0">
              <a:solidFill>
                <a:srgbClr val="FF0000"/>
              </a:solidFill>
            </a:endParaRPr>
          </a:p>
        </p:txBody>
      </p:sp>
      <p:sp>
        <p:nvSpPr>
          <p:cNvPr id="16" name="Text Box 2">
            <a:extLst>
              <a:ext uri="{FF2B5EF4-FFF2-40B4-BE49-F238E27FC236}">
                <a16:creationId xmlns:a16="http://schemas.microsoft.com/office/drawing/2014/main" id="{38955F37-844B-4796-988D-141D55D1FAA3}"/>
              </a:ext>
            </a:extLst>
          </p:cNvPr>
          <p:cNvSpPr txBox="1">
            <a:spLocks noChangeArrowheads="1"/>
          </p:cNvSpPr>
          <p:nvPr/>
        </p:nvSpPr>
        <p:spPr bwMode="auto">
          <a:xfrm>
            <a:off x="220062" y="890385"/>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ea typeface="黑体" panose="02010609060101010101" pitchFamily="49" charset="-122"/>
              </a:rPr>
              <a:t>模型参数</a:t>
            </a:r>
            <a:endParaRPr lang="zh-CN" altLang="en-US" sz="2800" b="1" dirty="0">
              <a:solidFill>
                <a:schemeClr val="tx1"/>
              </a:solidFill>
              <a:ea typeface="黑体" panose="02010609060101010101" pitchFamily="49" charset="-122"/>
            </a:endParaRPr>
          </a:p>
        </p:txBody>
      </p:sp>
      <p:sp>
        <p:nvSpPr>
          <p:cNvPr id="18" name="Text Box 3">
            <a:extLst>
              <a:ext uri="{FF2B5EF4-FFF2-40B4-BE49-F238E27FC236}">
                <a16:creationId xmlns:a16="http://schemas.microsoft.com/office/drawing/2014/main" id="{658D31B4-C907-4341-83C4-4B8671E9E709}"/>
              </a:ext>
            </a:extLst>
          </p:cNvPr>
          <p:cNvSpPr txBox="1">
            <a:spLocks noChangeArrowheads="1"/>
          </p:cNvSpPr>
          <p:nvPr/>
        </p:nvSpPr>
        <p:spPr bwMode="auto">
          <a:xfrm>
            <a:off x="177103" y="1420997"/>
            <a:ext cx="8789794" cy="20313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1200"/>
              </a:spcAft>
            </a:pPr>
            <a:r>
              <a:rPr lang="en-US" altLang="zh-CN" sz="2400" b="1" dirty="0" err="1">
                <a:solidFill>
                  <a:srgbClr val="FF0000"/>
                </a:solidFill>
                <a:latin typeface="宋体" panose="02010600030101010101" pitchFamily="2" charset="-122"/>
                <a:ea typeface="宋体" panose="02010600030101010101" pitchFamily="2" charset="-122"/>
              </a:rPr>
              <a:t>p</a:t>
            </a:r>
            <a:r>
              <a:rPr lang="en-US" altLang="zh-CN" sz="2400" b="1" baseline="-25000" dirty="0" err="1">
                <a:solidFill>
                  <a:srgbClr val="FF0000"/>
                </a:solidFill>
                <a:latin typeface="宋体" panose="02010600030101010101" pitchFamily="2" charset="-122"/>
                <a:ea typeface="宋体" panose="02010600030101010101" pitchFamily="2" charset="-122"/>
              </a:rPr>
              <a:t>i,j,t</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供货商</a:t>
            </a:r>
            <a:r>
              <a:rPr lang="en-US" altLang="zh-CN" sz="2400" b="1" dirty="0" err="1">
                <a:solidFill>
                  <a:srgbClr val="000000"/>
                </a:solidFill>
                <a:latin typeface="宋体" panose="02010600030101010101" pitchFamily="2" charset="-122"/>
                <a:ea typeface="宋体" panose="02010600030101010101" pitchFamily="2" charset="-122"/>
              </a:rPr>
              <a:t>i</a:t>
            </a:r>
            <a:r>
              <a:rPr lang="zh-CN" altLang="en-US" sz="2400" b="1" dirty="0">
                <a:solidFill>
                  <a:srgbClr val="000000"/>
                </a:solidFill>
                <a:latin typeface="宋体" panose="02010600030101010101" pitchFamily="2" charset="-122"/>
                <a:ea typeface="宋体" panose="02010600030101010101" pitchFamily="2" charset="-122"/>
              </a:rPr>
              <a:t>对于原材料</a:t>
            </a:r>
            <a:r>
              <a:rPr lang="en-US" altLang="zh-CN" sz="2400" b="1" dirty="0">
                <a:solidFill>
                  <a:srgbClr val="000000"/>
                </a:solidFill>
                <a:latin typeface="宋体" panose="02010600030101010101" pitchFamily="2" charset="-122"/>
                <a:ea typeface="宋体" panose="02010600030101010101" pitchFamily="2" charset="-122"/>
              </a:rPr>
              <a:t>j(j</a:t>
            </a:r>
            <a:r>
              <a:rPr lang="zh-CN" altLang="en-US" sz="2400" b="1" dirty="0">
                <a:solidFill>
                  <a:srgbClr val="000000"/>
                </a:solidFill>
                <a:latin typeface="宋体" panose="02010600030101010101" pitchFamily="2" charset="-122"/>
                <a:ea typeface="宋体" panose="02010600030101010101" pitchFamily="2" charset="-122"/>
              </a:rPr>
              <a:t>为</a:t>
            </a:r>
            <a:r>
              <a:rPr lang="en-US" altLang="zh-CN" sz="2400" b="1" dirty="0">
                <a:solidFill>
                  <a:srgbClr val="000000"/>
                </a:solidFill>
                <a:latin typeface="宋体" panose="02010600030101010101" pitchFamily="2" charset="-122"/>
                <a:ea typeface="宋体" panose="02010600030101010101" pitchFamily="2" charset="-122"/>
              </a:rPr>
              <a:t>A</a:t>
            </a:r>
            <a:r>
              <a:rPr lang="zh-CN" altLang="en-US" sz="2400" b="1" dirty="0">
                <a:solidFill>
                  <a:srgbClr val="000000"/>
                </a:solidFill>
                <a:latin typeface="宋体" panose="02010600030101010101" pitchFamily="2" charset="-122"/>
                <a:ea typeface="宋体" panose="02010600030101010101" pitchFamily="2" charset="-122"/>
              </a:rPr>
              <a:t>、</a:t>
            </a:r>
            <a:r>
              <a:rPr lang="en-US" altLang="zh-CN" sz="2400" b="1" dirty="0">
                <a:solidFill>
                  <a:srgbClr val="000000"/>
                </a:solidFill>
                <a:latin typeface="宋体" panose="02010600030101010101" pitchFamily="2" charset="-122"/>
                <a:ea typeface="宋体" panose="02010600030101010101" pitchFamily="2" charset="-122"/>
              </a:rPr>
              <a:t>B</a:t>
            </a:r>
            <a:r>
              <a:rPr lang="zh-CN" altLang="en-US" sz="2400" b="1" dirty="0">
                <a:solidFill>
                  <a:srgbClr val="000000"/>
                </a:solidFill>
                <a:latin typeface="宋体" panose="02010600030101010101" pitchFamily="2" charset="-122"/>
                <a:ea typeface="宋体" panose="02010600030101010101" pitchFamily="2" charset="-122"/>
              </a:rPr>
              <a:t>、</a:t>
            </a:r>
            <a:r>
              <a:rPr lang="en-US" altLang="zh-CN" sz="2400" b="1" dirty="0">
                <a:solidFill>
                  <a:srgbClr val="000000"/>
                </a:solidFill>
                <a:latin typeface="宋体" panose="02010600030101010101" pitchFamily="2" charset="-122"/>
                <a:ea typeface="宋体" panose="02010600030101010101" pitchFamily="2" charset="-122"/>
              </a:rPr>
              <a:t>C)</a:t>
            </a:r>
            <a:r>
              <a:rPr lang="zh-CN" altLang="en-US" sz="2400" b="1" dirty="0">
                <a:solidFill>
                  <a:srgbClr val="000000"/>
                </a:solidFill>
                <a:latin typeface="宋体" panose="02010600030101010101" pitchFamily="2" charset="-122"/>
                <a:ea typeface="宋体" panose="02010600030101010101" pitchFamily="2" charset="-122"/>
              </a:rPr>
              <a:t>在第</a:t>
            </a:r>
            <a:r>
              <a:rPr lang="en-US" altLang="zh-CN" sz="2400" b="1" dirty="0">
                <a:solidFill>
                  <a:srgbClr val="000000"/>
                </a:solidFill>
                <a:latin typeface="宋体" panose="02010600030101010101" pitchFamily="2" charset="-122"/>
                <a:ea typeface="宋体" panose="02010600030101010101" pitchFamily="2" charset="-122"/>
              </a:rPr>
              <a:t>t</a:t>
            </a:r>
            <a:r>
              <a:rPr lang="zh-CN" altLang="en-US" sz="2400" b="1" dirty="0">
                <a:solidFill>
                  <a:srgbClr val="000000"/>
                </a:solidFill>
                <a:latin typeface="宋体" panose="02010600030101010101" pitchFamily="2" charset="-122"/>
                <a:ea typeface="宋体" panose="02010600030101010101" pitchFamily="2" charset="-122"/>
              </a:rPr>
              <a:t>周的供货量</a:t>
            </a:r>
            <a:endParaRPr lang="en-US" altLang="zh-CN" sz="2400" b="1" dirty="0">
              <a:solidFill>
                <a:srgbClr val="000000"/>
              </a:solidFill>
              <a:latin typeface="宋体" panose="02010600030101010101" pitchFamily="2" charset="-122"/>
              <a:ea typeface="宋体" panose="02010600030101010101" pitchFamily="2" charset="-122"/>
            </a:endParaRPr>
          </a:p>
          <a:p>
            <a:pPr>
              <a:spcAft>
                <a:spcPts val="1200"/>
              </a:spcAft>
            </a:pPr>
            <a:r>
              <a:rPr lang="el-GR" altLang="zh-CN" sz="2400" b="1" dirty="0">
                <a:solidFill>
                  <a:srgbClr val="000000"/>
                </a:solidFill>
                <a:latin typeface="宋体" panose="02010600030101010101" pitchFamily="2" charset="-122"/>
                <a:ea typeface="宋体" panose="02010600030101010101" pitchFamily="2" charset="-122"/>
              </a:rPr>
              <a:t>Φ</a:t>
            </a:r>
            <a:r>
              <a:rPr lang="en-US" altLang="zh-CN" sz="2400" b="1" baseline="-25000" dirty="0" err="1">
                <a:solidFill>
                  <a:srgbClr val="000000"/>
                </a:solidFill>
                <a:latin typeface="宋体" panose="02010600030101010101" pitchFamily="2" charset="-122"/>
                <a:ea typeface="宋体" panose="02010600030101010101" pitchFamily="2" charset="-122"/>
              </a:rPr>
              <a:t>k,t</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转运商</a:t>
            </a:r>
            <a:r>
              <a:rPr lang="en-US" altLang="zh-CN" sz="2400" b="1" dirty="0">
                <a:solidFill>
                  <a:srgbClr val="000000"/>
                </a:solidFill>
                <a:latin typeface="宋体" panose="02010600030101010101" pitchFamily="2" charset="-122"/>
                <a:ea typeface="宋体" panose="02010600030101010101" pitchFamily="2" charset="-122"/>
              </a:rPr>
              <a:t>k</a:t>
            </a:r>
            <a:r>
              <a:rPr lang="zh-CN" altLang="en-US" sz="2400" b="1" dirty="0">
                <a:solidFill>
                  <a:srgbClr val="000000"/>
                </a:solidFill>
                <a:latin typeface="宋体" panose="02010600030101010101" pitchFamily="2" charset="-122"/>
                <a:ea typeface="宋体" panose="02010600030101010101" pitchFamily="2" charset="-122"/>
              </a:rPr>
              <a:t>第</a:t>
            </a:r>
            <a:r>
              <a:rPr lang="en-US" altLang="zh-CN" sz="2400" b="1" dirty="0">
                <a:solidFill>
                  <a:srgbClr val="000000"/>
                </a:solidFill>
                <a:latin typeface="宋体" panose="02010600030101010101" pitchFamily="2" charset="-122"/>
                <a:ea typeface="宋体" panose="02010600030101010101" pitchFamily="2" charset="-122"/>
              </a:rPr>
              <a:t>t</a:t>
            </a:r>
            <a:r>
              <a:rPr lang="zh-CN" altLang="en-US" sz="2400" b="1" dirty="0">
                <a:solidFill>
                  <a:srgbClr val="000000"/>
                </a:solidFill>
                <a:latin typeface="宋体" panose="02010600030101010101" pitchFamily="2" charset="-122"/>
                <a:ea typeface="宋体" panose="02010600030101010101" pitchFamily="2" charset="-122"/>
              </a:rPr>
              <a:t>周转运过程中的损耗率</a:t>
            </a:r>
            <a:endParaRPr lang="en-US" altLang="zh-CN" sz="2400" b="1" dirty="0">
              <a:solidFill>
                <a:srgbClr val="000000"/>
              </a:solidFill>
              <a:latin typeface="宋体" panose="02010600030101010101" pitchFamily="2" charset="-122"/>
              <a:ea typeface="宋体" panose="02010600030101010101" pitchFamily="2" charset="-122"/>
            </a:endParaRPr>
          </a:p>
          <a:p>
            <a:pPr>
              <a:spcAft>
                <a:spcPts val="1200"/>
              </a:spcAft>
            </a:pPr>
            <a:r>
              <a:rPr lang="en-US" altLang="zh-CN" sz="2400" b="1" dirty="0">
                <a:solidFill>
                  <a:srgbClr val="000000"/>
                </a:solidFill>
                <a:latin typeface="宋体" panose="02010600030101010101" pitchFamily="2" charset="-122"/>
                <a:ea typeface="宋体" panose="02010600030101010101" pitchFamily="2" charset="-122"/>
              </a:rPr>
              <a:t>c</a:t>
            </a:r>
            <a:r>
              <a:rPr lang="en-US" altLang="zh-CN" sz="2400" b="1" baseline="-25000" dirty="0">
                <a:solidFill>
                  <a:srgbClr val="000000"/>
                </a:solidFill>
                <a:latin typeface="宋体" panose="02010600030101010101" pitchFamily="2" charset="-122"/>
                <a:ea typeface="宋体" panose="02010600030101010101" pitchFamily="2" charset="-122"/>
              </a:rPr>
              <a:t>1</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原材料</a:t>
            </a:r>
            <a:r>
              <a:rPr lang="en-US" altLang="zh-CN" sz="2400" b="1" dirty="0">
                <a:solidFill>
                  <a:srgbClr val="000000"/>
                </a:solidFill>
                <a:latin typeface="宋体" panose="02010600030101010101" pitchFamily="2" charset="-122"/>
                <a:ea typeface="宋体" panose="02010600030101010101" pitchFamily="2" charset="-122"/>
              </a:rPr>
              <a:t>C</a:t>
            </a:r>
            <a:r>
              <a:rPr lang="zh-CN" altLang="en-US" sz="2400" b="1" dirty="0">
                <a:solidFill>
                  <a:srgbClr val="000000"/>
                </a:solidFill>
                <a:latin typeface="宋体" panose="02010600030101010101" pitchFamily="2" charset="-122"/>
                <a:ea typeface="宋体" panose="02010600030101010101" pitchFamily="2" charset="-122"/>
              </a:rPr>
              <a:t>的单位成本</a:t>
            </a:r>
            <a:endParaRPr lang="en-US" altLang="zh-CN" sz="2400" b="1" dirty="0">
              <a:solidFill>
                <a:srgbClr val="000000"/>
              </a:solidFill>
              <a:latin typeface="宋体" panose="02010600030101010101" pitchFamily="2" charset="-122"/>
              <a:ea typeface="宋体" panose="02010600030101010101" pitchFamily="2" charset="-122"/>
            </a:endParaRPr>
          </a:p>
          <a:p>
            <a:pPr>
              <a:spcAft>
                <a:spcPts val="1200"/>
              </a:spcAft>
            </a:pPr>
            <a:r>
              <a:rPr lang="en-US" altLang="zh-CN" sz="2400" b="1" dirty="0">
                <a:solidFill>
                  <a:srgbClr val="000000"/>
                </a:solidFill>
                <a:latin typeface="宋体" panose="02010600030101010101" pitchFamily="2" charset="-122"/>
                <a:ea typeface="宋体" panose="02010600030101010101" pitchFamily="2" charset="-122"/>
              </a:rPr>
              <a:t>c</a:t>
            </a:r>
            <a:r>
              <a:rPr lang="en-US" altLang="zh-CN" sz="2400" b="1" baseline="-25000" dirty="0">
                <a:solidFill>
                  <a:srgbClr val="000000"/>
                </a:solidFill>
                <a:latin typeface="宋体" panose="02010600030101010101" pitchFamily="2" charset="-122"/>
                <a:ea typeface="宋体" panose="02010600030101010101" pitchFamily="2" charset="-122"/>
              </a:rPr>
              <a:t>2</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原材料的运输和储存成本</a:t>
            </a:r>
            <a:endParaRPr lang="en-US" altLang="zh-CN" sz="2400" b="1" dirty="0">
              <a:solidFill>
                <a:srgbClr val="000000"/>
              </a:solidFill>
              <a:latin typeface="宋体" panose="02010600030101010101" pitchFamily="2" charset="-122"/>
              <a:ea typeface="宋体" panose="02010600030101010101" pitchFamily="2" charset="-122"/>
            </a:endParaRPr>
          </a:p>
        </p:txBody>
      </p:sp>
      <p:sp>
        <p:nvSpPr>
          <p:cNvPr id="12" name="Text Box 2">
            <a:extLst>
              <a:ext uri="{FF2B5EF4-FFF2-40B4-BE49-F238E27FC236}">
                <a16:creationId xmlns:a16="http://schemas.microsoft.com/office/drawing/2014/main" id="{BC067C1E-127A-480F-AA41-C20EB30C8B48}"/>
              </a:ext>
            </a:extLst>
          </p:cNvPr>
          <p:cNvSpPr txBox="1">
            <a:spLocks noChangeArrowheads="1"/>
          </p:cNvSpPr>
          <p:nvPr/>
        </p:nvSpPr>
        <p:spPr bwMode="auto">
          <a:xfrm>
            <a:off x="263021" y="3785711"/>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ea typeface="黑体" panose="02010609060101010101" pitchFamily="49" charset="-122"/>
              </a:rPr>
              <a:t>变量定义</a:t>
            </a:r>
            <a:endParaRPr lang="zh-CN" altLang="en-US" sz="2800" b="1" dirty="0">
              <a:solidFill>
                <a:schemeClr val="tx1"/>
              </a:solidFill>
              <a:ea typeface="黑体" panose="02010609060101010101" pitchFamily="49" charset="-122"/>
            </a:endParaRPr>
          </a:p>
        </p:txBody>
      </p:sp>
      <p:sp>
        <p:nvSpPr>
          <p:cNvPr id="13" name="Text Box 3">
            <a:extLst>
              <a:ext uri="{FF2B5EF4-FFF2-40B4-BE49-F238E27FC236}">
                <a16:creationId xmlns:a16="http://schemas.microsoft.com/office/drawing/2014/main" id="{D76C3993-C00F-4702-AE8D-5C1B28EC10DF}"/>
              </a:ext>
            </a:extLst>
          </p:cNvPr>
          <p:cNvSpPr txBox="1">
            <a:spLocks noChangeArrowheads="1"/>
          </p:cNvSpPr>
          <p:nvPr/>
        </p:nvSpPr>
        <p:spPr bwMode="auto">
          <a:xfrm>
            <a:off x="226661" y="4365104"/>
            <a:ext cx="8789794" cy="150810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1200"/>
              </a:spcAft>
            </a:pPr>
            <a:r>
              <a:rPr lang="en-US" altLang="zh-CN" sz="2400" b="1" dirty="0" err="1">
                <a:solidFill>
                  <a:srgbClr val="000000"/>
                </a:solidFill>
                <a:latin typeface="宋体" panose="02010600030101010101" pitchFamily="2" charset="-122"/>
                <a:ea typeface="宋体" panose="02010600030101010101" pitchFamily="2" charset="-122"/>
              </a:rPr>
              <a:t>x</a:t>
            </a:r>
            <a:r>
              <a:rPr lang="en-US" altLang="zh-CN" sz="2400" b="1" baseline="-25000" dirty="0" err="1">
                <a:solidFill>
                  <a:srgbClr val="000000"/>
                </a:solidFill>
                <a:latin typeface="宋体" panose="02010600030101010101" pitchFamily="2" charset="-122"/>
                <a:ea typeface="宋体" panose="02010600030101010101" pitchFamily="2" charset="-122"/>
              </a:rPr>
              <a:t>i,t</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供货商</a:t>
            </a:r>
            <a:r>
              <a:rPr lang="en-US" altLang="zh-CN" sz="2400" b="1" dirty="0" err="1">
                <a:solidFill>
                  <a:srgbClr val="000000"/>
                </a:solidFill>
                <a:latin typeface="宋体" panose="02010600030101010101" pitchFamily="2" charset="-122"/>
                <a:ea typeface="宋体" panose="02010600030101010101" pitchFamily="2" charset="-122"/>
              </a:rPr>
              <a:t>i</a:t>
            </a:r>
            <a:r>
              <a:rPr lang="zh-CN" altLang="en-US" sz="2400" b="1" dirty="0">
                <a:solidFill>
                  <a:srgbClr val="000000"/>
                </a:solidFill>
                <a:latin typeface="宋体" panose="02010600030101010101" pitchFamily="2" charset="-122"/>
                <a:ea typeface="宋体" panose="02010600030101010101" pitchFamily="2" charset="-122"/>
              </a:rPr>
              <a:t>在第</a:t>
            </a:r>
            <a:r>
              <a:rPr lang="en-US" altLang="zh-CN" sz="2400" b="1" dirty="0">
                <a:solidFill>
                  <a:srgbClr val="000000"/>
                </a:solidFill>
                <a:latin typeface="宋体" panose="02010600030101010101" pitchFamily="2" charset="-122"/>
                <a:ea typeface="宋体" panose="02010600030101010101" pitchFamily="2" charset="-122"/>
              </a:rPr>
              <a:t>t</a:t>
            </a:r>
            <a:r>
              <a:rPr lang="zh-CN" altLang="en-US" sz="2400" b="1" dirty="0">
                <a:solidFill>
                  <a:srgbClr val="000000"/>
                </a:solidFill>
                <a:latin typeface="宋体" panose="02010600030101010101" pitchFamily="2" charset="-122"/>
                <a:ea typeface="宋体" panose="02010600030101010101" pitchFamily="2" charset="-122"/>
              </a:rPr>
              <a:t>周是否被选中（</a:t>
            </a:r>
            <a:r>
              <a:rPr lang="en-US" altLang="zh-CN" sz="2400" b="1" dirty="0">
                <a:solidFill>
                  <a:srgbClr val="000000"/>
                </a:solidFill>
                <a:latin typeface="宋体" panose="02010600030101010101" pitchFamily="2" charset="-122"/>
                <a:ea typeface="宋体" panose="02010600030101010101" pitchFamily="2" charset="-122"/>
              </a:rPr>
              <a:t>0-1</a:t>
            </a:r>
            <a:r>
              <a:rPr lang="zh-CN" altLang="en-US" sz="2400" b="1" dirty="0">
                <a:solidFill>
                  <a:srgbClr val="000000"/>
                </a:solidFill>
                <a:latin typeface="宋体" panose="02010600030101010101" pitchFamily="2" charset="-122"/>
                <a:ea typeface="宋体" panose="02010600030101010101" pitchFamily="2" charset="-122"/>
              </a:rPr>
              <a:t>决策）</a:t>
            </a:r>
            <a:endParaRPr lang="en-US" altLang="zh-CN" sz="2400" b="1" dirty="0">
              <a:solidFill>
                <a:srgbClr val="000000"/>
              </a:solidFill>
              <a:latin typeface="宋体" panose="02010600030101010101" pitchFamily="2" charset="-122"/>
              <a:ea typeface="宋体" panose="02010600030101010101" pitchFamily="2" charset="-122"/>
            </a:endParaRPr>
          </a:p>
          <a:p>
            <a:pPr>
              <a:spcAft>
                <a:spcPts val="1200"/>
              </a:spcAft>
            </a:pPr>
            <a:r>
              <a:rPr lang="en-US" altLang="zh-CN" sz="2400" b="1" dirty="0" err="1">
                <a:solidFill>
                  <a:srgbClr val="FF0000"/>
                </a:solidFill>
                <a:latin typeface="宋体" panose="02010600030101010101" pitchFamily="2" charset="-122"/>
                <a:ea typeface="宋体" panose="02010600030101010101" pitchFamily="2" charset="-122"/>
              </a:rPr>
              <a:t>z</a:t>
            </a:r>
            <a:r>
              <a:rPr lang="en-US" altLang="zh-CN" sz="2400" b="1" baseline="-25000" dirty="0" err="1">
                <a:solidFill>
                  <a:srgbClr val="FF0000"/>
                </a:solidFill>
                <a:latin typeface="宋体" panose="02010600030101010101" pitchFamily="2" charset="-122"/>
                <a:ea typeface="宋体" panose="02010600030101010101" pitchFamily="2" charset="-122"/>
              </a:rPr>
              <a:t>ij,t</a:t>
            </a:r>
            <a:r>
              <a:rPr lang="en-US" altLang="zh-CN" sz="2400" b="1" dirty="0">
                <a:solidFill>
                  <a:srgbClr val="000000"/>
                </a:solidFill>
                <a:latin typeface="宋体" panose="02010600030101010101" pitchFamily="2" charset="-122"/>
                <a:ea typeface="宋体" panose="02010600030101010101" pitchFamily="2" charset="-122"/>
              </a:rPr>
              <a:t>: </a:t>
            </a:r>
            <a:r>
              <a:rPr lang="zh-CN" altLang="en-US" sz="2400" b="1" dirty="0">
                <a:solidFill>
                  <a:srgbClr val="000000"/>
                </a:solidFill>
                <a:latin typeface="宋体" panose="02010600030101010101" pitchFamily="2" charset="-122"/>
                <a:ea typeface="宋体" panose="02010600030101010101" pitchFamily="2" charset="-122"/>
              </a:rPr>
              <a:t>针对供货商</a:t>
            </a:r>
            <a:r>
              <a:rPr lang="en-US" altLang="zh-CN" sz="2400" b="1" dirty="0" err="1">
                <a:solidFill>
                  <a:srgbClr val="000000"/>
                </a:solidFill>
                <a:latin typeface="宋体" panose="02010600030101010101" pitchFamily="2" charset="-122"/>
                <a:ea typeface="宋体" panose="02010600030101010101" pitchFamily="2" charset="-122"/>
              </a:rPr>
              <a:t>i</a:t>
            </a:r>
            <a:r>
              <a:rPr lang="zh-CN" altLang="en-US" sz="2400" b="1" dirty="0">
                <a:solidFill>
                  <a:srgbClr val="000000"/>
                </a:solidFill>
                <a:latin typeface="宋体" panose="02010600030101010101" pitchFamily="2" charset="-122"/>
                <a:ea typeface="宋体" panose="02010600030101010101" pitchFamily="2" charset="-122"/>
              </a:rPr>
              <a:t>对原材料</a:t>
            </a:r>
            <a:r>
              <a:rPr lang="en-US" altLang="zh-CN" sz="2400" b="1" dirty="0">
                <a:solidFill>
                  <a:srgbClr val="000000"/>
                </a:solidFill>
                <a:latin typeface="宋体" panose="02010600030101010101" pitchFamily="2" charset="-122"/>
                <a:ea typeface="宋体" panose="02010600030101010101" pitchFamily="2" charset="-122"/>
              </a:rPr>
              <a:t>j</a:t>
            </a:r>
            <a:r>
              <a:rPr lang="zh-CN" altLang="en-US" sz="2400" b="1" dirty="0">
                <a:solidFill>
                  <a:srgbClr val="000000"/>
                </a:solidFill>
                <a:latin typeface="宋体" panose="02010600030101010101" pitchFamily="2" charset="-122"/>
                <a:ea typeface="宋体" panose="02010600030101010101" pitchFamily="2" charset="-122"/>
              </a:rPr>
              <a:t>在第</a:t>
            </a:r>
            <a:r>
              <a:rPr lang="en-US" altLang="zh-CN" sz="2400" b="1" dirty="0">
                <a:solidFill>
                  <a:srgbClr val="000000"/>
                </a:solidFill>
                <a:latin typeface="宋体" panose="02010600030101010101" pitchFamily="2" charset="-122"/>
                <a:ea typeface="宋体" panose="02010600030101010101" pitchFamily="2" charset="-122"/>
              </a:rPr>
              <a:t>t</a:t>
            </a:r>
            <a:r>
              <a:rPr lang="zh-CN" altLang="en-US" sz="2400" b="1" dirty="0">
                <a:solidFill>
                  <a:srgbClr val="000000"/>
                </a:solidFill>
                <a:latin typeface="宋体" panose="02010600030101010101" pitchFamily="2" charset="-122"/>
                <a:ea typeface="宋体" panose="02010600030101010101" pitchFamily="2" charset="-122"/>
              </a:rPr>
              <a:t>周的订货量；</a:t>
            </a:r>
            <a:endParaRPr lang="en-US" altLang="zh-CN" sz="2400" b="1" dirty="0">
              <a:solidFill>
                <a:srgbClr val="000000"/>
              </a:solidFill>
              <a:latin typeface="宋体" panose="02010600030101010101" pitchFamily="2" charset="-122"/>
              <a:ea typeface="宋体" panose="02010600030101010101" pitchFamily="2" charset="-122"/>
            </a:endParaRPr>
          </a:p>
          <a:p>
            <a:pPr>
              <a:spcAft>
                <a:spcPts val="1200"/>
              </a:spcAft>
            </a:pPr>
            <a:r>
              <a:rPr lang="en-US" altLang="zh-CN" sz="2400" b="1" dirty="0" err="1">
                <a:solidFill>
                  <a:srgbClr val="000000"/>
                </a:solidFill>
                <a:latin typeface="宋体" panose="02010600030101010101" pitchFamily="2" charset="-122"/>
                <a:ea typeface="宋体" panose="02010600030101010101" pitchFamily="2" charset="-122"/>
              </a:rPr>
              <a:t>y</a:t>
            </a:r>
            <a:r>
              <a:rPr lang="en-US" altLang="zh-CN" sz="2400" b="1" baseline="-25000" dirty="0" err="1">
                <a:solidFill>
                  <a:srgbClr val="000000"/>
                </a:solidFill>
                <a:latin typeface="宋体" panose="02010600030101010101" pitchFamily="2" charset="-122"/>
                <a:ea typeface="宋体" panose="02010600030101010101" pitchFamily="2" charset="-122"/>
              </a:rPr>
              <a:t>i,k,t</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第</a:t>
            </a:r>
            <a:r>
              <a:rPr lang="en-US" altLang="zh-CN" sz="2400" b="1" dirty="0">
                <a:solidFill>
                  <a:srgbClr val="000000"/>
                </a:solidFill>
                <a:latin typeface="宋体" panose="02010600030101010101" pitchFamily="2" charset="-122"/>
                <a:ea typeface="宋体" panose="02010600030101010101" pitchFamily="2" charset="-122"/>
              </a:rPr>
              <a:t>t</a:t>
            </a:r>
            <a:r>
              <a:rPr lang="zh-CN" altLang="en-US" sz="2400" b="1" dirty="0">
                <a:solidFill>
                  <a:srgbClr val="000000"/>
                </a:solidFill>
                <a:latin typeface="宋体" panose="02010600030101010101" pitchFamily="2" charset="-122"/>
                <a:ea typeface="宋体" panose="02010600030101010101" pitchFamily="2" charset="-122"/>
              </a:rPr>
              <a:t>周供应商</a:t>
            </a:r>
            <a:r>
              <a:rPr lang="en-US" altLang="zh-CN" sz="2400" b="1" dirty="0" err="1">
                <a:solidFill>
                  <a:srgbClr val="000000"/>
                </a:solidFill>
                <a:latin typeface="宋体" panose="02010600030101010101" pitchFamily="2" charset="-122"/>
                <a:ea typeface="宋体" panose="02010600030101010101" pitchFamily="2" charset="-122"/>
              </a:rPr>
              <a:t>i</a:t>
            </a:r>
            <a:r>
              <a:rPr lang="zh-CN" altLang="en-US" sz="2400" b="1" dirty="0">
                <a:solidFill>
                  <a:srgbClr val="000000"/>
                </a:solidFill>
                <a:latin typeface="宋体" panose="02010600030101010101" pitchFamily="2" charset="-122"/>
                <a:ea typeface="宋体" panose="02010600030101010101" pitchFamily="2" charset="-122"/>
              </a:rPr>
              <a:t>是否分配给转运商</a:t>
            </a:r>
            <a:r>
              <a:rPr lang="en-US" altLang="zh-CN" sz="2400" b="1" dirty="0">
                <a:solidFill>
                  <a:srgbClr val="000000"/>
                </a:solidFill>
                <a:latin typeface="宋体" panose="02010600030101010101" pitchFamily="2" charset="-122"/>
                <a:ea typeface="宋体" panose="02010600030101010101" pitchFamily="2" charset="-122"/>
              </a:rPr>
              <a:t>k(0-1</a:t>
            </a:r>
            <a:r>
              <a:rPr lang="zh-CN" altLang="en-US" sz="2400" b="1" dirty="0">
                <a:solidFill>
                  <a:srgbClr val="000000"/>
                </a:solidFill>
                <a:latin typeface="宋体" panose="02010600030101010101" pitchFamily="2" charset="-122"/>
                <a:ea typeface="宋体" panose="02010600030101010101" pitchFamily="2" charset="-122"/>
              </a:rPr>
              <a:t>决策）</a:t>
            </a:r>
            <a:endParaRPr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39414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64084" y="5341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数学规划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35</a:t>
            </a:fld>
            <a:endParaRPr lang="zh-CN" altLang="en-US" b="1" dirty="0">
              <a:solidFill>
                <a:srgbClr val="FF0000"/>
              </a:solidFill>
            </a:endParaRPr>
          </a:p>
        </p:txBody>
      </p:sp>
      <p:sp>
        <p:nvSpPr>
          <p:cNvPr id="16" name="Text Box 2">
            <a:extLst>
              <a:ext uri="{FF2B5EF4-FFF2-40B4-BE49-F238E27FC236}">
                <a16:creationId xmlns:a16="http://schemas.microsoft.com/office/drawing/2014/main" id="{38955F37-844B-4796-988D-141D55D1FAA3}"/>
              </a:ext>
            </a:extLst>
          </p:cNvPr>
          <p:cNvSpPr txBox="1">
            <a:spLocks noChangeArrowheads="1"/>
          </p:cNvSpPr>
          <p:nvPr/>
        </p:nvSpPr>
        <p:spPr bwMode="auto">
          <a:xfrm>
            <a:off x="220062" y="890385"/>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目标函数</a:t>
            </a:r>
          </a:p>
        </p:txBody>
      </p:sp>
      <p:sp>
        <p:nvSpPr>
          <p:cNvPr id="10" name="文本框 9">
            <a:extLst>
              <a:ext uri="{FF2B5EF4-FFF2-40B4-BE49-F238E27FC236}">
                <a16:creationId xmlns:a16="http://schemas.microsoft.com/office/drawing/2014/main" id="{A588F466-B82D-4EDD-97B4-7BA62A196E81}"/>
              </a:ext>
            </a:extLst>
          </p:cNvPr>
          <p:cNvSpPr txBox="1"/>
          <p:nvPr/>
        </p:nvSpPr>
        <p:spPr>
          <a:xfrm>
            <a:off x="2699792" y="1124744"/>
            <a:ext cx="5807248" cy="1323439"/>
          </a:xfrm>
          <a:prstGeom prst="rect">
            <a:avLst/>
          </a:prstGeom>
          <a:noFill/>
        </p:spPr>
        <p:txBody>
          <a:bodyPr wrap="square">
            <a:spAutoFit/>
          </a:bodyPr>
          <a:lstStyle/>
          <a:p>
            <a:pPr algn="just"/>
            <a:r>
              <a:rPr lang="zh-CN" altLang="en-US" sz="2000" b="1" dirty="0">
                <a:solidFill>
                  <a:srgbClr val="000000"/>
                </a:solidFill>
                <a:effectLst/>
                <a:latin typeface="宋体" panose="02010600030101010101" pitchFamily="2" charset="-122"/>
                <a:ea typeface="宋体" panose="02010600030101010101" pitchFamily="2" charset="-122"/>
              </a:rPr>
              <a:t>原材料的采购成本直接影响到企业的生产效益，实际中</a:t>
            </a:r>
            <a:r>
              <a:rPr lang="en-US" altLang="zh-CN" sz="2000" b="1" dirty="0">
                <a:solidFill>
                  <a:srgbClr val="000000"/>
                </a:solidFill>
                <a:effectLst/>
                <a:latin typeface="宋体" panose="02010600030101010101" pitchFamily="2" charset="-122"/>
                <a:ea typeface="宋体" panose="02010600030101010101" pitchFamily="2" charset="-122"/>
              </a:rPr>
              <a:t>A</a:t>
            </a:r>
            <a:r>
              <a:rPr lang="zh-CN" altLang="en-US" sz="2000" b="1" dirty="0">
                <a:solidFill>
                  <a:srgbClr val="000000"/>
                </a:solidFill>
                <a:effectLst/>
                <a:latin typeface="宋体" panose="02010600030101010101" pitchFamily="2" charset="-122"/>
                <a:ea typeface="宋体" panose="02010600030101010101" pitchFamily="2" charset="-122"/>
              </a:rPr>
              <a:t>类和</a:t>
            </a:r>
            <a:r>
              <a:rPr lang="en-US" altLang="zh-CN" sz="2000" b="1" dirty="0">
                <a:solidFill>
                  <a:srgbClr val="000000"/>
                </a:solidFill>
                <a:effectLst/>
                <a:latin typeface="宋体" panose="02010600030101010101" pitchFamily="2" charset="-122"/>
                <a:ea typeface="宋体" panose="02010600030101010101" pitchFamily="2" charset="-122"/>
              </a:rPr>
              <a:t>B</a:t>
            </a:r>
            <a:r>
              <a:rPr lang="zh-CN" altLang="en-US" sz="2000" b="1" dirty="0">
                <a:solidFill>
                  <a:srgbClr val="000000"/>
                </a:solidFill>
                <a:effectLst/>
                <a:latin typeface="宋体" panose="02010600030101010101" pitchFamily="2" charset="-122"/>
                <a:ea typeface="宋体" panose="02010600030101010101" pitchFamily="2" charset="-122"/>
              </a:rPr>
              <a:t>类原材料的采购单价分别比</a:t>
            </a:r>
            <a:r>
              <a:rPr lang="en-US" altLang="zh-CN" sz="2000" b="1" dirty="0">
                <a:solidFill>
                  <a:srgbClr val="000000"/>
                </a:solidFill>
                <a:effectLst/>
                <a:latin typeface="宋体" panose="02010600030101010101" pitchFamily="2" charset="-122"/>
                <a:ea typeface="宋体" panose="02010600030101010101" pitchFamily="2" charset="-122"/>
              </a:rPr>
              <a:t>C</a:t>
            </a:r>
            <a:r>
              <a:rPr lang="zh-CN" altLang="en-US" sz="2000" b="1" dirty="0">
                <a:solidFill>
                  <a:srgbClr val="000000"/>
                </a:solidFill>
                <a:effectLst/>
                <a:latin typeface="宋体" panose="02010600030101010101" pitchFamily="2" charset="-122"/>
                <a:ea typeface="宋体" panose="02010600030101010101" pitchFamily="2" charset="-122"/>
              </a:rPr>
              <a:t>类原材料高</a:t>
            </a:r>
            <a:r>
              <a:rPr lang="en-US" altLang="zh-CN" sz="2000" b="1" dirty="0">
                <a:solidFill>
                  <a:srgbClr val="000000"/>
                </a:solidFill>
                <a:effectLst/>
                <a:latin typeface="宋体" panose="02010600030101010101" pitchFamily="2" charset="-122"/>
                <a:ea typeface="宋体" panose="02010600030101010101" pitchFamily="2" charset="-122"/>
              </a:rPr>
              <a:t>20%</a:t>
            </a:r>
            <a:r>
              <a:rPr lang="zh-CN" altLang="en-US" sz="2000" b="1" dirty="0">
                <a:solidFill>
                  <a:srgbClr val="000000"/>
                </a:solidFill>
                <a:effectLst/>
                <a:latin typeface="宋体" panose="02010600030101010101" pitchFamily="2" charset="-122"/>
                <a:ea typeface="宋体" panose="02010600030101010101" pitchFamily="2" charset="-122"/>
              </a:rPr>
              <a:t>和</a:t>
            </a:r>
            <a:r>
              <a:rPr lang="en-US" altLang="zh-CN" sz="2000" b="1" dirty="0">
                <a:solidFill>
                  <a:srgbClr val="000000"/>
                </a:solidFill>
                <a:effectLst/>
                <a:latin typeface="宋体" panose="02010600030101010101" pitchFamily="2" charset="-122"/>
                <a:ea typeface="宋体" panose="02010600030101010101" pitchFamily="2" charset="-122"/>
              </a:rPr>
              <a:t>10%</a:t>
            </a:r>
            <a:r>
              <a:rPr lang="zh-CN" altLang="en-US" sz="2000" b="1" dirty="0">
                <a:solidFill>
                  <a:srgbClr val="000000"/>
                </a:solidFill>
                <a:effectLst/>
                <a:latin typeface="宋体" panose="02010600030101010101" pitchFamily="2" charset="-122"/>
                <a:ea typeface="宋体" panose="02010600030101010101" pitchFamily="2" charset="-122"/>
              </a:rPr>
              <a:t>。三类原材料运输和储存的单位费用相同。</a:t>
            </a:r>
            <a:endParaRPr lang="zh-CN" altLang="en-US" sz="2000" b="1" dirty="0"/>
          </a:p>
        </p:txBody>
      </p:sp>
      <p:sp>
        <p:nvSpPr>
          <p:cNvPr id="6" name="文本框 5">
            <a:extLst>
              <a:ext uri="{FF2B5EF4-FFF2-40B4-BE49-F238E27FC236}">
                <a16:creationId xmlns:a16="http://schemas.microsoft.com/office/drawing/2014/main" id="{94F9CE35-66CB-4039-8C3F-42E97920F061}"/>
              </a:ext>
            </a:extLst>
          </p:cNvPr>
          <p:cNvSpPr txBox="1"/>
          <p:nvPr/>
        </p:nvSpPr>
        <p:spPr>
          <a:xfrm>
            <a:off x="869651" y="3708548"/>
            <a:ext cx="556563" cy="369332"/>
          </a:xfrm>
          <a:prstGeom prst="rect">
            <a:avLst/>
          </a:prstGeom>
          <a:noFill/>
        </p:spPr>
        <p:txBody>
          <a:bodyPr wrap="none" rtlCol="0">
            <a:spAutoFit/>
          </a:bodyPr>
          <a:lstStyle/>
          <a:p>
            <a:r>
              <a:rPr lang="en-US" altLang="zh-CN" dirty="0"/>
              <a:t>Min</a:t>
            </a:r>
            <a:endParaRPr lang="zh-CN" altLang="en-US" dirty="0"/>
          </a:p>
        </p:txBody>
      </p:sp>
      <p:sp>
        <p:nvSpPr>
          <p:cNvPr id="9" name="对话气泡: 椭圆形 8">
            <a:extLst>
              <a:ext uri="{FF2B5EF4-FFF2-40B4-BE49-F238E27FC236}">
                <a16:creationId xmlns:a16="http://schemas.microsoft.com/office/drawing/2014/main" id="{23A150E7-1C2A-448B-AF2F-34951A91CFDC}"/>
              </a:ext>
            </a:extLst>
          </p:cNvPr>
          <p:cNvSpPr/>
          <p:nvPr/>
        </p:nvSpPr>
        <p:spPr>
          <a:xfrm>
            <a:off x="2195736" y="2714148"/>
            <a:ext cx="1224136" cy="548769"/>
          </a:xfrm>
          <a:prstGeom prst="wedgeEllipseCallout">
            <a:avLst>
              <a:gd name="adj1" fmla="val -1176"/>
              <a:gd name="adj2" fmla="val 910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A</a:t>
            </a:r>
            <a:r>
              <a:rPr lang="zh-CN" altLang="en-US" sz="1400" dirty="0">
                <a:ln>
                  <a:solidFill>
                    <a:schemeClr val="tx1"/>
                  </a:solidFill>
                </a:ln>
                <a:solidFill>
                  <a:schemeClr val="tx1"/>
                </a:solidFill>
              </a:rPr>
              <a:t>类采购成本</a:t>
            </a:r>
          </a:p>
        </p:txBody>
      </p:sp>
      <p:sp>
        <p:nvSpPr>
          <p:cNvPr id="20" name="对话气泡: 椭圆形 19">
            <a:extLst>
              <a:ext uri="{FF2B5EF4-FFF2-40B4-BE49-F238E27FC236}">
                <a16:creationId xmlns:a16="http://schemas.microsoft.com/office/drawing/2014/main" id="{9FB69ED3-F6AF-4DA1-BD02-13EDCEFC8B77}"/>
              </a:ext>
            </a:extLst>
          </p:cNvPr>
          <p:cNvSpPr/>
          <p:nvPr/>
        </p:nvSpPr>
        <p:spPr>
          <a:xfrm>
            <a:off x="4562691" y="2714147"/>
            <a:ext cx="1224136" cy="548769"/>
          </a:xfrm>
          <a:prstGeom prst="wedgeEllipseCallout">
            <a:avLst>
              <a:gd name="adj1" fmla="val -1176"/>
              <a:gd name="adj2" fmla="val 910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B</a:t>
            </a:r>
            <a:r>
              <a:rPr lang="zh-CN" altLang="en-US" sz="1400" dirty="0">
                <a:ln>
                  <a:solidFill>
                    <a:schemeClr val="tx1"/>
                  </a:solidFill>
                </a:ln>
                <a:solidFill>
                  <a:schemeClr val="tx1"/>
                </a:solidFill>
              </a:rPr>
              <a:t>类采购成本</a:t>
            </a:r>
          </a:p>
        </p:txBody>
      </p:sp>
      <p:sp>
        <p:nvSpPr>
          <p:cNvPr id="21" name="对话气泡: 椭圆形 20">
            <a:extLst>
              <a:ext uri="{FF2B5EF4-FFF2-40B4-BE49-F238E27FC236}">
                <a16:creationId xmlns:a16="http://schemas.microsoft.com/office/drawing/2014/main" id="{B5DAA929-F9CC-4511-883C-6DEDE034F08A}"/>
              </a:ext>
            </a:extLst>
          </p:cNvPr>
          <p:cNvSpPr/>
          <p:nvPr/>
        </p:nvSpPr>
        <p:spPr>
          <a:xfrm>
            <a:off x="6678262" y="2714147"/>
            <a:ext cx="1224136" cy="548769"/>
          </a:xfrm>
          <a:prstGeom prst="wedgeEllipseCallout">
            <a:avLst>
              <a:gd name="adj1" fmla="val -1176"/>
              <a:gd name="adj2" fmla="val 910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C</a:t>
            </a:r>
            <a:r>
              <a:rPr lang="zh-CN" altLang="en-US" sz="1400" dirty="0">
                <a:ln>
                  <a:solidFill>
                    <a:schemeClr val="tx1"/>
                  </a:solidFill>
                </a:ln>
                <a:solidFill>
                  <a:schemeClr val="tx1"/>
                </a:solidFill>
              </a:rPr>
              <a:t>类采购成本</a:t>
            </a:r>
          </a:p>
        </p:txBody>
      </p:sp>
      <p:pic>
        <p:nvPicPr>
          <p:cNvPr id="3" name="图片 2">
            <a:extLst>
              <a:ext uri="{FF2B5EF4-FFF2-40B4-BE49-F238E27FC236}">
                <a16:creationId xmlns:a16="http://schemas.microsoft.com/office/drawing/2014/main" id="{C4DC861D-0D6E-4C54-88F8-8D7A1B946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1563" y="3513372"/>
            <a:ext cx="6662786" cy="728668"/>
          </a:xfrm>
          <a:prstGeom prst="rect">
            <a:avLst/>
          </a:prstGeom>
        </p:spPr>
      </p:pic>
      <p:pic>
        <p:nvPicPr>
          <p:cNvPr id="12" name="图片 11">
            <a:extLst>
              <a:ext uri="{FF2B5EF4-FFF2-40B4-BE49-F238E27FC236}">
                <a16:creationId xmlns:a16="http://schemas.microsoft.com/office/drawing/2014/main" id="{563594FA-55D2-4974-A455-5D982AD444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3952" y="4523511"/>
            <a:ext cx="6248446" cy="709618"/>
          </a:xfrm>
          <a:prstGeom prst="rect">
            <a:avLst/>
          </a:prstGeom>
        </p:spPr>
      </p:pic>
      <p:sp>
        <p:nvSpPr>
          <p:cNvPr id="23" name="对话气泡: 椭圆形 22">
            <a:extLst>
              <a:ext uri="{FF2B5EF4-FFF2-40B4-BE49-F238E27FC236}">
                <a16:creationId xmlns:a16="http://schemas.microsoft.com/office/drawing/2014/main" id="{F8C5A1A7-5915-4704-8B6A-9B52EC3CF42F}"/>
              </a:ext>
            </a:extLst>
          </p:cNvPr>
          <p:cNvSpPr/>
          <p:nvPr/>
        </p:nvSpPr>
        <p:spPr>
          <a:xfrm>
            <a:off x="4572000" y="5317585"/>
            <a:ext cx="1296144" cy="548769"/>
          </a:xfrm>
          <a:prstGeom prst="wedgeEllipseCallout">
            <a:avLst>
              <a:gd name="adj1" fmla="val 3083"/>
              <a:gd name="adj2" fmla="val -9243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B</a:t>
            </a:r>
            <a:r>
              <a:rPr lang="zh-CN" altLang="en-US" sz="1400" dirty="0">
                <a:ln>
                  <a:solidFill>
                    <a:schemeClr val="tx1"/>
                  </a:solidFill>
                </a:ln>
                <a:solidFill>
                  <a:schemeClr val="tx1"/>
                </a:solidFill>
              </a:rPr>
              <a:t>类运输储存成本</a:t>
            </a:r>
          </a:p>
        </p:txBody>
      </p:sp>
      <p:sp>
        <p:nvSpPr>
          <p:cNvPr id="24" name="对话气泡: 椭圆形 23">
            <a:extLst>
              <a:ext uri="{FF2B5EF4-FFF2-40B4-BE49-F238E27FC236}">
                <a16:creationId xmlns:a16="http://schemas.microsoft.com/office/drawing/2014/main" id="{60FB8431-A04F-4A36-AADC-8112B2C20ECB}"/>
              </a:ext>
            </a:extLst>
          </p:cNvPr>
          <p:cNvSpPr/>
          <p:nvPr/>
        </p:nvSpPr>
        <p:spPr>
          <a:xfrm>
            <a:off x="2492152" y="5385529"/>
            <a:ext cx="1296144" cy="548769"/>
          </a:xfrm>
          <a:prstGeom prst="wedgeEllipseCallout">
            <a:avLst>
              <a:gd name="adj1" fmla="val 3083"/>
              <a:gd name="adj2" fmla="val -9243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A</a:t>
            </a:r>
            <a:r>
              <a:rPr lang="zh-CN" altLang="en-US" sz="1400" dirty="0">
                <a:ln>
                  <a:solidFill>
                    <a:schemeClr val="tx1"/>
                  </a:solidFill>
                </a:ln>
                <a:solidFill>
                  <a:schemeClr val="tx1"/>
                </a:solidFill>
              </a:rPr>
              <a:t>类运输储存成本</a:t>
            </a:r>
          </a:p>
        </p:txBody>
      </p:sp>
      <p:sp>
        <p:nvSpPr>
          <p:cNvPr id="25" name="对话气泡: 椭圆形 24">
            <a:extLst>
              <a:ext uri="{FF2B5EF4-FFF2-40B4-BE49-F238E27FC236}">
                <a16:creationId xmlns:a16="http://schemas.microsoft.com/office/drawing/2014/main" id="{83F78164-D34E-4179-A545-13C2A97FEE88}"/>
              </a:ext>
            </a:extLst>
          </p:cNvPr>
          <p:cNvSpPr/>
          <p:nvPr/>
        </p:nvSpPr>
        <p:spPr>
          <a:xfrm>
            <a:off x="6516216" y="5288233"/>
            <a:ext cx="1296144" cy="548769"/>
          </a:xfrm>
          <a:prstGeom prst="wedgeEllipseCallout">
            <a:avLst>
              <a:gd name="adj1" fmla="val 3083"/>
              <a:gd name="adj2" fmla="val -9243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a:solidFill>
                    <a:schemeClr val="tx1"/>
                  </a:solidFill>
                </a:ln>
                <a:solidFill>
                  <a:schemeClr val="tx1"/>
                </a:solidFill>
              </a:rPr>
              <a:t>C</a:t>
            </a:r>
            <a:r>
              <a:rPr lang="zh-CN" altLang="en-US" sz="1400" dirty="0">
                <a:ln>
                  <a:solidFill>
                    <a:schemeClr val="tx1"/>
                  </a:solidFill>
                </a:ln>
                <a:solidFill>
                  <a:schemeClr val="tx1"/>
                </a:solidFill>
              </a:rPr>
              <a:t>类运输储存成本</a:t>
            </a:r>
          </a:p>
        </p:txBody>
      </p:sp>
    </p:spTree>
    <p:extLst>
      <p:ext uri="{BB962C8B-B14F-4D97-AF65-F5344CB8AC3E}">
        <p14:creationId xmlns:p14="http://schemas.microsoft.com/office/powerpoint/2010/main" val="2533160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 name="Text Box 5">
            <a:extLst>
              <a:ext uri="{FF2B5EF4-FFF2-40B4-BE49-F238E27FC236}">
                <a16:creationId xmlns:a16="http://schemas.microsoft.com/office/drawing/2014/main" id="{84C14AE6-7EB2-4E03-A6FD-13B20CC91C08}"/>
              </a:ext>
            </a:extLst>
          </p:cNvPr>
          <p:cNvSpPr txBox="1">
            <a:spLocks noChangeArrowheads="1"/>
          </p:cNvSpPr>
          <p:nvPr/>
        </p:nvSpPr>
        <p:spPr bwMode="auto">
          <a:xfrm>
            <a:off x="742256" y="98344"/>
            <a:ext cx="8393206" cy="646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4400" b="1">
                <a:latin typeface="Arial Unicode MS" panose="020B0604020202020204" pitchFamily="34" charset="-122"/>
                <a:ea typeface="Arial Unicode MS" panose="020B0604020202020204" pitchFamily="34" charset="-122"/>
                <a:cs typeface="Arial Unicode MS" panose="020B0604020202020204" pitchFamily="34" charset="-122"/>
              </a:defRPr>
            </a:lvl1pPr>
            <a:lvl2pPr marL="3497263" eaLnBrk="0" hangingPunct="0">
              <a:defRPr>
                <a:solidFill>
                  <a:schemeClr val="tx1"/>
                </a:solidFill>
                <a:latin typeface="Century Gothic" pitchFamily="34" charset="0"/>
                <a:ea typeface="宋体" pitchFamily="2" charset="-122"/>
              </a:defRPr>
            </a:lvl2pPr>
            <a:lvl3pPr marL="3678238" eaLnBrk="0" hangingPunct="0">
              <a:defRPr>
                <a:solidFill>
                  <a:schemeClr val="tx1"/>
                </a:solidFill>
                <a:latin typeface="Century Gothic" pitchFamily="34" charset="0"/>
                <a:ea typeface="宋体" pitchFamily="2" charset="-122"/>
              </a:defRPr>
            </a:lvl3pPr>
            <a:lvl4pPr marL="3859213" eaLnBrk="0" hangingPunct="0">
              <a:defRPr>
                <a:solidFill>
                  <a:schemeClr val="tx1"/>
                </a:solidFill>
                <a:latin typeface="Century Gothic" pitchFamily="34" charset="0"/>
                <a:ea typeface="宋体" pitchFamily="2" charset="-122"/>
              </a:defRPr>
            </a:lvl4pPr>
            <a:lvl5pPr marL="4035425" eaLnBrk="0" hangingPunct="0">
              <a:defRPr>
                <a:solidFill>
                  <a:schemeClr val="tx1"/>
                </a:solidFill>
                <a:latin typeface="Century Gothic" pitchFamily="34" charset="0"/>
                <a:ea typeface="宋体" pitchFamily="2" charset="-122"/>
              </a:defRPr>
            </a:lvl5pPr>
            <a:lvl6pPr marL="4492625" eaLnBrk="0" fontAlgn="base" hangingPunct="0">
              <a:spcBef>
                <a:spcPct val="0"/>
              </a:spcBef>
              <a:spcAft>
                <a:spcPct val="0"/>
              </a:spcAft>
              <a:defRPr>
                <a:solidFill>
                  <a:schemeClr val="tx1"/>
                </a:solidFill>
                <a:latin typeface="Century Gothic" pitchFamily="34" charset="0"/>
                <a:ea typeface="宋体" pitchFamily="2" charset="-122"/>
              </a:defRPr>
            </a:lvl6pPr>
            <a:lvl7pPr marL="4949825" eaLnBrk="0" fontAlgn="base" hangingPunct="0">
              <a:spcBef>
                <a:spcPct val="0"/>
              </a:spcBef>
              <a:spcAft>
                <a:spcPct val="0"/>
              </a:spcAft>
              <a:defRPr>
                <a:solidFill>
                  <a:schemeClr val="tx1"/>
                </a:solidFill>
                <a:latin typeface="Century Gothic" pitchFamily="34" charset="0"/>
                <a:ea typeface="宋体" pitchFamily="2" charset="-122"/>
              </a:defRPr>
            </a:lvl7pPr>
            <a:lvl8pPr marL="5407025" eaLnBrk="0" fontAlgn="base" hangingPunct="0">
              <a:spcBef>
                <a:spcPct val="0"/>
              </a:spcBef>
              <a:spcAft>
                <a:spcPct val="0"/>
              </a:spcAft>
              <a:defRPr>
                <a:solidFill>
                  <a:schemeClr val="tx1"/>
                </a:solidFill>
                <a:latin typeface="Century Gothic" pitchFamily="34" charset="0"/>
                <a:ea typeface="宋体" pitchFamily="2" charset="-122"/>
              </a:defRPr>
            </a:lvl8pPr>
            <a:lvl9pPr marL="5864225" eaLnBrk="0" fontAlgn="base" hangingPunct="0">
              <a:spcBef>
                <a:spcPct val="0"/>
              </a:spcBef>
              <a:spcAft>
                <a:spcPct val="0"/>
              </a:spcAft>
              <a:defRPr>
                <a:solidFill>
                  <a:schemeClr val="tx1"/>
                </a:solidFill>
                <a:latin typeface="Century Gothic" pitchFamily="34" charset="0"/>
                <a:ea typeface="宋体" pitchFamily="2" charset="-122"/>
              </a:defRPr>
            </a:lvl9pPr>
          </a:lstStyle>
          <a:p>
            <a:r>
              <a:rPr lang="zh-CN" altLang="en-US" sz="3600" dirty="0"/>
              <a:t>数学规划</a:t>
            </a:r>
          </a:p>
        </p:txBody>
      </p:sp>
      <p:sp>
        <p:nvSpPr>
          <p:cNvPr id="17" name="灯片编号占位符 5">
            <a:extLst>
              <a:ext uri="{FF2B5EF4-FFF2-40B4-BE49-F238E27FC236}">
                <a16:creationId xmlns:a16="http://schemas.microsoft.com/office/drawing/2014/main" id="{4B5DA7FB-7FF4-4E51-B219-FBF0BC81A86A}"/>
              </a:ext>
            </a:extLst>
          </p:cNvPr>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36</a:t>
            </a:fld>
            <a:endParaRPr lang="zh-CN" altLang="en-US" b="1" dirty="0">
              <a:solidFill>
                <a:srgbClr val="FF0000"/>
              </a:solidFill>
            </a:endParaRPr>
          </a:p>
        </p:txBody>
      </p:sp>
      <p:sp>
        <p:nvSpPr>
          <p:cNvPr id="16" name="Text Box 2">
            <a:extLst>
              <a:ext uri="{FF2B5EF4-FFF2-40B4-BE49-F238E27FC236}">
                <a16:creationId xmlns:a16="http://schemas.microsoft.com/office/drawing/2014/main" id="{38955F37-844B-4796-988D-141D55D1FAA3}"/>
              </a:ext>
            </a:extLst>
          </p:cNvPr>
          <p:cNvSpPr txBox="1">
            <a:spLocks noChangeArrowheads="1"/>
          </p:cNvSpPr>
          <p:nvPr/>
        </p:nvSpPr>
        <p:spPr bwMode="auto">
          <a:xfrm>
            <a:off x="220062" y="890385"/>
            <a:ext cx="1627369" cy="523220"/>
          </a:xfrm>
          <a:prstGeom prst="rect">
            <a:avLst/>
          </a:prstGeom>
          <a:solidFill>
            <a:schemeClr val="accent3">
              <a:lumMod val="20000"/>
              <a:lumOff val="80000"/>
            </a:schemeClr>
          </a:solidFill>
          <a:ln>
            <a:noFill/>
          </a:ln>
          <a:effectLst/>
        </p:spPr>
        <p:txBody>
          <a:bodyPr wrap="none">
            <a:spAutoFit/>
          </a:bodyPr>
          <a:lstStyle/>
          <a:p>
            <a:pPr algn="l"/>
            <a:r>
              <a:rPr lang="zh-CN" altLang="en-US" sz="2800" b="1" dirty="0">
                <a:solidFill>
                  <a:schemeClr val="tx1"/>
                </a:solidFill>
                <a:ea typeface="黑体" panose="02010609060101010101" pitchFamily="49" charset="-122"/>
              </a:rPr>
              <a:t>约束条件</a:t>
            </a:r>
          </a:p>
        </p:txBody>
      </p:sp>
      <p:sp>
        <p:nvSpPr>
          <p:cNvPr id="18" name="Text Box 3">
            <a:extLst>
              <a:ext uri="{FF2B5EF4-FFF2-40B4-BE49-F238E27FC236}">
                <a16:creationId xmlns:a16="http://schemas.microsoft.com/office/drawing/2014/main" id="{658D31B4-C907-4341-83C4-4B8671E9E709}"/>
              </a:ext>
            </a:extLst>
          </p:cNvPr>
          <p:cNvSpPr txBox="1">
            <a:spLocks noChangeArrowheads="1"/>
          </p:cNvSpPr>
          <p:nvPr/>
        </p:nvSpPr>
        <p:spPr bwMode="auto">
          <a:xfrm>
            <a:off x="177103" y="1420997"/>
            <a:ext cx="8789794" cy="529375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Aft>
                <a:spcPts val="1200"/>
              </a:spcAft>
              <a:buAutoNum type="arabicParenBoth"/>
            </a:pPr>
            <a:r>
              <a:rPr lang="zh-CN" altLang="en-US" sz="2400" b="1" dirty="0">
                <a:solidFill>
                  <a:srgbClr val="000000"/>
                </a:solidFill>
                <a:effectLst/>
                <a:latin typeface="宋体" panose="02010600030101010101" pitchFamily="2" charset="-122"/>
                <a:ea typeface="宋体" panose="02010600030101010101" pitchFamily="2" charset="-122"/>
              </a:rPr>
              <a:t>该企业每周的产能为</a:t>
            </a:r>
            <a:r>
              <a:rPr lang="en-US" altLang="zh-CN" sz="2400" b="1" dirty="0">
                <a:solidFill>
                  <a:srgbClr val="000000"/>
                </a:solidFill>
                <a:effectLst/>
                <a:latin typeface="宋体" panose="02010600030101010101" pitchFamily="2" charset="-122"/>
                <a:ea typeface="宋体" panose="02010600030101010101" pitchFamily="2" charset="-122"/>
              </a:rPr>
              <a:t>2.82</a:t>
            </a:r>
            <a:r>
              <a:rPr lang="zh-CN" altLang="en-US" sz="2400" b="1" dirty="0">
                <a:solidFill>
                  <a:srgbClr val="000000"/>
                </a:solidFill>
                <a:effectLst/>
                <a:latin typeface="宋体" panose="02010600030101010101" pitchFamily="2" charset="-122"/>
                <a:ea typeface="宋体" panose="02010600030101010101" pitchFamily="2" charset="-122"/>
              </a:rPr>
              <a:t>万立方米，每立方米产品需消耗</a:t>
            </a:r>
            <a:r>
              <a:rPr lang="en-US" altLang="zh-CN" sz="2400" b="1" dirty="0">
                <a:solidFill>
                  <a:srgbClr val="000000"/>
                </a:solidFill>
                <a:effectLst/>
                <a:latin typeface="宋体" panose="02010600030101010101" pitchFamily="2" charset="-122"/>
                <a:ea typeface="宋体" panose="02010600030101010101" pitchFamily="2" charset="-122"/>
              </a:rPr>
              <a:t>A</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0.6</a:t>
            </a:r>
            <a:r>
              <a:rPr lang="zh-CN" altLang="en-US" sz="2400" b="1" dirty="0">
                <a:solidFill>
                  <a:srgbClr val="000000"/>
                </a:solidFill>
                <a:effectLst/>
                <a:latin typeface="宋体" panose="02010600030101010101" pitchFamily="2" charset="-122"/>
                <a:ea typeface="宋体" panose="02010600030101010101" pitchFamily="2" charset="-122"/>
              </a:rPr>
              <a:t>立方米，或</a:t>
            </a:r>
            <a:r>
              <a:rPr lang="en-US" altLang="zh-CN" sz="2400" b="1" dirty="0">
                <a:solidFill>
                  <a:srgbClr val="000000"/>
                </a:solidFill>
                <a:effectLst/>
                <a:latin typeface="宋体" panose="02010600030101010101" pitchFamily="2" charset="-122"/>
                <a:ea typeface="宋体" panose="02010600030101010101" pitchFamily="2" charset="-122"/>
              </a:rPr>
              <a:t>B</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0.66</a:t>
            </a:r>
            <a:r>
              <a:rPr lang="zh-CN" altLang="en-US" sz="2400" b="1" dirty="0">
                <a:solidFill>
                  <a:srgbClr val="000000"/>
                </a:solidFill>
                <a:effectLst/>
                <a:latin typeface="宋体" panose="02010600030101010101" pitchFamily="2" charset="-122"/>
                <a:ea typeface="宋体" panose="02010600030101010101" pitchFamily="2" charset="-122"/>
              </a:rPr>
              <a:t>立方米，或</a:t>
            </a:r>
            <a:r>
              <a:rPr lang="en-US" altLang="zh-CN" sz="2400" b="1" dirty="0">
                <a:solidFill>
                  <a:srgbClr val="000000"/>
                </a:solidFill>
                <a:effectLst/>
                <a:latin typeface="宋体" panose="02010600030101010101" pitchFamily="2" charset="-122"/>
                <a:ea typeface="宋体" panose="02010600030101010101" pitchFamily="2" charset="-122"/>
              </a:rPr>
              <a:t>C</a:t>
            </a:r>
            <a:r>
              <a:rPr lang="zh-CN" altLang="en-US" sz="2400" b="1" dirty="0">
                <a:solidFill>
                  <a:srgbClr val="000000"/>
                </a:solidFill>
                <a:effectLst/>
                <a:latin typeface="宋体" panose="02010600030101010101" pitchFamily="2" charset="-122"/>
                <a:ea typeface="宋体" panose="02010600030101010101" pitchFamily="2" charset="-122"/>
              </a:rPr>
              <a:t>类原材料</a:t>
            </a:r>
            <a:r>
              <a:rPr lang="en-US" altLang="zh-CN" sz="2400" b="1" dirty="0">
                <a:solidFill>
                  <a:srgbClr val="000000"/>
                </a:solidFill>
                <a:effectLst/>
                <a:latin typeface="宋体" panose="02010600030101010101" pitchFamily="2" charset="-122"/>
                <a:ea typeface="宋体" panose="02010600030101010101" pitchFamily="2" charset="-122"/>
              </a:rPr>
              <a:t>0.72</a:t>
            </a:r>
            <a:r>
              <a:rPr lang="zh-CN" altLang="en-US" sz="2400" b="1" dirty="0">
                <a:solidFill>
                  <a:srgbClr val="000000"/>
                </a:solidFill>
                <a:effectLst/>
                <a:latin typeface="宋体" panose="02010600030101010101" pitchFamily="2" charset="-122"/>
                <a:ea typeface="宋体" panose="02010600030101010101" pitchFamily="2" charset="-122"/>
              </a:rPr>
              <a:t>立方米。</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为了保证正常生产的需要，该企业要尽可能保持不少于满足两周生产需求的原材料库存量。</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该企业对供应商实际提供的原材料总是全部收购。</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在实际转运过程中，原材料会有一定的损耗（损耗量占供货量的百分比称为“损耗率”），转运商实际运送到企业仓库的原材料数量称为“接收量”。</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每家转运商的运输能力为</a:t>
            </a:r>
            <a:r>
              <a:rPr lang="en-US" altLang="zh-CN" sz="2400" b="1" dirty="0">
                <a:solidFill>
                  <a:srgbClr val="000000"/>
                </a:solidFill>
                <a:latin typeface="宋体" panose="02010600030101010101" pitchFamily="2" charset="-122"/>
                <a:ea typeface="宋体" panose="02010600030101010101" pitchFamily="2" charset="-122"/>
              </a:rPr>
              <a:t>6000</a:t>
            </a:r>
            <a:r>
              <a:rPr lang="zh-CN" altLang="en-US" sz="2400" b="1" dirty="0">
                <a:solidFill>
                  <a:srgbClr val="000000"/>
                </a:solidFill>
                <a:latin typeface="宋体" panose="02010600030101010101" pitchFamily="2" charset="-122"/>
                <a:ea typeface="宋体" panose="02010600030101010101" pitchFamily="2" charset="-122"/>
              </a:rPr>
              <a:t>立方米</a:t>
            </a:r>
            <a:r>
              <a:rPr lang="en-US" altLang="zh-CN"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rPr>
              <a:t>周。</a:t>
            </a:r>
            <a:endParaRPr lang="en-US" altLang="zh-CN" sz="2400" b="1" dirty="0">
              <a:solidFill>
                <a:srgbClr val="000000"/>
              </a:solidFill>
              <a:latin typeface="宋体" panose="02010600030101010101" pitchFamily="2" charset="-122"/>
              <a:ea typeface="宋体" panose="02010600030101010101" pitchFamily="2" charset="-122"/>
            </a:endParaRPr>
          </a:p>
          <a:p>
            <a:pPr marL="457200" indent="-457200">
              <a:spcAft>
                <a:spcPts val="1200"/>
              </a:spcAft>
              <a:buAutoNum type="arabicParenBoth"/>
            </a:pPr>
            <a:r>
              <a:rPr lang="zh-CN" altLang="en-US" sz="2400" b="1" dirty="0">
                <a:solidFill>
                  <a:srgbClr val="000000"/>
                </a:solidFill>
                <a:latin typeface="宋体" panose="02010600030101010101" pitchFamily="2" charset="-122"/>
                <a:ea typeface="宋体" panose="02010600030101010101" pitchFamily="2" charset="-122"/>
              </a:rPr>
              <a:t>通常情况下，一家供应商每周供应的原材料尽量由一家转运商运输。</a:t>
            </a:r>
            <a:endParaRPr lang="en-US" altLang="zh-CN" sz="24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1837668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2758</TotalTime>
  <Words>2686</Words>
  <Application>Microsoft Office PowerPoint</Application>
  <PresentationFormat>全屏显示(4:3)</PresentationFormat>
  <Paragraphs>318</Paragraphs>
  <Slides>36</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36</vt:i4>
      </vt:variant>
    </vt:vector>
  </HeadingPairs>
  <TitlesOfParts>
    <vt:vector size="51" baseType="lpstr">
      <vt:lpstr>Arial Unicode MS</vt:lpstr>
      <vt:lpstr>黑体</vt:lpstr>
      <vt:lpstr>宋体</vt:lpstr>
      <vt:lpstr>微软雅黑</vt:lpstr>
      <vt:lpstr>Arial</vt:lpstr>
      <vt:lpstr>Calibri</vt:lpstr>
      <vt:lpstr>Cambria Math</vt:lpstr>
      <vt:lpstr>Times New Roman</vt:lpstr>
      <vt:lpstr>Wingdings</vt:lpstr>
      <vt:lpstr>Office 主题</vt:lpstr>
      <vt:lpstr>Equation</vt:lpstr>
      <vt:lpstr>Document</vt:lpstr>
      <vt:lpstr>公式</vt:lpstr>
      <vt:lpstr>Equation.3</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xmwang</dc:creator>
  <cp:lastModifiedBy>WANG XM</cp:lastModifiedBy>
  <cp:revision>124</cp:revision>
  <dcterms:created xsi:type="dcterms:W3CDTF">2018-08-30T03:08:46Z</dcterms:created>
  <dcterms:modified xsi:type="dcterms:W3CDTF">2024-09-19T08:02:01Z</dcterms:modified>
</cp:coreProperties>
</file>