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554" r:id="rId2"/>
    <p:sldId id="275" r:id="rId3"/>
    <p:sldId id="273" r:id="rId4"/>
    <p:sldId id="256" r:id="rId5"/>
    <p:sldId id="277" r:id="rId6"/>
    <p:sldId id="257" r:id="rId7"/>
    <p:sldId id="276" r:id="rId8"/>
    <p:sldId id="278" r:id="rId9"/>
    <p:sldId id="279" r:id="rId10"/>
    <p:sldId id="282" r:id="rId11"/>
    <p:sldId id="281" r:id="rId12"/>
    <p:sldId id="260" r:id="rId13"/>
    <p:sldId id="284" r:id="rId14"/>
    <p:sldId id="261" r:id="rId15"/>
    <p:sldId id="262" r:id="rId16"/>
    <p:sldId id="271" r:id="rId17"/>
    <p:sldId id="272" r:id="rId18"/>
    <p:sldId id="287" r:id="rId19"/>
    <p:sldId id="290" r:id="rId20"/>
    <p:sldId id="285" r:id="rId21"/>
    <p:sldId id="293" r:id="rId22"/>
    <p:sldId id="294" r:id="rId23"/>
    <p:sldId id="303" r:id="rId24"/>
    <p:sldId id="304" r:id="rId25"/>
    <p:sldId id="305" r:id="rId26"/>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08" autoAdjust="0"/>
    <p:restoredTop sz="97490" autoAdjust="0"/>
  </p:normalViewPr>
  <p:slideViewPr>
    <p:cSldViewPr>
      <p:cViewPr varScale="1">
        <p:scale>
          <a:sx n="115" d="100"/>
          <a:sy n="115" d="100"/>
        </p:scale>
        <p:origin x="315" y="5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7982D74F-926A-42E6-8369-7E2C122A7BF3}"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7BE4D33C-CD94-4BDE-9A58-DC21FD43250A}" type="slidenum">
              <a:rPr lang="zh-CN" altLang="en-US" smtClean="0"/>
              <a:t>‹#›</a:t>
            </a:fld>
            <a:endParaRPr lang="zh-CN" altLang="en-US"/>
          </a:p>
        </p:txBody>
      </p:sp>
    </p:spTree>
    <p:extLst>
      <p:ext uri="{BB962C8B-B14F-4D97-AF65-F5344CB8AC3E}">
        <p14:creationId xmlns:p14="http://schemas.microsoft.com/office/powerpoint/2010/main" val="3287189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DDE7442-ED77-4EC0-BA94-3ED7F933A220}"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32C9AD-A6AD-490A-955A-FF1924C89AC4}"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14844B-368F-411A-9EA0-6BD268C0057F}"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B2A55AA-06F7-4CDD-9F70-DF621B5CA6D5}"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B559973-975B-4494-B1EF-068A5FA95912}" type="datetime1">
              <a:rPr lang="zh-CN" altLang="en-US" smtClean="0"/>
              <a:t>2025/10/13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D746C00-3C66-4BF4-9DE6-700C26FC7C22}" type="datetime1">
              <a:rPr lang="zh-CN" altLang="en-US" smtClean="0"/>
              <a:t>2025/10/13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4EF89CC-EF09-421F-B2FA-46FD24F85DEF}" type="datetime1">
              <a:rPr lang="zh-CN" altLang="en-US" smtClean="0"/>
              <a:t>2025/10/13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0A533EE-C9E0-4AFE-8C0D-54BABC3DBA03}"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8D46CA3-2FE8-4BF9-9CA4-AA33D9243D7F}" type="datetime1">
              <a:rPr lang="zh-CN" altLang="en-US" smtClean="0"/>
              <a:t>2025/10/13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F84D5BC-F518-4AB7-AABB-3368AE42354F}"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84111-6D08-4D4F-B84C-FB09506C9910}" type="datetime1">
              <a:rPr lang="zh-CN" altLang="en-US" smtClean="0"/>
              <a:t>2025/10/13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1534AE-8242-40AD-BDBE-9DA9139F3857}"/>
              </a:ext>
            </a:extLst>
          </p:cNvPr>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75C9409F-4920-426E-819D-311C1037E246}"/>
              </a:ext>
            </a:extLst>
          </p:cNvPr>
          <p:cNvSpPr>
            <a:spLocks noGrp="1"/>
          </p:cNvSpPr>
          <p:nvPr>
            <p:ph type="dt" sz="half" idx="10"/>
          </p:nvPr>
        </p:nvSpPr>
        <p:spPr>
          <a:xfrm>
            <a:off x="457200" y="6245225"/>
            <a:ext cx="2133600" cy="476250"/>
          </a:xfrm>
        </p:spPr>
        <p:txBody>
          <a:bodyPr/>
          <a:lstStyle>
            <a:lvl1pPr>
              <a:defRPr/>
            </a:lvl1pPr>
          </a:lstStyle>
          <a:p>
            <a:fld id="{357BC391-C71D-4B4F-BE96-BDDB92FAF990}" type="datetime1">
              <a:rPr lang="zh-CN" altLang="en-US" smtClean="0"/>
              <a:t>2025/10/13</a:t>
            </a:fld>
            <a:endParaRPr lang="en-US" altLang="zh-CN"/>
          </a:p>
        </p:txBody>
      </p:sp>
      <p:sp>
        <p:nvSpPr>
          <p:cNvPr id="4" name="页脚占位符 3">
            <a:extLst>
              <a:ext uri="{FF2B5EF4-FFF2-40B4-BE49-F238E27FC236}">
                <a16:creationId xmlns:a16="http://schemas.microsoft.com/office/drawing/2014/main" id="{E5D9BCD6-5F6F-4334-A281-CE2D72DBA9DE}"/>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1A16863-BA41-455C-98DC-DBADC7AF02FF}"/>
              </a:ext>
            </a:extLst>
          </p:cNvPr>
          <p:cNvSpPr>
            <a:spLocks noGrp="1"/>
          </p:cNvSpPr>
          <p:nvPr>
            <p:ph type="sldNum" sz="quarter" idx="12"/>
          </p:nvPr>
        </p:nvSpPr>
        <p:spPr>
          <a:xfrm>
            <a:off x="6553200" y="6245225"/>
            <a:ext cx="2133600" cy="476250"/>
          </a:xfrm>
        </p:spPr>
        <p:txBody>
          <a:bodyPr/>
          <a:lstStyle>
            <a:lvl1pPr>
              <a:defRPr/>
            </a:lvl1pPr>
          </a:lstStyle>
          <a:p>
            <a:fld id="{C9E62761-D741-438E-B800-D9D4ABAE0DAB}" type="slidenum">
              <a:rPr lang="en-US" altLang="zh-CN"/>
              <a:pPr/>
              <a:t>‹#›</a:t>
            </a:fld>
            <a:endParaRPr lang="en-US" altLang="zh-CN"/>
          </a:p>
        </p:txBody>
      </p:sp>
    </p:spTree>
    <p:extLst>
      <p:ext uri="{BB962C8B-B14F-4D97-AF65-F5344CB8AC3E}">
        <p14:creationId xmlns:p14="http://schemas.microsoft.com/office/powerpoint/2010/main" val="3108454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57F70F-F79B-4FA8-8AD2-2EA985F726E9}"/>
              </a:ext>
            </a:extLst>
          </p:cNvPr>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188DEF1-C583-4FDF-9D6A-89160583267C}"/>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2A4558-7E4A-4488-9FB6-5B9B68E109AF}"/>
              </a:ext>
            </a:extLst>
          </p:cNvPr>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2E098A94-25BE-460A-9E89-F1C8CCE80818}"/>
              </a:ext>
            </a:extLst>
          </p:cNvPr>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a:extLst>
              <a:ext uri="{FF2B5EF4-FFF2-40B4-BE49-F238E27FC236}">
                <a16:creationId xmlns:a16="http://schemas.microsoft.com/office/drawing/2014/main" id="{AF70A5A8-591E-485D-A67A-B3D02F4D5541}"/>
              </a:ext>
            </a:extLst>
          </p:cNvPr>
          <p:cNvSpPr>
            <a:spLocks noGrp="1"/>
          </p:cNvSpPr>
          <p:nvPr>
            <p:ph type="dt" sz="half" idx="10"/>
          </p:nvPr>
        </p:nvSpPr>
        <p:spPr>
          <a:xfrm>
            <a:off x="457200" y="6245225"/>
            <a:ext cx="2133600" cy="476250"/>
          </a:xfrm>
        </p:spPr>
        <p:txBody>
          <a:bodyPr/>
          <a:lstStyle>
            <a:lvl1pPr>
              <a:defRPr/>
            </a:lvl1pPr>
          </a:lstStyle>
          <a:p>
            <a:fld id="{F84AA63D-9686-4F27-815A-DF4A131BB3E8}" type="datetime1">
              <a:rPr lang="zh-CN" altLang="en-US" smtClean="0"/>
              <a:t>2025/10/13</a:t>
            </a:fld>
            <a:endParaRPr lang="en-US" altLang="zh-CN"/>
          </a:p>
        </p:txBody>
      </p:sp>
      <p:sp>
        <p:nvSpPr>
          <p:cNvPr id="7" name="页脚占位符 6">
            <a:extLst>
              <a:ext uri="{FF2B5EF4-FFF2-40B4-BE49-F238E27FC236}">
                <a16:creationId xmlns:a16="http://schemas.microsoft.com/office/drawing/2014/main" id="{AA5223F7-47BA-4195-83E6-A52867E44B00}"/>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EEF187F4-F352-4E0E-B26C-00CD66A47C9C}"/>
              </a:ext>
            </a:extLst>
          </p:cNvPr>
          <p:cNvSpPr>
            <a:spLocks noGrp="1"/>
          </p:cNvSpPr>
          <p:nvPr>
            <p:ph type="sldNum" sz="quarter" idx="12"/>
          </p:nvPr>
        </p:nvSpPr>
        <p:spPr>
          <a:xfrm>
            <a:off x="6553200" y="6245225"/>
            <a:ext cx="2133600" cy="476250"/>
          </a:xfrm>
        </p:spPr>
        <p:txBody>
          <a:bodyPr/>
          <a:lstStyle>
            <a:lvl1pPr>
              <a:defRPr/>
            </a:lvl1pPr>
          </a:lstStyle>
          <a:p>
            <a:fld id="{0E604E7C-C8BB-42E9-A2CB-A684C9A6B7D0}" type="slidenum">
              <a:rPr lang="en-US" altLang="zh-CN"/>
              <a:pPr/>
              <a:t>‹#›</a:t>
            </a:fld>
            <a:endParaRPr lang="en-US" altLang="zh-CN"/>
          </a:p>
        </p:txBody>
      </p:sp>
    </p:spTree>
    <p:extLst>
      <p:ext uri="{BB962C8B-B14F-4D97-AF65-F5344CB8AC3E}">
        <p14:creationId xmlns:p14="http://schemas.microsoft.com/office/powerpoint/2010/main" val="272976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1C791-A515-4EDA-902C-1F8B92DA1FE7}"/>
              </a:ext>
            </a:extLst>
          </p:cNvPr>
          <p:cNvSpPr>
            <a:spLocks noGrp="1"/>
          </p:cNvSpPr>
          <p:nvPr>
            <p:ph type="title" sz="quarter"/>
          </p:nvPr>
        </p:nvSpPr>
        <p:spPr>
          <a:xfrm>
            <a:off x="457200" y="274638"/>
            <a:ext cx="8229600" cy="1143000"/>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EE882B-6128-4029-BC75-B6E8D5773ECD}"/>
              </a:ext>
            </a:extLst>
          </p:cNvPr>
          <p:cNvSpPr>
            <a:spLocks noGrp="1"/>
          </p:cNvSpPr>
          <p:nvPr>
            <p:ph sz="quarter" idx="1"/>
          </p:nvPr>
        </p:nvSpPr>
        <p:spPr>
          <a:xfrm>
            <a:off x="457200" y="1600200"/>
            <a:ext cx="4038600" cy="2185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C447755-8B5B-49A4-8615-70ADA99EF3BF}"/>
              </a:ext>
            </a:extLst>
          </p:cNvPr>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0D744993-95F8-473C-805F-A243AD49A64B}"/>
              </a:ext>
            </a:extLst>
          </p:cNvPr>
          <p:cNvSpPr>
            <a:spLocks noGrp="1"/>
          </p:cNvSpPr>
          <p:nvPr>
            <p:ph sz="quarter" idx="3"/>
          </p:nvPr>
        </p:nvSpPr>
        <p:spPr>
          <a:xfrm>
            <a:off x="457200" y="3938588"/>
            <a:ext cx="4038600" cy="2187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内容占位符 5">
            <a:extLst>
              <a:ext uri="{FF2B5EF4-FFF2-40B4-BE49-F238E27FC236}">
                <a16:creationId xmlns:a16="http://schemas.microsoft.com/office/drawing/2014/main" id="{303D4F49-FA25-4EF0-93E5-1F1E1FA718C6}"/>
              </a:ext>
            </a:extLst>
          </p:cNvPr>
          <p:cNvSpPr>
            <a:spLocks noGrp="1"/>
          </p:cNvSpPr>
          <p:nvPr>
            <p:ph sz="quarter" idx="4"/>
          </p:nvPr>
        </p:nvSpPr>
        <p:spPr>
          <a:xfrm>
            <a:off x="4648200" y="3938588"/>
            <a:ext cx="4038600" cy="21875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200998F-A9A5-411D-8B1F-D02EE07665A2}"/>
              </a:ext>
            </a:extLst>
          </p:cNvPr>
          <p:cNvSpPr>
            <a:spLocks noGrp="1"/>
          </p:cNvSpPr>
          <p:nvPr>
            <p:ph type="dt" sz="half" idx="10"/>
          </p:nvPr>
        </p:nvSpPr>
        <p:spPr>
          <a:xfrm>
            <a:off x="457200" y="6245225"/>
            <a:ext cx="2133600" cy="476250"/>
          </a:xfrm>
        </p:spPr>
        <p:txBody>
          <a:bodyPr/>
          <a:lstStyle>
            <a:lvl1pPr>
              <a:defRPr/>
            </a:lvl1pPr>
          </a:lstStyle>
          <a:p>
            <a:fld id="{AAFD0A93-23EC-47CD-8491-4A7F2120438F}" type="datetime1">
              <a:rPr lang="zh-CN" altLang="en-US" smtClean="0"/>
              <a:t>2025/10/13</a:t>
            </a:fld>
            <a:endParaRPr lang="en-US" altLang="zh-CN"/>
          </a:p>
        </p:txBody>
      </p:sp>
      <p:sp>
        <p:nvSpPr>
          <p:cNvPr id="8" name="页脚占位符 7">
            <a:extLst>
              <a:ext uri="{FF2B5EF4-FFF2-40B4-BE49-F238E27FC236}">
                <a16:creationId xmlns:a16="http://schemas.microsoft.com/office/drawing/2014/main" id="{DB26243F-CF84-47F3-B43F-554E3EBEB68F}"/>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5F11957A-C89D-4021-9D03-ED808C8156DD}"/>
              </a:ext>
            </a:extLst>
          </p:cNvPr>
          <p:cNvSpPr>
            <a:spLocks noGrp="1"/>
          </p:cNvSpPr>
          <p:nvPr>
            <p:ph type="sldNum" sz="quarter" idx="12"/>
          </p:nvPr>
        </p:nvSpPr>
        <p:spPr>
          <a:xfrm>
            <a:off x="6553200" y="6245225"/>
            <a:ext cx="2133600" cy="476250"/>
          </a:xfrm>
        </p:spPr>
        <p:txBody>
          <a:bodyPr/>
          <a:lstStyle>
            <a:lvl1pPr>
              <a:defRPr/>
            </a:lvl1pPr>
          </a:lstStyle>
          <a:p>
            <a:fld id="{BED608A8-1180-46F5-AAEE-042CDE89CDC1}" type="slidenum">
              <a:rPr lang="en-US" altLang="zh-CN"/>
              <a:pPr/>
              <a:t>‹#›</a:t>
            </a:fld>
            <a:endParaRPr lang="en-US" altLang="zh-CN"/>
          </a:p>
        </p:txBody>
      </p:sp>
    </p:spTree>
    <p:extLst>
      <p:ext uri="{BB962C8B-B14F-4D97-AF65-F5344CB8AC3E}">
        <p14:creationId xmlns:p14="http://schemas.microsoft.com/office/powerpoint/2010/main" val="2280274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8FE9AA-062C-43D3-BB6B-EE10BA3844D6}" type="datetime1">
              <a:rPr lang="zh-CN" altLang="en-US" smtClean="0"/>
              <a:t>2025/10/13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0.wmf"/><Relationship Id="rId7"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2.bin"/><Relationship Id="rId5" Type="http://schemas.openxmlformats.org/officeDocument/2006/relationships/image" Target="../media/image13.png"/><Relationship Id="rId9" Type="http://schemas.openxmlformats.org/officeDocument/2006/relationships/image" Target="../media/image12.wmf"/></Relationships>
</file>

<file path=ppt/slides/_rels/slide7.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4.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image" Target="../media/image15.wmf"/><Relationship Id="rId1" Type="http://schemas.openxmlformats.org/officeDocument/2006/relationships/slideLayout" Target="../slideLayouts/slideLayout13.xml"/><Relationship Id="rId6" Type="http://schemas.openxmlformats.org/officeDocument/2006/relationships/image" Target="../media/image17.wmf"/><Relationship Id="rId5" Type="http://schemas.openxmlformats.org/officeDocument/2006/relationships/oleObject" Target="../embeddings/oleObject8.bin"/><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3.wmf"/><Relationship Id="rId2" Type="http://schemas.openxmlformats.org/officeDocument/2006/relationships/image" Target="../media/image15.wmf"/><Relationship Id="rId1" Type="http://schemas.openxmlformats.org/officeDocument/2006/relationships/slideLayout" Target="../slideLayouts/slideLayout14.xml"/><Relationship Id="rId6" Type="http://schemas.openxmlformats.org/officeDocument/2006/relationships/image" Target="../media/image20.e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2.wmf"/><Relationship Id="rId4" Type="http://schemas.openxmlformats.org/officeDocument/2006/relationships/image" Target="../media/image19.emf"/><Relationship Id="rId9"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26.wmf"/><Relationship Id="rId4" Type="http://schemas.openxmlformats.org/officeDocument/2006/relationships/oleObject" Target="../embeddings/oleObject16.bin"/><Relationship Id="rId9"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2.wmf"/></Relationships>
</file>

<file path=ppt/slides/_rels/slide1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24.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42.wmf"/><Relationship Id="rId2" Type="http://schemas.openxmlformats.org/officeDocument/2006/relationships/image" Target="../media/image37.gif"/><Relationship Id="rId1" Type="http://schemas.openxmlformats.org/officeDocument/2006/relationships/slideLayout" Target="../slideLayouts/slideLayout2.xml"/><Relationship Id="rId6" Type="http://schemas.openxmlformats.org/officeDocument/2006/relationships/image" Target="../media/image39.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28.bin"/></Relationships>
</file>

<file path=ppt/slides/_rels/slide17.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image" Target="../media/image44.png"/><Relationship Id="rId7" Type="http://schemas.openxmlformats.org/officeDocument/2006/relationships/image" Target="../media/image46.wmf"/><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45.wmf"/><Relationship Id="rId4" Type="http://schemas.openxmlformats.org/officeDocument/2006/relationships/oleObject" Target="../embeddings/oleObject30.bin"/></Relationships>
</file>

<file path=ppt/slides/_rels/slide18.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2.bin"/><Relationship Id="rId1" Type="http://schemas.openxmlformats.org/officeDocument/2006/relationships/slideLayout" Target="../slideLayouts/slideLayout7.xml"/><Relationship Id="rId5" Type="http://schemas.openxmlformats.org/officeDocument/2006/relationships/image" Target="../media/image50.wmf"/><Relationship Id="rId4" Type="http://schemas.openxmlformats.org/officeDocument/2006/relationships/oleObject" Target="../embeddings/oleObject33.bin"/></Relationships>
</file>

<file path=ppt/slides/_rels/slide2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34.bin"/><Relationship Id="rId1" Type="http://schemas.openxmlformats.org/officeDocument/2006/relationships/slideLayout" Target="../slideLayouts/slideLayout7.xml"/><Relationship Id="rId5" Type="http://schemas.openxmlformats.org/officeDocument/2006/relationships/image" Target="../media/image52.wmf"/><Relationship Id="rId4" Type="http://schemas.openxmlformats.org/officeDocument/2006/relationships/oleObject" Target="../embeddings/oleObject3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53.wmf"/><Relationship Id="rId7" Type="http://schemas.openxmlformats.org/officeDocument/2006/relationships/image" Target="../media/image55.wmf"/><Relationship Id="rId2" Type="http://schemas.openxmlformats.org/officeDocument/2006/relationships/oleObject" Target="../embeddings/oleObject36.bin"/><Relationship Id="rId1" Type="http://schemas.openxmlformats.org/officeDocument/2006/relationships/slideLayout" Target="../slideLayouts/slideLayout7.xml"/><Relationship Id="rId6" Type="http://schemas.openxmlformats.org/officeDocument/2006/relationships/oleObject" Target="../embeddings/oleObject38.bin"/><Relationship Id="rId5" Type="http://schemas.openxmlformats.org/officeDocument/2006/relationships/image" Target="../media/image54.wmf"/><Relationship Id="rId4" Type="http://schemas.openxmlformats.org/officeDocument/2006/relationships/oleObject" Target="../embeddings/oleObject37.bin"/><Relationship Id="rId9" Type="http://schemas.openxmlformats.org/officeDocument/2006/relationships/image" Target="../media/image5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24" name="Picture 2" descr="http://www.scut.edu.cn/publish2/news/intro/logo/resource/1smevus1otq84b.jpg"/>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a:t>
            </a:fld>
            <a:endParaRPr lang="zh-CN" altLang="en-US" b="1" dirty="0">
              <a:solidFill>
                <a:srgbClr val="FF0000"/>
              </a:solidFill>
            </a:endParaRPr>
          </a:p>
        </p:txBody>
      </p:sp>
      <p:sp>
        <p:nvSpPr>
          <p:cNvPr id="31" name="Text Box 11"/>
          <p:cNvSpPr txBox="1">
            <a:spLocks noChangeArrowheads="1"/>
          </p:cNvSpPr>
          <p:nvPr/>
        </p:nvSpPr>
        <p:spPr bwMode="auto">
          <a:xfrm>
            <a:off x="395536" y="1556792"/>
            <a:ext cx="84164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50000"/>
              </a:spcBef>
              <a:buClrTx/>
              <a:buSzTx/>
              <a:buFont typeface="Wingdings" panose="05000000000000000000" pitchFamily="2" charset="2"/>
              <a:buNone/>
              <a:defRPr sz="4000" b="1">
                <a:solidFill>
                  <a:srgbClr val="FF0000"/>
                </a:solidFill>
                <a:latin typeface="微软雅黑" pitchFamily="34" charset="-122"/>
                <a:ea typeface="微软雅黑" pitchFamily="34" charset="-122"/>
              </a:defRPr>
            </a:lvl1pPr>
            <a:lvl2pPr marL="742950" indent="-285750" eaLnBrk="0" hangingPunct="0">
              <a:spcBef>
                <a:spcPts val="250"/>
              </a:spcBef>
              <a:buClr>
                <a:srgbClr val="FF0000"/>
              </a:buClr>
              <a:buSzPct val="100000"/>
              <a:buFont typeface="Wingdings" panose="05000000000000000000" pitchFamily="2" charset="2"/>
              <a:buChar char="Ø"/>
              <a:defRPr sz="2000" b="1">
                <a:latin typeface="Times New Roman" panose="02020603050405020304" pitchFamily="18" charset="0"/>
                <a:ea typeface="宋体" panose="02010600030101010101" pitchFamily="2" charset="-122"/>
              </a:defRPr>
            </a:lvl2pPr>
            <a:lvl3pPr marL="1143000" indent="-228600" eaLnBrk="0" hangingPunct="0">
              <a:spcBef>
                <a:spcPts val="250"/>
              </a:spcBef>
              <a:buClr>
                <a:srgbClr val="ED3742"/>
              </a:buClr>
              <a:buSzPct val="100000"/>
              <a:buFont typeface="Wingdings 2" panose="05020102010507070707" pitchFamily="18" charset="2"/>
              <a:buChar char=""/>
              <a:defRPr sz="2400">
                <a:latin typeface="Arial Rounded MT Bold" panose="020F0704030504030204" pitchFamily="34" charset="0"/>
                <a:ea typeface="宋体" panose="02010600030101010101" pitchFamily="2" charset="-122"/>
              </a:defRPr>
            </a:lvl3pPr>
            <a:lvl4pPr marL="1600200" indent="-228600" eaLnBrk="0" hangingPunct="0">
              <a:spcBef>
                <a:spcPts val="225"/>
              </a:spcBef>
              <a:buClr>
                <a:srgbClr val="ED3742"/>
              </a:buClr>
              <a:buSzPct val="112000"/>
              <a:buFont typeface="Verdana" panose="020B0604030504040204" pitchFamily="34" charset="0"/>
              <a:buChar char="◦"/>
              <a:defRPr sz="1900">
                <a:latin typeface="Arial Rounded MT Bold" panose="020F0704030504030204" pitchFamily="34" charset="0"/>
                <a:ea typeface="宋体" panose="02010600030101010101" pitchFamily="2" charset="-122"/>
              </a:defRPr>
            </a:lvl4pPr>
            <a:lvl5pPr marL="2057400" indent="-228600" eaLnBrk="0" hangingPunct="0">
              <a:spcBef>
                <a:spcPts val="250"/>
              </a:spcBef>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9pPr>
          </a:lstStyle>
          <a:p>
            <a:pPr>
              <a:defRPr/>
            </a:pPr>
            <a:r>
              <a:rPr lang="zh-CN" altLang="en-US" sz="5400" dirty="0">
                <a:solidFill>
                  <a:srgbClr val="C00000"/>
                </a:solidFill>
                <a:latin typeface="Arial" charset="0"/>
                <a:ea typeface="华文新魏" pitchFamily="2" charset="-122"/>
              </a:rPr>
              <a:t>数学建模与实验</a:t>
            </a:r>
          </a:p>
        </p:txBody>
      </p:sp>
      <p:grpSp>
        <p:nvGrpSpPr>
          <p:cNvPr id="34" name="Group 3"/>
          <p:cNvGrpSpPr>
            <a:grpSpLocks/>
          </p:cNvGrpSpPr>
          <p:nvPr/>
        </p:nvGrpSpPr>
        <p:grpSpPr bwMode="auto">
          <a:xfrm>
            <a:off x="1439467" y="5662615"/>
            <a:ext cx="6265069" cy="719137"/>
            <a:chOff x="249" y="3702"/>
            <a:chExt cx="5262" cy="453"/>
          </a:xfrm>
        </p:grpSpPr>
        <p:pic>
          <p:nvPicPr>
            <p:cNvPr id="3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6"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7"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8" name="Picture 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1"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9"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1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grpSp>
      <p:sp>
        <p:nvSpPr>
          <p:cNvPr id="15" name="矩形 14">
            <a:extLst>
              <a:ext uri="{FF2B5EF4-FFF2-40B4-BE49-F238E27FC236}">
                <a16:creationId xmlns:a16="http://schemas.microsoft.com/office/drawing/2014/main" id="{345BBAC6-9C8F-4B43-B203-AB4AEDCB6C5B}"/>
              </a:ext>
            </a:extLst>
          </p:cNvPr>
          <p:cNvSpPr/>
          <p:nvPr/>
        </p:nvSpPr>
        <p:spPr>
          <a:xfrm>
            <a:off x="2146297" y="3425275"/>
            <a:ext cx="4729959"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方程模型</a:t>
            </a:r>
          </a:p>
        </p:txBody>
      </p:sp>
    </p:spTree>
    <p:extLst>
      <p:ext uri="{BB962C8B-B14F-4D97-AF65-F5344CB8AC3E}">
        <p14:creationId xmlns:p14="http://schemas.microsoft.com/office/powerpoint/2010/main" val="40549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D514179F-5C41-4B8C-9CFA-3B672E341BC0}"/>
              </a:ext>
            </a:extLst>
          </p:cNvPr>
          <p:cNvSpPr txBox="1">
            <a:spLocks noChangeArrowheads="1"/>
          </p:cNvSpPr>
          <p:nvPr/>
        </p:nvSpPr>
        <p:spPr bwMode="auto">
          <a:xfrm>
            <a:off x="1187450" y="260350"/>
            <a:ext cx="69135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5400" b="1" dirty="0">
                <a:solidFill>
                  <a:schemeClr val="accent2"/>
                </a:solidFill>
                <a:latin typeface="Times New Roman" panose="02020603050405020304" pitchFamily="18" charset="0"/>
                <a:ea typeface="楷体_GB2312" pitchFamily="49" charset="-122"/>
              </a:rPr>
              <a:t>微分方程模型</a:t>
            </a:r>
          </a:p>
        </p:txBody>
      </p:sp>
      <p:pic>
        <p:nvPicPr>
          <p:cNvPr id="22534" name="Picture 6">
            <a:extLst>
              <a:ext uri="{FF2B5EF4-FFF2-40B4-BE49-F238E27FC236}">
                <a16:creationId xmlns:a16="http://schemas.microsoft.com/office/drawing/2014/main" id="{CFDF4381-903B-4B96-A060-8E16090D76FE}"/>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4500563" y="2944813"/>
            <a:ext cx="1965325" cy="1708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36" name="Rectangle 8">
            <a:extLst>
              <a:ext uri="{FF2B5EF4-FFF2-40B4-BE49-F238E27FC236}">
                <a16:creationId xmlns:a16="http://schemas.microsoft.com/office/drawing/2014/main" id="{01DBE514-2D49-458F-ADA9-3DC0B47DCC89}"/>
              </a:ext>
            </a:extLst>
          </p:cNvPr>
          <p:cNvSpPr>
            <a:spLocks noChangeArrowheads="1"/>
          </p:cNvSpPr>
          <p:nvPr/>
        </p:nvSpPr>
        <p:spPr bwMode="auto">
          <a:xfrm>
            <a:off x="457200" y="1736725"/>
            <a:ext cx="8001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楷体_GB2312" pitchFamily="49" charset="-122"/>
                <a:ea typeface="楷体_GB2312" pitchFamily="49" charset="-122"/>
              </a:rPr>
              <a:t>    </a:t>
            </a:r>
            <a:r>
              <a:rPr lang="zh-CN" altLang="en-US" sz="2400" b="1" dirty="0">
                <a:latin typeface="Times New Roman" panose="02020603050405020304" pitchFamily="18" charset="0"/>
                <a:ea typeface="楷体_GB2312" pitchFamily="49" charset="-122"/>
              </a:rPr>
              <a:t>在许多实际问题中，当直接导出变量之间的函数关系较为困难，但导出包含未知函数的导数或微分的关系式较为容易时，可用建立微分方程模型的方法来研究该问题</a:t>
            </a:r>
            <a:r>
              <a:rPr lang="en-US" altLang="zh-CN" sz="2400" b="1" dirty="0">
                <a:latin typeface="Times New Roman" panose="02020603050405020304" pitchFamily="18" charset="0"/>
                <a:ea typeface="楷体_GB2312" pitchFamily="49" charset="-122"/>
              </a:rPr>
              <a:t>.</a:t>
            </a:r>
            <a:endParaRPr lang="en-US" altLang="zh-CN" sz="2400" b="1" dirty="0">
              <a:latin typeface="Times New Roman" panose="02020603050405020304" pitchFamily="18" charset="0"/>
            </a:endParaRPr>
          </a:p>
        </p:txBody>
      </p:sp>
      <p:sp>
        <p:nvSpPr>
          <p:cNvPr id="22537" name="Rectangle 9">
            <a:extLst>
              <a:ext uri="{FF2B5EF4-FFF2-40B4-BE49-F238E27FC236}">
                <a16:creationId xmlns:a16="http://schemas.microsoft.com/office/drawing/2014/main" id="{15B65C79-4265-4104-AC24-17EE21FDCFD1}"/>
              </a:ext>
            </a:extLst>
          </p:cNvPr>
          <p:cNvSpPr>
            <a:spLocks noChangeArrowheads="1"/>
          </p:cNvSpPr>
          <p:nvPr/>
        </p:nvSpPr>
        <p:spPr bwMode="auto">
          <a:xfrm>
            <a:off x="457200" y="4689475"/>
            <a:ext cx="814724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b="1" dirty="0">
                <a:latin typeface="Times New Roman" panose="02020603050405020304" pitchFamily="18" charset="0"/>
                <a:ea typeface="楷体_GB2312" pitchFamily="49" charset="-122"/>
              </a:rPr>
              <a:t>本节将通过一些最简单的实例来说明微分方程建模的一般方法。在连续变量问题的研究中，微分方程是十分常用的数学工具之一。 </a:t>
            </a:r>
          </a:p>
        </p:txBody>
      </p:sp>
      <p:sp>
        <p:nvSpPr>
          <p:cNvPr id="2" name="灯片编号占位符 1">
            <a:extLst>
              <a:ext uri="{FF2B5EF4-FFF2-40B4-BE49-F238E27FC236}">
                <a16:creationId xmlns:a16="http://schemas.microsoft.com/office/drawing/2014/main" id="{E86EEDE1-55ED-9FBB-D349-F848EE4D7BA4}"/>
              </a:ext>
            </a:extLst>
          </p:cNvPr>
          <p:cNvSpPr>
            <a:spLocks noGrp="1"/>
          </p:cNvSpPr>
          <p:nvPr>
            <p:ph type="sldNum" sz="quarter" idx="12"/>
          </p:nvPr>
        </p:nvSpPr>
        <p:spPr/>
        <p:txBody>
          <a:bodyPr/>
          <a:lstStyle/>
          <a:p>
            <a:fld id="{0C913308-F349-4B6D-A68A-DD1791B4A57B}" type="slidenum">
              <a:rPr lang="zh-CN" altLang="en-US" smtClean="0"/>
              <a:t>2</a:t>
            </a:fld>
            <a:endParaRPr lang="zh-CN" altLang="en-US"/>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Text Box 4">
            <a:extLst>
              <a:ext uri="{FF2B5EF4-FFF2-40B4-BE49-F238E27FC236}">
                <a16:creationId xmlns:a16="http://schemas.microsoft.com/office/drawing/2014/main" id="{9321BE9F-4692-47AB-A695-BF5ACE3F8387}"/>
              </a:ext>
            </a:extLst>
          </p:cNvPr>
          <p:cNvSpPr txBox="1">
            <a:spLocks noChangeArrowheads="1"/>
          </p:cNvSpPr>
          <p:nvPr/>
        </p:nvSpPr>
        <p:spPr bwMode="auto">
          <a:xfrm>
            <a:off x="71438" y="2420938"/>
            <a:ext cx="8964612" cy="393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zh-CN" altLang="en-US" sz="2800" b="1" dirty="0">
                <a:solidFill>
                  <a:srgbClr val="FF0000"/>
                </a:solidFill>
                <a:latin typeface="楷体_GB2312" pitchFamily="49" charset="-122"/>
                <a:ea typeface="楷体_GB2312" pitchFamily="49" charset="-122"/>
              </a:rPr>
              <a:t>求出方程的解</a:t>
            </a:r>
          </a:p>
          <a:p>
            <a:pPr algn="l">
              <a:spcBef>
                <a:spcPct val="50000"/>
              </a:spcBef>
            </a:pPr>
            <a:r>
              <a:rPr kumimoji="1" lang="zh-CN" altLang="en-US" sz="2400" b="1" dirty="0">
                <a:latin typeface="楷体_GB2312" pitchFamily="49" charset="-122"/>
                <a:ea typeface="楷体_GB2312" pitchFamily="49" charset="-122"/>
              </a:rPr>
              <a:t>      </a:t>
            </a:r>
            <a:r>
              <a:rPr kumimoji="1" lang="en-US" altLang="zh-CN" sz="2800" b="1" dirty="0">
                <a:latin typeface="Times New Roman" panose="02020603050405020304" pitchFamily="18" charset="0"/>
                <a:ea typeface="楷体_GB2312" pitchFamily="49" charset="-122"/>
              </a:rPr>
              <a:t>——</a:t>
            </a:r>
            <a:r>
              <a:rPr kumimoji="1" lang="zh-CN" altLang="en-US" sz="2800" b="1" dirty="0">
                <a:latin typeface="楷体_GB2312" pitchFamily="49" charset="-122"/>
                <a:ea typeface="楷体_GB2312" pitchFamily="49" charset="-122"/>
              </a:rPr>
              <a:t>求出未知函数的解析表达式</a:t>
            </a:r>
          </a:p>
          <a:p>
            <a:pPr algn="l">
              <a:spcBef>
                <a:spcPct val="50000"/>
              </a:spcBef>
            </a:pPr>
            <a:r>
              <a:rPr kumimoji="1" lang="zh-CN" altLang="en-US" sz="2800" b="1" dirty="0">
                <a:latin typeface="楷体_GB2312" pitchFamily="49" charset="-122"/>
                <a:ea typeface="楷体_GB2312" pitchFamily="49" charset="-122"/>
              </a:rPr>
              <a:t>     </a:t>
            </a:r>
            <a:r>
              <a:rPr kumimoji="1" lang="en-US" altLang="zh-CN" sz="2800" b="1" dirty="0">
                <a:latin typeface="Times New Roman" panose="02020603050405020304" pitchFamily="18" charset="0"/>
                <a:ea typeface="楷体_GB2312" pitchFamily="49" charset="-122"/>
              </a:rPr>
              <a:t>——</a:t>
            </a:r>
            <a:r>
              <a:rPr kumimoji="1" lang="zh-CN" altLang="en-US" sz="2800" b="1" dirty="0">
                <a:latin typeface="楷体_GB2312" pitchFamily="49" charset="-122"/>
                <a:ea typeface="楷体_GB2312" pitchFamily="49" charset="-122"/>
              </a:rPr>
              <a:t>利用各种数值解法、数值软件（如</a:t>
            </a:r>
            <a:r>
              <a:rPr kumimoji="1" lang="en-US" altLang="zh-CN" sz="2800" b="1" dirty="0" err="1">
                <a:latin typeface="楷体_GB2312" pitchFamily="49" charset="-122"/>
                <a:ea typeface="楷体_GB2312" pitchFamily="49" charset="-122"/>
              </a:rPr>
              <a:t>Matlab</a:t>
            </a:r>
            <a:r>
              <a:rPr kumimoji="1" lang="zh-CN" altLang="en-US" sz="2800" b="1" dirty="0">
                <a:latin typeface="楷体_GB2312" pitchFamily="49" charset="-122"/>
                <a:ea typeface="楷体_GB2312" pitchFamily="49" charset="-122"/>
              </a:rPr>
              <a:t>）求近似解</a:t>
            </a:r>
          </a:p>
          <a:p>
            <a:pPr algn="l">
              <a:spcBef>
                <a:spcPct val="50000"/>
              </a:spcBef>
            </a:pPr>
            <a:r>
              <a:rPr kumimoji="1" lang="zh-CN" altLang="en-US" sz="2800" b="1" dirty="0">
                <a:solidFill>
                  <a:srgbClr val="FF0000"/>
                </a:solidFill>
                <a:latin typeface="楷体_GB2312" pitchFamily="49" charset="-122"/>
                <a:ea typeface="楷体_GB2312" pitchFamily="49" charset="-122"/>
              </a:rPr>
              <a:t>不必求出方程的解</a:t>
            </a:r>
          </a:p>
          <a:p>
            <a:pPr algn="l">
              <a:spcBef>
                <a:spcPct val="50000"/>
              </a:spcBef>
            </a:pPr>
            <a:r>
              <a:rPr kumimoji="1" lang="zh-CN" altLang="en-US" sz="2800" b="1" dirty="0">
                <a:latin typeface="楷体_GB2312" pitchFamily="49" charset="-122"/>
                <a:ea typeface="楷体_GB2312" pitchFamily="49" charset="-122"/>
              </a:rPr>
              <a:t>      </a:t>
            </a:r>
            <a:r>
              <a:rPr kumimoji="1" lang="en-US" altLang="zh-CN" sz="2800" b="1" dirty="0">
                <a:latin typeface="Times New Roman" panose="02020603050405020304" pitchFamily="18" charset="0"/>
                <a:ea typeface="楷体_GB2312" pitchFamily="49" charset="-122"/>
              </a:rPr>
              <a:t>——</a:t>
            </a:r>
            <a:r>
              <a:rPr kumimoji="1" lang="zh-CN" altLang="en-US" sz="2800" b="1" dirty="0">
                <a:latin typeface="楷体_GB2312" pitchFamily="49" charset="-122"/>
                <a:ea typeface="楷体_GB2312" pitchFamily="49" charset="-122"/>
              </a:rPr>
              <a:t>根据微分方程的理论研究某些性质，或它的变化趋势</a:t>
            </a:r>
          </a:p>
        </p:txBody>
      </p:sp>
      <p:sp>
        <p:nvSpPr>
          <p:cNvPr id="20485" name="Text Box 5">
            <a:extLst>
              <a:ext uri="{FF2B5EF4-FFF2-40B4-BE49-F238E27FC236}">
                <a16:creationId xmlns:a16="http://schemas.microsoft.com/office/drawing/2014/main" id="{EF2B2563-00F1-4F55-83E2-DFF6BAA7E71D}"/>
              </a:ext>
            </a:extLst>
          </p:cNvPr>
          <p:cNvSpPr txBox="1">
            <a:spLocks noChangeArrowheads="1"/>
          </p:cNvSpPr>
          <p:nvPr/>
        </p:nvSpPr>
        <p:spPr bwMode="auto">
          <a:xfrm>
            <a:off x="395288" y="476250"/>
            <a:ext cx="84248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1" lang="en-US" altLang="zh-CN" sz="2800">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把未知变量表示为已知量的函数</a:t>
            </a:r>
            <a:r>
              <a:rPr kumimoji="1" lang="en-US" altLang="zh-CN" sz="2800" b="1">
                <a:latin typeface="Times New Roman" panose="02020603050405020304" pitchFamily="18" charset="0"/>
                <a:ea typeface="楷体_GB2312" pitchFamily="49" charset="-122"/>
              </a:rPr>
              <a:t>——</a:t>
            </a:r>
            <a:r>
              <a:rPr kumimoji="1" lang="zh-CN" altLang="en-US" sz="2800" b="1">
                <a:latin typeface="Times New Roman" panose="02020603050405020304" pitchFamily="18" charset="0"/>
                <a:ea typeface="楷体_GB2312" pitchFamily="49" charset="-122"/>
              </a:rPr>
              <a:t>跟已知量的导数有关</a:t>
            </a:r>
          </a:p>
        </p:txBody>
      </p:sp>
      <p:pic>
        <p:nvPicPr>
          <p:cNvPr id="20486" name="Picture 6">
            <a:extLst>
              <a:ext uri="{FF2B5EF4-FFF2-40B4-BE49-F238E27FC236}">
                <a16:creationId xmlns:a16="http://schemas.microsoft.com/office/drawing/2014/main" id="{75DC0139-A53A-41F4-8A20-4CB8A883D5E9}"/>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6732588" y="1268413"/>
            <a:ext cx="1965325" cy="1708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灯片编号占位符 1">
            <a:extLst>
              <a:ext uri="{FF2B5EF4-FFF2-40B4-BE49-F238E27FC236}">
                <a16:creationId xmlns:a16="http://schemas.microsoft.com/office/drawing/2014/main" id="{72765AD2-F6AF-25FB-EB76-A81B33571EA0}"/>
              </a:ext>
            </a:extLst>
          </p:cNvPr>
          <p:cNvSpPr>
            <a:spLocks noGrp="1"/>
          </p:cNvSpPr>
          <p:nvPr>
            <p:ph type="sldNum" sz="quarter" idx="12"/>
          </p:nvPr>
        </p:nvSpPr>
        <p:spPr/>
        <p:txBody>
          <a:bodyPr/>
          <a:lstStyle/>
          <a:p>
            <a:fld id="{0C913308-F349-4B6D-A68A-DD1791B4A57B}" type="slidenum">
              <a:rPr lang="zh-CN" altLang="en-US" smtClean="0"/>
              <a:t>3</a:t>
            </a:fld>
            <a:endParaRPr lang="zh-CN" altLang="en-US"/>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E336048-F539-4E84-AFCD-768E196951BB}"/>
              </a:ext>
            </a:extLst>
          </p:cNvPr>
          <p:cNvSpPr>
            <a:spLocks noChangeArrowheads="1"/>
          </p:cNvSpPr>
          <p:nvPr/>
        </p:nvSpPr>
        <p:spPr bwMode="auto">
          <a:xfrm>
            <a:off x="304800" y="1247775"/>
            <a:ext cx="844366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dirty="0">
                <a:latin typeface="宋体" panose="02010600030101010101" pitchFamily="2" charset="-122"/>
              </a:rPr>
              <a:t>     </a:t>
            </a:r>
            <a:r>
              <a:rPr lang="zh-CN" altLang="en-US" sz="2400" b="1" dirty="0">
                <a:latin typeface="楷体_GB2312" pitchFamily="49" charset="-122"/>
                <a:ea typeface="楷体_GB2312" pitchFamily="49" charset="-122"/>
              </a:rPr>
              <a:t>为了保持自然资料的合理开发与利用，人类必须保持并控制生态平衡，甚至必须控制人类自身的增长。</a:t>
            </a:r>
          </a:p>
          <a:p>
            <a:pPr algn="l"/>
            <a:endParaRPr lang="zh-CN" altLang="en-US" sz="2400" b="1" dirty="0">
              <a:latin typeface="楷体_GB2312" pitchFamily="49" charset="-122"/>
              <a:ea typeface="楷体_GB2312" pitchFamily="49" charset="-122"/>
            </a:endParaRPr>
          </a:p>
          <a:p>
            <a:pPr algn="l"/>
            <a:r>
              <a:rPr lang="zh-CN" altLang="en-US" sz="2400" b="1" dirty="0">
                <a:latin typeface="楷体_GB2312" pitchFamily="49" charset="-122"/>
                <a:ea typeface="楷体_GB2312" pitchFamily="49" charset="-122"/>
              </a:rPr>
              <a:t>    本节将建立几个简单的</a:t>
            </a:r>
            <a:r>
              <a:rPr lang="zh-CN" altLang="en-US" sz="2400" b="1" dirty="0">
                <a:solidFill>
                  <a:srgbClr val="FF0000"/>
                </a:solidFill>
                <a:latin typeface="楷体_GB2312" pitchFamily="49" charset="-122"/>
                <a:ea typeface="楷体_GB2312" pitchFamily="49" charset="-122"/>
              </a:rPr>
              <a:t>单种群增长</a:t>
            </a:r>
            <a:r>
              <a:rPr lang="zh-CN" altLang="en-US" sz="2400" b="1" dirty="0">
                <a:latin typeface="楷体_GB2312" pitchFamily="49" charset="-122"/>
                <a:ea typeface="楷体_GB2312" pitchFamily="49" charset="-122"/>
              </a:rPr>
              <a:t>模型，以简略分析一下这方面的问题。一般生态系统的分析可以通过一些简单模型的复合来研究，大家若有兴趣可以根据生态系统的特征自行建立相应的模型。</a:t>
            </a:r>
            <a:r>
              <a:rPr lang="zh-CN" altLang="en-US" dirty="0"/>
              <a:t> </a:t>
            </a:r>
          </a:p>
        </p:txBody>
      </p:sp>
      <p:sp>
        <p:nvSpPr>
          <p:cNvPr id="3078" name="Rectangle 6">
            <a:extLst>
              <a:ext uri="{FF2B5EF4-FFF2-40B4-BE49-F238E27FC236}">
                <a16:creationId xmlns:a16="http://schemas.microsoft.com/office/drawing/2014/main" id="{B5FEBF6D-7F5D-4A3A-AF2D-C87C9F934922}"/>
              </a:ext>
            </a:extLst>
          </p:cNvPr>
          <p:cNvSpPr>
            <a:spLocks noChangeArrowheads="1"/>
          </p:cNvSpPr>
          <p:nvPr/>
        </p:nvSpPr>
        <p:spPr bwMode="auto">
          <a:xfrm>
            <a:off x="304800" y="4543425"/>
            <a:ext cx="844366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dirty="0">
                <a:latin typeface="宋体" panose="02010600030101010101" pitchFamily="2" charset="-122"/>
              </a:rPr>
              <a:t>     </a:t>
            </a:r>
            <a:r>
              <a:rPr lang="zh-CN" altLang="en-US" sz="2400" b="1" dirty="0">
                <a:latin typeface="楷体_GB2312" pitchFamily="49" charset="-122"/>
                <a:ea typeface="楷体_GB2312" pitchFamily="49" charset="-122"/>
              </a:rPr>
              <a:t>种群的数量本应取离散值，但由于种群数量一般较大，为建立微分方程模型，可将种群数量看作连续变量，甚至允许它为可微变量，由此引起的误差将是十分微小的。 </a:t>
            </a:r>
          </a:p>
        </p:txBody>
      </p:sp>
      <p:sp>
        <p:nvSpPr>
          <p:cNvPr id="3080" name="Rectangle 8">
            <a:extLst>
              <a:ext uri="{FF2B5EF4-FFF2-40B4-BE49-F238E27FC236}">
                <a16:creationId xmlns:a16="http://schemas.microsoft.com/office/drawing/2014/main" id="{91F5B7F3-F4F9-4029-8099-78270893ADB1}"/>
              </a:ext>
            </a:extLst>
          </p:cNvPr>
          <p:cNvSpPr>
            <a:spLocks noGrp="1" noChangeArrowheads="1"/>
          </p:cNvSpPr>
          <p:nvPr>
            <p:ph type="title"/>
          </p:nvPr>
        </p:nvSpPr>
        <p:spPr>
          <a:xfrm>
            <a:off x="687388" y="228600"/>
            <a:ext cx="7772400" cy="1143000"/>
          </a:xfrm>
          <a:noFill/>
          <a:ln/>
        </p:spPr>
        <p:txBody>
          <a:bodyPr/>
          <a:lstStyle/>
          <a:p>
            <a:r>
              <a:rPr kumimoji="1" lang="en-US" altLang="zh-CN" sz="2800" b="1" dirty="0">
                <a:solidFill>
                  <a:schemeClr val="tx1"/>
                </a:solidFill>
                <a:latin typeface="Times New Roman" panose="02020603050405020304" pitchFamily="18" charset="0"/>
              </a:rPr>
              <a:t>§</a:t>
            </a:r>
            <a:r>
              <a:rPr kumimoji="1" lang="en-US" altLang="zh-CN" sz="2800" b="1" dirty="0">
                <a:solidFill>
                  <a:srgbClr val="FF3300"/>
                </a:solidFill>
                <a:latin typeface="Times New Roman" panose="02020603050405020304" pitchFamily="18" charset="0"/>
                <a:ea typeface="楷体_GB2312" pitchFamily="49" charset="-122"/>
              </a:rPr>
              <a:t> Malthus</a:t>
            </a:r>
            <a:r>
              <a:rPr kumimoji="1" lang="zh-CN" altLang="en-US" sz="2800" b="1" dirty="0">
                <a:solidFill>
                  <a:srgbClr val="FF3300"/>
                </a:solidFill>
                <a:latin typeface="Times New Roman" panose="02020603050405020304" pitchFamily="18" charset="0"/>
                <a:ea typeface="楷体_GB2312" pitchFamily="49" charset="-122"/>
              </a:rPr>
              <a:t>模型与</a:t>
            </a:r>
            <a:r>
              <a:rPr kumimoji="1" lang="en-US" altLang="zh-CN" sz="2800" b="1" dirty="0">
                <a:solidFill>
                  <a:srgbClr val="FF3300"/>
                </a:solidFill>
                <a:latin typeface="Times New Roman" panose="02020603050405020304" pitchFamily="18" charset="0"/>
                <a:ea typeface="楷体_GB2312" pitchFamily="49" charset="-122"/>
              </a:rPr>
              <a:t>Logistic</a:t>
            </a:r>
            <a:r>
              <a:rPr kumimoji="1" lang="zh-CN" altLang="en-US" sz="2800" b="1" dirty="0">
                <a:solidFill>
                  <a:srgbClr val="FF3300"/>
                </a:solidFill>
                <a:latin typeface="Times New Roman" panose="02020603050405020304" pitchFamily="18" charset="0"/>
                <a:ea typeface="楷体_GB2312" pitchFamily="49" charset="-122"/>
              </a:rPr>
              <a:t>模型</a:t>
            </a:r>
          </a:p>
        </p:txBody>
      </p:sp>
      <p:sp>
        <p:nvSpPr>
          <p:cNvPr id="2" name="灯片编号占位符 1">
            <a:extLst>
              <a:ext uri="{FF2B5EF4-FFF2-40B4-BE49-F238E27FC236}">
                <a16:creationId xmlns:a16="http://schemas.microsoft.com/office/drawing/2014/main" id="{82F57C29-2F5E-2D0B-1AD8-8F15D72AE179}"/>
              </a:ext>
            </a:extLst>
          </p:cNvPr>
          <p:cNvSpPr>
            <a:spLocks noGrp="1"/>
          </p:cNvSpPr>
          <p:nvPr>
            <p:ph type="sldNum" sz="quarter" idx="12"/>
          </p:nvPr>
        </p:nvSpPr>
        <p:spPr/>
        <p:txBody>
          <a:bodyPr/>
          <a:lstStyle/>
          <a:p>
            <a:fld id="{0C913308-F349-4B6D-A68A-DD1791B4A57B}"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Rectangle 8">
            <a:extLst>
              <a:ext uri="{FF2B5EF4-FFF2-40B4-BE49-F238E27FC236}">
                <a16:creationId xmlns:a16="http://schemas.microsoft.com/office/drawing/2014/main" id="{B22AB807-7096-4F80-8BB6-E00820CEEF4C}"/>
              </a:ext>
            </a:extLst>
          </p:cNvPr>
          <p:cNvSpPr>
            <a:spLocks noGrp="1" noChangeArrowheads="1"/>
          </p:cNvSpPr>
          <p:nvPr>
            <p:ph type="title"/>
          </p:nvPr>
        </p:nvSpPr>
        <p:spPr>
          <a:xfrm>
            <a:off x="687388" y="228600"/>
            <a:ext cx="7772400" cy="1143000"/>
          </a:xfrm>
          <a:noFill/>
          <a:ln/>
        </p:spPr>
        <p:txBody>
          <a:bodyPr/>
          <a:lstStyle/>
          <a:p>
            <a:r>
              <a:rPr kumimoji="1" lang="en-US" altLang="zh-CN" sz="2800" b="1">
                <a:solidFill>
                  <a:schemeClr val="tx1"/>
                </a:solidFill>
                <a:latin typeface="Times New Roman" panose="02020603050405020304" pitchFamily="18" charset="0"/>
              </a:rPr>
              <a:t>§</a:t>
            </a:r>
            <a:r>
              <a:rPr kumimoji="1" lang="en-US" altLang="zh-CN" sz="2800" b="1">
                <a:solidFill>
                  <a:srgbClr val="FF3300"/>
                </a:solidFill>
                <a:latin typeface="Times New Roman" panose="02020603050405020304" pitchFamily="18" charset="0"/>
                <a:ea typeface="楷体_GB2312" pitchFamily="49" charset="-122"/>
              </a:rPr>
              <a:t> 4.1  Malthus</a:t>
            </a:r>
            <a:r>
              <a:rPr kumimoji="1" lang="zh-CN" altLang="en-US" sz="2800" b="1">
                <a:solidFill>
                  <a:srgbClr val="FF3300"/>
                </a:solidFill>
                <a:latin typeface="Times New Roman" panose="02020603050405020304" pitchFamily="18" charset="0"/>
                <a:ea typeface="楷体_GB2312" pitchFamily="49" charset="-122"/>
              </a:rPr>
              <a:t>模型与</a:t>
            </a:r>
            <a:r>
              <a:rPr kumimoji="1" lang="en-US" altLang="zh-CN" sz="2800" b="1">
                <a:solidFill>
                  <a:srgbClr val="FF3300"/>
                </a:solidFill>
                <a:latin typeface="Times New Roman" panose="02020603050405020304" pitchFamily="18" charset="0"/>
                <a:ea typeface="楷体_GB2312" pitchFamily="49" charset="-122"/>
              </a:rPr>
              <a:t>Logistic</a:t>
            </a:r>
            <a:r>
              <a:rPr kumimoji="1" lang="zh-CN" altLang="en-US" sz="2800" b="1">
                <a:solidFill>
                  <a:srgbClr val="FF3300"/>
                </a:solidFill>
                <a:latin typeface="Times New Roman" panose="02020603050405020304" pitchFamily="18" charset="0"/>
                <a:ea typeface="楷体_GB2312" pitchFamily="49" charset="-122"/>
              </a:rPr>
              <a:t>模型</a:t>
            </a:r>
          </a:p>
        </p:txBody>
      </p:sp>
      <p:grpSp>
        <p:nvGrpSpPr>
          <p:cNvPr id="25615" name="Group 15">
            <a:extLst>
              <a:ext uri="{FF2B5EF4-FFF2-40B4-BE49-F238E27FC236}">
                <a16:creationId xmlns:a16="http://schemas.microsoft.com/office/drawing/2014/main" id="{D066E2DB-D793-4040-AB91-73F5B934FD15}"/>
              </a:ext>
            </a:extLst>
          </p:cNvPr>
          <p:cNvGrpSpPr>
            <a:grpSpLocks/>
          </p:cNvGrpSpPr>
          <p:nvPr/>
        </p:nvGrpSpPr>
        <p:grpSpPr bwMode="auto">
          <a:xfrm>
            <a:off x="827088" y="1196975"/>
            <a:ext cx="7632700" cy="1800225"/>
            <a:chOff x="612" y="799"/>
            <a:chExt cx="4808" cy="1134"/>
          </a:xfrm>
        </p:grpSpPr>
        <p:sp>
          <p:nvSpPr>
            <p:cNvPr id="25609" name="Line 9">
              <a:extLst>
                <a:ext uri="{FF2B5EF4-FFF2-40B4-BE49-F238E27FC236}">
                  <a16:creationId xmlns:a16="http://schemas.microsoft.com/office/drawing/2014/main" id="{41A8B3F8-1B96-4C0A-9C04-58CD451A9C80}"/>
                </a:ext>
              </a:extLst>
            </p:cNvPr>
            <p:cNvSpPr>
              <a:spLocks noChangeShapeType="1"/>
            </p:cNvSpPr>
            <p:nvPr/>
          </p:nvSpPr>
          <p:spPr bwMode="auto">
            <a:xfrm>
              <a:off x="703" y="1162"/>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0" name="Line 10">
              <a:extLst>
                <a:ext uri="{FF2B5EF4-FFF2-40B4-BE49-F238E27FC236}">
                  <a16:creationId xmlns:a16="http://schemas.microsoft.com/office/drawing/2014/main" id="{CDD82BBA-0BA0-4CCB-AF04-03469D451C17}"/>
                </a:ext>
              </a:extLst>
            </p:cNvPr>
            <p:cNvSpPr>
              <a:spLocks noChangeShapeType="1"/>
            </p:cNvSpPr>
            <p:nvPr/>
          </p:nvSpPr>
          <p:spPr bwMode="auto">
            <a:xfrm>
              <a:off x="705" y="1525"/>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1" name="Line 11">
              <a:extLst>
                <a:ext uri="{FF2B5EF4-FFF2-40B4-BE49-F238E27FC236}">
                  <a16:creationId xmlns:a16="http://schemas.microsoft.com/office/drawing/2014/main" id="{12934991-1ECC-4C26-BC30-CC054C0D22EC}"/>
                </a:ext>
              </a:extLst>
            </p:cNvPr>
            <p:cNvSpPr>
              <a:spLocks noChangeShapeType="1"/>
            </p:cNvSpPr>
            <p:nvPr/>
          </p:nvSpPr>
          <p:spPr bwMode="auto">
            <a:xfrm>
              <a:off x="703" y="1933"/>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2" name="Text Box 12">
              <a:extLst>
                <a:ext uri="{FF2B5EF4-FFF2-40B4-BE49-F238E27FC236}">
                  <a16:creationId xmlns:a16="http://schemas.microsoft.com/office/drawing/2014/main" id="{78CCC10B-BFCF-4573-912D-2307F700955A}"/>
                </a:ext>
              </a:extLst>
            </p:cNvPr>
            <p:cNvSpPr txBox="1">
              <a:spLocks noChangeArrowheads="1"/>
            </p:cNvSpPr>
            <p:nvPr/>
          </p:nvSpPr>
          <p:spPr bwMode="auto">
            <a:xfrm>
              <a:off x="657" y="799"/>
              <a:ext cx="9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t>世界人口</a:t>
              </a:r>
            </a:p>
          </p:txBody>
        </p:sp>
        <p:sp>
          <p:nvSpPr>
            <p:cNvPr id="25613" name="Text Box 13">
              <a:extLst>
                <a:ext uri="{FF2B5EF4-FFF2-40B4-BE49-F238E27FC236}">
                  <a16:creationId xmlns:a16="http://schemas.microsoft.com/office/drawing/2014/main" id="{CA3CB1EC-062B-4E2E-A53D-0E67063E95C7}"/>
                </a:ext>
              </a:extLst>
            </p:cNvPr>
            <p:cNvSpPr txBox="1">
              <a:spLocks noChangeArrowheads="1"/>
            </p:cNvSpPr>
            <p:nvPr/>
          </p:nvSpPr>
          <p:spPr bwMode="auto">
            <a:xfrm>
              <a:off x="748" y="1230"/>
              <a:ext cx="46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b="1"/>
                <a:t>年 </a:t>
              </a:r>
              <a:r>
                <a:rPr lang="zh-CN" altLang="en-US" sz="2000"/>
                <a:t>           </a:t>
              </a:r>
              <a:r>
                <a:rPr lang="en-US" altLang="zh-CN" sz="2000" b="1"/>
                <a:t>1625     1830     1930    1960    1974    1987    1999</a:t>
              </a:r>
            </a:p>
          </p:txBody>
        </p:sp>
        <p:sp>
          <p:nvSpPr>
            <p:cNvPr id="25614" name="Text Box 14">
              <a:extLst>
                <a:ext uri="{FF2B5EF4-FFF2-40B4-BE49-F238E27FC236}">
                  <a16:creationId xmlns:a16="http://schemas.microsoft.com/office/drawing/2014/main" id="{4F5AEEFE-2BBD-45C1-9217-885271C4279B}"/>
                </a:ext>
              </a:extLst>
            </p:cNvPr>
            <p:cNvSpPr txBox="1">
              <a:spLocks noChangeArrowheads="1"/>
            </p:cNvSpPr>
            <p:nvPr/>
          </p:nvSpPr>
          <p:spPr bwMode="auto">
            <a:xfrm>
              <a:off x="612" y="1627"/>
              <a:ext cx="48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b="1"/>
                <a:t>人口（亿）</a:t>
              </a:r>
              <a:r>
                <a:rPr lang="zh-CN" altLang="en-US" sz="2000"/>
                <a:t>     </a:t>
              </a:r>
              <a:r>
                <a:rPr lang="en-US" altLang="zh-CN" sz="2000" b="1"/>
                <a:t>5          10          20        30        40        50       60</a:t>
              </a:r>
            </a:p>
          </p:txBody>
        </p:sp>
      </p:grpSp>
      <p:grpSp>
        <p:nvGrpSpPr>
          <p:cNvPr id="25616" name="Group 16">
            <a:extLst>
              <a:ext uri="{FF2B5EF4-FFF2-40B4-BE49-F238E27FC236}">
                <a16:creationId xmlns:a16="http://schemas.microsoft.com/office/drawing/2014/main" id="{F71633FA-B814-40FD-A5C4-6C7BCB4B66B0}"/>
              </a:ext>
            </a:extLst>
          </p:cNvPr>
          <p:cNvGrpSpPr>
            <a:grpSpLocks/>
          </p:cNvGrpSpPr>
          <p:nvPr/>
        </p:nvGrpSpPr>
        <p:grpSpPr bwMode="auto">
          <a:xfrm>
            <a:off x="889420" y="4221088"/>
            <a:ext cx="7993062" cy="1673225"/>
            <a:chOff x="612" y="799"/>
            <a:chExt cx="4808" cy="1134"/>
          </a:xfrm>
        </p:grpSpPr>
        <p:sp>
          <p:nvSpPr>
            <p:cNvPr id="25617" name="Line 17">
              <a:extLst>
                <a:ext uri="{FF2B5EF4-FFF2-40B4-BE49-F238E27FC236}">
                  <a16:creationId xmlns:a16="http://schemas.microsoft.com/office/drawing/2014/main" id="{1F6F0F25-3032-4E74-8423-07ECE3EF0BCC}"/>
                </a:ext>
              </a:extLst>
            </p:cNvPr>
            <p:cNvSpPr>
              <a:spLocks noChangeShapeType="1"/>
            </p:cNvSpPr>
            <p:nvPr/>
          </p:nvSpPr>
          <p:spPr bwMode="auto">
            <a:xfrm>
              <a:off x="703" y="1162"/>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8" name="Line 18">
              <a:extLst>
                <a:ext uri="{FF2B5EF4-FFF2-40B4-BE49-F238E27FC236}">
                  <a16:creationId xmlns:a16="http://schemas.microsoft.com/office/drawing/2014/main" id="{7A466FE3-3BE0-4AC7-ABC9-74B93CBCD1B1}"/>
                </a:ext>
              </a:extLst>
            </p:cNvPr>
            <p:cNvSpPr>
              <a:spLocks noChangeShapeType="1"/>
            </p:cNvSpPr>
            <p:nvPr/>
          </p:nvSpPr>
          <p:spPr bwMode="auto">
            <a:xfrm>
              <a:off x="705" y="1525"/>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19" name="Line 19">
              <a:extLst>
                <a:ext uri="{FF2B5EF4-FFF2-40B4-BE49-F238E27FC236}">
                  <a16:creationId xmlns:a16="http://schemas.microsoft.com/office/drawing/2014/main" id="{4CE89EDB-921E-423A-81A4-6FFEBE1A4AB0}"/>
                </a:ext>
              </a:extLst>
            </p:cNvPr>
            <p:cNvSpPr>
              <a:spLocks noChangeShapeType="1"/>
            </p:cNvSpPr>
            <p:nvPr/>
          </p:nvSpPr>
          <p:spPr bwMode="auto">
            <a:xfrm>
              <a:off x="703" y="1933"/>
              <a:ext cx="453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0" name="Text Box 20">
              <a:extLst>
                <a:ext uri="{FF2B5EF4-FFF2-40B4-BE49-F238E27FC236}">
                  <a16:creationId xmlns:a16="http://schemas.microsoft.com/office/drawing/2014/main" id="{7E59019D-FA49-4D82-BD3A-4E97F224F555}"/>
                </a:ext>
              </a:extLst>
            </p:cNvPr>
            <p:cNvSpPr txBox="1">
              <a:spLocks noChangeArrowheads="1"/>
            </p:cNvSpPr>
            <p:nvPr/>
          </p:nvSpPr>
          <p:spPr bwMode="auto">
            <a:xfrm>
              <a:off x="657" y="799"/>
              <a:ext cx="99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t>中国人口</a:t>
              </a:r>
            </a:p>
          </p:txBody>
        </p:sp>
        <p:sp>
          <p:nvSpPr>
            <p:cNvPr id="25621" name="Text Box 21">
              <a:extLst>
                <a:ext uri="{FF2B5EF4-FFF2-40B4-BE49-F238E27FC236}">
                  <a16:creationId xmlns:a16="http://schemas.microsoft.com/office/drawing/2014/main" id="{17967E87-B378-4466-B9AD-BA02A7211FB9}"/>
                </a:ext>
              </a:extLst>
            </p:cNvPr>
            <p:cNvSpPr txBox="1">
              <a:spLocks noChangeArrowheads="1"/>
            </p:cNvSpPr>
            <p:nvPr/>
          </p:nvSpPr>
          <p:spPr bwMode="auto">
            <a:xfrm>
              <a:off x="748" y="1230"/>
              <a:ext cx="4627"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b="1"/>
                <a:t>年 </a:t>
              </a:r>
              <a:r>
                <a:rPr lang="zh-CN" altLang="en-US" sz="2000"/>
                <a:t>           </a:t>
              </a:r>
              <a:r>
                <a:rPr lang="en-US" altLang="zh-CN" sz="2000" b="1"/>
                <a:t>1908     1933     1953    1964    1982    1990    2000</a:t>
              </a:r>
            </a:p>
          </p:txBody>
        </p:sp>
        <p:sp>
          <p:nvSpPr>
            <p:cNvPr id="25622" name="Text Box 22">
              <a:extLst>
                <a:ext uri="{FF2B5EF4-FFF2-40B4-BE49-F238E27FC236}">
                  <a16:creationId xmlns:a16="http://schemas.microsoft.com/office/drawing/2014/main" id="{FFA67912-DF63-4C1D-8F13-C0F5370D1B0F}"/>
                </a:ext>
              </a:extLst>
            </p:cNvPr>
            <p:cNvSpPr txBox="1">
              <a:spLocks noChangeArrowheads="1"/>
            </p:cNvSpPr>
            <p:nvPr/>
          </p:nvSpPr>
          <p:spPr bwMode="auto">
            <a:xfrm>
              <a:off x="612" y="1627"/>
              <a:ext cx="480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000" b="1"/>
                <a:t>人口（亿）</a:t>
              </a:r>
              <a:r>
                <a:rPr lang="zh-CN" altLang="en-US" sz="2000"/>
                <a:t>     </a:t>
              </a:r>
              <a:r>
                <a:rPr lang="en-US" altLang="zh-CN" sz="2000" b="1"/>
                <a:t>3         4.7         6        7.2       10.3        11.3     12.95</a:t>
              </a:r>
            </a:p>
          </p:txBody>
        </p:sp>
      </p:grpSp>
      <p:sp>
        <p:nvSpPr>
          <p:cNvPr id="2" name="灯片编号占位符 1">
            <a:extLst>
              <a:ext uri="{FF2B5EF4-FFF2-40B4-BE49-F238E27FC236}">
                <a16:creationId xmlns:a16="http://schemas.microsoft.com/office/drawing/2014/main" id="{05DEBD66-2D90-304B-D163-7592A35F9E63}"/>
              </a:ext>
            </a:extLst>
          </p:cNvPr>
          <p:cNvSpPr>
            <a:spLocks noGrp="1"/>
          </p:cNvSpPr>
          <p:nvPr>
            <p:ph type="sldNum" sz="quarter" idx="12"/>
          </p:nvPr>
        </p:nvSpPr>
        <p:spPr/>
        <p:txBody>
          <a:bodyPr/>
          <a:lstStyle/>
          <a:p>
            <a:fld id="{0C913308-F349-4B6D-A68A-DD1791B4A57B}"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CDCE9CC-E476-435A-9ABA-CC19295DC9F2}"/>
              </a:ext>
            </a:extLst>
          </p:cNvPr>
          <p:cNvSpPr>
            <a:spLocks noChangeArrowheads="1"/>
          </p:cNvSpPr>
          <p:nvPr/>
        </p:nvSpPr>
        <p:spPr bwMode="auto">
          <a:xfrm>
            <a:off x="228600" y="2286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solidFill>
                  <a:srgbClr val="FF0000"/>
                </a:solidFill>
                <a:latin typeface="楷体_GB2312" pitchFamily="49" charset="-122"/>
                <a:ea typeface="楷体_GB2312" pitchFamily="49" charset="-122"/>
              </a:rPr>
              <a:t>模型</a:t>
            </a:r>
            <a:r>
              <a:rPr lang="en-US" altLang="zh-CN" sz="2400" b="1">
                <a:solidFill>
                  <a:srgbClr val="FF0000"/>
                </a:solidFill>
                <a:latin typeface="楷体_GB2312" pitchFamily="49" charset="-122"/>
                <a:ea typeface="楷体_GB2312" pitchFamily="49" charset="-122"/>
              </a:rPr>
              <a:t>1</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马尔萨斯（</a:t>
            </a:r>
            <a:r>
              <a:rPr lang="en-US" altLang="zh-CN" sz="2400" b="1">
                <a:latin typeface="楷体_GB2312" pitchFamily="49" charset="-122"/>
                <a:ea typeface="楷体_GB2312" pitchFamily="49" charset="-122"/>
              </a:rPr>
              <a:t>Malthus</a:t>
            </a:r>
            <a:r>
              <a:rPr lang="zh-CN" altLang="en-US" sz="2400" b="1">
                <a:latin typeface="楷体_GB2312" pitchFamily="49" charset="-122"/>
                <a:ea typeface="楷体_GB2312" pitchFamily="49" charset="-122"/>
              </a:rPr>
              <a:t>）模型 </a:t>
            </a:r>
          </a:p>
        </p:txBody>
      </p:sp>
      <p:sp>
        <p:nvSpPr>
          <p:cNvPr id="4099" name="Rectangle 3">
            <a:extLst>
              <a:ext uri="{FF2B5EF4-FFF2-40B4-BE49-F238E27FC236}">
                <a16:creationId xmlns:a16="http://schemas.microsoft.com/office/drawing/2014/main" id="{11A9930B-685E-4A6A-8315-9977B216440B}"/>
              </a:ext>
            </a:extLst>
          </p:cNvPr>
          <p:cNvSpPr>
            <a:spLocks noChangeArrowheads="1"/>
          </p:cNvSpPr>
          <p:nvPr/>
        </p:nvSpPr>
        <p:spPr bwMode="auto">
          <a:xfrm>
            <a:off x="1163638" y="908050"/>
            <a:ext cx="5713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latin typeface="楷体_GB2312" pitchFamily="49" charset="-122"/>
                <a:ea typeface="楷体_GB2312" pitchFamily="49" charset="-122"/>
              </a:rPr>
              <a:t>假设：</a:t>
            </a:r>
            <a:r>
              <a:rPr lang="zh-CN" altLang="en-US" sz="2400" b="1">
                <a:solidFill>
                  <a:srgbClr val="FF0000"/>
                </a:solidFill>
                <a:latin typeface="楷体_GB2312" pitchFamily="49" charset="-122"/>
                <a:ea typeface="楷体_GB2312" pitchFamily="49" charset="-122"/>
              </a:rPr>
              <a:t>人口净增长率</a:t>
            </a:r>
            <a:r>
              <a:rPr lang="en-US" altLang="zh-CN" sz="2400" b="1" i="1">
                <a:solidFill>
                  <a:srgbClr val="FF0000"/>
                </a:solidFill>
                <a:latin typeface="楷体_GB2312" pitchFamily="49" charset="-122"/>
                <a:ea typeface="楷体_GB2312" pitchFamily="49" charset="-122"/>
              </a:rPr>
              <a:t>r</a:t>
            </a:r>
            <a:r>
              <a:rPr lang="zh-CN" altLang="en-US" sz="2400" b="1">
                <a:solidFill>
                  <a:srgbClr val="FF0000"/>
                </a:solidFill>
                <a:latin typeface="楷体_GB2312" pitchFamily="49" charset="-122"/>
                <a:ea typeface="楷体_GB2312" pitchFamily="49" charset="-122"/>
              </a:rPr>
              <a:t>是一常数</a:t>
            </a:r>
            <a:endParaRPr lang="zh-CN" altLang="en-US" sz="2400" b="1">
              <a:latin typeface="楷体_GB2312" pitchFamily="49" charset="-122"/>
              <a:ea typeface="楷体_GB2312" pitchFamily="49" charset="-122"/>
            </a:endParaRPr>
          </a:p>
        </p:txBody>
      </p:sp>
      <p:grpSp>
        <p:nvGrpSpPr>
          <p:cNvPr id="4131" name="Group 35">
            <a:extLst>
              <a:ext uri="{FF2B5EF4-FFF2-40B4-BE49-F238E27FC236}">
                <a16:creationId xmlns:a16="http://schemas.microsoft.com/office/drawing/2014/main" id="{511CBB4C-641B-4E7E-BFCE-0509A64E21C0}"/>
              </a:ext>
            </a:extLst>
          </p:cNvPr>
          <p:cNvGrpSpPr>
            <a:grpSpLocks/>
          </p:cNvGrpSpPr>
          <p:nvPr/>
        </p:nvGrpSpPr>
        <p:grpSpPr bwMode="auto">
          <a:xfrm>
            <a:off x="2193926" y="5949950"/>
            <a:ext cx="4833938" cy="461963"/>
            <a:chOff x="1382" y="3748"/>
            <a:chExt cx="3045" cy="291"/>
          </a:xfrm>
        </p:grpSpPr>
        <p:graphicFrame>
          <p:nvGraphicFramePr>
            <p:cNvPr id="4108" name="Object 12">
              <a:extLst>
                <a:ext uri="{FF2B5EF4-FFF2-40B4-BE49-F238E27FC236}">
                  <a16:creationId xmlns:a16="http://schemas.microsoft.com/office/drawing/2014/main" id="{B96882F9-F705-4BDC-9A83-8DE53DC7D40E}"/>
                </a:ext>
              </a:extLst>
            </p:cNvPr>
            <p:cNvGraphicFramePr>
              <a:graphicFrameLocks noChangeAspect="1"/>
            </p:cNvGraphicFramePr>
            <p:nvPr/>
          </p:nvGraphicFramePr>
          <p:xfrm>
            <a:off x="2200" y="3750"/>
            <a:ext cx="849" cy="270"/>
          </p:xfrm>
          <a:graphic>
            <a:graphicData uri="http://schemas.openxmlformats.org/presentationml/2006/ole">
              <mc:AlternateContent xmlns:mc="http://schemas.openxmlformats.org/markup-compatibility/2006">
                <mc:Choice xmlns:v="urn:schemas-microsoft-com:vml" Requires="v">
                  <p:oleObj name="Equation" r:id="rId2" imgW="749160" imgH="241200" progId="Equation.DSMT4">
                    <p:embed/>
                  </p:oleObj>
                </mc:Choice>
                <mc:Fallback>
                  <p:oleObj name="Equation" r:id="rId2" imgW="749160" imgH="241200" progId="Equation.DSMT4">
                    <p:embed/>
                    <p:pic>
                      <p:nvPicPr>
                        <p:cNvPr id="4108" name="Object 12">
                          <a:extLst>
                            <a:ext uri="{FF2B5EF4-FFF2-40B4-BE49-F238E27FC236}">
                              <a16:creationId xmlns:a16="http://schemas.microsoft.com/office/drawing/2014/main" id="{B96882F9-F705-4BDC-9A83-8DE53DC7D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 y="3750"/>
                          <a:ext cx="849" cy="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9" name="Rectangle 13">
              <a:extLst>
                <a:ext uri="{FF2B5EF4-FFF2-40B4-BE49-F238E27FC236}">
                  <a16:creationId xmlns:a16="http://schemas.microsoft.com/office/drawing/2014/main" id="{DEEF7BA4-B3E8-4673-A2CF-072EA135B8B7}"/>
                </a:ext>
              </a:extLst>
            </p:cNvPr>
            <p:cNvSpPr>
              <a:spLocks noChangeArrowheads="1"/>
            </p:cNvSpPr>
            <p:nvPr/>
          </p:nvSpPr>
          <p:spPr bwMode="auto">
            <a:xfrm>
              <a:off x="3768" y="3748"/>
              <a:ext cx="65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sp>
          <p:nvSpPr>
            <p:cNvPr id="4110" name="Rectangle 14">
              <a:extLst>
                <a:ext uri="{FF2B5EF4-FFF2-40B4-BE49-F238E27FC236}">
                  <a16:creationId xmlns:a16="http://schemas.microsoft.com/office/drawing/2014/main" id="{9584A333-5680-4F46-AE51-786924421A71}"/>
                </a:ext>
              </a:extLst>
            </p:cNvPr>
            <p:cNvSpPr>
              <a:spLocks noChangeArrowheads="1"/>
            </p:cNvSpPr>
            <p:nvPr/>
          </p:nvSpPr>
          <p:spPr bwMode="auto">
            <a:xfrm>
              <a:off x="1382" y="3748"/>
              <a:ext cx="8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b="1" dirty="0">
                  <a:latin typeface="楷体_GB2312" pitchFamily="49" charset="-122"/>
                  <a:ea typeface="楷体_GB2312" pitchFamily="49" charset="-122"/>
                </a:rPr>
                <a:t>解为：</a:t>
              </a:r>
            </a:p>
          </p:txBody>
        </p:sp>
      </p:grpSp>
      <p:grpSp>
        <p:nvGrpSpPr>
          <p:cNvPr id="4134" name="Group 38">
            <a:extLst>
              <a:ext uri="{FF2B5EF4-FFF2-40B4-BE49-F238E27FC236}">
                <a16:creationId xmlns:a16="http://schemas.microsoft.com/office/drawing/2014/main" id="{38114A33-E6B4-4B78-A85B-422C82F3EEC7}"/>
              </a:ext>
            </a:extLst>
          </p:cNvPr>
          <p:cNvGrpSpPr>
            <a:grpSpLocks/>
          </p:cNvGrpSpPr>
          <p:nvPr/>
        </p:nvGrpSpPr>
        <p:grpSpPr bwMode="auto">
          <a:xfrm>
            <a:off x="1187450" y="1628775"/>
            <a:ext cx="5575300" cy="936625"/>
            <a:chOff x="748" y="1026"/>
            <a:chExt cx="3512" cy="590"/>
          </a:xfrm>
        </p:grpSpPr>
        <p:sp>
          <p:nvSpPr>
            <p:cNvPr id="4121" name="Rectangle 25">
              <a:extLst>
                <a:ext uri="{FF2B5EF4-FFF2-40B4-BE49-F238E27FC236}">
                  <a16:creationId xmlns:a16="http://schemas.microsoft.com/office/drawing/2014/main" id="{CA833250-52A4-4BF2-9623-8331DE11F0C9}"/>
                </a:ext>
              </a:extLst>
            </p:cNvPr>
            <p:cNvSpPr>
              <a:spLocks noChangeArrowheads="1"/>
            </p:cNvSpPr>
            <p:nvPr/>
          </p:nvSpPr>
          <p:spPr bwMode="auto">
            <a:xfrm>
              <a:off x="748" y="1026"/>
              <a:ext cx="7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latin typeface="楷体_GB2312" pitchFamily="49" charset="-122"/>
                  <a:ea typeface="楷体_GB2312" pitchFamily="49" charset="-122"/>
                </a:rPr>
                <a:t>符号：</a:t>
              </a:r>
            </a:p>
          </p:txBody>
        </p:sp>
        <mc:AlternateContent xmlns:mc="http://schemas.openxmlformats.org/markup-compatibility/2006" xmlns:a14="http://schemas.microsoft.com/office/drawing/2010/main">
          <mc:Choice Requires="a14">
            <p:sp>
              <p:nvSpPr>
                <p:cNvPr id="4122" name="Object 26">
                  <a:extLst>
                    <a:ext uri="{FF2B5EF4-FFF2-40B4-BE49-F238E27FC236}">
                      <a16:creationId xmlns:a16="http://schemas.microsoft.com/office/drawing/2014/main" id="{867FA2A8-3A81-4605-8404-2AA2ED7D5163}"/>
                    </a:ext>
                  </a:extLst>
                </p:cNvPr>
                <p:cNvSpPr txBox="1"/>
                <p:nvPr/>
              </p:nvSpPr>
              <p:spPr bwMode="auto">
                <a:xfrm>
                  <a:off x="1338" y="1041"/>
                  <a:ext cx="2922" cy="5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𝑥</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刻的人口，可微函</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0</m:t>
                            </m:r>
                          </m:sub>
                        </m:sSub>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的人口</m:t>
                        </m:r>
                      </m:oMath>
                    </m:oMathPara>
                  </a14:m>
                  <a:endParaRPr lang="zh-CN" altLang="en-US" dirty="0"/>
                </a:p>
              </p:txBody>
            </p:sp>
          </mc:Choice>
          <mc:Fallback xmlns="">
            <p:sp>
              <p:nvSpPr>
                <p:cNvPr id="4122" name="Object 26">
                  <a:extLst>
                    <a:ext uri="{FF2B5EF4-FFF2-40B4-BE49-F238E27FC236}">
                      <a16:creationId xmlns:a16="http://schemas.microsoft.com/office/drawing/2014/main" id="{867FA2A8-3A81-4605-8404-2AA2ED7D5163}"/>
                    </a:ext>
                  </a:extLst>
                </p:cNvPr>
                <p:cNvSpPr txBox="1">
                  <a:spLocks noRot="1" noChangeAspect="1" noMove="1" noResize="1" noEditPoints="1" noAdjustHandles="1" noChangeArrowheads="1" noChangeShapeType="1" noTextEdit="1"/>
                </p:cNvSpPr>
                <p:nvPr/>
              </p:nvSpPr>
              <p:spPr bwMode="auto">
                <a:xfrm>
                  <a:off x="1338" y="1041"/>
                  <a:ext cx="2922" cy="575"/>
                </a:xfrm>
                <a:prstGeom prst="rect">
                  <a:avLst/>
                </a:prstGeom>
                <a:blipFill>
                  <a:blip r:embed="rId5"/>
                  <a:stretch>
                    <a:fillRect/>
                  </a:stretch>
                </a:blipFill>
                <a:ln>
                  <a:noFill/>
                </a:ln>
                <a:effectLst/>
              </p:spPr>
              <p:txBody>
                <a:bodyPr/>
                <a:lstStyle/>
                <a:p>
                  <a:r>
                    <a:rPr lang="zh-CN" altLang="en-US">
                      <a:noFill/>
                    </a:rPr>
                    <a:t> </a:t>
                  </a:r>
                </a:p>
              </p:txBody>
            </p:sp>
          </mc:Fallback>
        </mc:AlternateContent>
      </p:grpSp>
      <p:grpSp>
        <p:nvGrpSpPr>
          <p:cNvPr id="4132" name="Group 36">
            <a:extLst>
              <a:ext uri="{FF2B5EF4-FFF2-40B4-BE49-F238E27FC236}">
                <a16:creationId xmlns:a16="http://schemas.microsoft.com/office/drawing/2014/main" id="{026BE30A-A1E0-4FA7-83D8-9DB6803A0C2A}"/>
              </a:ext>
            </a:extLst>
          </p:cNvPr>
          <p:cNvGrpSpPr>
            <a:grpSpLocks/>
          </p:cNvGrpSpPr>
          <p:nvPr/>
        </p:nvGrpSpPr>
        <p:grpSpPr bwMode="auto">
          <a:xfrm>
            <a:off x="1201738" y="2640013"/>
            <a:ext cx="3505200" cy="860425"/>
            <a:chOff x="757" y="1663"/>
            <a:chExt cx="2208" cy="542"/>
          </a:xfrm>
        </p:grpSpPr>
        <p:graphicFrame>
          <p:nvGraphicFramePr>
            <p:cNvPr id="4126" name="Object 30">
              <a:extLst>
                <a:ext uri="{FF2B5EF4-FFF2-40B4-BE49-F238E27FC236}">
                  <a16:creationId xmlns:a16="http://schemas.microsoft.com/office/drawing/2014/main" id="{37C84880-700C-4623-AB0C-BA3BC717E8AC}"/>
                </a:ext>
              </a:extLst>
            </p:cNvPr>
            <p:cNvGraphicFramePr>
              <a:graphicFrameLocks noChangeAspect="1"/>
            </p:cNvGraphicFramePr>
            <p:nvPr/>
          </p:nvGraphicFramePr>
          <p:xfrm>
            <a:off x="1383" y="1663"/>
            <a:ext cx="1582" cy="542"/>
          </p:xfrm>
          <a:graphic>
            <a:graphicData uri="http://schemas.openxmlformats.org/presentationml/2006/ole">
              <mc:AlternateContent xmlns:mc="http://schemas.openxmlformats.org/markup-compatibility/2006">
                <mc:Choice xmlns:v="urn:schemas-microsoft-com:vml" Requires="v">
                  <p:oleObj name="Equation" r:id="rId6" imgW="1244520" imgH="431640" progId="Equation.DSMT4">
                    <p:embed/>
                  </p:oleObj>
                </mc:Choice>
                <mc:Fallback>
                  <p:oleObj name="Equation" r:id="rId6" imgW="1244520" imgH="431640" progId="Equation.DSMT4">
                    <p:embed/>
                    <p:pic>
                      <p:nvPicPr>
                        <p:cNvPr id="4126" name="Object 30">
                          <a:extLst>
                            <a:ext uri="{FF2B5EF4-FFF2-40B4-BE49-F238E27FC236}">
                              <a16:creationId xmlns:a16="http://schemas.microsoft.com/office/drawing/2014/main" id="{37C84880-700C-4623-AB0C-BA3BC717E8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3" y="1663"/>
                          <a:ext cx="1582" cy="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8" name="Rectangle 32">
              <a:extLst>
                <a:ext uri="{FF2B5EF4-FFF2-40B4-BE49-F238E27FC236}">
                  <a16:creationId xmlns:a16="http://schemas.microsoft.com/office/drawing/2014/main" id="{BE7296C8-A706-488D-89B7-AB4D346B7656}"/>
                </a:ext>
              </a:extLst>
            </p:cNvPr>
            <p:cNvSpPr>
              <a:spLocks noChangeArrowheads="1"/>
            </p:cNvSpPr>
            <p:nvPr/>
          </p:nvSpPr>
          <p:spPr bwMode="auto">
            <a:xfrm>
              <a:off x="757" y="1752"/>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latin typeface="楷体_GB2312" pitchFamily="49" charset="-122"/>
                  <a:ea typeface="楷体_GB2312" pitchFamily="49" charset="-122"/>
                </a:rPr>
                <a:t>则</a:t>
              </a:r>
            </a:p>
          </p:txBody>
        </p:sp>
      </p:grpSp>
      <p:grpSp>
        <p:nvGrpSpPr>
          <p:cNvPr id="4135" name="Group 39">
            <a:extLst>
              <a:ext uri="{FF2B5EF4-FFF2-40B4-BE49-F238E27FC236}">
                <a16:creationId xmlns:a16="http://schemas.microsoft.com/office/drawing/2014/main" id="{E1B6AC6F-DB61-43CA-A5E2-6D3BCD1971B7}"/>
              </a:ext>
            </a:extLst>
          </p:cNvPr>
          <p:cNvGrpSpPr>
            <a:grpSpLocks/>
          </p:cNvGrpSpPr>
          <p:nvPr/>
        </p:nvGrpSpPr>
        <p:grpSpPr bwMode="auto">
          <a:xfrm>
            <a:off x="1187450" y="3763963"/>
            <a:ext cx="5773738" cy="1825625"/>
            <a:chOff x="748" y="2371"/>
            <a:chExt cx="3637" cy="1150"/>
          </a:xfrm>
        </p:grpSpPr>
        <p:graphicFrame>
          <p:nvGraphicFramePr>
            <p:cNvPr id="4102" name="Object 6">
              <a:extLst>
                <a:ext uri="{FF2B5EF4-FFF2-40B4-BE49-F238E27FC236}">
                  <a16:creationId xmlns:a16="http://schemas.microsoft.com/office/drawing/2014/main" id="{940D409A-65B6-4556-9117-D5A8B9281F60}"/>
                </a:ext>
              </a:extLst>
            </p:cNvPr>
            <p:cNvGraphicFramePr>
              <a:graphicFrameLocks noChangeAspect="1"/>
            </p:cNvGraphicFramePr>
            <p:nvPr/>
          </p:nvGraphicFramePr>
          <p:xfrm>
            <a:off x="1973" y="2690"/>
            <a:ext cx="909" cy="831"/>
          </p:xfrm>
          <a:graphic>
            <a:graphicData uri="http://schemas.openxmlformats.org/presentationml/2006/ole">
              <mc:AlternateContent xmlns:mc="http://schemas.openxmlformats.org/markup-compatibility/2006">
                <mc:Choice xmlns:v="urn:schemas-microsoft-com:vml" Requires="v">
                  <p:oleObj name="Equation" r:id="rId8" imgW="711000" imgH="660240" progId="Equation.DSMT4">
                    <p:embed/>
                  </p:oleObj>
                </mc:Choice>
                <mc:Fallback>
                  <p:oleObj name="Equation" r:id="rId8" imgW="711000" imgH="660240" progId="Equation.DSMT4">
                    <p:embed/>
                    <p:pic>
                      <p:nvPicPr>
                        <p:cNvPr id="4102" name="Object 6">
                          <a:extLst>
                            <a:ext uri="{FF2B5EF4-FFF2-40B4-BE49-F238E27FC236}">
                              <a16:creationId xmlns:a16="http://schemas.microsoft.com/office/drawing/2014/main" id="{940D409A-65B6-4556-9117-D5A8B9281F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3" y="2690"/>
                          <a:ext cx="909" cy="8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5" name="Rectangle 9">
              <a:extLst>
                <a:ext uri="{FF2B5EF4-FFF2-40B4-BE49-F238E27FC236}">
                  <a16:creationId xmlns:a16="http://schemas.microsoft.com/office/drawing/2014/main" id="{771C5BBE-2E46-4623-BFF4-28E6B5CE4578}"/>
                </a:ext>
              </a:extLst>
            </p:cNvPr>
            <p:cNvSpPr>
              <a:spLocks noChangeArrowheads="1"/>
            </p:cNvSpPr>
            <p:nvPr/>
          </p:nvSpPr>
          <p:spPr bwMode="auto">
            <a:xfrm>
              <a:off x="3629" y="2750"/>
              <a:ext cx="75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dirty="0">
                  <a:latin typeface="宋体" panose="02010600030101010101" pitchFamily="2" charset="-122"/>
                </a:rPr>
                <a:t> </a:t>
              </a:r>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sp>
          <p:nvSpPr>
            <p:cNvPr id="4130" name="Rectangle 34">
              <a:extLst>
                <a:ext uri="{FF2B5EF4-FFF2-40B4-BE49-F238E27FC236}">
                  <a16:creationId xmlns:a16="http://schemas.microsoft.com/office/drawing/2014/main" id="{3B40FA35-0C9F-44CB-8654-28D32BE867BA}"/>
                </a:ext>
              </a:extLst>
            </p:cNvPr>
            <p:cNvSpPr>
              <a:spLocks noChangeArrowheads="1"/>
            </p:cNvSpPr>
            <p:nvPr/>
          </p:nvSpPr>
          <p:spPr bwMode="auto">
            <a:xfrm>
              <a:off x="748" y="2371"/>
              <a:ext cx="29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latin typeface="楷体_GB2312" pitchFamily="49" charset="-122"/>
                  <a:ea typeface="楷体_GB2312" pitchFamily="49" charset="-122"/>
                </a:rPr>
                <a:t>于是</a:t>
              </a:r>
              <a:r>
                <a:rPr lang="en-US" altLang="zh-CN" sz="2400" b="1" i="1" dirty="0">
                  <a:latin typeface="Times New Roman" panose="02020603050405020304" pitchFamily="18" charset="0"/>
                  <a:ea typeface="楷体_GB2312" pitchFamily="49" charset="-122"/>
                </a:rPr>
                <a:t>x</a:t>
              </a:r>
              <a:r>
                <a:rPr lang="zh-CN" altLang="en-US" sz="2400" b="1" i="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t</a:t>
              </a:r>
              <a:r>
                <a:rPr lang="zh-CN" altLang="en-US" sz="2400" b="1" i="1" dirty="0">
                  <a:latin typeface="Times New Roman" panose="02020603050405020304" pitchFamily="18" charset="0"/>
                  <a:ea typeface="楷体_GB2312" pitchFamily="49" charset="-122"/>
                </a:rPr>
                <a:t>）</a:t>
              </a:r>
              <a:r>
                <a:rPr lang="zh-CN" altLang="en-US" sz="2400" b="1" dirty="0">
                  <a:latin typeface="楷体_GB2312" pitchFamily="49" charset="-122"/>
                  <a:ea typeface="楷体_GB2312" pitchFamily="49" charset="-122"/>
                </a:rPr>
                <a:t>满足如下微分方程：</a:t>
              </a:r>
            </a:p>
          </p:txBody>
        </p:sp>
      </p:grpSp>
      <p:sp>
        <p:nvSpPr>
          <p:cNvPr id="2" name="灯片编号占位符 1">
            <a:extLst>
              <a:ext uri="{FF2B5EF4-FFF2-40B4-BE49-F238E27FC236}">
                <a16:creationId xmlns:a16="http://schemas.microsoft.com/office/drawing/2014/main" id="{340E47F6-717F-E97E-04F3-2F893DE4E1BF}"/>
              </a:ext>
            </a:extLst>
          </p:cNvPr>
          <p:cNvSpPr>
            <a:spLocks noGrp="1"/>
          </p:cNvSpPr>
          <p:nvPr>
            <p:ph type="sldNum" sz="quarter" idx="12"/>
          </p:nvPr>
        </p:nvSpPr>
        <p:spPr/>
        <p:txBody>
          <a:bodyPr/>
          <a:lstStyle/>
          <a:p>
            <a:fld id="{C9E62761-D741-438E-B800-D9D4ABAE0DAB}" type="slidenum">
              <a:rPr lang="en-US" altLang="zh-CN" smtClean="0"/>
              <a:pPr/>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wipe(up)">
                                      <p:cBhvr>
                                        <p:cTn id="7" dur="500"/>
                                        <p:tgtEl>
                                          <p:spTgt spid="40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134"/>
                                        </p:tgtEl>
                                        <p:attrNameLst>
                                          <p:attrName>style.visibility</p:attrName>
                                        </p:attrNameLst>
                                      </p:cBhvr>
                                      <p:to>
                                        <p:strVal val="visible"/>
                                      </p:to>
                                    </p:set>
                                    <p:anim calcmode="lin" valueType="num">
                                      <p:cBhvr additive="base">
                                        <p:cTn id="12" dur="500" fill="hold"/>
                                        <p:tgtEl>
                                          <p:spTgt spid="4134"/>
                                        </p:tgtEl>
                                        <p:attrNameLst>
                                          <p:attrName>ppt_x</p:attrName>
                                        </p:attrNameLst>
                                      </p:cBhvr>
                                      <p:tavLst>
                                        <p:tav tm="0">
                                          <p:val>
                                            <p:strVal val="#ppt_x"/>
                                          </p:val>
                                        </p:tav>
                                        <p:tav tm="100000">
                                          <p:val>
                                            <p:strVal val="#ppt_x"/>
                                          </p:val>
                                        </p:tav>
                                      </p:tavLst>
                                    </p:anim>
                                    <p:anim calcmode="lin" valueType="num">
                                      <p:cBhvr additive="base">
                                        <p:cTn id="13" dur="500" fill="hold"/>
                                        <p:tgtEl>
                                          <p:spTgt spid="413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4132"/>
                                        </p:tgtEl>
                                        <p:attrNameLst>
                                          <p:attrName>style.visibility</p:attrName>
                                        </p:attrNameLst>
                                      </p:cBhvr>
                                      <p:to>
                                        <p:strVal val="visible"/>
                                      </p:to>
                                    </p:set>
                                    <p:anim calcmode="lin" valueType="num">
                                      <p:cBhvr additive="base">
                                        <p:cTn id="18" dur="500" fill="hold"/>
                                        <p:tgtEl>
                                          <p:spTgt spid="4132"/>
                                        </p:tgtEl>
                                        <p:attrNameLst>
                                          <p:attrName>ppt_x</p:attrName>
                                        </p:attrNameLst>
                                      </p:cBhvr>
                                      <p:tavLst>
                                        <p:tav tm="0">
                                          <p:val>
                                            <p:strVal val="#ppt_x"/>
                                          </p:val>
                                        </p:tav>
                                        <p:tav tm="100000">
                                          <p:val>
                                            <p:strVal val="#ppt_x"/>
                                          </p:val>
                                        </p:tav>
                                      </p:tavLst>
                                    </p:anim>
                                    <p:anim calcmode="lin" valueType="num">
                                      <p:cBhvr additive="base">
                                        <p:cTn id="19" dur="500" fill="hold"/>
                                        <p:tgtEl>
                                          <p:spTgt spid="4132"/>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nodeType="afterEffect">
                                  <p:stCondLst>
                                    <p:cond delay="0"/>
                                  </p:stCondLst>
                                  <p:childTnLst>
                                    <p:set>
                                      <p:cBhvr>
                                        <p:cTn id="22" dur="1" fill="hold">
                                          <p:stCondLst>
                                            <p:cond delay="0"/>
                                          </p:stCondLst>
                                        </p:cTn>
                                        <p:tgtEl>
                                          <p:spTgt spid="4135"/>
                                        </p:tgtEl>
                                        <p:attrNameLst>
                                          <p:attrName>style.visibility</p:attrName>
                                        </p:attrNameLst>
                                      </p:cBhvr>
                                      <p:to>
                                        <p:strVal val="visible"/>
                                      </p:to>
                                    </p:set>
                                    <p:anim calcmode="lin" valueType="num">
                                      <p:cBhvr additive="base">
                                        <p:cTn id="23" dur="500" fill="hold"/>
                                        <p:tgtEl>
                                          <p:spTgt spid="4135"/>
                                        </p:tgtEl>
                                        <p:attrNameLst>
                                          <p:attrName>ppt_x</p:attrName>
                                        </p:attrNameLst>
                                      </p:cBhvr>
                                      <p:tavLst>
                                        <p:tav tm="0">
                                          <p:val>
                                            <p:strVal val="#ppt_x"/>
                                          </p:val>
                                        </p:tav>
                                        <p:tav tm="100000">
                                          <p:val>
                                            <p:strVal val="#ppt_x"/>
                                          </p:val>
                                        </p:tav>
                                      </p:tavLst>
                                    </p:anim>
                                    <p:anim calcmode="lin" valueType="num">
                                      <p:cBhvr additive="base">
                                        <p:cTn id="24" dur="500" fill="hold"/>
                                        <p:tgtEl>
                                          <p:spTgt spid="4135"/>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131"/>
                                        </p:tgtEl>
                                        <p:attrNameLst>
                                          <p:attrName>style.visibility</p:attrName>
                                        </p:attrNameLst>
                                      </p:cBhvr>
                                      <p:to>
                                        <p:strVal val="visible"/>
                                      </p:to>
                                    </p:set>
                                    <p:anim calcmode="lin" valueType="num">
                                      <p:cBhvr additive="base">
                                        <p:cTn id="29" dur="500" fill="hold"/>
                                        <p:tgtEl>
                                          <p:spTgt spid="4131"/>
                                        </p:tgtEl>
                                        <p:attrNameLst>
                                          <p:attrName>ppt_x</p:attrName>
                                        </p:attrNameLst>
                                      </p:cBhvr>
                                      <p:tavLst>
                                        <p:tav tm="0">
                                          <p:val>
                                            <p:strVal val="#ppt_x"/>
                                          </p:val>
                                        </p:tav>
                                        <p:tav tm="100000">
                                          <p:val>
                                            <p:strVal val="#ppt_x"/>
                                          </p:val>
                                        </p:tav>
                                      </p:tavLst>
                                    </p:anim>
                                    <p:anim calcmode="lin" valueType="num">
                                      <p:cBhvr additive="base">
                                        <p:cTn id="30" dur="500" fill="hold"/>
                                        <p:tgtEl>
                                          <p:spTgt spid="4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8" name="Rectangle 16">
            <a:extLst>
              <a:ext uri="{FF2B5EF4-FFF2-40B4-BE49-F238E27FC236}">
                <a16:creationId xmlns:a16="http://schemas.microsoft.com/office/drawing/2014/main" id="{FA03EF0A-C270-4C4B-953D-B6F1D58251B1}"/>
              </a:ext>
            </a:extLst>
          </p:cNvPr>
          <p:cNvSpPr>
            <a:spLocks noChangeArrowheads="1"/>
          </p:cNvSpPr>
          <p:nvPr/>
        </p:nvSpPr>
        <p:spPr bwMode="auto">
          <a:xfrm>
            <a:off x="323850" y="2967038"/>
            <a:ext cx="84248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latin typeface="宋体" panose="02010600030101010101" pitchFamily="2" charset="-122"/>
              </a:rPr>
              <a:t>     </a:t>
            </a:r>
            <a:r>
              <a:rPr lang="zh-CN" altLang="en-US" sz="2400" b="1" dirty="0">
                <a:latin typeface="宋体" panose="02010600030101010101" pitchFamily="2" charset="-122"/>
                <a:ea typeface="楷体_GB2312" pitchFamily="49" charset="-122"/>
              </a:rPr>
              <a:t>马尔萨斯模型的一个显著特点</a:t>
            </a:r>
            <a:r>
              <a:rPr lang="zh-CN" altLang="en-US" sz="2400" b="1" dirty="0">
                <a:ea typeface="楷体_GB2312" pitchFamily="49" charset="-122"/>
              </a:rPr>
              <a:t>：</a:t>
            </a:r>
            <a:r>
              <a:rPr lang="zh-CN" altLang="en-US" sz="2400" b="1" dirty="0">
                <a:solidFill>
                  <a:srgbClr val="FF0000"/>
                </a:solidFill>
                <a:latin typeface="宋体" panose="02010600030101010101" pitchFamily="2" charset="-122"/>
                <a:ea typeface="楷体_GB2312" pitchFamily="49" charset="-122"/>
              </a:rPr>
              <a:t>种群数量翻一番所需的时间是固定的</a:t>
            </a:r>
            <a:r>
              <a:rPr lang="zh-CN" altLang="en-US" dirty="0">
                <a:solidFill>
                  <a:srgbClr val="FF0000"/>
                </a:solidFill>
                <a:latin typeface="宋体" panose="02010600030101010101" pitchFamily="2" charset="-122"/>
              </a:rPr>
              <a:t>。</a:t>
            </a:r>
            <a:endParaRPr lang="zh-CN" altLang="en-US" dirty="0">
              <a:solidFill>
                <a:srgbClr val="FF0000"/>
              </a:solidFill>
            </a:endParaRPr>
          </a:p>
        </p:txBody>
      </p:sp>
      <p:grpSp>
        <p:nvGrpSpPr>
          <p:cNvPr id="23581" name="Group 29">
            <a:extLst>
              <a:ext uri="{FF2B5EF4-FFF2-40B4-BE49-F238E27FC236}">
                <a16:creationId xmlns:a16="http://schemas.microsoft.com/office/drawing/2014/main" id="{229E425E-9EB1-4F8A-8316-4441DA7E04FE}"/>
              </a:ext>
            </a:extLst>
          </p:cNvPr>
          <p:cNvGrpSpPr>
            <a:grpSpLocks/>
          </p:cNvGrpSpPr>
          <p:nvPr/>
        </p:nvGrpSpPr>
        <p:grpSpPr bwMode="auto">
          <a:xfrm>
            <a:off x="900113" y="4484688"/>
            <a:ext cx="7207250" cy="1403350"/>
            <a:chOff x="567" y="2825"/>
            <a:chExt cx="4540" cy="884"/>
          </a:xfrm>
        </p:grpSpPr>
        <p:sp>
          <p:nvSpPr>
            <p:cNvPr id="23571" name="Rectangle 19">
              <a:extLst>
                <a:ext uri="{FF2B5EF4-FFF2-40B4-BE49-F238E27FC236}">
                  <a16:creationId xmlns:a16="http://schemas.microsoft.com/office/drawing/2014/main" id="{F0DECCDD-08BD-4F69-AD68-97FB0F0B5AC4}"/>
                </a:ext>
              </a:extLst>
            </p:cNvPr>
            <p:cNvSpPr>
              <a:spLocks noChangeArrowheads="1"/>
            </p:cNvSpPr>
            <p:nvPr/>
          </p:nvSpPr>
          <p:spPr bwMode="auto">
            <a:xfrm>
              <a:off x="567" y="2825"/>
              <a:ext cx="37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latin typeface="Times New Roman" panose="02020603050405020304" pitchFamily="18" charset="0"/>
                  <a:ea typeface="楷体_GB2312" pitchFamily="49" charset="-122"/>
                </a:rPr>
                <a:t>令种群数量翻一番所需的时间为</a:t>
              </a:r>
              <a:r>
                <a:rPr lang="en-US" altLang="zh-CN" sz="2400" b="1" i="1" dirty="0">
                  <a:latin typeface="Times New Roman" panose="02020603050405020304" pitchFamily="18" charset="0"/>
                  <a:ea typeface="楷体_GB2312" pitchFamily="49" charset="-122"/>
                </a:rPr>
                <a:t>T</a:t>
              </a:r>
              <a:r>
                <a:rPr lang="zh-CN" altLang="en-US" sz="2400" b="1" dirty="0">
                  <a:latin typeface="Times New Roman" panose="02020603050405020304" pitchFamily="18" charset="0"/>
                  <a:ea typeface="楷体_GB2312" pitchFamily="49" charset="-122"/>
                </a:rPr>
                <a:t>，则有： </a:t>
              </a:r>
            </a:p>
          </p:txBody>
        </p:sp>
        <p:graphicFrame>
          <p:nvGraphicFramePr>
            <p:cNvPr id="23572" name="Object 20">
              <a:extLst>
                <a:ext uri="{FF2B5EF4-FFF2-40B4-BE49-F238E27FC236}">
                  <a16:creationId xmlns:a16="http://schemas.microsoft.com/office/drawing/2014/main" id="{B04E23B9-69B5-49EC-86AD-D73F63CB60E9}"/>
                </a:ext>
              </a:extLst>
            </p:cNvPr>
            <p:cNvGraphicFramePr>
              <a:graphicFrameLocks noChangeAspect="1"/>
            </p:cNvGraphicFramePr>
            <p:nvPr/>
          </p:nvGraphicFramePr>
          <p:xfrm>
            <a:off x="4146" y="2840"/>
            <a:ext cx="961" cy="303"/>
          </p:xfrm>
          <a:graphic>
            <a:graphicData uri="http://schemas.openxmlformats.org/presentationml/2006/ole">
              <mc:AlternateContent xmlns:mc="http://schemas.openxmlformats.org/markup-compatibility/2006">
                <mc:Choice xmlns:v="urn:schemas-microsoft-com:vml" Requires="v">
                  <p:oleObj name="Equation" r:id="rId2" imgW="749160" imgH="241200" progId="Equation.DSMT4">
                    <p:embed/>
                  </p:oleObj>
                </mc:Choice>
                <mc:Fallback>
                  <p:oleObj name="Equation" r:id="rId2" imgW="749160" imgH="241200" progId="Equation.DSMT4">
                    <p:embed/>
                    <p:pic>
                      <p:nvPicPr>
                        <p:cNvPr id="23572" name="Object 20">
                          <a:extLst>
                            <a:ext uri="{FF2B5EF4-FFF2-40B4-BE49-F238E27FC236}">
                              <a16:creationId xmlns:a16="http://schemas.microsoft.com/office/drawing/2014/main" id="{B04E23B9-69B5-49EC-86AD-D73F63CB6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6" y="2840"/>
                          <a:ext cx="961" cy="3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4" name="Object 22">
              <a:extLst>
                <a:ext uri="{FF2B5EF4-FFF2-40B4-BE49-F238E27FC236}">
                  <a16:creationId xmlns:a16="http://schemas.microsoft.com/office/drawing/2014/main" id="{613C8CB5-EBF7-4DA0-87D0-F0ABF785CF69}"/>
                </a:ext>
              </a:extLst>
            </p:cNvPr>
            <p:cNvGraphicFramePr>
              <a:graphicFrameLocks noChangeAspect="1"/>
            </p:cNvGraphicFramePr>
            <p:nvPr/>
          </p:nvGraphicFramePr>
          <p:xfrm>
            <a:off x="1158" y="3246"/>
            <a:ext cx="638" cy="463"/>
          </p:xfrm>
          <a:graphic>
            <a:graphicData uri="http://schemas.openxmlformats.org/presentationml/2006/ole">
              <mc:AlternateContent xmlns:mc="http://schemas.openxmlformats.org/markup-compatibility/2006">
                <mc:Choice xmlns:v="urn:schemas-microsoft-com:vml" Requires="v">
                  <p:oleObj name="Equation" r:id="rId4" imgW="558720" imgH="406080" progId="Equation.DSMT4">
                    <p:embed/>
                  </p:oleObj>
                </mc:Choice>
                <mc:Fallback>
                  <p:oleObj name="Equation" r:id="rId4" imgW="558720" imgH="406080" progId="Equation.DSMT4">
                    <p:embed/>
                    <p:pic>
                      <p:nvPicPr>
                        <p:cNvPr id="23574" name="Object 22">
                          <a:extLst>
                            <a:ext uri="{FF2B5EF4-FFF2-40B4-BE49-F238E27FC236}">
                              <a16:creationId xmlns:a16="http://schemas.microsoft.com/office/drawing/2014/main" id="{613C8CB5-EBF7-4DA0-87D0-F0ABF785CF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 y="3246"/>
                          <a:ext cx="638" cy="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5" name="Rectangle 23">
              <a:extLst>
                <a:ext uri="{FF2B5EF4-FFF2-40B4-BE49-F238E27FC236}">
                  <a16:creationId xmlns:a16="http://schemas.microsoft.com/office/drawing/2014/main" id="{B62C70EB-BC64-4BC8-8381-6B950C804711}"/>
                </a:ext>
              </a:extLst>
            </p:cNvPr>
            <p:cNvSpPr>
              <a:spLocks noChangeArrowheads="1"/>
            </p:cNvSpPr>
            <p:nvPr/>
          </p:nvSpPr>
          <p:spPr bwMode="auto">
            <a:xfrm>
              <a:off x="581" y="3318"/>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a:latin typeface="楷体_GB2312" pitchFamily="49" charset="-122"/>
                  <a:ea typeface="楷体_GB2312" pitchFamily="49" charset="-122"/>
                </a:rPr>
                <a:t>故</a:t>
              </a:r>
            </a:p>
          </p:txBody>
        </p:sp>
      </p:grpSp>
      <p:graphicFrame>
        <p:nvGraphicFramePr>
          <p:cNvPr id="23577" name="Object 25">
            <a:extLst>
              <a:ext uri="{FF2B5EF4-FFF2-40B4-BE49-F238E27FC236}">
                <a16:creationId xmlns:a16="http://schemas.microsoft.com/office/drawing/2014/main" id="{6BEC647C-0DB0-4128-8426-B0CFD78A8DE6}"/>
              </a:ext>
            </a:extLst>
          </p:cNvPr>
          <p:cNvGraphicFramePr>
            <a:graphicFrameLocks noChangeAspect="1"/>
          </p:cNvGraphicFramePr>
          <p:nvPr/>
        </p:nvGraphicFramePr>
        <p:xfrm>
          <a:off x="3419475" y="571500"/>
          <a:ext cx="1514475" cy="481013"/>
        </p:xfrm>
        <a:graphic>
          <a:graphicData uri="http://schemas.openxmlformats.org/presentationml/2006/ole">
            <mc:AlternateContent xmlns:mc="http://schemas.openxmlformats.org/markup-compatibility/2006">
              <mc:Choice xmlns:v="urn:schemas-microsoft-com:vml" Requires="v">
                <p:oleObj name="Equation" r:id="rId6" imgW="749160" imgH="241200" progId="Equation.DSMT4">
                  <p:embed/>
                </p:oleObj>
              </mc:Choice>
              <mc:Fallback>
                <p:oleObj name="Equation" r:id="rId6" imgW="749160" imgH="241200" progId="Equation.DSMT4">
                  <p:embed/>
                  <p:pic>
                    <p:nvPicPr>
                      <p:cNvPr id="23577" name="Object 25">
                        <a:extLst>
                          <a:ext uri="{FF2B5EF4-FFF2-40B4-BE49-F238E27FC236}">
                            <a16:creationId xmlns:a16="http://schemas.microsoft.com/office/drawing/2014/main" id="{6BEC647C-0DB0-4128-8426-B0CFD78A8D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475" y="571500"/>
                        <a:ext cx="151447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8" name="Rectangle 26">
            <a:extLst>
              <a:ext uri="{FF2B5EF4-FFF2-40B4-BE49-F238E27FC236}">
                <a16:creationId xmlns:a16="http://schemas.microsoft.com/office/drawing/2014/main" id="{5BAFE7D3-A935-4E15-8D67-47E3C57D7B51}"/>
              </a:ext>
            </a:extLst>
          </p:cNvPr>
          <p:cNvSpPr>
            <a:spLocks noChangeArrowheads="1"/>
          </p:cNvSpPr>
          <p:nvPr/>
        </p:nvSpPr>
        <p:spPr bwMode="auto">
          <a:xfrm>
            <a:off x="6053138" y="620713"/>
            <a:ext cx="10454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sp>
        <p:nvSpPr>
          <p:cNvPr id="23580" name="Rectangle 28">
            <a:extLst>
              <a:ext uri="{FF2B5EF4-FFF2-40B4-BE49-F238E27FC236}">
                <a16:creationId xmlns:a16="http://schemas.microsoft.com/office/drawing/2014/main" id="{0C1160EC-2028-40A0-A2B9-7425194A6A3F}"/>
              </a:ext>
            </a:extLst>
          </p:cNvPr>
          <p:cNvSpPr>
            <a:spLocks noChangeArrowheads="1"/>
          </p:cNvSpPr>
          <p:nvPr/>
        </p:nvSpPr>
        <p:spPr bwMode="auto">
          <a:xfrm>
            <a:off x="323850" y="1412875"/>
            <a:ext cx="8820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latin typeface="宋体" panose="02010600030101010101" pitchFamily="2" charset="-122"/>
              </a:rPr>
              <a:t>     </a:t>
            </a:r>
            <a:r>
              <a:rPr lang="zh-CN" altLang="en-US" sz="2400" b="1" dirty="0">
                <a:latin typeface="楷体_GB2312" pitchFamily="49" charset="-122"/>
                <a:ea typeface="楷体_GB2312" pitchFamily="49" charset="-122"/>
              </a:rPr>
              <a:t>当</a:t>
            </a:r>
            <a:r>
              <a:rPr lang="en-US" altLang="zh-CN" sz="2400" b="1" dirty="0">
                <a:latin typeface="楷体_GB2312" pitchFamily="49" charset="-122"/>
                <a:ea typeface="楷体_GB2312" pitchFamily="49" charset="-122"/>
              </a:rPr>
              <a:t>r</a:t>
            </a:r>
            <a:r>
              <a:rPr lang="en-US" altLang="zh-CN" sz="2400" b="1" dirty="0">
                <a:latin typeface="Times New Roman" panose="02020603050405020304" pitchFamily="18" charset="0"/>
                <a:ea typeface="楷体_GB2312" pitchFamily="49" charset="-122"/>
              </a:rPr>
              <a:t>&gt;</a:t>
            </a:r>
            <a:r>
              <a:rPr lang="en-US" altLang="zh-CN" sz="2400" b="1"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时，表明人口将按指数规律无限增长，因此又称为</a:t>
            </a:r>
            <a:r>
              <a:rPr lang="zh-CN" altLang="en-US" sz="2400" b="1" dirty="0">
                <a:solidFill>
                  <a:srgbClr val="FF0000"/>
                </a:solidFill>
                <a:latin typeface="楷体_GB2312" pitchFamily="49" charset="-122"/>
                <a:ea typeface="楷体_GB2312" pitchFamily="49" charset="-122"/>
              </a:rPr>
              <a:t>人口指数模型。</a:t>
            </a:r>
          </a:p>
        </p:txBody>
      </p:sp>
      <p:sp>
        <p:nvSpPr>
          <p:cNvPr id="2" name="灯片编号占位符 1">
            <a:extLst>
              <a:ext uri="{FF2B5EF4-FFF2-40B4-BE49-F238E27FC236}">
                <a16:creationId xmlns:a16="http://schemas.microsoft.com/office/drawing/2014/main" id="{52A1A282-3BA4-FC38-4AC5-6207C615ACFD}"/>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a:extLst>
              <a:ext uri="{FF2B5EF4-FFF2-40B4-BE49-F238E27FC236}">
                <a16:creationId xmlns:a16="http://schemas.microsoft.com/office/drawing/2014/main" id="{78CE7522-31F9-4C0E-8912-977A3B5CA1FB}"/>
              </a:ext>
            </a:extLst>
          </p:cNvPr>
          <p:cNvSpPr txBox="1">
            <a:spLocks noChangeArrowheads="1"/>
          </p:cNvSpPr>
          <p:nvPr/>
        </p:nvSpPr>
        <p:spPr bwMode="auto">
          <a:xfrm>
            <a:off x="228600" y="2286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模型检验</a:t>
            </a:r>
          </a:p>
        </p:txBody>
      </p:sp>
      <p:pic>
        <p:nvPicPr>
          <p:cNvPr id="26637" name="Picture 13">
            <a:extLst>
              <a:ext uri="{FF2B5EF4-FFF2-40B4-BE49-F238E27FC236}">
                <a16:creationId xmlns:a16="http://schemas.microsoft.com/office/drawing/2014/main" id="{E377AA9B-38BA-4DAF-9F90-628C66067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4683125"/>
            <a:ext cx="1712912" cy="1717675"/>
          </a:xfrm>
          <a:prstGeom prst="rect">
            <a:avLst/>
          </a:prstGeom>
          <a:noFill/>
          <a:extLst>
            <a:ext uri="{909E8E84-426E-40DD-AFC4-6F175D3DCCD1}">
              <a14:hiddenFill xmlns:a14="http://schemas.microsoft.com/office/drawing/2010/main">
                <a:solidFill>
                  <a:srgbClr val="FFFFFF"/>
                </a:solidFill>
              </a14:hiddenFill>
            </a:ext>
          </a:extLst>
        </p:spPr>
      </p:pic>
      <p:sp>
        <p:nvSpPr>
          <p:cNvPr id="26639" name="Text Box 15">
            <a:extLst>
              <a:ext uri="{FF2B5EF4-FFF2-40B4-BE49-F238E27FC236}">
                <a16:creationId xmlns:a16="http://schemas.microsoft.com/office/drawing/2014/main" id="{EACB4A38-F11F-409A-8DB4-57E362B98E79}"/>
              </a:ext>
            </a:extLst>
          </p:cNvPr>
          <p:cNvSpPr txBox="1">
            <a:spLocks noChangeArrowheads="1"/>
          </p:cNvSpPr>
          <p:nvPr/>
        </p:nvSpPr>
        <p:spPr bwMode="auto">
          <a:xfrm>
            <a:off x="1116013" y="1268413"/>
            <a:ext cx="4032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CN" altLang="zh-CN"/>
          </a:p>
        </p:txBody>
      </p:sp>
      <p:sp>
        <p:nvSpPr>
          <p:cNvPr id="26640" name="Text Box 16">
            <a:extLst>
              <a:ext uri="{FF2B5EF4-FFF2-40B4-BE49-F238E27FC236}">
                <a16:creationId xmlns:a16="http://schemas.microsoft.com/office/drawing/2014/main" id="{787C40C8-9AAC-4AD6-A3E2-59084410CA6C}"/>
              </a:ext>
            </a:extLst>
          </p:cNvPr>
          <p:cNvSpPr txBox="1">
            <a:spLocks noChangeArrowheads="1"/>
          </p:cNvSpPr>
          <p:nvPr/>
        </p:nvSpPr>
        <p:spPr bwMode="auto">
          <a:xfrm>
            <a:off x="250825" y="908050"/>
            <a:ext cx="8424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用近两个世纪的美国人口统计数据（以百万作单位），对模型作检验。</a:t>
            </a:r>
          </a:p>
        </p:txBody>
      </p:sp>
      <p:graphicFrame>
        <p:nvGraphicFramePr>
          <p:cNvPr id="26652" name="Object 28">
            <a:extLst>
              <a:ext uri="{FF2B5EF4-FFF2-40B4-BE49-F238E27FC236}">
                <a16:creationId xmlns:a16="http://schemas.microsoft.com/office/drawing/2014/main" id="{0C4D657A-CF9A-409A-A6CD-3A908A7B3FD3}"/>
              </a:ext>
            </a:extLst>
          </p:cNvPr>
          <p:cNvGraphicFramePr>
            <a:graphicFrameLocks noGrp="1" noChangeAspect="1"/>
          </p:cNvGraphicFramePr>
          <p:nvPr>
            <p:ph sz="half" idx="1"/>
          </p:nvPr>
        </p:nvGraphicFramePr>
        <p:xfrm>
          <a:off x="3563938" y="209550"/>
          <a:ext cx="1497012" cy="482600"/>
        </p:xfrm>
        <a:graphic>
          <a:graphicData uri="http://schemas.openxmlformats.org/presentationml/2006/ole">
            <mc:AlternateContent xmlns:mc="http://schemas.openxmlformats.org/markup-compatibility/2006">
              <mc:Choice xmlns:v="urn:schemas-microsoft-com:vml" Requires="v">
                <p:oleObj name="Equation" r:id="rId3" imgW="749160" imgH="241200" progId="Equation.DSMT4">
                  <p:embed/>
                </p:oleObj>
              </mc:Choice>
              <mc:Fallback>
                <p:oleObj name="Equation" r:id="rId3" imgW="749160" imgH="241200" progId="Equation.DSMT4">
                  <p:embed/>
                  <p:pic>
                    <p:nvPicPr>
                      <p:cNvPr id="26652" name="Object 28">
                        <a:extLst>
                          <a:ext uri="{FF2B5EF4-FFF2-40B4-BE49-F238E27FC236}">
                            <a16:creationId xmlns:a16="http://schemas.microsoft.com/office/drawing/2014/main" id="{0C4D657A-CF9A-409A-A6CD-3A908A7B3F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09550"/>
                        <a:ext cx="1497012"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41" name="Text Box 17">
            <a:extLst>
              <a:ext uri="{FF2B5EF4-FFF2-40B4-BE49-F238E27FC236}">
                <a16:creationId xmlns:a16="http://schemas.microsoft.com/office/drawing/2014/main" id="{86E77EB1-422C-4786-B2A4-20078C58A392}"/>
              </a:ext>
            </a:extLst>
          </p:cNvPr>
          <p:cNvSpPr txBox="1">
            <a:spLocks noChangeArrowheads="1"/>
          </p:cNvSpPr>
          <p:nvPr/>
        </p:nvSpPr>
        <p:spPr bwMode="auto">
          <a:xfrm>
            <a:off x="250825" y="1916113"/>
            <a:ext cx="1728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0000FF"/>
                </a:solidFill>
                <a:latin typeface="Times New Roman" panose="02020603050405020304" pitchFamily="18" charset="0"/>
                <a:ea typeface="楷体_GB2312" pitchFamily="49" charset="-122"/>
              </a:rPr>
              <a:t>参数估计：</a:t>
            </a:r>
          </a:p>
        </p:txBody>
      </p:sp>
      <p:graphicFrame>
        <p:nvGraphicFramePr>
          <p:cNvPr id="26654" name="Object 30">
            <a:extLst>
              <a:ext uri="{FF2B5EF4-FFF2-40B4-BE49-F238E27FC236}">
                <a16:creationId xmlns:a16="http://schemas.microsoft.com/office/drawing/2014/main" id="{C1CB3237-EFBB-4331-9B35-0F08816F2137}"/>
              </a:ext>
            </a:extLst>
          </p:cNvPr>
          <p:cNvGraphicFramePr>
            <a:graphicFrameLocks noGrp="1" noChangeAspect="1"/>
          </p:cNvGraphicFramePr>
          <p:nvPr>
            <p:ph sz="quarter" idx="2"/>
          </p:nvPr>
        </p:nvGraphicFramePr>
        <p:xfrm>
          <a:off x="4638675" y="1954213"/>
          <a:ext cx="68263" cy="14287"/>
        </p:xfrm>
        <a:graphic>
          <a:graphicData uri="http://schemas.openxmlformats.org/presentationml/2006/ole">
            <mc:AlternateContent xmlns:mc="http://schemas.openxmlformats.org/markup-compatibility/2006">
              <mc:Choice xmlns:v="urn:schemas-microsoft-com:vml" Requires="v">
                <p:oleObj name="Equation" r:id="rId5" imgW="317160" imgH="228600" progId="Equation.DSMT4">
                  <p:embed/>
                </p:oleObj>
              </mc:Choice>
              <mc:Fallback>
                <p:oleObj name="Equation" r:id="rId5" imgW="317160" imgH="228600" progId="Equation.DSMT4">
                  <p:embed/>
                  <p:pic>
                    <p:nvPicPr>
                      <p:cNvPr id="26654" name="Object 30">
                        <a:extLst>
                          <a:ext uri="{FF2B5EF4-FFF2-40B4-BE49-F238E27FC236}">
                            <a16:creationId xmlns:a16="http://schemas.microsoft.com/office/drawing/2014/main" id="{C1CB3237-EFBB-4331-9B35-0F08816F21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8675" y="1954213"/>
                        <a:ext cx="68263" cy="14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7" name="Text Box 33">
            <a:extLst>
              <a:ext uri="{FF2B5EF4-FFF2-40B4-BE49-F238E27FC236}">
                <a16:creationId xmlns:a16="http://schemas.microsoft.com/office/drawing/2014/main" id="{00BFB778-F609-4BA5-94B1-E3D506E18A78}"/>
              </a:ext>
            </a:extLst>
          </p:cNvPr>
          <p:cNvSpPr txBox="1">
            <a:spLocks noChangeArrowheads="1"/>
          </p:cNvSpPr>
          <p:nvPr/>
        </p:nvSpPr>
        <p:spPr bwMode="auto">
          <a:xfrm>
            <a:off x="1908175" y="1917700"/>
            <a:ext cx="6767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i="1" dirty="0">
                <a:latin typeface="Times New Roman" panose="02020603050405020304" pitchFamily="18" charset="0"/>
                <a:ea typeface="楷体_GB2312" pitchFamily="49" charset="-122"/>
              </a:rPr>
              <a:t>r</a:t>
            </a:r>
            <a:r>
              <a:rPr lang="zh-CN" altLang="en-US" sz="2400" b="1" i="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x</a:t>
            </a:r>
            <a:r>
              <a:rPr lang="en-US" altLang="zh-CN" sz="2400" b="1" i="1" baseline="-25000" dirty="0">
                <a:latin typeface="Times New Roman" panose="02020603050405020304" pitchFamily="18" charset="0"/>
                <a:ea typeface="楷体_GB2312" pitchFamily="49" charset="-122"/>
              </a:rPr>
              <a:t>0</a:t>
            </a:r>
            <a:r>
              <a:rPr lang="zh-CN" altLang="en-US" sz="2400" b="1" dirty="0">
                <a:ea typeface="楷体_GB2312" pitchFamily="49" charset="-122"/>
              </a:rPr>
              <a:t>可用已知数据估计</a:t>
            </a:r>
          </a:p>
        </p:txBody>
      </p:sp>
      <p:sp>
        <p:nvSpPr>
          <p:cNvPr id="26660" name="Rectangle 36">
            <a:extLst>
              <a:ext uri="{FF2B5EF4-FFF2-40B4-BE49-F238E27FC236}">
                <a16:creationId xmlns:a16="http://schemas.microsoft.com/office/drawing/2014/main" id="{A45456A2-7131-4F09-9451-647B67D29A6C}"/>
              </a:ext>
            </a:extLst>
          </p:cNvPr>
          <p:cNvSpPr>
            <a:spLocks noChangeArrowheads="1"/>
          </p:cNvSpPr>
          <p:nvPr/>
        </p:nvSpPr>
        <p:spPr bwMode="auto">
          <a:xfrm>
            <a:off x="7277100" y="260350"/>
            <a:ext cx="10454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sp>
        <p:nvSpPr>
          <p:cNvPr id="26661" name="Text Box 37">
            <a:extLst>
              <a:ext uri="{FF2B5EF4-FFF2-40B4-BE49-F238E27FC236}">
                <a16:creationId xmlns:a16="http://schemas.microsoft.com/office/drawing/2014/main" id="{BD1EDD09-5406-408A-A334-84761F225B25}"/>
              </a:ext>
            </a:extLst>
          </p:cNvPr>
          <p:cNvSpPr txBox="1">
            <a:spLocks noChangeArrowheads="1"/>
          </p:cNvSpPr>
          <p:nvPr/>
        </p:nvSpPr>
        <p:spPr bwMode="auto">
          <a:xfrm>
            <a:off x="1907704" y="2613323"/>
            <a:ext cx="40322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latin typeface="楷体_GB2312" pitchFamily="49" charset="-122"/>
                <a:ea typeface="楷体_GB2312" pitchFamily="49" charset="-122"/>
              </a:rPr>
              <a:t>对（</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）式两边取对数，得：</a:t>
            </a:r>
          </a:p>
        </p:txBody>
      </p:sp>
      <p:graphicFrame>
        <p:nvGraphicFramePr>
          <p:cNvPr id="26662" name="Object 38">
            <a:extLst>
              <a:ext uri="{FF2B5EF4-FFF2-40B4-BE49-F238E27FC236}">
                <a16:creationId xmlns:a16="http://schemas.microsoft.com/office/drawing/2014/main" id="{66380D50-39D1-4BFD-B252-5843942AE350}"/>
              </a:ext>
            </a:extLst>
          </p:cNvPr>
          <p:cNvGraphicFramePr>
            <a:graphicFrameLocks noGrp="1" noChangeAspect="1"/>
          </p:cNvGraphicFramePr>
          <p:nvPr>
            <p:ph sz="quarter" idx="3"/>
          </p:nvPr>
        </p:nvGraphicFramePr>
        <p:xfrm>
          <a:off x="2465388" y="3455988"/>
          <a:ext cx="4627562" cy="909637"/>
        </p:xfrm>
        <a:graphic>
          <a:graphicData uri="http://schemas.openxmlformats.org/presentationml/2006/ole">
            <mc:AlternateContent xmlns:mc="http://schemas.openxmlformats.org/markup-compatibility/2006">
              <mc:Choice xmlns:v="urn:schemas-microsoft-com:vml" Requires="v">
                <p:oleObj name="Equation" r:id="rId7" imgW="2323800" imgH="457200" progId="Equation.DSMT4">
                  <p:embed/>
                </p:oleObj>
              </mc:Choice>
              <mc:Fallback>
                <p:oleObj name="Equation" r:id="rId7" imgW="2323800" imgH="457200" progId="Equation.DSMT4">
                  <p:embed/>
                  <p:pic>
                    <p:nvPicPr>
                      <p:cNvPr id="26662" name="Object 38">
                        <a:extLst>
                          <a:ext uri="{FF2B5EF4-FFF2-40B4-BE49-F238E27FC236}">
                            <a16:creationId xmlns:a16="http://schemas.microsoft.com/office/drawing/2014/main" id="{66380D50-39D1-4BFD-B252-5843942AE3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5388" y="3455988"/>
                        <a:ext cx="4627562" cy="909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65" name="Rectangle 41">
            <a:extLst>
              <a:ext uri="{FF2B5EF4-FFF2-40B4-BE49-F238E27FC236}">
                <a16:creationId xmlns:a16="http://schemas.microsoft.com/office/drawing/2014/main" id="{0F657ACE-5633-4AFF-AD8C-E65855A089AF}"/>
              </a:ext>
            </a:extLst>
          </p:cNvPr>
          <p:cNvSpPr>
            <a:spLocks noChangeArrowheads="1"/>
          </p:cNvSpPr>
          <p:nvPr/>
        </p:nvSpPr>
        <p:spPr bwMode="auto">
          <a:xfrm>
            <a:off x="7348538" y="3548063"/>
            <a:ext cx="10454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sp>
        <p:nvSpPr>
          <p:cNvPr id="26666" name="Text Box 42">
            <a:extLst>
              <a:ext uri="{FF2B5EF4-FFF2-40B4-BE49-F238E27FC236}">
                <a16:creationId xmlns:a16="http://schemas.microsoft.com/office/drawing/2014/main" id="{850E6A7E-C947-4BCC-A6F7-68DB6EBFED16}"/>
              </a:ext>
            </a:extLst>
          </p:cNvPr>
          <p:cNvSpPr txBox="1">
            <a:spLocks noChangeArrowheads="1"/>
          </p:cNvSpPr>
          <p:nvPr/>
        </p:nvSpPr>
        <p:spPr bwMode="auto">
          <a:xfrm>
            <a:off x="2195513" y="4767263"/>
            <a:ext cx="66246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以</a:t>
            </a:r>
            <a:r>
              <a:rPr lang="en-US" altLang="zh-CN" sz="2400" b="1" dirty="0">
                <a:latin typeface="Times New Roman" panose="02020603050405020304" pitchFamily="18" charset="0"/>
                <a:ea typeface="楷体_GB2312" pitchFamily="49" charset="-122"/>
              </a:rPr>
              <a:t>1790</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1900</a:t>
            </a:r>
            <a:r>
              <a:rPr lang="zh-CN" altLang="en-US" sz="2400" b="1" dirty="0">
                <a:latin typeface="楷体_GB2312" pitchFamily="49" charset="-122"/>
                <a:ea typeface="楷体_GB2312" pitchFamily="49" charset="-122"/>
              </a:rPr>
              <a:t>年的数据拟合（</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）式，用</a:t>
            </a:r>
            <a:r>
              <a:rPr lang="en-US" altLang="zh-CN" sz="2400" b="1" dirty="0" err="1">
                <a:latin typeface="楷体_GB2312" pitchFamily="49" charset="-122"/>
                <a:ea typeface="楷体_GB2312" pitchFamily="49" charset="-122"/>
              </a:rPr>
              <a:t>Matlab</a:t>
            </a:r>
            <a:r>
              <a:rPr lang="zh-CN" altLang="en-US" sz="2400" b="1" dirty="0">
                <a:latin typeface="楷体_GB2312" pitchFamily="49" charset="-122"/>
                <a:ea typeface="楷体_GB2312" pitchFamily="49" charset="-122"/>
              </a:rPr>
              <a:t>软件计算得：</a:t>
            </a:r>
            <a:r>
              <a:rPr lang="en-US" altLang="zh-CN" sz="2400" b="1" dirty="0">
                <a:latin typeface="楷体_GB2312" pitchFamily="49" charset="-122"/>
                <a:ea typeface="楷体_GB2312" pitchFamily="49" charset="-122"/>
              </a:rPr>
              <a:t>r</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0.2743/10</a:t>
            </a:r>
            <a:r>
              <a:rPr lang="zh-CN" altLang="en-US" sz="2400" b="1" dirty="0">
                <a:latin typeface="楷体_GB2312" pitchFamily="49" charset="-122"/>
                <a:ea typeface="楷体_GB2312" pitchFamily="49" charset="-122"/>
              </a:rPr>
              <a:t>年，</a:t>
            </a:r>
          </a:p>
        </p:txBody>
      </p:sp>
      <p:sp>
        <p:nvSpPr>
          <p:cNvPr id="2" name="灯片编号占位符 1">
            <a:extLst>
              <a:ext uri="{FF2B5EF4-FFF2-40B4-BE49-F238E27FC236}">
                <a16:creationId xmlns:a16="http://schemas.microsoft.com/office/drawing/2014/main" id="{502931A7-CBAF-42C8-2EF0-0511EC950978}"/>
              </a:ext>
            </a:extLst>
          </p:cNvPr>
          <p:cNvSpPr>
            <a:spLocks noGrp="1"/>
          </p:cNvSpPr>
          <p:nvPr>
            <p:ph type="sldNum" sz="quarter" idx="12"/>
          </p:nvPr>
        </p:nvSpPr>
        <p:spPr/>
        <p:txBody>
          <a:bodyPr/>
          <a:lstStyle/>
          <a:p>
            <a:fld id="{0E604E7C-C8BB-42E9-A2CB-A684C9A6B7D0}" type="slidenum">
              <a:rPr lang="en-US" altLang="zh-CN" smtClean="0"/>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a:extLst>
              <a:ext uri="{FF2B5EF4-FFF2-40B4-BE49-F238E27FC236}">
                <a16:creationId xmlns:a16="http://schemas.microsoft.com/office/drawing/2014/main" id="{055DCBE0-99CF-427B-84B1-7F552C5D7A2E}"/>
              </a:ext>
            </a:extLst>
          </p:cNvPr>
          <p:cNvSpPr txBox="1">
            <a:spLocks noChangeArrowheads="1"/>
          </p:cNvSpPr>
          <p:nvPr/>
        </p:nvSpPr>
        <p:spPr bwMode="auto">
          <a:xfrm>
            <a:off x="228600" y="2286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a:solidFill>
                  <a:srgbClr val="FF0000"/>
                </a:solidFill>
                <a:ea typeface="楷体_GB2312" pitchFamily="49" charset="-122"/>
              </a:rPr>
              <a:t>Matlab</a:t>
            </a:r>
            <a:r>
              <a:rPr lang="zh-CN" altLang="en-US" sz="2400" b="1">
                <a:solidFill>
                  <a:srgbClr val="FF0000"/>
                </a:solidFill>
                <a:ea typeface="楷体_GB2312" pitchFamily="49" charset="-122"/>
              </a:rPr>
              <a:t>计算示范</a:t>
            </a:r>
          </a:p>
        </p:txBody>
      </p:sp>
      <p:pic>
        <p:nvPicPr>
          <p:cNvPr id="32771" name="Picture 3">
            <a:extLst>
              <a:ext uri="{FF2B5EF4-FFF2-40B4-BE49-F238E27FC236}">
                <a16:creationId xmlns:a16="http://schemas.microsoft.com/office/drawing/2014/main" id="{6884B149-8BC9-4F8D-B62B-587D3C423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4683125"/>
            <a:ext cx="1712912" cy="1717675"/>
          </a:xfrm>
          <a:prstGeom prst="rect">
            <a:avLst/>
          </a:prstGeom>
          <a:noFill/>
          <a:extLst>
            <a:ext uri="{909E8E84-426E-40DD-AFC4-6F175D3DCCD1}">
              <a14:hiddenFill xmlns:a14="http://schemas.microsoft.com/office/drawing/2010/main">
                <a:solidFill>
                  <a:srgbClr val="FFFFFF"/>
                </a:solidFill>
              </a14:hiddenFill>
            </a:ext>
          </a:extLst>
        </p:spPr>
      </p:pic>
      <p:sp>
        <p:nvSpPr>
          <p:cNvPr id="32772" name="Text Box 4">
            <a:extLst>
              <a:ext uri="{FF2B5EF4-FFF2-40B4-BE49-F238E27FC236}">
                <a16:creationId xmlns:a16="http://schemas.microsoft.com/office/drawing/2014/main" id="{30A7ED00-112C-41AD-AC82-5D7765513895}"/>
              </a:ext>
            </a:extLst>
          </p:cNvPr>
          <p:cNvSpPr txBox="1">
            <a:spLocks noChangeArrowheads="1"/>
          </p:cNvSpPr>
          <p:nvPr/>
        </p:nvSpPr>
        <p:spPr bwMode="auto">
          <a:xfrm>
            <a:off x="1116013" y="1268413"/>
            <a:ext cx="4032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endParaRPr lang="zh-CN" altLang="zh-CN"/>
          </a:p>
        </p:txBody>
      </p:sp>
      <p:graphicFrame>
        <p:nvGraphicFramePr>
          <p:cNvPr id="32774" name="Object 6">
            <a:extLst>
              <a:ext uri="{FF2B5EF4-FFF2-40B4-BE49-F238E27FC236}">
                <a16:creationId xmlns:a16="http://schemas.microsoft.com/office/drawing/2014/main" id="{4819CDF8-B7FF-4C49-A1F0-E8D66ACF58FE}"/>
              </a:ext>
            </a:extLst>
          </p:cNvPr>
          <p:cNvGraphicFramePr>
            <a:graphicFrameLocks noGrp="1" noChangeAspect="1"/>
          </p:cNvGraphicFramePr>
          <p:nvPr>
            <p:ph sz="quarter" idx="1"/>
          </p:nvPr>
        </p:nvGraphicFramePr>
        <p:xfrm>
          <a:off x="2916238" y="260350"/>
          <a:ext cx="4646612" cy="914400"/>
        </p:xfrm>
        <a:graphic>
          <a:graphicData uri="http://schemas.openxmlformats.org/presentationml/2006/ole">
            <mc:AlternateContent xmlns:mc="http://schemas.openxmlformats.org/markup-compatibility/2006">
              <mc:Choice xmlns:v="urn:schemas-microsoft-com:vml" Requires="v">
                <p:oleObj name="Equation" r:id="rId3" imgW="2323800" imgH="457200" progId="Equation.DSMT4">
                  <p:embed/>
                </p:oleObj>
              </mc:Choice>
              <mc:Fallback>
                <p:oleObj name="Equation" r:id="rId3" imgW="2323800" imgH="457200" progId="Equation.DSMT4">
                  <p:embed/>
                  <p:pic>
                    <p:nvPicPr>
                      <p:cNvPr id="32774" name="Object 6">
                        <a:extLst>
                          <a:ext uri="{FF2B5EF4-FFF2-40B4-BE49-F238E27FC236}">
                            <a16:creationId xmlns:a16="http://schemas.microsoft.com/office/drawing/2014/main" id="{4819CDF8-B7FF-4C49-A1F0-E8D66ACF5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60350"/>
                        <a:ext cx="46466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7" name="Text Box 9">
            <a:extLst>
              <a:ext uri="{FF2B5EF4-FFF2-40B4-BE49-F238E27FC236}">
                <a16:creationId xmlns:a16="http://schemas.microsoft.com/office/drawing/2014/main" id="{085B94FF-A71E-4786-B71E-3C812644B8A1}"/>
              </a:ext>
            </a:extLst>
          </p:cNvPr>
          <p:cNvSpPr txBox="1">
            <a:spLocks noChangeArrowheads="1"/>
          </p:cNvSpPr>
          <p:nvPr/>
        </p:nvSpPr>
        <p:spPr bwMode="auto">
          <a:xfrm>
            <a:off x="1152525" y="1196975"/>
            <a:ext cx="7991475"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latin typeface="Times New Roman" panose="02020603050405020304" pitchFamily="18" charset="0"/>
                <a:ea typeface="楷体_GB2312" pitchFamily="49" charset="-122"/>
              </a:rPr>
              <a:t>以</a:t>
            </a:r>
            <a:r>
              <a:rPr lang="en-US" altLang="zh-CN" sz="2400" b="1" dirty="0">
                <a:latin typeface="Times New Roman" panose="02020603050405020304" pitchFamily="18" charset="0"/>
                <a:ea typeface="楷体_GB2312" pitchFamily="49" charset="-122"/>
              </a:rPr>
              <a:t>1790-1900</a:t>
            </a:r>
            <a:r>
              <a:rPr lang="zh-CN" altLang="en-US" sz="2400" b="1" dirty="0">
                <a:latin typeface="Times New Roman" panose="02020603050405020304" pitchFamily="18" charset="0"/>
                <a:ea typeface="楷体_GB2312" pitchFamily="49" charset="-122"/>
              </a:rPr>
              <a:t>年共计</a:t>
            </a:r>
            <a:r>
              <a:rPr lang="en-US" altLang="zh-CN" sz="2400" b="1" dirty="0">
                <a:latin typeface="Times New Roman" panose="02020603050405020304" pitchFamily="18" charset="0"/>
                <a:ea typeface="楷体_GB2312" pitchFamily="49" charset="-122"/>
              </a:rPr>
              <a:t>12</a:t>
            </a:r>
            <a:r>
              <a:rPr lang="zh-CN" altLang="en-US" sz="2400" b="1" dirty="0">
                <a:latin typeface="Times New Roman" panose="02020603050405020304" pitchFamily="18" charset="0"/>
                <a:ea typeface="楷体_GB2312" pitchFamily="49" charset="-122"/>
              </a:rPr>
              <a:t>个数据为例进行拟合：</a:t>
            </a:r>
          </a:p>
          <a:p>
            <a:pPr algn="l">
              <a:spcBef>
                <a:spcPct val="50000"/>
              </a:spcBef>
            </a:pPr>
            <a:r>
              <a:rPr lang="en-US" altLang="zh-CN" sz="2400" b="1" dirty="0">
                <a:latin typeface="Times New Roman" panose="02020603050405020304" pitchFamily="18" charset="0"/>
                <a:ea typeface="楷体_GB2312" pitchFamily="49" charset="-122"/>
              </a:rPr>
              <a:t>t=[0</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11]</a:t>
            </a:r>
            <a:r>
              <a:rPr lang="zh-CN" altLang="en-US" sz="2400" b="1" dirty="0">
                <a:latin typeface="Times New Roman" panose="02020603050405020304" pitchFamily="18" charset="0"/>
                <a:ea typeface="楷体_GB2312" pitchFamily="49" charset="-122"/>
              </a:rPr>
              <a:t>；       </a:t>
            </a:r>
            <a:r>
              <a:rPr lang="en-US" altLang="zh-CN" sz="2400" b="1" dirty="0">
                <a:solidFill>
                  <a:srgbClr val="FF0000"/>
                </a:solidFill>
                <a:latin typeface="Times New Roman" panose="02020603050405020304" pitchFamily="18" charset="0"/>
                <a:ea typeface="楷体_GB2312" pitchFamily="49" charset="-122"/>
              </a:rPr>
              <a:t>%</a:t>
            </a:r>
            <a:r>
              <a:rPr lang="zh-CN" altLang="en-US" sz="2400" b="1" dirty="0">
                <a:solidFill>
                  <a:srgbClr val="FF0000"/>
                </a:solidFill>
                <a:latin typeface="Times New Roman" panose="02020603050405020304" pitchFamily="18" charset="0"/>
                <a:ea typeface="楷体_GB2312" pitchFamily="49" charset="-122"/>
              </a:rPr>
              <a:t>输入数据</a:t>
            </a:r>
          </a:p>
          <a:p>
            <a:pPr algn="l">
              <a:spcBef>
                <a:spcPct val="50000"/>
              </a:spcBef>
            </a:pPr>
            <a:r>
              <a:rPr lang="en-US" altLang="zh-CN" sz="2400" b="1" dirty="0">
                <a:latin typeface="Times New Roman" panose="02020603050405020304" pitchFamily="18" charset="0"/>
                <a:ea typeface="楷体_GB2312" pitchFamily="49" charset="-122"/>
              </a:rPr>
              <a:t>x=</a:t>
            </a:r>
            <a:r>
              <a:rPr lang="en-US" altLang="zh-CN" sz="2400" b="1" dirty="0"/>
              <a:t>[3.9 5.3 7.2 9.6 12.9 17.1 23.2 31.4 38.6 50.2 62.9 76];</a:t>
            </a:r>
          </a:p>
          <a:p>
            <a:pPr algn="l">
              <a:spcBef>
                <a:spcPct val="50000"/>
              </a:spcBef>
            </a:pPr>
            <a:r>
              <a:rPr lang="en-US" altLang="zh-CN" sz="2400" b="1" dirty="0"/>
              <a:t>plot (t, x, ’o’);</a:t>
            </a:r>
            <a:r>
              <a:rPr lang="en-US" altLang="zh-CN" b="1" dirty="0"/>
              <a:t>   </a:t>
            </a:r>
            <a:r>
              <a:rPr lang="en-US" altLang="zh-CN" sz="2400" b="1" dirty="0">
                <a:solidFill>
                  <a:srgbClr val="FF0000"/>
                </a:solidFill>
                <a:latin typeface="Times New Roman" panose="02020603050405020304" pitchFamily="18" charset="0"/>
                <a:ea typeface="楷体_GB2312" pitchFamily="49" charset="-122"/>
              </a:rPr>
              <a:t>%</a:t>
            </a:r>
            <a:r>
              <a:rPr lang="zh-CN" altLang="en-US" sz="2400" b="1" dirty="0">
                <a:solidFill>
                  <a:srgbClr val="FF0000"/>
                </a:solidFill>
                <a:latin typeface="楷体_GB2312" pitchFamily="49" charset="-122"/>
                <a:ea typeface="楷体_GB2312" pitchFamily="49" charset="-122"/>
              </a:rPr>
              <a:t>画散点图</a:t>
            </a:r>
          </a:p>
          <a:p>
            <a:pPr algn="l">
              <a:spcBef>
                <a:spcPct val="50000"/>
              </a:spcBef>
            </a:pPr>
            <a:r>
              <a:rPr lang="en-US" altLang="zh-CN" sz="2400" b="1" dirty="0">
                <a:ea typeface="楷体_GB2312" pitchFamily="49" charset="-122"/>
              </a:rPr>
              <a:t>y=log(x);</a:t>
            </a:r>
          </a:p>
          <a:p>
            <a:pPr algn="l">
              <a:spcBef>
                <a:spcPct val="50000"/>
              </a:spcBef>
            </a:pPr>
            <a:r>
              <a:rPr lang="en-US" altLang="zh-CN" sz="2400" b="1" dirty="0">
                <a:ea typeface="楷体_GB2312" pitchFamily="49" charset="-122"/>
              </a:rPr>
              <a:t>p=</a:t>
            </a:r>
            <a:r>
              <a:rPr lang="en-US" altLang="zh-CN" sz="2400" b="1" dirty="0" err="1">
                <a:ea typeface="楷体_GB2312" pitchFamily="49" charset="-122"/>
              </a:rPr>
              <a:t>polyfit</a:t>
            </a:r>
            <a:r>
              <a:rPr lang="en-US" altLang="zh-CN" sz="2400" b="1" dirty="0">
                <a:ea typeface="楷体_GB2312" pitchFamily="49" charset="-122"/>
              </a:rPr>
              <a:t>(t,y,1)</a:t>
            </a:r>
          </a:p>
        </p:txBody>
      </p:sp>
      <p:sp>
        <p:nvSpPr>
          <p:cNvPr id="32778" name="Rectangle 10">
            <a:extLst>
              <a:ext uri="{FF2B5EF4-FFF2-40B4-BE49-F238E27FC236}">
                <a16:creationId xmlns:a16="http://schemas.microsoft.com/office/drawing/2014/main" id="{27E36C72-0531-4347-925F-A43EAC424BD5}"/>
              </a:ext>
            </a:extLst>
          </p:cNvPr>
          <p:cNvSpPr>
            <a:spLocks noChangeArrowheads="1"/>
          </p:cNvSpPr>
          <p:nvPr/>
        </p:nvSpPr>
        <p:spPr bwMode="auto">
          <a:xfrm>
            <a:off x="7277100" y="260350"/>
            <a:ext cx="10454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宋体" panose="02010600030101010101" pitchFamily="2" charset="-122"/>
              </a:rPr>
              <a:t>）</a:t>
            </a:r>
            <a:r>
              <a:rPr lang="zh-CN" altLang="en-US" sz="2400" dirty="0">
                <a:latin typeface="楷体_GB2312" pitchFamily="49" charset="-122"/>
                <a:ea typeface="楷体_GB2312" pitchFamily="49" charset="-122"/>
              </a:rPr>
              <a:t> </a:t>
            </a:r>
          </a:p>
        </p:txBody>
      </p:sp>
      <p:grpSp>
        <p:nvGrpSpPr>
          <p:cNvPr id="32792" name="Group 24">
            <a:extLst>
              <a:ext uri="{FF2B5EF4-FFF2-40B4-BE49-F238E27FC236}">
                <a16:creationId xmlns:a16="http://schemas.microsoft.com/office/drawing/2014/main" id="{27259F51-6C62-4D0D-B019-359D5A5CE42E}"/>
              </a:ext>
            </a:extLst>
          </p:cNvPr>
          <p:cNvGrpSpPr>
            <a:grpSpLocks/>
          </p:cNvGrpSpPr>
          <p:nvPr/>
        </p:nvGrpSpPr>
        <p:grpSpPr bwMode="auto">
          <a:xfrm>
            <a:off x="3276600" y="4484688"/>
            <a:ext cx="4325938" cy="457200"/>
            <a:chOff x="2064" y="2825"/>
            <a:chExt cx="2725" cy="288"/>
          </a:xfrm>
        </p:grpSpPr>
        <p:graphicFrame>
          <p:nvGraphicFramePr>
            <p:cNvPr id="32780" name="Object 12">
              <a:extLst>
                <a:ext uri="{FF2B5EF4-FFF2-40B4-BE49-F238E27FC236}">
                  <a16:creationId xmlns:a16="http://schemas.microsoft.com/office/drawing/2014/main" id="{12CE1DBB-23D5-47E7-AD65-9A8A7B7E841C}"/>
                </a:ext>
              </a:extLst>
            </p:cNvPr>
            <p:cNvGraphicFramePr>
              <a:graphicFrameLocks noChangeAspect="1"/>
            </p:cNvGraphicFramePr>
            <p:nvPr/>
          </p:nvGraphicFramePr>
          <p:xfrm>
            <a:off x="3107" y="2857"/>
            <a:ext cx="1682" cy="256"/>
          </p:xfrm>
          <a:graphic>
            <a:graphicData uri="http://schemas.openxmlformats.org/presentationml/2006/ole">
              <mc:AlternateContent xmlns:mc="http://schemas.openxmlformats.org/markup-compatibility/2006">
                <mc:Choice xmlns:v="urn:schemas-microsoft-com:vml" Requires="v">
                  <p:oleObj name="Equation" r:id="rId5" imgW="1333440" imgH="203040" progId="Equation.DSMT4">
                    <p:embed/>
                  </p:oleObj>
                </mc:Choice>
                <mc:Fallback>
                  <p:oleObj name="Equation" r:id="rId5" imgW="1333440" imgH="203040" progId="Equation.DSMT4">
                    <p:embed/>
                    <p:pic>
                      <p:nvPicPr>
                        <p:cNvPr id="32780" name="Object 12">
                          <a:extLst>
                            <a:ext uri="{FF2B5EF4-FFF2-40B4-BE49-F238E27FC236}">
                              <a16:creationId xmlns:a16="http://schemas.microsoft.com/office/drawing/2014/main" id="{12CE1DBB-23D5-47E7-AD65-9A8A7B7E84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7" y="2857"/>
                          <a:ext cx="168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3" name="Text Box 15">
              <a:extLst>
                <a:ext uri="{FF2B5EF4-FFF2-40B4-BE49-F238E27FC236}">
                  <a16:creationId xmlns:a16="http://schemas.microsoft.com/office/drawing/2014/main" id="{4D1CF720-BF8E-476A-90FD-9D459245B854}"/>
                </a:ext>
              </a:extLst>
            </p:cNvPr>
            <p:cNvSpPr txBox="1">
              <a:spLocks noChangeArrowheads="1"/>
            </p:cNvSpPr>
            <p:nvPr/>
          </p:nvSpPr>
          <p:spPr bwMode="auto">
            <a:xfrm>
              <a:off x="2064" y="2825"/>
              <a:ext cx="11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输出结果：</a:t>
              </a:r>
            </a:p>
          </p:txBody>
        </p:sp>
      </p:grpSp>
      <p:graphicFrame>
        <p:nvGraphicFramePr>
          <p:cNvPr id="32788" name="Object 20">
            <a:extLst>
              <a:ext uri="{FF2B5EF4-FFF2-40B4-BE49-F238E27FC236}">
                <a16:creationId xmlns:a16="http://schemas.microsoft.com/office/drawing/2014/main" id="{4E6BB22E-B8F4-469B-9258-E73B9DEBDCDE}"/>
              </a:ext>
            </a:extLst>
          </p:cNvPr>
          <p:cNvGraphicFramePr>
            <a:graphicFrameLocks noGrp="1" noChangeAspect="1"/>
          </p:cNvGraphicFramePr>
          <p:nvPr>
            <p:ph sz="quarter" idx="2"/>
          </p:nvPr>
        </p:nvGraphicFramePr>
        <p:xfrm>
          <a:off x="4659313" y="5734050"/>
          <a:ext cx="3944937" cy="457200"/>
        </p:xfrm>
        <a:graphic>
          <a:graphicData uri="http://schemas.openxmlformats.org/presentationml/2006/ole">
            <mc:AlternateContent xmlns:mc="http://schemas.openxmlformats.org/markup-compatibility/2006">
              <mc:Choice xmlns:v="urn:schemas-microsoft-com:vml" Requires="v">
                <p:oleObj name="Equation" r:id="rId7" imgW="1968480" imgH="228600" progId="Equation.DSMT4">
                  <p:embed/>
                </p:oleObj>
              </mc:Choice>
              <mc:Fallback>
                <p:oleObj name="Equation" r:id="rId7" imgW="1968480" imgH="228600" progId="Equation.DSMT4">
                  <p:embed/>
                  <p:pic>
                    <p:nvPicPr>
                      <p:cNvPr id="32788" name="Object 20">
                        <a:extLst>
                          <a:ext uri="{FF2B5EF4-FFF2-40B4-BE49-F238E27FC236}">
                            <a16:creationId xmlns:a16="http://schemas.microsoft.com/office/drawing/2014/main" id="{4E6BB22E-B8F4-469B-9258-E73B9DEBDC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9313" y="5734050"/>
                        <a:ext cx="39449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91" name="Object 23">
            <a:extLst>
              <a:ext uri="{FF2B5EF4-FFF2-40B4-BE49-F238E27FC236}">
                <a16:creationId xmlns:a16="http://schemas.microsoft.com/office/drawing/2014/main" id="{B11C710A-F550-41B0-86C2-CE31B4C01A72}"/>
              </a:ext>
            </a:extLst>
          </p:cNvPr>
          <p:cNvGraphicFramePr>
            <a:graphicFrameLocks noChangeAspect="1"/>
          </p:cNvGraphicFramePr>
          <p:nvPr/>
        </p:nvGraphicFramePr>
        <p:xfrm>
          <a:off x="4643438" y="6308725"/>
          <a:ext cx="2724150" cy="457200"/>
        </p:xfrm>
        <a:graphic>
          <a:graphicData uri="http://schemas.openxmlformats.org/presentationml/2006/ole">
            <mc:AlternateContent xmlns:mc="http://schemas.openxmlformats.org/markup-compatibility/2006">
              <mc:Choice xmlns:v="urn:schemas-microsoft-com:vml" Requires="v">
                <p:oleObj name="Equation" r:id="rId9" imgW="1358640" imgH="228600" progId="Equation.DSMT4">
                  <p:embed/>
                </p:oleObj>
              </mc:Choice>
              <mc:Fallback>
                <p:oleObj name="Equation" r:id="rId9" imgW="1358640" imgH="228600" progId="Equation.DSMT4">
                  <p:embed/>
                  <p:pic>
                    <p:nvPicPr>
                      <p:cNvPr id="32791" name="Object 23">
                        <a:extLst>
                          <a:ext uri="{FF2B5EF4-FFF2-40B4-BE49-F238E27FC236}">
                            <a16:creationId xmlns:a16="http://schemas.microsoft.com/office/drawing/2014/main" id="{B11C710A-F550-41B0-86C2-CE31B4C01A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3438" y="6308725"/>
                        <a:ext cx="272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2794" name="Group 26">
            <a:extLst>
              <a:ext uri="{FF2B5EF4-FFF2-40B4-BE49-F238E27FC236}">
                <a16:creationId xmlns:a16="http://schemas.microsoft.com/office/drawing/2014/main" id="{98BD8B75-FC11-4146-8379-A6AF8210E5AA}"/>
              </a:ext>
            </a:extLst>
          </p:cNvPr>
          <p:cNvGrpSpPr>
            <a:grpSpLocks/>
          </p:cNvGrpSpPr>
          <p:nvPr/>
        </p:nvGrpSpPr>
        <p:grpSpPr bwMode="auto">
          <a:xfrm>
            <a:off x="3781425" y="5157788"/>
            <a:ext cx="4025900" cy="457200"/>
            <a:chOff x="2382" y="3249"/>
            <a:chExt cx="2536" cy="288"/>
          </a:xfrm>
        </p:grpSpPr>
        <p:graphicFrame>
          <p:nvGraphicFramePr>
            <p:cNvPr id="32784" name="Object 16">
              <a:extLst>
                <a:ext uri="{FF2B5EF4-FFF2-40B4-BE49-F238E27FC236}">
                  <a16:creationId xmlns:a16="http://schemas.microsoft.com/office/drawing/2014/main" id="{9E8B073A-0DE3-42CF-8DCA-B8ACE12C94C6}"/>
                </a:ext>
              </a:extLst>
            </p:cNvPr>
            <p:cNvGraphicFramePr>
              <a:graphicFrameLocks noChangeAspect="1"/>
            </p:cNvGraphicFramePr>
            <p:nvPr/>
          </p:nvGraphicFramePr>
          <p:xfrm>
            <a:off x="3167" y="3249"/>
            <a:ext cx="1751" cy="272"/>
          </p:xfrm>
          <a:graphic>
            <a:graphicData uri="http://schemas.openxmlformats.org/presentationml/2006/ole">
              <mc:AlternateContent xmlns:mc="http://schemas.openxmlformats.org/markup-compatibility/2006">
                <mc:Choice xmlns:v="urn:schemas-microsoft-com:vml" Requires="v">
                  <p:oleObj name="Equation" r:id="rId11" imgW="1307880" imgH="203040" progId="Equation.DSMT4">
                    <p:embed/>
                  </p:oleObj>
                </mc:Choice>
                <mc:Fallback>
                  <p:oleObj name="Equation" r:id="rId11" imgW="1307880" imgH="203040" progId="Equation.DSMT4">
                    <p:embed/>
                    <p:pic>
                      <p:nvPicPr>
                        <p:cNvPr id="32784" name="Object 16">
                          <a:extLst>
                            <a:ext uri="{FF2B5EF4-FFF2-40B4-BE49-F238E27FC236}">
                              <a16:creationId xmlns:a16="http://schemas.microsoft.com/office/drawing/2014/main" id="{9E8B073A-0DE3-42CF-8DCA-B8ACE12C94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7" y="3249"/>
                          <a:ext cx="1751"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3" name="Text Box 25">
              <a:extLst>
                <a:ext uri="{FF2B5EF4-FFF2-40B4-BE49-F238E27FC236}">
                  <a16:creationId xmlns:a16="http://schemas.microsoft.com/office/drawing/2014/main" id="{717F9A94-02FE-4829-BE49-C3AFE144B7AB}"/>
                </a:ext>
              </a:extLst>
            </p:cNvPr>
            <p:cNvSpPr txBox="1">
              <a:spLocks noChangeArrowheads="1"/>
            </p:cNvSpPr>
            <p:nvPr/>
          </p:nvSpPr>
          <p:spPr bwMode="auto">
            <a:xfrm>
              <a:off x="2382" y="3249"/>
              <a:ext cx="7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表示：</a:t>
              </a:r>
            </a:p>
          </p:txBody>
        </p:sp>
      </p:grpSp>
      <p:sp>
        <p:nvSpPr>
          <p:cNvPr id="2" name="灯片编号占位符 1">
            <a:extLst>
              <a:ext uri="{FF2B5EF4-FFF2-40B4-BE49-F238E27FC236}">
                <a16:creationId xmlns:a16="http://schemas.microsoft.com/office/drawing/2014/main" id="{90312E76-155F-677D-448C-384B2F53DC6D}"/>
              </a:ext>
            </a:extLst>
          </p:cNvPr>
          <p:cNvSpPr>
            <a:spLocks noGrp="1"/>
          </p:cNvSpPr>
          <p:nvPr>
            <p:ph type="sldNum" sz="quarter" idx="12"/>
          </p:nvPr>
        </p:nvSpPr>
        <p:spPr/>
        <p:txBody>
          <a:bodyPr/>
          <a:lstStyle/>
          <a:p>
            <a:fld id="{BED608A8-1180-46F5-AAEE-042CDE89CDC1}" type="slidenum">
              <a:rPr lang="en-US" altLang="zh-CN" smtClean="0"/>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7"/>
                                        </p:tgtEl>
                                        <p:attrNameLst>
                                          <p:attrName>style.visibility</p:attrName>
                                        </p:attrNameLst>
                                      </p:cBhvr>
                                      <p:to>
                                        <p:strVal val="visible"/>
                                      </p:to>
                                    </p:set>
                                    <p:anim calcmode="lin" valueType="num">
                                      <p:cBhvr additive="base">
                                        <p:cTn id="7" dur="500" fill="hold"/>
                                        <p:tgtEl>
                                          <p:spTgt spid="32777"/>
                                        </p:tgtEl>
                                        <p:attrNameLst>
                                          <p:attrName>ppt_x</p:attrName>
                                        </p:attrNameLst>
                                      </p:cBhvr>
                                      <p:tavLst>
                                        <p:tav tm="0">
                                          <p:val>
                                            <p:strVal val="#ppt_x"/>
                                          </p:val>
                                        </p:tav>
                                        <p:tav tm="100000">
                                          <p:val>
                                            <p:strVal val="#ppt_x"/>
                                          </p:val>
                                        </p:tav>
                                      </p:tavLst>
                                    </p:anim>
                                    <p:anim calcmode="lin" valueType="num">
                                      <p:cBhvr additive="base">
                                        <p:cTn id="8" dur="500" fill="hold"/>
                                        <p:tgtEl>
                                          <p:spTgt spid="3277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792"/>
                                        </p:tgtEl>
                                        <p:attrNameLst>
                                          <p:attrName>style.visibility</p:attrName>
                                        </p:attrNameLst>
                                      </p:cBhvr>
                                      <p:to>
                                        <p:strVal val="visible"/>
                                      </p:to>
                                    </p:set>
                                    <p:anim calcmode="lin" valueType="num">
                                      <p:cBhvr additive="base">
                                        <p:cTn id="13" dur="500" fill="hold"/>
                                        <p:tgtEl>
                                          <p:spTgt spid="32792"/>
                                        </p:tgtEl>
                                        <p:attrNameLst>
                                          <p:attrName>ppt_x</p:attrName>
                                        </p:attrNameLst>
                                      </p:cBhvr>
                                      <p:tavLst>
                                        <p:tav tm="0">
                                          <p:val>
                                            <p:strVal val="#ppt_x"/>
                                          </p:val>
                                        </p:tav>
                                        <p:tav tm="100000">
                                          <p:val>
                                            <p:strVal val="#ppt_x"/>
                                          </p:val>
                                        </p:tav>
                                      </p:tavLst>
                                    </p:anim>
                                    <p:anim calcmode="lin" valueType="num">
                                      <p:cBhvr additive="base">
                                        <p:cTn id="14" dur="500" fill="hold"/>
                                        <p:tgtEl>
                                          <p:spTgt spid="32792"/>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4" fill="hold" nodeType="afterEffect">
                                  <p:stCondLst>
                                    <p:cond delay="0"/>
                                  </p:stCondLst>
                                  <p:childTnLst>
                                    <p:set>
                                      <p:cBhvr>
                                        <p:cTn id="17" dur="1" fill="hold">
                                          <p:stCondLst>
                                            <p:cond delay="0"/>
                                          </p:stCondLst>
                                        </p:cTn>
                                        <p:tgtEl>
                                          <p:spTgt spid="32794"/>
                                        </p:tgtEl>
                                        <p:attrNameLst>
                                          <p:attrName>style.visibility</p:attrName>
                                        </p:attrNameLst>
                                      </p:cBhvr>
                                      <p:to>
                                        <p:strVal val="visible"/>
                                      </p:to>
                                    </p:set>
                                    <p:anim calcmode="lin" valueType="num">
                                      <p:cBhvr additive="base">
                                        <p:cTn id="18" dur="500" fill="hold"/>
                                        <p:tgtEl>
                                          <p:spTgt spid="32794"/>
                                        </p:tgtEl>
                                        <p:attrNameLst>
                                          <p:attrName>ppt_x</p:attrName>
                                        </p:attrNameLst>
                                      </p:cBhvr>
                                      <p:tavLst>
                                        <p:tav tm="0">
                                          <p:val>
                                            <p:strVal val="#ppt_x"/>
                                          </p:val>
                                        </p:tav>
                                        <p:tav tm="100000">
                                          <p:val>
                                            <p:strVal val="#ppt_x"/>
                                          </p:val>
                                        </p:tav>
                                      </p:tavLst>
                                    </p:anim>
                                    <p:anim calcmode="lin" valueType="num">
                                      <p:cBhvr additive="base">
                                        <p:cTn id="19" dur="500" fill="hold"/>
                                        <p:tgtEl>
                                          <p:spTgt spid="32794"/>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2788"/>
                                        </p:tgtEl>
                                        <p:attrNameLst>
                                          <p:attrName>style.visibility</p:attrName>
                                        </p:attrNameLst>
                                      </p:cBhvr>
                                      <p:to>
                                        <p:strVal val="visible"/>
                                      </p:to>
                                    </p:set>
                                    <p:anim calcmode="lin" valueType="num">
                                      <p:cBhvr additive="base">
                                        <p:cTn id="24" dur="500" fill="hold"/>
                                        <p:tgtEl>
                                          <p:spTgt spid="32788"/>
                                        </p:tgtEl>
                                        <p:attrNameLst>
                                          <p:attrName>ppt_x</p:attrName>
                                        </p:attrNameLst>
                                      </p:cBhvr>
                                      <p:tavLst>
                                        <p:tav tm="0">
                                          <p:val>
                                            <p:strVal val="#ppt_x"/>
                                          </p:val>
                                        </p:tav>
                                        <p:tav tm="100000">
                                          <p:val>
                                            <p:strVal val="#ppt_x"/>
                                          </p:val>
                                        </p:tav>
                                      </p:tavLst>
                                    </p:anim>
                                    <p:anim calcmode="lin" valueType="num">
                                      <p:cBhvr additive="base">
                                        <p:cTn id="25" dur="500" fill="hold"/>
                                        <p:tgtEl>
                                          <p:spTgt spid="32788"/>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2791"/>
                                        </p:tgtEl>
                                        <p:attrNameLst>
                                          <p:attrName>style.visibility</p:attrName>
                                        </p:attrNameLst>
                                      </p:cBhvr>
                                      <p:to>
                                        <p:strVal val="visible"/>
                                      </p:to>
                                    </p:set>
                                    <p:anim calcmode="lin" valueType="num">
                                      <p:cBhvr additive="base">
                                        <p:cTn id="30" dur="500" fill="hold"/>
                                        <p:tgtEl>
                                          <p:spTgt spid="32791"/>
                                        </p:tgtEl>
                                        <p:attrNameLst>
                                          <p:attrName>ppt_x</p:attrName>
                                        </p:attrNameLst>
                                      </p:cBhvr>
                                      <p:tavLst>
                                        <p:tav tm="0">
                                          <p:val>
                                            <p:strVal val="#ppt_x"/>
                                          </p:val>
                                        </p:tav>
                                        <p:tav tm="100000">
                                          <p:val>
                                            <p:strVal val="#ppt_x"/>
                                          </p:val>
                                        </p:tav>
                                      </p:tavLst>
                                    </p:anim>
                                    <p:anim calcmode="lin" valueType="num">
                                      <p:cBhvr additive="base">
                                        <p:cTn id="31" dur="500" fill="hold"/>
                                        <p:tgtEl>
                                          <p:spTgt spid="327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B4629A99-BC95-40EF-9DCE-C298E23483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545658"/>
            <a:ext cx="5719936" cy="4264717"/>
          </a:xfrm>
          <a:prstGeom prst="rect">
            <a:avLst/>
          </a:prstGeom>
          <a:noFill/>
          <a:extLst>
            <a:ext uri="{909E8E84-426E-40DD-AFC4-6F175D3DCCD1}">
              <a14:hiddenFill xmlns:a14="http://schemas.microsoft.com/office/drawing/2010/main">
                <a:solidFill>
                  <a:srgbClr val="FFFFFF"/>
                </a:solidFill>
              </a14:hiddenFill>
            </a:ext>
          </a:extLst>
        </p:spPr>
      </p:pic>
      <p:grpSp>
        <p:nvGrpSpPr>
          <p:cNvPr id="36867" name="Group 3">
            <a:extLst>
              <a:ext uri="{FF2B5EF4-FFF2-40B4-BE49-F238E27FC236}">
                <a16:creationId xmlns:a16="http://schemas.microsoft.com/office/drawing/2014/main" id="{20BCFBBE-8A00-4FF7-AECF-08CFE50B62CF}"/>
              </a:ext>
            </a:extLst>
          </p:cNvPr>
          <p:cNvGrpSpPr>
            <a:grpSpLocks/>
          </p:cNvGrpSpPr>
          <p:nvPr/>
        </p:nvGrpSpPr>
        <p:grpSpPr bwMode="auto">
          <a:xfrm>
            <a:off x="87313" y="115888"/>
            <a:ext cx="8229600" cy="2471738"/>
            <a:chOff x="144" y="144"/>
            <a:chExt cx="5184" cy="1557"/>
          </a:xfrm>
        </p:grpSpPr>
        <p:sp>
          <p:nvSpPr>
            <p:cNvPr id="36868" name="Text Box 4">
              <a:extLst>
                <a:ext uri="{FF2B5EF4-FFF2-40B4-BE49-F238E27FC236}">
                  <a16:creationId xmlns:a16="http://schemas.microsoft.com/office/drawing/2014/main" id="{175AFE7C-791D-4D7A-87BB-EF935C875741}"/>
                </a:ext>
              </a:extLst>
            </p:cNvPr>
            <p:cNvSpPr txBox="1">
              <a:spLocks noChangeArrowheads="1"/>
            </p:cNvSpPr>
            <p:nvPr/>
          </p:nvSpPr>
          <p:spPr bwMode="auto">
            <a:xfrm>
              <a:off x="144" y="144"/>
              <a:ext cx="21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模型预测</a:t>
              </a:r>
            </a:p>
          </p:txBody>
        </p:sp>
        <p:sp>
          <p:nvSpPr>
            <p:cNvPr id="36869" name="Rectangle 5">
              <a:extLst>
                <a:ext uri="{FF2B5EF4-FFF2-40B4-BE49-F238E27FC236}">
                  <a16:creationId xmlns:a16="http://schemas.microsoft.com/office/drawing/2014/main" id="{614FACB8-F0C7-4AE7-9A6D-3C546F1E78EA}"/>
                </a:ext>
              </a:extLst>
            </p:cNvPr>
            <p:cNvSpPr>
              <a:spLocks noChangeArrowheads="1"/>
            </p:cNvSpPr>
            <p:nvPr/>
          </p:nvSpPr>
          <p:spPr bwMode="auto">
            <a:xfrm>
              <a:off x="144" y="480"/>
              <a:ext cx="5184" cy="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假如人口数真能保持以每（</a:t>
              </a:r>
              <a:r>
                <a:rPr lang="en-US" altLang="zh-CN" sz="2400" b="1" dirty="0">
                  <a:latin typeface="Times New Roman" panose="02020603050405020304" pitchFamily="18" charset="0"/>
                  <a:ea typeface="楷体_GB2312" pitchFamily="49" charset="-122"/>
                </a:rPr>
                <a:t>ln2/r</a:t>
              </a:r>
              <a:r>
                <a:rPr lang="zh-CN" altLang="en-US" sz="2400" b="1" dirty="0">
                  <a:latin typeface="Times New Roman" panose="02020603050405020304" pitchFamily="18" charset="0"/>
                  <a:ea typeface="楷体_GB2312" pitchFamily="49" charset="-122"/>
                </a:rPr>
                <a:t>）年增加一倍，那么人口数将以几何级数的方式增长。例如，到</a:t>
              </a:r>
              <a:r>
                <a:rPr lang="en-US" altLang="zh-CN" sz="2400" b="1" dirty="0">
                  <a:latin typeface="Times New Roman" panose="02020603050405020304" pitchFamily="18" charset="0"/>
                  <a:ea typeface="楷体_GB2312" pitchFamily="49" charset="-122"/>
                </a:rPr>
                <a:t>2510</a:t>
              </a:r>
              <a:r>
                <a:rPr lang="zh-CN" altLang="en-US" sz="2400" b="1" dirty="0">
                  <a:latin typeface="Times New Roman" panose="02020603050405020304" pitchFamily="18" charset="0"/>
                  <a:ea typeface="楷体_GB2312" pitchFamily="49" charset="-122"/>
                </a:rPr>
                <a:t>年，人口达</a:t>
              </a:r>
              <a:r>
                <a:rPr lang="en-US" altLang="zh-CN" sz="2400" b="1" dirty="0">
                  <a:latin typeface="Times New Roman" panose="02020603050405020304" pitchFamily="18" charset="0"/>
                  <a:ea typeface="楷体_GB2312" pitchFamily="49" charset="-122"/>
                </a:rPr>
                <a:t>2×10</a:t>
              </a:r>
              <a:r>
                <a:rPr lang="en-US" altLang="zh-CN" sz="2400" b="1" baseline="30000" dirty="0">
                  <a:latin typeface="Times New Roman" panose="02020603050405020304" pitchFamily="18" charset="0"/>
                  <a:ea typeface="楷体_GB2312" pitchFamily="49" charset="-122"/>
                </a:rPr>
                <a:t>14</a:t>
              </a:r>
              <a:r>
                <a:rPr lang="zh-CN" altLang="en-US" sz="2400" b="1" dirty="0">
                  <a:latin typeface="Times New Roman" panose="02020603050405020304" pitchFamily="18" charset="0"/>
                  <a:ea typeface="楷体_GB2312" pitchFamily="49" charset="-122"/>
                </a:rPr>
                <a:t>个，即使海洋全部变成陆地，每人也只有</a:t>
              </a:r>
              <a:r>
                <a:rPr lang="en-US" altLang="zh-CN" sz="2400" b="1" dirty="0">
                  <a:latin typeface="Times New Roman" panose="02020603050405020304" pitchFamily="18" charset="0"/>
                  <a:ea typeface="楷体_GB2312" pitchFamily="49" charset="-122"/>
                </a:rPr>
                <a:t>9.3</a:t>
              </a:r>
              <a:r>
                <a:rPr lang="zh-CN" altLang="en-US" sz="2400" b="1" dirty="0">
                  <a:latin typeface="Times New Roman" panose="02020603050405020304" pitchFamily="18" charset="0"/>
                  <a:ea typeface="楷体_GB2312" pitchFamily="49" charset="-122"/>
                </a:rPr>
                <a:t>平方英尺的活动范围，而到</a:t>
              </a:r>
              <a:r>
                <a:rPr lang="en-US" altLang="zh-CN" sz="2400" b="1" dirty="0">
                  <a:latin typeface="Times New Roman" panose="02020603050405020304" pitchFamily="18" charset="0"/>
                  <a:ea typeface="楷体_GB2312" pitchFamily="49" charset="-122"/>
                </a:rPr>
                <a:t>2670</a:t>
              </a:r>
              <a:r>
                <a:rPr lang="zh-CN" altLang="en-US" sz="2400" b="1" dirty="0">
                  <a:latin typeface="Times New Roman" panose="02020603050405020304" pitchFamily="18" charset="0"/>
                  <a:ea typeface="楷体_GB2312" pitchFamily="49" charset="-122"/>
                </a:rPr>
                <a:t>年，人口达</a:t>
              </a:r>
              <a:r>
                <a:rPr lang="en-US" altLang="zh-CN" sz="2400" b="1" dirty="0">
                  <a:latin typeface="Times New Roman" panose="02020603050405020304" pitchFamily="18" charset="0"/>
                  <a:ea typeface="楷体_GB2312" pitchFamily="49" charset="-122"/>
                </a:rPr>
                <a:t>36×10</a:t>
              </a:r>
              <a:r>
                <a:rPr lang="en-US" altLang="zh-CN" sz="2400" b="1" baseline="30000" dirty="0">
                  <a:latin typeface="Times New Roman" panose="02020603050405020304" pitchFamily="18" charset="0"/>
                  <a:ea typeface="楷体_GB2312" pitchFamily="49" charset="-122"/>
                </a:rPr>
                <a:t>15</a:t>
              </a:r>
              <a:r>
                <a:rPr lang="zh-CN" altLang="en-US" sz="2400" b="1" dirty="0">
                  <a:latin typeface="Times New Roman" panose="02020603050405020304" pitchFamily="18" charset="0"/>
                  <a:ea typeface="楷体_GB2312" pitchFamily="49" charset="-122"/>
                </a:rPr>
                <a:t>，只好一个人站在另一人的肩上排成二层了。 故</a:t>
              </a:r>
              <a:r>
                <a:rPr lang="zh-CN" altLang="en-US" sz="2400" b="1" dirty="0">
                  <a:latin typeface="宋体" panose="02010600030101010101" pitchFamily="2" charset="-122"/>
                  <a:ea typeface="楷体_GB2312" pitchFamily="49" charset="-122"/>
                </a:rPr>
                <a:t>马尔萨斯模型是不完善的。</a:t>
              </a:r>
              <a:endParaRPr lang="zh-CN" altLang="en-US" sz="2400" b="1" dirty="0">
                <a:latin typeface="Times New Roman" panose="02020603050405020304" pitchFamily="18" charset="0"/>
                <a:ea typeface="楷体_GB2312" pitchFamily="49" charset="-122"/>
              </a:endParaRPr>
            </a:p>
          </p:txBody>
        </p:sp>
      </p:grpSp>
      <p:grpSp>
        <p:nvGrpSpPr>
          <p:cNvPr id="36870" name="Group 6">
            <a:extLst>
              <a:ext uri="{FF2B5EF4-FFF2-40B4-BE49-F238E27FC236}">
                <a16:creationId xmlns:a16="http://schemas.microsoft.com/office/drawing/2014/main" id="{9F7CD61E-2909-4DC2-96D1-854BE15BFE6D}"/>
              </a:ext>
            </a:extLst>
          </p:cNvPr>
          <p:cNvGrpSpPr>
            <a:grpSpLocks/>
          </p:cNvGrpSpPr>
          <p:nvPr/>
        </p:nvGrpSpPr>
        <p:grpSpPr bwMode="auto">
          <a:xfrm>
            <a:off x="5257800" y="3810000"/>
            <a:ext cx="2209800" cy="914400"/>
            <a:chOff x="3312" y="2400"/>
            <a:chExt cx="1392" cy="576"/>
          </a:xfrm>
        </p:grpSpPr>
        <p:sp>
          <p:nvSpPr>
            <p:cNvPr id="36871" name="Rectangle 7">
              <a:extLst>
                <a:ext uri="{FF2B5EF4-FFF2-40B4-BE49-F238E27FC236}">
                  <a16:creationId xmlns:a16="http://schemas.microsoft.com/office/drawing/2014/main" id="{638ED2B0-9AE5-45CB-B568-813252D98590}"/>
                </a:ext>
              </a:extLst>
            </p:cNvPr>
            <p:cNvSpPr>
              <a:spLocks noChangeArrowheads="1"/>
            </p:cNvSpPr>
            <p:nvPr/>
          </p:nvSpPr>
          <p:spPr bwMode="auto">
            <a:xfrm>
              <a:off x="3312" y="2400"/>
              <a:ext cx="1152" cy="43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t>几何级数的增长</a:t>
              </a:r>
            </a:p>
          </p:txBody>
        </p:sp>
        <p:sp>
          <p:nvSpPr>
            <p:cNvPr id="36872" name="Line 8">
              <a:extLst>
                <a:ext uri="{FF2B5EF4-FFF2-40B4-BE49-F238E27FC236}">
                  <a16:creationId xmlns:a16="http://schemas.microsoft.com/office/drawing/2014/main" id="{45F40484-17B3-4277-8BBE-82011F05A338}"/>
                </a:ext>
              </a:extLst>
            </p:cNvPr>
            <p:cNvSpPr>
              <a:spLocks noChangeShapeType="1"/>
            </p:cNvSpPr>
            <p:nvPr/>
          </p:nvSpPr>
          <p:spPr bwMode="auto">
            <a:xfrm>
              <a:off x="4512" y="2640"/>
              <a:ext cx="19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 name="文本框 12">
            <a:extLst>
              <a:ext uri="{FF2B5EF4-FFF2-40B4-BE49-F238E27FC236}">
                <a16:creationId xmlns:a16="http://schemas.microsoft.com/office/drawing/2014/main" id="{3ADEB7CF-724F-4E0C-92D3-560E290B7CC3}"/>
              </a:ext>
            </a:extLst>
          </p:cNvPr>
          <p:cNvSpPr txBox="1"/>
          <p:nvPr/>
        </p:nvSpPr>
        <p:spPr>
          <a:xfrm>
            <a:off x="323528" y="3573016"/>
            <a:ext cx="3024336" cy="2031325"/>
          </a:xfrm>
          <a:prstGeom prst="rect">
            <a:avLst/>
          </a:prstGeom>
          <a:noFill/>
        </p:spPr>
        <p:txBody>
          <a:bodyPr wrap="square">
            <a:spAutoFit/>
          </a:bodyPr>
          <a:lstStyle/>
          <a:p>
            <a:pPr algn="l"/>
            <a:r>
              <a:rPr kumimoji="1" lang="en-US" altLang="zh-CN" sz="1800" b="1" dirty="0">
                <a:solidFill>
                  <a:schemeClr val="tx2"/>
                </a:solidFill>
                <a:latin typeface="楷体_GB2312" pitchFamily="49" charset="-122"/>
                <a:ea typeface="楷体_GB2312" pitchFamily="49" charset="-122"/>
              </a:rPr>
              <a:t>Malthus</a:t>
            </a:r>
            <a:r>
              <a:rPr kumimoji="1" lang="zh-CN" altLang="en-US" sz="1800" b="1" dirty="0">
                <a:solidFill>
                  <a:schemeClr val="tx2"/>
                </a:solidFill>
                <a:latin typeface="楷体_GB2312" pitchFamily="49" charset="-122"/>
                <a:ea typeface="楷体_GB2312" pitchFamily="49" charset="-122"/>
              </a:rPr>
              <a:t>模型</a:t>
            </a:r>
            <a:r>
              <a:rPr lang="zh-CN" altLang="en-US" sz="1800" b="1" dirty="0">
                <a:solidFill>
                  <a:schemeClr val="tx2"/>
                </a:solidFill>
                <a:latin typeface="楷体_GB2312" pitchFamily="49" charset="-122"/>
                <a:ea typeface="楷体_GB2312" pitchFamily="49" charset="-122"/>
              </a:rPr>
              <a:t>实际上只有在群体总数不太大时才合理，到总数增大时，生物群体的各成员之间由于有限的生存空间，有限的自然资源及食物等原因，就可能发生</a:t>
            </a:r>
            <a:r>
              <a:rPr lang="zh-CN" altLang="en-US" sz="1800" b="1" dirty="0">
                <a:solidFill>
                  <a:srgbClr val="FF0000"/>
                </a:solidFill>
                <a:latin typeface="楷体_GB2312" pitchFamily="49" charset="-122"/>
                <a:ea typeface="楷体_GB2312" pitchFamily="49" charset="-122"/>
              </a:rPr>
              <a:t>生存竞争</a:t>
            </a:r>
            <a:r>
              <a:rPr lang="zh-CN" altLang="en-US" sz="1800" b="1" dirty="0">
                <a:solidFill>
                  <a:schemeClr val="tx2"/>
                </a:solidFill>
                <a:latin typeface="楷体_GB2312" pitchFamily="49" charset="-122"/>
                <a:ea typeface="楷体_GB2312" pitchFamily="49" charset="-122"/>
              </a:rPr>
              <a:t>等现象。</a:t>
            </a:r>
            <a:endParaRPr lang="zh-CN" altLang="en-US" dirty="0">
              <a:latin typeface="宋体" panose="02010600030101010101" pitchFamily="2" charset="-122"/>
            </a:endParaRPr>
          </a:p>
        </p:txBody>
      </p:sp>
      <p:sp>
        <p:nvSpPr>
          <p:cNvPr id="2" name="灯片编号占位符 1">
            <a:extLst>
              <a:ext uri="{FF2B5EF4-FFF2-40B4-BE49-F238E27FC236}">
                <a16:creationId xmlns:a16="http://schemas.microsoft.com/office/drawing/2014/main" id="{D65F7593-416C-8301-6339-F19F54A74B3A}"/>
              </a:ext>
            </a:extLst>
          </p:cNvPr>
          <p:cNvSpPr>
            <a:spLocks noGrp="1"/>
          </p:cNvSpPr>
          <p:nvPr>
            <p:ph type="sldNum" sz="quarter" idx="12"/>
          </p:nvPr>
        </p:nvSpPr>
        <p:spPr/>
        <p:txBody>
          <a:bodyPr/>
          <a:lstStyle/>
          <a:p>
            <a:fld id="{0C913308-F349-4B6D-A68A-DD1791B4A57B}"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5BDA343-6D7F-4024-90DB-82F70E30F3F4}"/>
              </a:ext>
            </a:extLst>
          </p:cNvPr>
          <p:cNvSpPr>
            <a:spLocks noChangeArrowheads="1"/>
          </p:cNvSpPr>
          <p:nvPr/>
        </p:nvSpPr>
        <p:spPr bwMode="auto">
          <a:xfrm>
            <a:off x="228600" y="2286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solidFill>
                  <a:srgbClr val="FF0000"/>
                </a:solidFill>
                <a:latin typeface="楷体_GB2312" pitchFamily="49" charset="-122"/>
                <a:ea typeface="楷体_GB2312" pitchFamily="49" charset="-122"/>
              </a:rPr>
              <a:t>模型</a:t>
            </a:r>
            <a:r>
              <a:rPr lang="en-US" altLang="zh-CN" sz="2400" b="1" dirty="0">
                <a:solidFill>
                  <a:srgbClr val="FF0000"/>
                </a:solidFill>
                <a:latin typeface="楷体_GB2312" pitchFamily="49" charset="-122"/>
                <a:ea typeface="楷体_GB2312" pitchFamily="49" charset="-122"/>
              </a:rPr>
              <a:t>2 </a:t>
            </a:r>
            <a:r>
              <a:rPr lang="en-US" altLang="zh-CN" sz="2400" b="1" dirty="0">
                <a:latin typeface="楷体_GB2312" pitchFamily="49" charset="-122"/>
                <a:ea typeface="楷体_GB2312" pitchFamily="49" charset="-122"/>
              </a:rPr>
              <a:t> Logistic</a:t>
            </a:r>
            <a:r>
              <a:rPr lang="zh-CN" altLang="en-US" sz="2400" b="1" dirty="0">
                <a:latin typeface="楷体_GB2312" pitchFamily="49" charset="-122"/>
                <a:ea typeface="楷体_GB2312" pitchFamily="49" charset="-122"/>
              </a:rPr>
              <a:t>模型 </a:t>
            </a:r>
          </a:p>
        </p:txBody>
      </p:sp>
      <p:sp>
        <p:nvSpPr>
          <p:cNvPr id="35843" name="Rectangle 3">
            <a:extLst>
              <a:ext uri="{FF2B5EF4-FFF2-40B4-BE49-F238E27FC236}">
                <a16:creationId xmlns:a16="http://schemas.microsoft.com/office/drawing/2014/main" id="{21C28C0E-9486-4E8A-A35A-85751AC944F8}"/>
              </a:ext>
            </a:extLst>
          </p:cNvPr>
          <p:cNvSpPr>
            <a:spLocks noChangeArrowheads="1"/>
          </p:cNvSpPr>
          <p:nvPr/>
        </p:nvSpPr>
        <p:spPr bwMode="auto">
          <a:xfrm>
            <a:off x="762000" y="871538"/>
            <a:ext cx="661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latin typeface="Times New Roman" panose="02020603050405020304" pitchFamily="18" charset="0"/>
                <a:ea typeface="楷体_GB2312" pitchFamily="49" charset="-122"/>
              </a:rPr>
              <a:t>人口净增长率应当与人口数量有关，即： </a:t>
            </a:r>
            <a:r>
              <a:rPr lang="en-US" altLang="zh-CN" sz="2400" b="1" i="1" dirty="0">
                <a:solidFill>
                  <a:srgbClr val="3333CC"/>
                </a:solidFill>
                <a:latin typeface="Times New Roman" panose="02020603050405020304" pitchFamily="18" charset="0"/>
                <a:ea typeface="楷体_GB2312" pitchFamily="49" charset="-122"/>
              </a:rPr>
              <a:t>r</a:t>
            </a:r>
            <a:r>
              <a:rPr lang="en-US" altLang="zh-CN" sz="2400" b="1" dirty="0">
                <a:solidFill>
                  <a:srgbClr val="3333CC"/>
                </a:solidFill>
                <a:latin typeface="Times New Roman" panose="02020603050405020304" pitchFamily="18" charset="0"/>
                <a:ea typeface="楷体_GB2312" pitchFamily="49" charset="-122"/>
              </a:rPr>
              <a:t>=</a:t>
            </a:r>
            <a:r>
              <a:rPr lang="en-US" altLang="zh-CN" sz="2400" b="1" i="1" dirty="0">
                <a:solidFill>
                  <a:srgbClr val="3333CC"/>
                </a:solidFill>
                <a:latin typeface="Times New Roman" panose="02020603050405020304" pitchFamily="18" charset="0"/>
                <a:ea typeface="楷体_GB2312" pitchFamily="49" charset="-122"/>
              </a:rPr>
              <a:t>r</a:t>
            </a:r>
            <a:r>
              <a:rPr lang="en-US" altLang="zh-CN" sz="2400" b="1" dirty="0">
                <a:solidFill>
                  <a:srgbClr val="3333CC"/>
                </a:solidFill>
                <a:latin typeface="Times New Roman" panose="02020603050405020304" pitchFamily="18" charset="0"/>
                <a:ea typeface="楷体_GB2312" pitchFamily="49" charset="-122"/>
              </a:rPr>
              <a:t>(</a:t>
            </a:r>
            <a:r>
              <a:rPr lang="en-US" altLang="zh-CN" sz="2400" b="1" i="1" dirty="0">
                <a:solidFill>
                  <a:srgbClr val="3333CC"/>
                </a:solidFill>
                <a:latin typeface="Times New Roman" panose="02020603050405020304" pitchFamily="18" charset="0"/>
                <a:ea typeface="楷体_GB2312" pitchFamily="49" charset="-122"/>
              </a:rPr>
              <a:t>x</a:t>
            </a:r>
            <a:r>
              <a:rPr lang="en-US" altLang="zh-CN" sz="2400" b="1" dirty="0">
                <a:solidFill>
                  <a:srgbClr val="3333CC"/>
                </a:solidFill>
                <a:latin typeface="Times New Roman" panose="02020603050405020304" pitchFamily="18" charset="0"/>
                <a:ea typeface="楷体_GB2312" pitchFamily="49" charset="-122"/>
              </a:rPr>
              <a:t>)</a:t>
            </a:r>
            <a:r>
              <a:rPr lang="en-US" altLang="zh-CN" sz="2400" b="1" dirty="0">
                <a:solidFill>
                  <a:srgbClr val="0000FF"/>
                </a:solidFill>
                <a:latin typeface="Times New Roman" panose="02020603050405020304" pitchFamily="18" charset="0"/>
                <a:ea typeface="楷体_GB2312" pitchFamily="49" charset="-122"/>
              </a:rPr>
              <a:t> </a:t>
            </a:r>
          </a:p>
        </p:txBody>
      </p:sp>
      <p:grpSp>
        <p:nvGrpSpPr>
          <p:cNvPr id="35844" name="Group 4">
            <a:extLst>
              <a:ext uri="{FF2B5EF4-FFF2-40B4-BE49-F238E27FC236}">
                <a16:creationId xmlns:a16="http://schemas.microsoft.com/office/drawing/2014/main" id="{BEFD22AA-39AB-4D24-9EB8-4F69FD63F17E}"/>
              </a:ext>
            </a:extLst>
          </p:cNvPr>
          <p:cNvGrpSpPr>
            <a:grpSpLocks/>
          </p:cNvGrpSpPr>
          <p:nvPr/>
        </p:nvGrpSpPr>
        <p:grpSpPr bwMode="auto">
          <a:xfrm>
            <a:off x="746125" y="1447800"/>
            <a:ext cx="4956175" cy="1333500"/>
            <a:chOff x="470" y="912"/>
            <a:chExt cx="3122" cy="840"/>
          </a:xfrm>
        </p:grpSpPr>
        <p:sp>
          <p:nvSpPr>
            <p:cNvPr id="35845" name="Text Box 5">
              <a:extLst>
                <a:ext uri="{FF2B5EF4-FFF2-40B4-BE49-F238E27FC236}">
                  <a16:creationId xmlns:a16="http://schemas.microsoft.com/office/drawing/2014/main" id="{6835CF86-E56E-42D2-86B6-EB5E4C2B5275}"/>
                </a:ext>
              </a:extLst>
            </p:cNvPr>
            <p:cNvSpPr txBox="1">
              <a:spLocks noChangeArrowheads="1"/>
            </p:cNvSpPr>
            <p:nvPr/>
          </p:nvSpPr>
          <p:spPr bwMode="auto">
            <a:xfrm>
              <a:off x="470" y="912"/>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楷体_GB2312" pitchFamily="49" charset="-122"/>
                  <a:ea typeface="楷体_GB2312" pitchFamily="49" charset="-122"/>
                </a:rPr>
                <a:t>从而有：</a:t>
              </a:r>
            </a:p>
          </p:txBody>
        </p:sp>
        <p:graphicFrame>
          <p:nvGraphicFramePr>
            <p:cNvPr id="35846" name="Object 6">
              <a:extLst>
                <a:ext uri="{FF2B5EF4-FFF2-40B4-BE49-F238E27FC236}">
                  <a16:creationId xmlns:a16="http://schemas.microsoft.com/office/drawing/2014/main" id="{0DE9941C-63D1-400F-8979-F60310A9451B}"/>
                </a:ext>
              </a:extLst>
            </p:cNvPr>
            <p:cNvGraphicFramePr>
              <a:graphicFrameLocks noChangeAspect="1"/>
            </p:cNvGraphicFramePr>
            <p:nvPr/>
          </p:nvGraphicFramePr>
          <p:xfrm>
            <a:off x="1359" y="917"/>
            <a:ext cx="1072" cy="835"/>
          </p:xfrm>
          <a:graphic>
            <a:graphicData uri="http://schemas.openxmlformats.org/presentationml/2006/ole">
              <mc:AlternateContent xmlns:mc="http://schemas.openxmlformats.org/markup-compatibility/2006">
                <mc:Choice xmlns:v="urn:schemas-microsoft-com:vml" Requires="v">
                  <p:oleObj name="Equation" r:id="rId2" imgW="838080" imgH="660240" progId="Equation.DSMT4">
                    <p:embed/>
                  </p:oleObj>
                </mc:Choice>
                <mc:Fallback>
                  <p:oleObj name="Equation" r:id="rId2" imgW="838080" imgH="660240" progId="Equation.DSMT4">
                    <p:embed/>
                    <p:pic>
                      <p:nvPicPr>
                        <p:cNvPr id="35846" name="Object 6">
                          <a:extLst>
                            <a:ext uri="{FF2B5EF4-FFF2-40B4-BE49-F238E27FC236}">
                              <a16:creationId xmlns:a16="http://schemas.microsoft.com/office/drawing/2014/main" id="{0DE9941C-63D1-400F-8979-F60310A94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 y="917"/>
                          <a:ext cx="1072" cy="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7" name="Rectangle 7">
              <a:extLst>
                <a:ext uri="{FF2B5EF4-FFF2-40B4-BE49-F238E27FC236}">
                  <a16:creationId xmlns:a16="http://schemas.microsoft.com/office/drawing/2014/main" id="{EFED9572-5E30-42ED-8830-D9CB0046AD8D}"/>
                </a:ext>
              </a:extLst>
            </p:cNvPr>
            <p:cNvSpPr>
              <a:spLocks noChangeArrowheads="1"/>
            </p:cNvSpPr>
            <p:nvPr/>
          </p:nvSpPr>
          <p:spPr bwMode="auto">
            <a:xfrm>
              <a:off x="3110" y="1056"/>
              <a:ext cx="4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latin typeface="宋体" panose="02010600030101010101" pitchFamily="2" charset="-122"/>
                </a:rPr>
                <a:t>（</a:t>
              </a:r>
              <a:r>
                <a:rPr lang="en-US" altLang="zh-CN" b="1" dirty="0">
                  <a:latin typeface="Times New Roman" panose="02020603050405020304" pitchFamily="18" charset="0"/>
                  <a:cs typeface="Times New Roman" panose="02020603050405020304" pitchFamily="18" charset="0"/>
                </a:rPr>
                <a:t>4</a:t>
              </a:r>
              <a:r>
                <a:rPr lang="zh-CN" altLang="en-US" b="1" dirty="0">
                  <a:latin typeface="宋体" panose="02010600030101010101" pitchFamily="2" charset="-122"/>
                </a:rPr>
                <a:t>）</a:t>
              </a:r>
            </a:p>
          </p:txBody>
        </p:sp>
      </p:grpSp>
      <p:grpSp>
        <p:nvGrpSpPr>
          <p:cNvPr id="35848" name="Group 8">
            <a:extLst>
              <a:ext uri="{FF2B5EF4-FFF2-40B4-BE49-F238E27FC236}">
                <a16:creationId xmlns:a16="http://schemas.microsoft.com/office/drawing/2014/main" id="{44CCF898-127A-4461-B12C-20B87BF2612F}"/>
              </a:ext>
            </a:extLst>
          </p:cNvPr>
          <p:cNvGrpSpPr>
            <a:grpSpLocks/>
          </p:cNvGrpSpPr>
          <p:nvPr/>
        </p:nvGrpSpPr>
        <p:grpSpPr bwMode="auto">
          <a:xfrm>
            <a:off x="6477000" y="5086350"/>
            <a:ext cx="2384425" cy="1543050"/>
            <a:chOff x="1303" y="1686"/>
            <a:chExt cx="2573" cy="1669"/>
          </a:xfrm>
        </p:grpSpPr>
        <p:grpSp>
          <p:nvGrpSpPr>
            <p:cNvPr id="35849" name="Group 9">
              <a:extLst>
                <a:ext uri="{FF2B5EF4-FFF2-40B4-BE49-F238E27FC236}">
                  <a16:creationId xmlns:a16="http://schemas.microsoft.com/office/drawing/2014/main" id="{9B87E842-AB83-4E13-BE4D-8970B45A6999}"/>
                </a:ext>
              </a:extLst>
            </p:cNvPr>
            <p:cNvGrpSpPr>
              <a:grpSpLocks/>
            </p:cNvGrpSpPr>
            <p:nvPr/>
          </p:nvGrpSpPr>
          <p:grpSpPr bwMode="auto">
            <a:xfrm>
              <a:off x="1303" y="2760"/>
              <a:ext cx="2573" cy="595"/>
              <a:chOff x="1303" y="2760"/>
              <a:chExt cx="2573" cy="595"/>
            </a:xfrm>
          </p:grpSpPr>
          <p:sp>
            <p:nvSpPr>
              <p:cNvPr id="35850" name="Freeform 10">
                <a:extLst>
                  <a:ext uri="{FF2B5EF4-FFF2-40B4-BE49-F238E27FC236}">
                    <a16:creationId xmlns:a16="http://schemas.microsoft.com/office/drawing/2014/main" id="{4A603FFB-5920-45EE-BAB6-35627A6722F3}"/>
                  </a:ext>
                </a:extLst>
              </p:cNvPr>
              <p:cNvSpPr>
                <a:spLocks/>
              </p:cNvSpPr>
              <p:nvPr/>
            </p:nvSpPr>
            <p:spPr bwMode="auto">
              <a:xfrm>
                <a:off x="1303" y="2760"/>
                <a:ext cx="2573" cy="481"/>
              </a:xfrm>
              <a:custGeom>
                <a:avLst/>
                <a:gdLst>
                  <a:gd name="T0" fmla="*/ 1570 w 5145"/>
                  <a:gd name="T1" fmla="*/ 0 h 963"/>
                  <a:gd name="T2" fmla="*/ 5145 w 5145"/>
                  <a:gd name="T3" fmla="*/ 0 h 963"/>
                  <a:gd name="T4" fmla="*/ 4182 w 5145"/>
                  <a:gd name="T5" fmla="*/ 963 h 963"/>
                  <a:gd name="T6" fmla="*/ 0 w 5145"/>
                  <a:gd name="T7" fmla="*/ 963 h 963"/>
                  <a:gd name="T8" fmla="*/ 1570 w 5145"/>
                  <a:gd name="T9" fmla="*/ 0 h 963"/>
                </a:gdLst>
                <a:ahLst/>
                <a:cxnLst>
                  <a:cxn ang="0">
                    <a:pos x="T0" y="T1"/>
                  </a:cxn>
                  <a:cxn ang="0">
                    <a:pos x="T2" y="T3"/>
                  </a:cxn>
                  <a:cxn ang="0">
                    <a:pos x="T4" y="T5"/>
                  </a:cxn>
                  <a:cxn ang="0">
                    <a:pos x="T6" y="T7"/>
                  </a:cxn>
                  <a:cxn ang="0">
                    <a:pos x="T8" y="T9"/>
                  </a:cxn>
                </a:cxnLst>
                <a:rect l="0" t="0" r="r" b="b"/>
                <a:pathLst>
                  <a:path w="5145" h="963">
                    <a:moveTo>
                      <a:pt x="1570" y="0"/>
                    </a:moveTo>
                    <a:lnTo>
                      <a:pt x="5145" y="0"/>
                    </a:lnTo>
                    <a:lnTo>
                      <a:pt x="4182" y="963"/>
                    </a:lnTo>
                    <a:lnTo>
                      <a:pt x="0" y="963"/>
                    </a:lnTo>
                    <a:lnTo>
                      <a:pt x="1570" y="0"/>
                    </a:lnTo>
                    <a:close/>
                  </a:path>
                </a:pathLst>
              </a:custGeom>
              <a:solidFill>
                <a:srgbClr val="C06000"/>
              </a:solidFill>
              <a:ln w="7938">
                <a:solidFill>
                  <a:srgbClr val="000000"/>
                </a:solidFill>
                <a:prstDash val="solid"/>
                <a:round/>
                <a:headEnd/>
                <a:tailEnd/>
              </a:ln>
            </p:spPr>
            <p:txBody>
              <a:bodyPr/>
              <a:lstStyle/>
              <a:p>
                <a:endParaRPr lang="zh-CN" altLang="en-US"/>
              </a:p>
            </p:txBody>
          </p:sp>
          <p:sp>
            <p:nvSpPr>
              <p:cNvPr id="35851" name="Rectangle 11">
                <a:extLst>
                  <a:ext uri="{FF2B5EF4-FFF2-40B4-BE49-F238E27FC236}">
                    <a16:creationId xmlns:a16="http://schemas.microsoft.com/office/drawing/2014/main" id="{B4B23A2C-BA6F-45E9-9927-CDFE56F73CC8}"/>
                  </a:ext>
                </a:extLst>
              </p:cNvPr>
              <p:cNvSpPr>
                <a:spLocks noChangeArrowheads="1"/>
              </p:cNvSpPr>
              <p:nvPr/>
            </p:nvSpPr>
            <p:spPr bwMode="auto">
              <a:xfrm>
                <a:off x="1305" y="3243"/>
                <a:ext cx="2088" cy="110"/>
              </a:xfrm>
              <a:prstGeom prst="rect">
                <a:avLst/>
              </a:prstGeom>
              <a:solidFill>
                <a:srgbClr val="804000"/>
              </a:solidFill>
              <a:ln w="7938">
                <a:solidFill>
                  <a:srgbClr val="000000"/>
                </a:solidFill>
                <a:miter lim="800000"/>
                <a:headEnd/>
                <a:tailEnd/>
              </a:ln>
            </p:spPr>
            <p:txBody>
              <a:bodyPr/>
              <a:lstStyle/>
              <a:p>
                <a:endParaRPr lang="zh-CN" altLang="en-US"/>
              </a:p>
            </p:txBody>
          </p:sp>
          <p:sp>
            <p:nvSpPr>
              <p:cNvPr id="35852" name="Freeform 12">
                <a:extLst>
                  <a:ext uri="{FF2B5EF4-FFF2-40B4-BE49-F238E27FC236}">
                    <a16:creationId xmlns:a16="http://schemas.microsoft.com/office/drawing/2014/main" id="{E26B74A9-8E32-4B7E-874A-4F3FAFB1F0FD}"/>
                  </a:ext>
                </a:extLst>
              </p:cNvPr>
              <p:cNvSpPr>
                <a:spLocks/>
              </p:cNvSpPr>
              <p:nvPr/>
            </p:nvSpPr>
            <p:spPr bwMode="auto">
              <a:xfrm>
                <a:off x="3394" y="2760"/>
                <a:ext cx="482" cy="595"/>
              </a:xfrm>
              <a:custGeom>
                <a:avLst/>
                <a:gdLst>
                  <a:gd name="T0" fmla="*/ 963 w 963"/>
                  <a:gd name="T1" fmla="*/ 0 h 1192"/>
                  <a:gd name="T2" fmla="*/ 0 w 963"/>
                  <a:gd name="T3" fmla="*/ 963 h 1192"/>
                  <a:gd name="T4" fmla="*/ 0 w 963"/>
                  <a:gd name="T5" fmla="*/ 1192 h 1192"/>
                  <a:gd name="T6" fmla="*/ 963 w 963"/>
                  <a:gd name="T7" fmla="*/ 223 h 1192"/>
                  <a:gd name="T8" fmla="*/ 963 w 963"/>
                  <a:gd name="T9" fmla="*/ 0 h 1192"/>
                </a:gdLst>
                <a:ahLst/>
                <a:cxnLst>
                  <a:cxn ang="0">
                    <a:pos x="T0" y="T1"/>
                  </a:cxn>
                  <a:cxn ang="0">
                    <a:pos x="T2" y="T3"/>
                  </a:cxn>
                  <a:cxn ang="0">
                    <a:pos x="T4" y="T5"/>
                  </a:cxn>
                  <a:cxn ang="0">
                    <a:pos x="T6" y="T7"/>
                  </a:cxn>
                  <a:cxn ang="0">
                    <a:pos x="T8" y="T9"/>
                  </a:cxn>
                </a:cxnLst>
                <a:rect l="0" t="0" r="r" b="b"/>
                <a:pathLst>
                  <a:path w="963" h="1192">
                    <a:moveTo>
                      <a:pt x="963" y="0"/>
                    </a:moveTo>
                    <a:lnTo>
                      <a:pt x="0" y="963"/>
                    </a:lnTo>
                    <a:lnTo>
                      <a:pt x="0" y="1192"/>
                    </a:lnTo>
                    <a:lnTo>
                      <a:pt x="963" y="223"/>
                    </a:lnTo>
                    <a:lnTo>
                      <a:pt x="963" y="0"/>
                    </a:lnTo>
                    <a:close/>
                  </a:path>
                </a:pathLst>
              </a:custGeom>
              <a:solidFill>
                <a:srgbClr val="603000"/>
              </a:solidFill>
              <a:ln w="7938">
                <a:solidFill>
                  <a:srgbClr val="000000"/>
                </a:solidFill>
                <a:prstDash val="solid"/>
                <a:round/>
                <a:headEnd/>
                <a:tailEnd/>
              </a:ln>
            </p:spPr>
            <p:txBody>
              <a:bodyPr/>
              <a:lstStyle/>
              <a:p>
                <a:endParaRPr lang="zh-CN" altLang="en-US"/>
              </a:p>
            </p:txBody>
          </p:sp>
        </p:grpSp>
        <p:sp>
          <p:nvSpPr>
            <p:cNvPr id="35853" name="Freeform 13">
              <a:extLst>
                <a:ext uri="{FF2B5EF4-FFF2-40B4-BE49-F238E27FC236}">
                  <a16:creationId xmlns:a16="http://schemas.microsoft.com/office/drawing/2014/main" id="{B71E93E9-C668-4CC0-8FDE-8E5A6F3B6F6A}"/>
                </a:ext>
              </a:extLst>
            </p:cNvPr>
            <p:cNvSpPr>
              <a:spLocks/>
            </p:cNvSpPr>
            <p:nvPr/>
          </p:nvSpPr>
          <p:spPr bwMode="auto">
            <a:xfrm>
              <a:off x="2239" y="2128"/>
              <a:ext cx="20" cy="48"/>
            </a:xfrm>
            <a:custGeom>
              <a:avLst/>
              <a:gdLst>
                <a:gd name="T0" fmla="*/ 0 w 39"/>
                <a:gd name="T1" fmla="*/ 29 h 95"/>
                <a:gd name="T2" fmla="*/ 11 w 39"/>
                <a:gd name="T3" fmla="*/ 15 h 95"/>
                <a:gd name="T4" fmla="*/ 39 w 39"/>
                <a:gd name="T5" fmla="*/ 0 h 95"/>
                <a:gd name="T6" fmla="*/ 38 w 39"/>
                <a:gd name="T7" fmla="*/ 95 h 95"/>
                <a:gd name="T8" fmla="*/ 30 w 39"/>
                <a:gd name="T9" fmla="*/ 83 h 95"/>
                <a:gd name="T10" fmla="*/ 21 w 39"/>
                <a:gd name="T11" fmla="*/ 70 h 95"/>
                <a:gd name="T12" fmla="*/ 8 w 39"/>
                <a:gd name="T13" fmla="*/ 49 h 95"/>
                <a:gd name="T14" fmla="*/ 0 w 39"/>
                <a:gd name="T15" fmla="*/ 29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95">
                  <a:moveTo>
                    <a:pt x="0" y="29"/>
                  </a:moveTo>
                  <a:lnTo>
                    <a:pt x="11" y="15"/>
                  </a:lnTo>
                  <a:lnTo>
                    <a:pt x="39" y="0"/>
                  </a:lnTo>
                  <a:lnTo>
                    <a:pt x="38" y="95"/>
                  </a:lnTo>
                  <a:lnTo>
                    <a:pt x="30" y="83"/>
                  </a:lnTo>
                  <a:lnTo>
                    <a:pt x="21" y="70"/>
                  </a:lnTo>
                  <a:lnTo>
                    <a:pt x="8" y="49"/>
                  </a:lnTo>
                  <a:lnTo>
                    <a:pt x="0" y="29"/>
                  </a:lnTo>
                  <a:close/>
                </a:path>
              </a:pathLst>
            </a:custGeom>
            <a:solidFill>
              <a:srgbClr val="E0E0E0"/>
            </a:solidFill>
            <a:ln w="7938">
              <a:solidFill>
                <a:srgbClr val="000000"/>
              </a:solidFill>
              <a:prstDash val="solid"/>
              <a:round/>
              <a:headEnd/>
              <a:tailEnd/>
            </a:ln>
          </p:spPr>
          <p:txBody>
            <a:bodyPr/>
            <a:lstStyle/>
            <a:p>
              <a:endParaRPr lang="zh-CN" altLang="en-US"/>
            </a:p>
          </p:txBody>
        </p:sp>
        <p:grpSp>
          <p:nvGrpSpPr>
            <p:cNvPr id="35854" name="Group 14">
              <a:extLst>
                <a:ext uri="{FF2B5EF4-FFF2-40B4-BE49-F238E27FC236}">
                  <a16:creationId xmlns:a16="http://schemas.microsoft.com/office/drawing/2014/main" id="{F26E5DF9-CFC0-4C33-BE25-BC5E6C828692}"/>
                </a:ext>
              </a:extLst>
            </p:cNvPr>
            <p:cNvGrpSpPr>
              <a:grpSpLocks/>
            </p:cNvGrpSpPr>
            <p:nvPr/>
          </p:nvGrpSpPr>
          <p:grpSpPr bwMode="auto">
            <a:xfrm>
              <a:off x="2801" y="1975"/>
              <a:ext cx="67" cy="57"/>
              <a:chOff x="2801" y="1975"/>
              <a:chExt cx="67" cy="57"/>
            </a:xfrm>
          </p:grpSpPr>
          <p:sp>
            <p:nvSpPr>
              <p:cNvPr id="35855" name="Oval 15">
                <a:extLst>
                  <a:ext uri="{FF2B5EF4-FFF2-40B4-BE49-F238E27FC236}">
                    <a16:creationId xmlns:a16="http://schemas.microsoft.com/office/drawing/2014/main" id="{E4EC4DDC-9F9C-4C49-8E46-31BBE4CFCC79}"/>
                  </a:ext>
                </a:extLst>
              </p:cNvPr>
              <p:cNvSpPr>
                <a:spLocks noChangeArrowheads="1"/>
              </p:cNvSpPr>
              <p:nvPr/>
            </p:nvSpPr>
            <p:spPr bwMode="auto">
              <a:xfrm>
                <a:off x="2801" y="1975"/>
                <a:ext cx="67" cy="57"/>
              </a:xfrm>
              <a:prstGeom prst="ellipse">
                <a:avLst/>
              </a:prstGeom>
              <a:solidFill>
                <a:srgbClr val="FFFFFF"/>
              </a:solidFill>
              <a:ln w="7938">
                <a:solidFill>
                  <a:srgbClr val="000000"/>
                </a:solidFill>
                <a:round/>
                <a:headEnd/>
                <a:tailEnd/>
              </a:ln>
            </p:spPr>
            <p:txBody>
              <a:bodyPr/>
              <a:lstStyle/>
              <a:p>
                <a:endParaRPr lang="zh-CN" altLang="en-US"/>
              </a:p>
            </p:txBody>
          </p:sp>
          <p:sp>
            <p:nvSpPr>
              <p:cNvPr id="35856" name="Oval 16">
                <a:extLst>
                  <a:ext uri="{FF2B5EF4-FFF2-40B4-BE49-F238E27FC236}">
                    <a16:creationId xmlns:a16="http://schemas.microsoft.com/office/drawing/2014/main" id="{A707E81A-C25A-489C-A1CD-8BCDAC576FC0}"/>
                  </a:ext>
                </a:extLst>
              </p:cNvPr>
              <p:cNvSpPr>
                <a:spLocks noChangeArrowheads="1"/>
              </p:cNvSpPr>
              <p:nvPr/>
            </p:nvSpPr>
            <p:spPr bwMode="auto">
              <a:xfrm>
                <a:off x="2825" y="1982"/>
                <a:ext cx="34" cy="35"/>
              </a:xfrm>
              <a:prstGeom prst="ellipse">
                <a:avLst/>
              </a:prstGeom>
              <a:solidFill>
                <a:srgbClr val="618FFD"/>
              </a:solidFill>
              <a:ln w="7938">
                <a:solidFill>
                  <a:srgbClr val="000000"/>
                </a:solidFill>
                <a:round/>
                <a:headEnd/>
                <a:tailEnd/>
              </a:ln>
            </p:spPr>
            <p:txBody>
              <a:bodyPr/>
              <a:lstStyle/>
              <a:p>
                <a:endParaRPr lang="zh-CN" altLang="en-US"/>
              </a:p>
            </p:txBody>
          </p:sp>
        </p:grpSp>
        <p:grpSp>
          <p:nvGrpSpPr>
            <p:cNvPr id="35857" name="Group 17">
              <a:extLst>
                <a:ext uri="{FF2B5EF4-FFF2-40B4-BE49-F238E27FC236}">
                  <a16:creationId xmlns:a16="http://schemas.microsoft.com/office/drawing/2014/main" id="{D047F6C4-9F49-4D74-AE1A-542D1787A4EE}"/>
                </a:ext>
              </a:extLst>
            </p:cNvPr>
            <p:cNvGrpSpPr>
              <a:grpSpLocks/>
            </p:cNvGrpSpPr>
            <p:nvPr/>
          </p:nvGrpSpPr>
          <p:grpSpPr bwMode="auto">
            <a:xfrm>
              <a:off x="2973" y="1980"/>
              <a:ext cx="67" cy="57"/>
              <a:chOff x="2973" y="1980"/>
              <a:chExt cx="67" cy="57"/>
            </a:xfrm>
          </p:grpSpPr>
          <p:sp>
            <p:nvSpPr>
              <p:cNvPr id="35858" name="Oval 18">
                <a:extLst>
                  <a:ext uri="{FF2B5EF4-FFF2-40B4-BE49-F238E27FC236}">
                    <a16:creationId xmlns:a16="http://schemas.microsoft.com/office/drawing/2014/main" id="{4B39D04E-88E0-43B4-8149-E7DB60F69568}"/>
                  </a:ext>
                </a:extLst>
              </p:cNvPr>
              <p:cNvSpPr>
                <a:spLocks noChangeArrowheads="1"/>
              </p:cNvSpPr>
              <p:nvPr/>
            </p:nvSpPr>
            <p:spPr bwMode="auto">
              <a:xfrm>
                <a:off x="2973" y="1980"/>
                <a:ext cx="67" cy="57"/>
              </a:xfrm>
              <a:prstGeom prst="ellipse">
                <a:avLst/>
              </a:prstGeom>
              <a:solidFill>
                <a:srgbClr val="FFFFFF"/>
              </a:solidFill>
              <a:ln w="7938">
                <a:solidFill>
                  <a:srgbClr val="000000"/>
                </a:solidFill>
                <a:round/>
                <a:headEnd/>
                <a:tailEnd/>
              </a:ln>
            </p:spPr>
            <p:txBody>
              <a:bodyPr/>
              <a:lstStyle/>
              <a:p>
                <a:endParaRPr lang="zh-CN" altLang="en-US"/>
              </a:p>
            </p:txBody>
          </p:sp>
          <p:sp>
            <p:nvSpPr>
              <p:cNvPr id="35859" name="Oval 19">
                <a:extLst>
                  <a:ext uri="{FF2B5EF4-FFF2-40B4-BE49-F238E27FC236}">
                    <a16:creationId xmlns:a16="http://schemas.microsoft.com/office/drawing/2014/main" id="{35BAE8E3-5285-405F-B829-158248232D24}"/>
                  </a:ext>
                </a:extLst>
              </p:cNvPr>
              <p:cNvSpPr>
                <a:spLocks noChangeArrowheads="1"/>
              </p:cNvSpPr>
              <p:nvPr/>
            </p:nvSpPr>
            <p:spPr bwMode="auto">
              <a:xfrm>
                <a:off x="2996" y="1987"/>
                <a:ext cx="35" cy="36"/>
              </a:xfrm>
              <a:prstGeom prst="ellipse">
                <a:avLst/>
              </a:prstGeom>
              <a:solidFill>
                <a:srgbClr val="618FFD"/>
              </a:solidFill>
              <a:ln w="7938">
                <a:solidFill>
                  <a:srgbClr val="000000"/>
                </a:solidFill>
                <a:round/>
                <a:headEnd/>
                <a:tailEnd/>
              </a:ln>
            </p:spPr>
            <p:txBody>
              <a:bodyPr/>
              <a:lstStyle/>
              <a:p>
                <a:endParaRPr lang="zh-CN" altLang="en-US"/>
              </a:p>
            </p:txBody>
          </p:sp>
        </p:grpSp>
        <p:grpSp>
          <p:nvGrpSpPr>
            <p:cNvPr id="35860" name="Group 20">
              <a:extLst>
                <a:ext uri="{FF2B5EF4-FFF2-40B4-BE49-F238E27FC236}">
                  <a16:creationId xmlns:a16="http://schemas.microsoft.com/office/drawing/2014/main" id="{A886BD8C-3C00-44C5-B5DA-AF056C7DD847}"/>
                </a:ext>
              </a:extLst>
            </p:cNvPr>
            <p:cNvGrpSpPr>
              <a:grpSpLocks/>
            </p:cNvGrpSpPr>
            <p:nvPr/>
          </p:nvGrpSpPr>
          <p:grpSpPr bwMode="auto">
            <a:xfrm>
              <a:off x="2169" y="1686"/>
              <a:ext cx="1380" cy="1387"/>
              <a:chOff x="2169" y="1686"/>
              <a:chExt cx="1380" cy="1387"/>
            </a:xfrm>
          </p:grpSpPr>
          <p:grpSp>
            <p:nvGrpSpPr>
              <p:cNvPr id="35861" name="Group 21">
                <a:extLst>
                  <a:ext uri="{FF2B5EF4-FFF2-40B4-BE49-F238E27FC236}">
                    <a16:creationId xmlns:a16="http://schemas.microsoft.com/office/drawing/2014/main" id="{C5021790-2476-4678-9179-8C9D61ABD580}"/>
                  </a:ext>
                </a:extLst>
              </p:cNvPr>
              <p:cNvGrpSpPr>
                <a:grpSpLocks/>
              </p:cNvGrpSpPr>
              <p:nvPr/>
            </p:nvGrpSpPr>
            <p:grpSpPr bwMode="auto">
              <a:xfrm>
                <a:off x="2169" y="1686"/>
                <a:ext cx="1236" cy="1387"/>
                <a:chOff x="2169" y="1686"/>
                <a:chExt cx="1236" cy="1387"/>
              </a:xfrm>
            </p:grpSpPr>
            <p:sp>
              <p:nvSpPr>
                <p:cNvPr id="35862" name="Freeform 22">
                  <a:extLst>
                    <a:ext uri="{FF2B5EF4-FFF2-40B4-BE49-F238E27FC236}">
                      <a16:creationId xmlns:a16="http://schemas.microsoft.com/office/drawing/2014/main" id="{2296499C-859E-4AE7-A2AD-E45ECDE23CF8}"/>
                    </a:ext>
                  </a:extLst>
                </p:cNvPr>
                <p:cNvSpPr>
                  <a:spLocks/>
                </p:cNvSpPr>
                <p:nvPr/>
              </p:nvSpPr>
              <p:spPr bwMode="auto">
                <a:xfrm>
                  <a:off x="3081" y="1941"/>
                  <a:ext cx="64" cy="155"/>
                </a:xfrm>
                <a:custGeom>
                  <a:avLst/>
                  <a:gdLst>
                    <a:gd name="T0" fmla="*/ 58 w 128"/>
                    <a:gd name="T1" fmla="*/ 18 h 311"/>
                    <a:gd name="T2" fmla="*/ 93 w 128"/>
                    <a:gd name="T3" fmla="*/ 0 h 311"/>
                    <a:gd name="T4" fmla="*/ 110 w 128"/>
                    <a:gd name="T5" fmla="*/ 18 h 311"/>
                    <a:gd name="T6" fmla="*/ 122 w 128"/>
                    <a:gd name="T7" fmla="*/ 63 h 311"/>
                    <a:gd name="T8" fmla="*/ 128 w 128"/>
                    <a:gd name="T9" fmla="*/ 126 h 311"/>
                    <a:gd name="T10" fmla="*/ 122 w 128"/>
                    <a:gd name="T11" fmla="*/ 195 h 311"/>
                    <a:gd name="T12" fmla="*/ 104 w 128"/>
                    <a:gd name="T13" fmla="*/ 259 h 311"/>
                    <a:gd name="T14" fmla="*/ 75 w 128"/>
                    <a:gd name="T15" fmla="*/ 305 h 311"/>
                    <a:gd name="T16" fmla="*/ 35 w 128"/>
                    <a:gd name="T17" fmla="*/ 311 h 311"/>
                    <a:gd name="T18" fmla="*/ 0 w 128"/>
                    <a:gd name="T19" fmla="*/ 218 h 311"/>
                    <a:gd name="T20" fmla="*/ 58 w 128"/>
                    <a:gd name="T21" fmla="*/ 18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311">
                      <a:moveTo>
                        <a:pt x="58" y="18"/>
                      </a:moveTo>
                      <a:lnTo>
                        <a:pt x="93" y="0"/>
                      </a:lnTo>
                      <a:lnTo>
                        <a:pt x="110" y="18"/>
                      </a:lnTo>
                      <a:lnTo>
                        <a:pt x="122" y="63"/>
                      </a:lnTo>
                      <a:lnTo>
                        <a:pt x="128" y="126"/>
                      </a:lnTo>
                      <a:lnTo>
                        <a:pt x="122" y="195"/>
                      </a:lnTo>
                      <a:lnTo>
                        <a:pt x="104" y="259"/>
                      </a:lnTo>
                      <a:lnTo>
                        <a:pt x="75" y="305"/>
                      </a:lnTo>
                      <a:lnTo>
                        <a:pt x="35" y="311"/>
                      </a:lnTo>
                      <a:lnTo>
                        <a:pt x="0" y="218"/>
                      </a:lnTo>
                      <a:lnTo>
                        <a:pt x="58" y="18"/>
                      </a:lnTo>
                      <a:close/>
                    </a:path>
                  </a:pathLst>
                </a:custGeom>
                <a:solidFill>
                  <a:srgbClr val="FFE0C0"/>
                </a:solidFill>
                <a:ln w="7938">
                  <a:solidFill>
                    <a:srgbClr val="000000"/>
                  </a:solidFill>
                  <a:prstDash val="solid"/>
                  <a:round/>
                  <a:headEnd/>
                  <a:tailEnd/>
                </a:ln>
              </p:spPr>
              <p:txBody>
                <a:bodyPr/>
                <a:lstStyle/>
                <a:p>
                  <a:endParaRPr lang="zh-CN" altLang="en-US"/>
                </a:p>
              </p:txBody>
            </p:sp>
            <p:sp>
              <p:nvSpPr>
                <p:cNvPr id="35863" name="Freeform 23">
                  <a:extLst>
                    <a:ext uri="{FF2B5EF4-FFF2-40B4-BE49-F238E27FC236}">
                      <a16:creationId xmlns:a16="http://schemas.microsoft.com/office/drawing/2014/main" id="{27318FCF-3731-42DE-9115-C564A26926E4}"/>
                    </a:ext>
                  </a:extLst>
                </p:cNvPr>
                <p:cNvSpPr>
                  <a:spLocks/>
                </p:cNvSpPr>
                <p:nvPr/>
              </p:nvSpPr>
              <p:spPr bwMode="auto">
                <a:xfrm>
                  <a:off x="2667" y="1945"/>
                  <a:ext cx="63" cy="155"/>
                </a:xfrm>
                <a:custGeom>
                  <a:avLst/>
                  <a:gdLst>
                    <a:gd name="T0" fmla="*/ 69 w 126"/>
                    <a:gd name="T1" fmla="*/ 16 h 311"/>
                    <a:gd name="T2" fmla="*/ 33 w 126"/>
                    <a:gd name="T3" fmla="*/ 0 h 311"/>
                    <a:gd name="T4" fmla="*/ 17 w 126"/>
                    <a:gd name="T5" fmla="*/ 16 h 311"/>
                    <a:gd name="T6" fmla="*/ 5 w 126"/>
                    <a:gd name="T7" fmla="*/ 62 h 311"/>
                    <a:gd name="T8" fmla="*/ 0 w 126"/>
                    <a:gd name="T9" fmla="*/ 126 h 311"/>
                    <a:gd name="T10" fmla="*/ 5 w 126"/>
                    <a:gd name="T11" fmla="*/ 195 h 311"/>
                    <a:gd name="T12" fmla="*/ 23 w 126"/>
                    <a:gd name="T13" fmla="*/ 259 h 311"/>
                    <a:gd name="T14" fmla="*/ 51 w 126"/>
                    <a:gd name="T15" fmla="*/ 305 h 311"/>
                    <a:gd name="T16" fmla="*/ 91 w 126"/>
                    <a:gd name="T17" fmla="*/ 311 h 311"/>
                    <a:gd name="T18" fmla="*/ 126 w 126"/>
                    <a:gd name="T19" fmla="*/ 218 h 311"/>
                    <a:gd name="T20" fmla="*/ 69 w 126"/>
                    <a:gd name="T21" fmla="*/ 1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311">
                      <a:moveTo>
                        <a:pt x="69" y="16"/>
                      </a:moveTo>
                      <a:lnTo>
                        <a:pt x="33" y="0"/>
                      </a:lnTo>
                      <a:lnTo>
                        <a:pt x="17" y="16"/>
                      </a:lnTo>
                      <a:lnTo>
                        <a:pt x="5" y="62"/>
                      </a:lnTo>
                      <a:lnTo>
                        <a:pt x="0" y="126"/>
                      </a:lnTo>
                      <a:lnTo>
                        <a:pt x="5" y="195"/>
                      </a:lnTo>
                      <a:lnTo>
                        <a:pt x="23" y="259"/>
                      </a:lnTo>
                      <a:lnTo>
                        <a:pt x="51" y="305"/>
                      </a:lnTo>
                      <a:lnTo>
                        <a:pt x="91" y="311"/>
                      </a:lnTo>
                      <a:lnTo>
                        <a:pt x="126" y="218"/>
                      </a:lnTo>
                      <a:lnTo>
                        <a:pt x="69" y="16"/>
                      </a:lnTo>
                      <a:close/>
                    </a:path>
                  </a:pathLst>
                </a:custGeom>
                <a:solidFill>
                  <a:srgbClr val="FFE0C0"/>
                </a:solidFill>
                <a:ln w="7938">
                  <a:solidFill>
                    <a:srgbClr val="000000"/>
                  </a:solidFill>
                  <a:prstDash val="solid"/>
                  <a:round/>
                  <a:headEnd/>
                  <a:tailEnd/>
                </a:ln>
              </p:spPr>
              <p:txBody>
                <a:bodyPr/>
                <a:lstStyle/>
                <a:p>
                  <a:endParaRPr lang="zh-CN" altLang="en-US"/>
                </a:p>
              </p:txBody>
            </p:sp>
            <p:grpSp>
              <p:nvGrpSpPr>
                <p:cNvPr id="35864" name="Group 24">
                  <a:extLst>
                    <a:ext uri="{FF2B5EF4-FFF2-40B4-BE49-F238E27FC236}">
                      <a16:creationId xmlns:a16="http://schemas.microsoft.com/office/drawing/2014/main" id="{D614B8E9-38D4-49E8-8529-A442BB037945}"/>
                    </a:ext>
                  </a:extLst>
                </p:cNvPr>
                <p:cNvGrpSpPr>
                  <a:grpSpLocks/>
                </p:cNvGrpSpPr>
                <p:nvPr/>
              </p:nvGrpSpPr>
              <p:grpSpPr bwMode="auto">
                <a:xfrm>
                  <a:off x="2169" y="2067"/>
                  <a:ext cx="1236" cy="1006"/>
                  <a:chOff x="2169" y="2067"/>
                  <a:chExt cx="1236" cy="1006"/>
                </a:xfrm>
              </p:grpSpPr>
              <p:sp>
                <p:nvSpPr>
                  <p:cNvPr id="35865" name="Freeform 25">
                    <a:extLst>
                      <a:ext uri="{FF2B5EF4-FFF2-40B4-BE49-F238E27FC236}">
                        <a16:creationId xmlns:a16="http://schemas.microsoft.com/office/drawing/2014/main" id="{92917014-F58E-4B93-9D25-E05592D1389B}"/>
                      </a:ext>
                    </a:extLst>
                  </p:cNvPr>
                  <p:cNvSpPr>
                    <a:spLocks/>
                  </p:cNvSpPr>
                  <p:nvPr/>
                </p:nvSpPr>
                <p:spPr bwMode="auto">
                  <a:xfrm>
                    <a:off x="2169" y="2107"/>
                    <a:ext cx="1236" cy="655"/>
                  </a:xfrm>
                  <a:custGeom>
                    <a:avLst/>
                    <a:gdLst>
                      <a:gd name="T0" fmla="*/ 555 w 2472"/>
                      <a:gd name="T1" fmla="*/ 1310 h 1310"/>
                      <a:gd name="T2" fmla="*/ 553 w 2472"/>
                      <a:gd name="T3" fmla="*/ 1263 h 1310"/>
                      <a:gd name="T4" fmla="*/ 555 w 2472"/>
                      <a:gd name="T5" fmla="*/ 1180 h 1310"/>
                      <a:gd name="T6" fmla="*/ 565 w 2472"/>
                      <a:gd name="T7" fmla="*/ 1093 h 1310"/>
                      <a:gd name="T8" fmla="*/ 510 w 2472"/>
                      <a:gd name="T9" fmla="*/ 1128 h 1310"/>
                      <a:gd name="T10" fmla="*/ 461 w 2472"/>
                      <a:gd name="T11" fmla="*/ 1159 h 1310"/>
                      <a:gd name="T12" fmla="*/ 359 w 2472"/>
                      <a:gd name="T13" fmla="*/ 1194 h 1310"/>
                      <a:gd name="T14" fmla="*/ 267 w 2472"/>
                      <a:gd name="T15" fmla="*/ 1206 h 1310"/>
                      <a:gd name="T16" fmla="*/ 206 w 2472"/>
                      <a:gd name="T17" fmla="*/ 1203 h 1310"/>
                      <a:gd name="T18" fmla="*/ 164 w 2472"/>
                      <a:gd name="T19" fmla="*/ 1183 h 1310"/>
                      <a:gd name="T20" fmla="*/ 117 w 2472"/>
                      <a:gd name="T21" fmla="*/ 1124 h 1310"/>
                      <a:gd name="T22" fmla="*/ 65 w 2472"/>
                      <a:gd name="T23" fmla="*/ 1032 h 1310"/>
                      <a:gd name="T24" fmla="*/ 39 w 2472"/>
                      <a:gd name="T25" fmla="*/ 955 h 1310"/>
                      <a:gd name="T26" fmla="*/ 24 w 2472"/>
                      <a:gd name="T27" fmla="*/ 890 h 1310"/>
                      <a:gd name="T28" fmla="*/ 11 w 2472"/>
                      <a:gd name="T29" fmla="*/ 828 h 1310"/>
                      <a:gd name="T30" fmla="*/ 5 w 2472"/>
                      <a:gd name="T31" fmla="*/ 773 h 1310"/>
                      <a:gd name="T32" fmla="*/ 0 w 2472"/>
                      <a:gd name="T33" fmla="*/ 705 h 1310"/>
                      <a:gd name="T34" fmla="*/ 0 w 2472"/>
                      <a:gd name="T35" fmla="*/ 622 h 1310"/>
                      <a:gd name="T36" fmla="*/ 2 w 2472"/>
                      <a:gd name="T37" fmla="*/ 546 h 1310"/>
                      <a:gd name="T38" fmla="*/ 14 w 2472"/>
                      <a:gd name="T39" fmla="*/ 475 h 1310"/>
                      <a:gd name="T40" fmla="*/ 25 w 2472"/>
                      <a:gd name="T41" fmla="*/ 403 h 1310"/>
                      <a:gd name="T42" fmla="*/ 39 w 2472"/>
                      <a:gd name="T43" fmla="*/ 336 h 1310"/>
                      <a:gd name="T44" fmla="*/ 57 w 2472"/>
                      <a:gd name="T45" fmla="*/ 271 h 1310"/>
                      <a:gd name="T46" fmla="*/ 82 w 2472"/>
                      <a:gd name="T47" fmla="*/ 183 h 1310"/>
                      <a:gd name="T48" fmla="*/ 112 w 2472"/>
                      <a:gd name="T49" fmla="*/ 133 h 1310"/>
                      <a:gd name="T50" fmla="*/ 142 w 2472"/>
                      <a:gd name="T51" fmla="*/ 79 h 1310"/>
                      <a:gd name="T52" fmla="*/ 164 w 2472"/>
                      <a:gd name="T53" fmla="*/ 114 h 1310"/>
                      <a:gd name="T54" fmla="*/ 189 w 2472"/>
                      <a:gd name="T55" fmla="*/ 152 h 1310"/>
                      <a:gd name="T56" fmla="*/ 234 w 2472"/>
                      <a:gd name="T57" fmla="*/ 202 h 1310"/>
                      <a:gd name="T58" fmla="*/ 272 w 2472"/>
                      <a:gd name="T59" fmla="*/ 225 h 1310"/>
                      <a:gd name="T60" fmla="*/ 315 w 2472"/>
                      <a:gd name="T61" fmla="*/ 237 h 1310"/>
                      <a:gd name="T62" fmla="*/ 393 w 2472"/>
                      <a:gd name="T63" fmla="*/ 218 h 1310"/>
                      <a:gd name="T64" fmla="*/ 478 w 2472"/>
                      <a:gd name="T65" fmla="*/ 176 h 1310"/>
                      <a:gd name="T66" fmla="*/ 484 w 2472"/>
                      <a:gd name="T67" fmla="*/ 275 h 1310"/>
                      <a:gd name="T68" fmla="*/ 518 w 2472"/>
                      <a:gd name="T69" fmla="*/ 505 h 1310"/>
                      <a:gd name="T70" fmla="*/ 507 w 2472"/>
                      <a:gd name="T71" fmla="*/ 621 h 1310"/>
                      <a:gd name="T72" fmla="*/ 588 w 2472"/>
                      <a:gd name="T73" fmla="*/ 460 h 1310"/>
                      <a:gd name="T74" fmla="*/ 657 w 2472"/>
                      <a:gd name="T75" fmla="*/ 345 h 1310"/>
                      <a:gd name="T76" fmla="*/ 726 w 2472"/>
                      <a:gd name="T77" fmla="*/ 265 h 1310"/>
                      <a:gd name="T78" fmla="*/ 818 w 2472"/>
                      <a:gd name="T79" fmla="*/ 173 h 1310"/>
                      <a:gd name="T80" fmla="*/ 899 w 2472"/>
                      <a:gd name="T81" fmla="*/ 102 h 1310"/>
                      <a:gd name="T82" fmla="*/ 1060 w 2472"/>
                      <a:gd name="T83" fmla="*/ 34 h 1310"/>
                      <a:gd name="T84" fmla="*/ 1244 w 2472"/>
                      <a:gd name="T85" fmla="*/ 0 h 1310"/>
                      <a:gd name="T86" fmla="*/ 1461 w 2472"/>
                      <a:gd name="T87" fmla="*/ 0 h 1310"/>
                      <a:gd name="T88" fmla="*/ 1830 w 2472"/>
                      <a:gd name="T89" fmla="*/ 57 h 1310"/>
                      <a:gd name="T90" fmla="*/ 2071 w 2472"/>
                      <a:gd name="T91" fmla="*/ 161 h 1310"/>
                      <a:gd name="T92" fmla="*/ 2219 w 2472"/>
                      <a:gd name="T93" fmla="*/ 287 h 1310"/>
                      <a:gd name="T94" fmla="*/ 2323 w 2472"/>
                      <a:gd name="T95" fmla="*/ 439 h 1310"/>
                      <a:gd name="T96" fmla="*/ 2415 w 2472"/>
                      <a:gd name="T97" fmla="*/ 587 h 1310"/>
                      <a:gd name="T98" fmla="*/ 2461 w 2472"/>
                      <a:gd name="T99" fmla="*/ 737 h 1310"/>
                      <a:gd name="T100" fmla="*/ 2472 w 2472"/>
                      <a:gd name="T101" fmla="*/ 1059 h 1310"/>
                      <a:gd name="T102" fmla="*/ 2461 w 2472"/>
                      <a:gd name="T103" fmla="*/ 1310 h 1310"/>
                      <a:gd name="T104" fmla="*/ 555 w 2472"/>
                      <a:gd name="T105" fmla="*/ 1310 h 1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72" h="1310">
                        <a:moveTo>
                          <a:pt x="555" y="1310"/>
                        </a:moveTo>
                        <a:lnTo>
                          <a:pt x="553" y="1263"/>
                        </a:lnTo>
                        <a:lnTo>
                          <a:pt x="555" y="1180"/>
                        </a:lnTo>
                        <a:lnTo>
                          <a:pt x="565" y="1093"/>
                        </a:lnTo>
                        <a:lnTo>
                          <a:pt x="510" y="1128"/>
                        </a:lnTo>
                        <a:lnTo>
                          <a:pt x="461" y="1159"/>
                        </a:lnTo>
                        <a:lnTo>
                          <a:pt x="359" y="1194"/>
                        </a:lnTo>
                        <a:lnTo>
                          <a:pt x="267" y="1206"/>
                        </a:lnTo>
                        <a:lnTo>
                          <a:pt x="206" y="1203"/>
                        </a:lnTo>
                        <a:lnTo>
                          <a:pt x="164" y="1183"/>
                        </a:lnTo>
                        <a:lnTo>
                          <a:pt x="117" y="1124"/>
                        </a:lnTo>
                        <a:lnTo>
                          <a:pt x="65" y="1032"/>
                        </a:lnTo>
                        <a:lnTo>
                          <a:pt x="39" y="955"/>
                        </a:lnTo>
                        <a:lnTo>
                          <a:pt x="24" y="890"/>
                        </a:lnTo>
                        <a:lnTo>
                          <a:pt x="11" y="828"/>
                        </a:lnTo>
                        <a:lnTo>
                          <a:pt x="5" y="773"/>
                        </a:lnTo>
                        <a:lnTo>
                          <a:pt x="0" y="705"/>
                        </a:lnTo>
                        <a:lnTo>
                          <a:pt x="0" y="622"/>
                        </a:lnTo>
                        <a:lnTo>
                          <a:pt x="2" y="546"/>
                        </a:lnTo>
                        <a:lnTo>
                          <a:pt x="14" y="475"/>
                        </a:lnTo>
                        <a:lnTo>
                          <a:pt x="25" y="403"/>
                        </a:lnTo>
                        <a:lnTo>
                          <a:pt x="39" y="336"/>
                        </a:lnTo>
                        <a:lnTo>
                          <a:pt x="57" y="271"/>
                        </a:lnTo>
                        <a:lnTo>
                          <a:pt x="82" y="183"/>
                        </a:lnTo>
                        <a:lnTo>
                          <a:pt x="112" y="133"/>
                        </a:lnTo>
                        <a:lnTo>
                          <a:pt x="142" y="79"/>
                        </a:lnTo>
                        <a:lnTo>
                          <a:pt x="164" y="114"/>
                        </a:lnTo>
                        <a:lnTo>
                          <a:pt x="189" y="152"/>
                        </a:lnTo>
                        <a:lnTo>
                          <a:pt x="234" y="202"/>
                        </a:lnTo>
                        <a:lnTo>
                          <a:pt x="272" y="225"/>
                        </a:lnTo>
                        <a:lnTo>
                          <a:pt x="315" y="237"/>
                        </a:lnTo>
                        <a:lnTo>
                          <a:pt x="393" y="218"/>
                        </a:lnTo>
                        <a:lnTo>
                          <a:pt x="478" y="176"/>
                        </a:lnTo>
                        <a:lnTo>
                          <a:pt x="484" y="275"/>
                        </a:lnTo>
                        <a:lnTo>
                          <a:pt x="518" y="505"/>
                        </a:lnTo>
                        <a:lnTo>
                          <a:pt x="507" y="621"/>
                        </a:lnTo>
                        <a:lnTo>
                          <a:pt x="588" y="460"/>
                        </a:lnTo>
                        <a:lnTo>
                          <a:pt x="657" y="345"/>
                        </a:lnTo>
                        <a:lnTo>
                          <a:pt x="726" y="265"/>
                        </a:lnTo>
                        <a:lnTo>
                          <a:pt x="818" y="173"/>
                        </a:lnTo>
                        <a:lnTo>
                          <a:pt x="899" y="102"/>
                        </a:lnTo>
                        <a:lnTo>
                          <a:pt x="1060" y="34"/>
                        </a:lnTo>
                        <a:lnTo>
                          <a:pt x="1244" y="0"/>
                        </a:lnTo>
                        <a:lnTo>
                          <a:pt x="1461" y="0"/>
                        </a:lnTo>
                        <a:lnTo>
                          <a:pt x="1830" y="57"/>
                        </a:lnTo>
                        <a:lnTo>
                          <a:pt x="2071" y="161"/>
                        </a:lnTo>
                        <a:lnTo>
                          <a:pt x="2219" y="287"/>
                        </a:lnTo>
                        <a:lnTo>
                          <a:pt x="2323" y="439"/>
                        </a:lnTo>
                        <a:lnTo>
                          <a:pt x="2415" y="587"/>
                        </a:lnTo>
                        <a:lnTo>
                          <a:pt x="2461" y="737"/>
                        </a:lnTo>
                        <a:lnTo>
                          <a:pt x="2472" y="1059"/>
                        </a:lnTo>
                        <a:lnTo>
                          <a:pt x="2461" y="1310"/>
                        </a:lnTo>
                        <a:lnTo>
                          <a:pt x="555" y="1310"/>
                        </a:lnTo>
                        <a:close/>
                      </a:path>
                    </a:pathLst>
                  </a:custGeom>
                  <a:solidFill>
                    <a:srgbClr val="C0C0FF"/>
                  </a:solidFill>
                  <a:ln w="7938">
                    <a:solidFill>
                      <a:srgbClr val="000000"/>
                    </a:solidFill>
                    <a:prstDash val="solid"/>
                    <a:round/>
                    <a:headEnd/>
                    <a:tailEnd/>
                  </a:ln>
                </p:spPr>
                <p:txBody>
                  <a:bodyPr/>
                  <a:lstStyle/>
                  <a:p>
                    <a:endParaRPr lang="zh-CN" altLang="en-US"/>
                  </a:p>
                </p:txBody>
              </p:sp>
              <p:grpSp>
                <p:nvGrpSpPr>
                  <p:cNvPr id="35866" name="Group 26">
                    <a:extLst>
                      <a:ext uri="{FF2B5EF4-FFF2-40B4-BE49-F238E27FC236}">
                        <a16:creationId xmlns:a16="http://schemas.microsoft.com/office/drawing/2014/main" id="{1D0EDA43-7205-4C66-A959-746A5102F761}"/>
                      </a:ext>
                    </a:extLst>
                  </p:cNvPr>
                  <p:cNvGrpSpPr>
                    <a:grpSpLocks/>
                  </p:cNvGrpSpPr>
                  <p:nvPr/>
                </p:nvGrpSpPr>
                <p:grpSpPr bwMode="auto">
                  <a:xfrm>
                    <a:off x="2681" y="2067"/>
                    <a:ext cx="449" cy="1006"/>
                    <a:chOff x="2681" y="2067"/>
                    <a:chExt cx="449" cy="1006"/>
                  </a:xfrm>
                </p:grpSpPr>
                <p:sp>
                  <p:nvSpPr>
                    <p:cNvPr id="35867" name="Freeform 27">
                      <a:extLst>
                        <a:ext uri="{FF2B5EF4-FFF2-40B4-BE49-F238E27FC236}">
                          <a16:creationId xmlns:a16="http://schemas.microsoft.com/office/drawing/2014/main" id="{9DEE4979-22C8-45F7-A3AF-9DD6834ED092}"/>
                        </a:ext>
                      </a:extLst>
                    </p:cNvPr>
                    <p:cNvSpPr>
                      <a:spLocks/>
                    </p:cNvSpPr>
                    <p:nvPr/>
                  </p:nvSpPr>
                  <p:spPr bwMode="auto">
                    <a:xfrm>
                      <a:off x="2681" y="2067"/>
                      <a:ext cx="449" cy="404"/>
                    </a:xfrm>
                    <a:custGeom>
                      <a:avLst/>
                      <a:gdLst>
                        <a:gd name="T0" fmla="*/ 23 w 896"/>
                        <a:gd name="T1" fmla="*/ 161 h 808"/>
                        <a:gd name="T2" fmla="*/ 0 w 896"/>
                        <a:gd name="T3" fmla="*/ 299 h 808"/>
                        <a:gd name="T4" fmla="*/ 35 w 896"/>
                        <a:gd name="T5" fmla="*/ 449 h 808"/>
                        <a:gd name="T6" fmla="*/ 46 w 896"/>
                        <a:gd name="T7" fmla="*/ 541 h 808"/>
                        <a:gd name="T8" fmla="*/ 52 w 896"/>
                        <a:gd name="T9" fmla="*/ 578 h 808"/>
                        <a:gd name="T10" fmla="*/ 72 w 896"/>
                        <a:gd name="T11" fmla="*/ 631 h 808"/>
                        <a:gd name="T12" fmla="*/ 90 w 896"/>
                        <a:gd name="T13" fmla="*/ 677 h 808"/>
                        <a:gd name="T14" fmla="*/ 133 w 896"/>
                        <a:gd name="T15" fmla="*/ 731 h 808"/>
                        <a:gd name="T16" fmla="*/ 163 w 896"/>
                        <a:gd name="T17" fmla="*/ 769 h 808"/>
                        <a:gd name="T18" fmla="*/ 207 w 896"/>
                        <a:gd name="T19" fmla="*/ 805 h 808"/>
                        <a:gd name="T20" fmla="*/ 391 w 896"/>
                        <a:gd name="T21" fmla="*/ 587 h 808"/>
                        <a:gd name="T22" fmla="*/ 595 w 896"/>
                        <a:gd name="T23" fmla="*/ 808 h 808"/>
                        <a:gd name="T24" fmla="*/ 641 w 896"/>
                        <a:gd name="T25" fmla="*/ 765 h 808"/>
                        <a:gd name="T26" fmla="*/ 680 w 896"/>
                        <a:gd name="T27" fmla="*/ 716 h 808"/>
                        <a:gd name="T28" fmla="*/ 714 w 896"/>
                        <a:gd name="T29" fmla="*/ 654 h 808"/>
                        <a:gd name="T30" fmla="*/ 759 w 896"/>
                        <a:gd name="T31" fmla="*/ 587 h 808"/>
                        <a:gd name="T32" fmla="*/ 827 w 896"/>
                        <a:gd name="T33" fmla="*/ 449 h 808"/>
                        <a:gd name="T34" fmla="*/ 873 w 896"/>
                        <a:gd name="T35" fmla="*/ 242 h 808"/>
                        <a:gd name="T36" fmla="*/ 896 w 896"/>
                        <a:gd name="T37" fmla="*/ 138 h 808"/>
                        <a:gd name="T38" fmla="*/ 747 w 896"/>
                        <a:gd name="T39" fmla="*/ 47 h 808"/>
                        <a:gd name="T40" fmla="*/ 586 w 896"/>
                        <a:gd name="T41" fmla="*/ 0 h 808"/>
                        <a:gd name="T42" fmla="*/ 332 w 896"/>
                        <a:gd name="T43" fmla="*/ 13 h 808"/>
                        <a:gd name="T44" fmla="*/ 149 w 896"/>
                        <a:gd name="T45" fmla="*/ 59 h 808"/>
                        <a:gd name="T46" fmla="*/ 23 w 896"/>
                        <a:gd name="T47" fmla="*/ 161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6" h="808">
                          <a:moveTo>
                            <a:pt x="23" y="161"/>
                          </a:moveTo>
                          <a:lnTo>
                            <a:pt x="0" y="299"/>
                          </a:lnTo>
                          <a:lnTo>
                            <a:pt x="35" y="449"/>
                          </a:lnTo>
                          <a:lnTo>
                            <a:pt x="46" y="541"/>
                          </a:lnTo>
                          <a:lnTo>
                            <a:pt x="52" y="578"/>
                          </a:lnTo>
                          <a:lnTo>
                            <a:pt x="72" y="631"/>
                          </a:lnTo>
                          <a:lnTo>
                            <a:pt x="90" y="677"/>
                          </a:lnTo>
                          <a:lnTo>
                            <a:pt x="133" y="731"/>
                          </a:lnTo>
                          <a:lnTo>
                            <a:pt x="163" y="769"/>
                          </a:lnTo>
                          <a:lnTo>
                            <a:pt x="207" y="805"/>
                          </a:lnTo>
                          <a:lnTo>
                            <a:pt x="391" y="587"/>
                          </a:lnTo>
                          <a:lnTo>
                            <a:pt x="595" y="808"/>
                          </a:lnTo>
                          <a:lnTo>
                            <a:pt x="641" y="765"/>
                          </a:lnTo>
                          <a:lnTo>
                            <a:pt x="680" y="716"/>
                          </a:lnTo>
                          <a:lnTo>
                            <a:pt x="714" y="654"/>
                          </a:lnTo>
                          <a:lnTo>
                            <a:pt x="759" y="587"/>
                          </a:lnTo>
                          <a:lnTo>
                            <a:pt x="827" y="449"/>
                          </a:lnTo>
                          <a:lnTo>
                            <a:pt x="873" y="242"/>
                          </a:lnTo>
                          <a:lnTo>
                            <a:pt x="896" y="138"/>
                          </a:lnTo>
                          <a:lnTo>
                            <a:pt x="747" y="47"/>
                          </a:lnTo>
                          <a:lnTo>
                            <a:pt x="586" y="0"/>
                          </a:lnTo>
                          <a:lnTo>
                            <a:pt x="332" y="13"/>
                          </a:lnTo>
                          <a:lnTo>
                            <a:pt x="149" y="59"/>
                          </a:lnTo>
                          <a:lnTo>
                            <a:pt x="23" y="161"/>
                          </a:lnTo>
                          <a:close/>
                        </a:path>
                      </a:pathLst>
                    </a:custGeom>
                    <a:solidFill>
                      <a:srgbClr val="FFFFFF"/>
                    </a:solidFill>
                    <a:ln w="7938">
                      <a:solidFill>
                        <a:srgbClr val="000000"/>
                      </a:solidFill>
                      <a:prstDash val="solid"/>
                      <a:round/>
                      <a:headEnd/>
                      <a:tailEnd/>
                    </a:ln>
                  </p:spPr>
                  <p:txBody>
                    <a:bodyPr/>
                    <a:lstStyle/>
                    <a:p>
                      <a:endParaRPr lang="zh-CN" altLang="en-US"/>
                    </a:p>
                  </p:txBody>
                </p:sp>
                <p:sp>
                  <p:nvSpPr>
                    <p:cNvPr id="35868" name="Freeform 28">
                      <a:extLst>
                        <a:ext uri="{FF2B5EF4-FFF2-40B4-BE49-F238E27FC236}">
                          <a16:creationId xmlns:a16="http://schemas.microsoft.com/office/drawing/2014/main" id="{840985D1-E088-4F95-8A1B-D4D453E620D7}"/>
                        </a:ext>
                      </a:extLst>
                    </p:cNvPr>
                    <p:cNvSpPr>
                      <a:spLocks/>
                    </p:cNvSpPr>
                    <p:nvPr/>
                  </p:nvSpPr>
                  <p:spPr bwMode="auto">
                    <a:xfrm>
                      <a:off x="2750" y="2360"/>
                      <a:ext cx="276" cy="713"/>
                    </a:xfrm>
                    <a:custGeom>
                      <a:avLst/>
                      <a:gdLst>
                        <a:gd name="T0" fmla="*/ 254 w 553"/>
                        <a:gd name="T1" fmla="*/ 0 h 1424"/>
                        <a:gd name="T2" fmla="*/ 121 w 553"/>
                        <a:gd name="T3" fmla="*/ 160 h 1424"/>
                        <a:gd name="T4" fmla="*/ 173 w 553"/>
                        <a:gd name="T5" fmla="*/ 287 h 1424"/>
                        <a:gd name="T6" fmla="*/ 82 w 553"/>
                        <a:gd name="T7" fmla="*/ 460 h 1424"/>
                        <a:gd name="T8" fmla="*/ 25 w 553"/>
                        <a:gd name="T9" fmla="*/ 700 h 1424"/>
                        <a:gd name="T10" fmla="*/ 0 w 553"/>
                        <a:gd name="T11" fmla="*/ 861 h 1424"/>
                        <a:gd name="T12" fmla="*/ 25 w 553"/>
                        <a:gd name="T13" fmla="*/ 1011 h 1424"/>
                        <a:gd name="T14" fmla="*/ 70 w 553"/>
                        <a:gd name="T15" fmla="*/ 1194 h 1424"/>
                        <a:gd name="T16" fmla="*/ 288 w 553"/>
                        <a:gd name="T17" fmla="*/ 1424 h 1424"/>
                        <a:gd name="T18" fmla="*/ 506 w 553"/>
                        <a:gd name="T19" fmla="*/ 1149 h 1424"/>
                        <a:gd name="T20" fmla="*/ 553 w 553"/>
                        <a:gd name="T21" fmla="*/ 895 h 1424"/>
                        <a:gd name="T22" fmla="*/ 518 w 553"/>
                        <a:gd name="T23" fmla="*/ 654 h 1424"/>
                        <a:gd name="T24" fmla="*/ 460 w 553"/>
                        <a:gd name="T25" fmla="*/ 448 h 1424"/>
                        <a:gd name="T26" fmla="*/ 368 w 553"/>
                        <a:gd name="T27" fmla="*/ 275 h 1424"/>
                        <a:gd name="T28" fmla="*/ 437 w 553"/>
                        <a:gd name="T29" fmla="*/ 195 h 1424"/>
                        <a:gd name="T30" fmla="*/ 254 w 553"/>
                        <a:gd name="T31" fmla="*/ 0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3" h="1424">
                          <a:moveTo>
                            <a:pt x="254" y="0"/>
                          </a:moveTo>
                          <a:lnTo>
                            <a:pt x="121" y="160"/>
                          </a:lnTo>
                          <a:lnTo>
                            <a:pt x="173" y="287"/>
                          </a:lnTo>
                          <a:lnTo>
                            <a:pt x="82" y="460"/>
                          </a:lnTo>
                          <a:lnTo>
                            <a:pt x="25" y="700"/>
                          </a:lnTo>
                          <a:lnTo>
                            <a:pt x="0" y="861"/>
                          </a:lnTo>
                          <a:lnTo>
                            <a:pt x="25" y="1011"/>
                          </a:lnTo>
                          <a:lnTo>
                            <a:pt x="70" y="1194"/>
                          </a:lnTo>
                          <a:lnTo>
                            <a:pt x="288" y="1424"/>
                          </a:lnTo>
                          <a:lnTo>
                            <a:pt x="506" y="1149"/>
                          </a:lnTo>
                          <a:lnTo>
                            <a:pt x="553" y="895"/>
                          </a:lnTo>
                          <a:lnTo>
                            <a:pt x="518" y="654"/>
                          </a:lnTo>
                          <a:lnTo>
                            <a:pt x="460" y="448"/>
                          </a:lnTo>
                          <a:lnTo>
                            <a:pt x="368" y="275"/>
                          </a:lnTo>
                          <a:lnTo>
                            <a:pt x="437" y="195"/>
                          </a:lnTo>
                          <a:lnTo>
                            <a:pt x="254" y="0"/>
                          </a:lnTo>
                          <a:close/>
                        </a:path>
                      </a:pathLst>
                    </a:custGeom>
                    <a:solidFill>
                      <a:srgbClr val="A000A0"/>
                    </a:solidFill>
                    <a:ln w="7938">
                      <a:solidFill>
                        <a:srgbClr val="000000"/>
                      </a:solidFill>
                      <a:prstDash val="solid"/>
                      <a:round/>
                      <a:headEnd/>
                      <a:tailEnd/>
                    </a:ln>
                  </p:spPr>
                  <p:txBody>
                    <a:bodyPr/>
                    <a:lstStyle/>
                    <a:p>
                      <a:endParaRPr lang="zh-CN" altLang="en-US"/>
                    </a:p>
                  </p:txBody>
                </p:sp>
              </p:grpSp>
            </p:grpSp>
            <p:sp>
              <p:nvSpPr>
                <p:cNvPr id="35869" name="Freeform 29">
                  <a:extLst>
                    <a:ext uri="{FF2B5EF4-FFF2-40B4-BE49-F238E27FC236}">
                      <a16:creationId xmlns:a16="http://schemas.microsoft.com/office/drawing/2014/main" id="{0A286487-4AC4-455A-A803-E9281468DD11}"/>
                    </a:ext>
                  </a:extLst>
                </p:cNvPr>
                <p:cNvSpPr>
                  <a:spLocks/>
                </p:cNvSpPr>
                <p:nvPr/>
              </p:nvSpPr>
              <p:spPr bwMode="auto">
                <a:xfrm>
                  <a:off x="2939" y="2008"/>
                  <a:ext cx="347" cy="436"/>
                </a:xfrm>
                <a:custGeom>
                  <a:avLst/>
                  <a:gdLst>
                    <a:gd name="T0" fmla="*/ 331 w 693"/>
                    <a:gd name="T1" fmla="*/ 38 h 873"/>
                    <a:gd name="T2" fmla="*/ 352 w 693"/>
                    <a:gd name="T3" fmla="*/ 11 h 873"/>
                    <a:gd name="T4" fmla="*/ 388 w 693"/>
                    <a:gd name="T5" fmla="*/ 0 h 873"/>
                    <a:gd name="T6" fmla="*/ 411 w 693"/>
                    <a:gd name="T7" fmla="*/ 3 h 873"/>
                    <a:gd name="T8" fmla="*/ 422 w 693"/>
                    <a:gd name="T9" fmla="*/ 18 h 873"/>
                    <a:gd name="T10" fmla="*/ 435 w 693"/>
                    <a:gd name="T11" fmla="*/ 51 h 873"/>
                    <a:gd name="T12" fmla="*/ 439 w 693"/>
                    <a:gd name="T13" fmla="*/ 114 h 873"/>
                    <a:gd name="T14" fmla="*/ 434 w 693"/>
                    <a:gd name="T15" fmla="*/ 174 h 873"/>
                    <a:gd name="T16" fmla="*/ 432 w 693"/>
                    <a:gd name="T17" fmla="*/ 212 h 873"/>
                    <a:gd name="T18" fmla="*/ 444 w 693"/>
                    <a:gd name="T19" fmla="*/ 300 h 873"/>
                    <a:gd name="T20" fmla="*/ 460 w 693"/>
                    <a:gd name="T21" fmla="*/ 366 h 873"/>
                    <a:gd name="T22" fmla="*/ 468 w 693"/>
                    <a:gd name="T23" fmla="*/ 389 h 873"/>
                    <a:gd name="T24" fmla="*/ 489 w 693"/>
                    <a:gd name="T25" fmla="*/ 429 h 873"/>
                    <a:gd name="T26" fmla="*/ 531 w 693"/>
                    <a:gd name="T27" fmla="*/ 561 h 873"/>
                    <a:gd name="T28" fmla="*/ 563 w 693"/>
                    <a:gd name="T29" fmla="*/ 597 h 873"/>
                    <a:gd name="T30" fmla="*/ 617 w 693"/>
                    <a:gd name="T31" fmla="*/ 653 h 873"/>
                    <a:gd name="T32" fmla="*/ 693 w 693"/>
                    <a:gd name="T33" fmla="*/ 727 h 873"/>
                    <a:gd name="T34" fmla="*/ 422 w 693"/>
                    <a:gd name="T35" fmla="*/ 873 h 873"/>
                    <a:gd name="T36" fmla="*/ 259 w 693"/>
                    <a:gd name="T37" fmla="*/ 689 h 873"/>
                    <a:gd name="T38" fmla="*/ 195 w 693"/>
                    <a:gd name="T39" fmla="*/ 717 h 873"/>
                    <a:gd name="T40" fmla="*/ 96 w 693"/>
                    <a:gd name="T41" fmla="*/ 736 h 873"/>
                    <a:gd name="T42" fmla="*/ 31 w 693"/>
                    <a:gd name="T43" fmla="*/ 727 h 873"/>
                    <a:gd name="T44" fmla="*/ 0 w 693"/>
                    <a:gd name="T45" fmla="*/ 699 h 873"/>
                    <a:gd name="T46" fmla="*/ 0 w 693"/>
                    <a:gd name="T47" fmla="*/ 671 h 873"/>
                    <a:gd name="T48" fmla="*/ 18 w 693"/>
                    <a:gd name="T49" fmla="*/ 632 h 873"/>
                    <a:gd name="T50" fmla="*/ 77 w 693"/>
                    <a:gd name="T51" fmla="*/ 612 h 873"/>
                    <a:gd name="T52" fmla="*/ 157 w 693"/>
                    <a:gd name="T53" fmla="*/ 595 h 873"/>
                    <a:gd name="T54" fmla="*/ 214 w 693"/>
                    <a:gd name="T55" fmla="*/ 574 h 873"/>
                    <a:gd name="T56" fmla="*/ 241 w 693"/>
                    <a:gd name="T57" fmla="*/ 547 h 873"/>
                    <a:gd name="T58" fmla="*/ 280 w 693"/>
                    <a:gd name="T59" fmla="*/ 508 h 873"/>
                    <a:gd name="T60" fmla="*/ 303 w 693"/>
                    <a:gd name="T61" fmla="*/ 485 h 873"/>
                    <a:gd name="T62" fmla="*/ 326 w 693"/>
                    <a:gd name="T63" fmla="*/ 450 h 873"/>
                    <a:gd name="T64" fmla="*/ 326 w 693"/>
                    <a:gd name="T65" fmla="*/ 378 h 873"/>
                    <a:gd name="T66" fmla="*/ 319 w 693"/>
                    <a:gd name="T67" fmla="*/ 302 h 873"/>
                    <a:gd name="T68" fmla="*/ 303 w 693"/>
                    <a:gd name="T69" fmla="*/ 219 h 873"/>
                    <a:gd name="T70" fmla="*/ 315 w 693"/>
                    <a:gd name="T71" fmla="*/ 101 h 873"/>
                    <a:gd name="T72" fmla="*/ 331 w 693"/>
                    <a:gd name="T73" fmla="*/ 38 h 8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93" h="873">
                      <a:moveTo>
                        <a:pt x="331" y="38"/>
                      </a:moveTo>
                      <a:lnTo>
                        <a:pt x="352" y="11"/>
                      </a:lnTo>
                      <a:lnTo>
                        <a:pt x="388" y="0"/>
                      </a:lnTo>
                      <a:lnTo>
                        <a:pt x="411" y="3"/>
                      </a:lnTo>
                      <a:lnTo>
                        <a:pt x="422" y="18"/>
                      </a:lnTo>
                      <a:lnTo>
                        <a:pt x="435" y="51"/>
                      </a:lnTo>
                      <a:lnTo>
                        <a:pt x="439" y="114"/>
                      </a:lnTo>
                      <a:lnTo>
                        <a:pt x="434" y="174"/>
                      </a:lnTo>
                      <a:lnTo>
                        <a:pt x="432" y="212"/>
                      </a:lnTo>
                      <a:lnTo>
                        <a:pt x="444" y="300"/>
                      </a:lnTo>
                      <a:lnTo>
                        <a:pt x="460" y="366"/>
                      </a:lnTo>
                      <a:lnTo>
                        <a:pt x="468" y="389"/>
                      </a:lnTo>
                      <a:lnTo>
                        <a:pt x="489" y="429"/>
                      </a:lnTo>
                      <a:lnTo>
                        <a:pt x="531" y="561"/>
                      </a:lnTo>
                      <a:lnTo>
                        <a:pt x="563" y="597"/>
                      </a:lnTo>
                      <a:lnTo>
                        <a:pt x="617" y="653"/>
                      </a:lnTo>
                      <a:lnTo>
                        <a:pt x="693" y="727"/>
                      </a:lnTo>
                      <a:lnTo>
                        <a:pt x="422" y="873"/>
                      </a:lnTo>
                      <a:lnTo>
                        <a:pt x="259" y="689"/>
                      </a:lnTo>
                      <a:lnTo>
                        <a:pt x="195" y="717"/>
                      </a:lnTo>
                      <a:lnTo>
                        <a:pt x="96" y="736"/>
                      </a:lnTo>
                      <a:lnTo>
                        <a:pt x="31" y="727"/>
                      </a:lnTo>
                      <a:lnTo>
                        <a:pt x="0" y="699"/>
                      </a:lnTo>
                      <a:lnTo>
                        <a:pt x="0" y="671"/>
                      </a:lnTo>
                      <a:lnTo>
                        <a:pt x="18" y="632"/>
                      </a:lnTo>
                      <a:lnTo>
                        <a:pt x="77" y="612"/>
                      </a:lnTo>
                      <a:lnTo>
                        <a:pt x="157" y="595"/>
                      </a:lnTo>
                      <a:lnTo>
                        <a:pt x="214" y="574"/>
                      </a:lnTo>
                      <a:lnTo>
                        <a:pt x="241" y="547"/>
                      </a:lnTo>
                      <a:lnTo>
                        <a:pt x="280" y="508"/>
                      </a:lnTo>
                      <a:lnTo>
                        <a:pt x="303" y="485"/>
                      </a:lnTo>
                      <a:lnTo>
                        <a:pt x="326" y="450"/>
                      </a:lnTo>
                      <a:lnTo>
                        <a:pt x="326" y="378"/>
                      </a:lnTo>
                      <a:lnTo>
                        <a:pt x="319" y="302"/>
                      </a:lnTo>
                      <a:lnTo>
                        <a:pt x="303" y="219"/>
                      </a:lnTo>
                      <a:lnTo>
                        <a:pt x="315" y="101"/>
                      </a:lnTo>
                      <a:lnTo>
                        <a:pt x="331" y="38"/>
                      </a:lnTo>
                      <a:close/>
                    </a:path>
                  </a:pathLst>
                </a:custGeom>
                <a:solidFill>
                  <a:srgbClr val="FFE0C0"/>
                </a:solidFill>
                <a:ln w="7938">
                  <a:solidFill>
                    <a:srgbClr val="000000"/>
                  </a:solidFill>
                  <a:prstDash val="solid"/>
                  <a:round/>
                  <a:headEnd/>
                  <a:tailEnd/>
                </a:ln>
              </p:spPr>
              <p:txBody>
                <a:bodyPr/>
                <a:lstStyle/>
                <a:p>
                  <a:endParaRPr lang="zh-CN" altLang="en-US"/>
                </a:p>
              </p:txBody>
            </p:sp>
            <p:sp>
              <p:nvSpPr>
                <p:cNvPr id="35870" name="Freeform 30">
                  <a:extLst>
                    <a:ext uri="{FF2B5EF4-FFF2-40B4-BE49-F238E27FC236}">
                      <a16:creationId xmlns:a16="http://schemas.microsoft.com/office/drawing/2014/main" id="{90072BC0-43D2-4DE6-95A3-BAE5065906E6}"/>
                    </a:ext>
                  </a:extLst>
                </p:cNvPr>
                <p:cNvSpPr>
                  <a:spLocks/>
                </p:cNvSpPr>
                <p:nvPr/>
              </p:nvSpPr>
              <p:spPr bwMode="auto">
                <a:xfrm>
                  <a:off x="2681" y="1740"/>
                  <a:ext cx="438" cy="621"/>
                </a:xfrm>
                <a:custGeom>
                  <a:avLst/>
                  <a:gdLst>
                    <a:gd name="T0" fmla="*/ 254 w 874"/>
                    <a:gd name="T1" fmla="*/ 21 h 1244"/>
                    <a:gd name="T2" fmla="*/ 192 w 874"/>
                    <a:gd name="T3" fmla="*/ 64 h 1244"/>
                    <a:gd name="T4" fmla="*/ 149 w 874"/>
                    <a:gd name="T5" fmla="*/ 101 h 1244"/>
                    <a:gd name="T6" fmla="*/ 118 w 874"/>
                    <a:gd name="T7" fmla="*/ 150 h 1244"/>
                    <a:gd name="T8" fmla="*/ 80 w 874"/>
                    <a:gd name="T9" fmla="*/ 203 h 1244"/>
                    <a:gd name="T10" fmla="*/ 63 w 874"/>
                    <a:gd name="T11" fmla="*/ 277 h 1244"/>
                    <a:gd name="T12" fmla="*/ 46 w 874"/>
                    <a:gd name="T13" fmla="*/ 335 h 1244"/>
                    <a:gd name="T14" fmla="*/ 46 w 874"/>
                    <a:gd name="T15" fmla="*/ 405 h 1244"/>
                    <a:gd name="T16" fmla="*/ 63 w 874"/>
                    <a:gd name="T17" fmla="*/ 501 h 1244"/>
                    <a:gd name="T18" fmla="*/ 67 w 874"/>
                    <a:gd name="T19" fmla="*/ 590 h 1244"/>
                    <a:gd name="T20" fmla="*/ 43 w 874"/>
                    <a:gd name="T21" fmla="*/ 683 h 1244"/>
                    <a:gd name="T22" fmla="*/ 17 w 874"/>
                    <a:gd name="T23" fmla="*/ 772 h 1244"/>
                    <a:gd name="T24" fmla="*/ 0 w 874"/>
                    <a:gd name="T25" fmla="*/ 853 h 1244"/>
                    <a:gd name="T26" fmla="*/ 0 w 874"/>
                    <a:gd name="T27" fmla="*/ 922 h 1244"/>
                    <a:gd name="T28" fmla="*/ 5 w 874"/>
                    <a:gd name="T29" fmla="*/ 985 h 1244"/>
                    <a:gd name="T30" fmla="*/ 17 w 874"/>
                    <a:gd name="T31" fmla="*/ 1036 h 1244"/>
                    <a:gd name="T32" fmla="*/ 41 w 874"/>
                    <a:gd name="T33" fmla="*/ 1089 h 1244"/>
                    <a:gd name="T34" fmla="*/ 74 w 874"/>
                    <a:gd name="T35" fmla="*/ 1128 h 1244"/>
                    <a:gd name="T36" fmla="*/ 115 w 874"/>
                    <a:gd name="T37" fmla="*/ 1157 h 1244"/>
                    <a:gd name="T38" fmla="*/ 196 w 874"/>
                    <a:gd name="T39" fmla="*/ 1207 h 1244"/>
                    <a:gd name="T40" fmla="*/ 286 w 874"/>
                    <a:gd name="T41" fmla="*/ 1230 h 1244"/>
                    <a:gd name="T42" fmla="*/ 378 w 874"/>
                    <a:gd name="T43" fmla="*/ 1244 h 1244"/>
                    <a:gd name="T44" fmla="*/ 465 w 874"/>
                    <a:gd name="T45" fmla="*/ 1232 h 1244"/>
                    <a:gd name="T46" fmla="*/ 540 w 874"/>
                    <a:gd name="T47" fmla="*/ 1218 h 1244"/>
                    <a:gd name="T48" fmla="*/ 621 w 874"/>
                    <a:gd name="T49" fmla="*/ 1183 h 1244"/>
                    <a:gd name="T50" fmla="*/ 690 w 874"/>
                    <a:gd name="T51" fmla="*/ 1149 h 1244"/>
                    <a:gd name="T52" fmla="*/ 747 w 874"/>
                    <a:gd name="T53" fmla="*/ 1103 h 1244"/>
                    <a:gd name="T54" fmla="*/ 816 w 874"/>
                    <a:gd name="T55" fmla="*/ 1022 h 1244"/>
                    <a:gd name="T56" fmla="*/ 845 w 874"/>
                    <a:gd name="T57" fmla="*/ 979 h 1244"/>
                    <a:gd name="T58" fmla="*/ 862 w 874"/>
                    <a:gd name="T59" fmla="*/ 922 h 1244"/>
                    <a:gd name="T60" fmla="*/ 873 w 874"/>
                    <a:gd name="T61" fmla="*/ 864 h 1244"/>
                    <a:gd name="T62" fmla="*/ 874 w 874"/>
                    <a:gd name="T63" fmla="*/ 811 h 1244"/>
                    <a:gd name="T64" fmla="*/ 864 w 874"/>
                    <a:gd name="T65" fmla="*/ 745 h 1244"/>
                    <a:gd name="T66" fmla="*/ 853 w 874"/>
                    <a:gd name="T67" fmla="*/ 683 h 1244"/>
                    <a:gd name="T68" fmla="*/ 837 w 874"/>
                    <a:gd name="T69" fmla="*/ 563 h 1244"/>
                    <a:gd name="T70" fmla="*/ 845 w 874"/>
                    <a:gd name="T71" fmla="*/ 503 h 1244"/>
                    <a:gd name="T72" fmla="*/ 864 w 874"/>
                    <a:gd name="T73" fmla="*/ 437 h 1244"/>
                    <a:gd name="T74" fmla="*/ 873 w 874"/>
                    <a:gd name="T75" fmla="*/ 319 h 1244"/>
                    <a:gd name="T76" fmla="*/ 864 w 874"/>
                    <a:gd name="T77" fmla="*/ 213 h 1244"/>
                    <a:gd name="T78" fmla="*/ 845 w 874"/>
                    <a:gd name="T79" fmla="*/ 141 h 1244"/>
                    <a:gd name="T80" fmla="*/ 805 w 874"/>
                    <a:gd name="T81" fmla="*/ 92 h 1244"/>
                    <a:gd name="T82" fmla="*/ 704 w 874"/>
                    <a:gd name="T83" fmla="*/ 42 h 1244"/>
                    <a:gd name="T84" fmla="*/ 586 w 874"/>
                    <a:gd name="T85" fmla="*/ 11 h 1244"/>
                    <a:gd name="T86" fmla="*/ 393 w 874"/>
                    <a:gd name="T87" fmla="*/ 0 h 1244"/>
                    <a:gd name="T88" fmla="*/ 254 w 874"/>
                    <a:gd name="T89" fmla="*/ 21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4" h="1244">
                      <a:moveTo>
                        <a:pt x="254" y="21"/>
                      </a:moveTo>
                      <a:lnTo>
                        <a:pt x="192" y="64"/>
                      </a:lnTo>
                      <a:lnTo>
                        <a:pt x="149" y="101"/>
                      </a:lnTo>
                      <a:lnTo>
                        <a:pt x="118" y="150"/>
                      </a:lnTo>
                      <a:lnTo>
                        <a:pt x="80" y="203"/>
                      </a:lnTo>
                      <a:lnTo>
                        <a:pt x="63" y="277"/>
                      </a:lnTo>
                      <a:lnTo>
                        <a:pt x="46" y="335"/>
                      </a:lnTo>
                      <a:lnTo>
                        <a:pt x="46" y="405"/>
                      </a:lnTo>
                      <a:lnTo>
                        <a:pt x="63" y="501"/>
                      </a:lnTo>
                      <a:lnTo>
                        <a:pt x="67" y="590"/>
                      </a:lnTo>
                      <a:lnTo>
                        <a:pt x="43" y="683"/>
                      </a:lnTo>
                      <a:lnTo>
                        <a:pt x="17" y="772"/>
                      </a:lnTo>
                      <a:lnTo>
                        <a:pt x="0" y="853"/>
                      </a:lnTo>
                      <a:lnTo>
                        <a:pt x="0" y="922"/>
                      </a:lnTo>
                      <a:lnTo>
                        <a:pt x="5" y="985"/>
                      </a:lnTo>
                      <a:lnTo>
                        <a:pt x="17" y="1036"/>
                      </a:lnTo>
                      <a:lnTo>
                        <a:pt x="41" y="1089"/>
                      </a:lnTo>
                      <a:lnTo>
                        <a:pt x="74" y="1128"/>
                      </a:lnTo>
                      <a:lnTo>
                        <a:pt x="115" y="1157"/>
                      </a:lnTo>
                      <a:lnTo>
                        <a:pt x="196" y="1207"/>
                      </a:lnTo>
                      <a:lnTo>
                        <a:pt x="286" y="1230"/>
                      </a:lnTo>
                      <a:lnTo>
                        <a:pt x="378" y="1244"/>
                      </a:lnTo>
                      <a:lnTo>
                        <a:pt x="465" y="1232"/>
                      </a:lnTo>
                      <a:lnTo>
                        <a:pt x="540" y="1218"/>
                      </a:lnTo>
                      <a:lnTo>
                        <a:pt x="621" y="1183"/>
                      </a:lnTo>
                      <a:lnTo>
                        <a:pt x="690" y="1149"/>
                      </a:lnTo>
                      <a:lnTo>
                        <a:pt x="747" y="1103"/>
                      </a:lnTo>
                      <a:lnTo>
                        <a:pt x="816" y="1022"/>
                      </a:lnTo>
                      <a:lnTo>
                        <a:pt x="845" y="979"/>
                      </a:lnTo>
                      <a:lnTo>
                        <a:pt x="862" y="922"/>
                      </a:lnTo>
                      <a:lnTo>
                        <a:pt x="873" y="864"/>
                      </a:lnTo>
                      <a:lnTo>
                        <a:pt x="874" y="811"/>
                      </a:lnTo>
                      <a:lnTo>
                        <a:pt x="864" y="745"/>
                      </a:lnTo>
                      <a:lnTo>
                        <a:pt x="853" y="683"/>
                      </a:lnTo>
                      <a:lnTo>
                        <a:pt x="837" y="563"/>
                      </a:lnTo>
                      <a:lnTo>
                        <a:pt x="845" y="503"/>
                      </a:lnTo>
                      <a:lnTo>
                        <a:pt x="864" y="437"/>
                      </a:lnTo>
                      <a:lnTo>
                        <a:pt x="873" y="319"/>
                      </a:lnTo>
                      <a:lnTo>
                        <a:pt x="864" y="213"/>
                      </a:lnTo>
                      <a:lnTo>
                        <a:pt x="845" y="141"/>
                      </a:lnTo>
                      <a:lnTo>
                        <a:pt x="805" y="92"/>
                      </a:lnTo>
                      <a:lnTo>
                        <a:pt x="704" y="42"/>
                      </a:lnTo>
                      <a:lnTo>
                        <a:pt x="586" y="11"/>
                      </a:lnTo>
                      <a:lnTo>
                        <a:pt x="393" y="0"/>
                      </a:lnTo>
                      <a:lnTo>
                        <a:pt x="254" y="21"/>
                      </a:lnTo>
                      <a:close/>
                    </a:path>
                  </a:pathLst>
                </a:custGeom>
                <a:solidFill>
                  <a:srgbClr val="FFE0C0"/>
                </a:solidFill>
                <a:ln w="7938">
                  <a:solidFill>
                    <a:srgbClr val="000000"/>
                  </a:solidFill>
                  <a:prstDash val="solid"/>
                  <a:round/>
                  <a:headEnd/>
                  <a:tailEnd/>
                </a:ln>
              </p:spPr>
              <p:txBody>
                <a:bodyPr/>
                <a:lstStyle/>
                <a:p>
                  <a:endParaRPr lang="zh-CN" altLang="en-US"/>
                </a:p>
              </p:txBody>
            </p:sp>
            <p:grpSp>
              <p:nvGrpSpPr>
                <p:cNvPr id="35871" name="Group 31">
                  <a:extLst>
                    <a:ext uri="{FF2B5EF4-FFF2-40B4-BE49-F238E27FC236}">
                      <a16:creationId xmlns:a16="http://schemas.microsoft.com/office/drawing/2014/main" id="{310AB256-7875-46EC-96B2-32AC0A713342}"/>
                    </a:ext>
                  </a:extLst>
                </p:cNvPr>
                <p:cNvGrpSpPr>
                  <a:grpSpLocks/>
                </p:cNvGrpSpPr>
                <p:nvPr/>
              </p:nvGrpSpPr>
              <p:grpSpPr bwMode="auto">
                <a:xfrm>
                  <a:off x="2802" y="2002"/>
                  <a:ext cx="216" cy="233"/>
                  <a:chOff x="2802" y="2002"/>
                  <a:chExt cx="216" cy="233"/>
                </a:xfrm>
              </p:grpSpPr>
              <p:sp>
                <p:nvSpPr>
                  <p:cNvPr id="35872" name="Freeform 32">
                    <a:extLst>
                      <a:ext uri="{FF2B5EF4-FFF2-40B4-BE49-F238E27FC236}">
                        <a16:creationId xmlns:a16="http://schemas.microsoft.com/office/drawing/2014/main" id="{E48DA58E-30E0-443F-8FB0-EC337C853CD5}"/>
                      </a:ext>
                    </a:extLst>
                  </p:cNvPr>
                  <p:cNvSpPr>
                    <a:spLocks/>
                  </p:cNvSpPr>
                  <p:nvPr/>
                </p:nvSpPr>
                <p:spPr bwMode="auto">
                  <a:xfrm>
                    <a:off x="2802" y="2206"/>
                    <a:ext cx="216" cy="9"/>
                  </a:xfrm>
                  <a:custGeom>
                    <a:avLst/>
                    <a:gdLst>
                      <a:gd name="T0" fmla="*/ 0 w 431"/>
                      <a:gd name="T1" fmla="*/ 4 h 19"/>
                      <a:gd name="T2" fmla="*/ 39 w 431"/>
                      <a:gd name="T3" fmla="*/ 0 h 19"/>
                      <a:gd name="T4" fmla="*/ 98 w 431"/>
                      <a:gd name="T5" fmla="*/ 0 h 19"/>
                      <a:gd name="T6" fmla="*/ 151 w 431"/>
                      <a:gd name="T7" fmla="*/ 0 h 19"/>
                      <a:gd name="T8" fmla="*/ 217 w 431"/>
                      <a:gd name="T9" fmla="*/ 11 h 19"/>
                      <a:gd name="T10" fmla="*/ 292 w 431"/>
                      <a:gd name="T11" fmla="*/ 11 h 19"/>
                      <a:gd name="T12" fmla="*/ 365 w 431"/>
                      <a:gd name="T13" fmla="*/ 11 h 19"/>
                      <a:gd name="T14" fmla="*/ 431 w 431"/>
                      <a:gd name="T15" fmla="*/ 19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1" h="19">
                        <a:moveTo>
                          <a:pt x="0" y="4"/>
                        </a:moveTo>
                        <a:lnTo>
                          <a:pt x="39" y="0"/>
                        </a:lnTo>
                        <a:lnTo>
                          <a:pt x="98" y="0"/>
                        </a:lnTo>
                        <a:lnTo>
                          <a:pt x="151" y="0"/>
                        </a:lnTo>
                        <a:lnTo>
                          <a:pt x="217" y="11"/>
                        </a:lnTo>
                        <a:lnTo>
                          <a:pt x="292" y="11"/>
                        </a:lnTo>
                        <a:lnTo>
                          <a:pt x="365" y="11"/>
                        </a:lnTo>
                        <a:lnTo>
                          <a:pt x="431" y="1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3" name="Freeform 33">
                    <a:extLst>
                      <a:ext uri="{FF2B5EF4-FFF2-40B4-BE49-F238E27FC236}">
                        <a16:creationId xmlns:a16="http://schemas.microsoft.com/office/drawing/2014/main" id="{A7BA319D-7EA8-4864-A1AF-6A1F774223AB}"/>
                      </a:ext>
                    </a:extLst>
                  </p:cNvPr>
                  <p:cNvSpPr>
                    <a:spLocks/>
                  </p:cNvSpPr>
                  <p:nvPr/>
                </p:nvSpPr>
                <p:spPr bwMode="auto">
                  <a:xfrm>
                    <a:off x="2877" y="2232"/>
                    <a:ext cx="46" cy="3"/>
                  </a:xfrm>
                  <a:custGeom>
                    <a:avLst/>
                    <a:gdLst>
                      <a:gd name="T0" fmla="*/ 0 w 92"/>
                      <a:gd name="T1" fmla="*/ 5 h 5"/>
                      <a:gd name="T2" fmla="*/ 67 w 92"/>
                      <a:gd name="T3" fmla="*/ 0 h 5"/>
                      <a:gd name="T4" fmla="*/ 92 w 92"/>
                      <a:gd name="T5" fmla="*/ 5 h 5"/>
                    </a:gdLst>
                    <a:ahLst/>
                    <a:cxnLst>
                      <a:cxn ang="0">
                        <a:pos x="T0" y="T1"/>
                      </a:cxn>
                      <a:cxn ang="0">
                        <a:pos x="T2" y="T3"/>
                      </a:cxn>
                      <a:cxn ang="0">
                        <a:pos x="T4" y="T5"/>
                      </a:cxn>
                    </a:cxnLst>
                    <a:rect l="0" t="0" r="r" b="b"/>
                    <a:pathLst>
                      <a:path w="92" h="5">
                        <a:moveTo>
                          <a:pt x="0" y="5"/>
                        </a:moveTo>
                        <a:lnTo>
                          <a:pt x="67" y="0"/>
                        </a:lnTo>
                        <a:lnTo>
                          <a:pt x="92" y="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4" name="Freeform 34">
                    <a:extLst>
                      <a:ext uri="{FF2B5EF4-FFF2-40B4-BE49-F238E27FC236}">
                        <a16:creationId xmlns:a16="http://schemas.microsoft.com/office/drawing/2014/main" id="{5E2149B4-59EC-4CF2-8A13-813616062F65}"/>
                      </a:ext>
                    </a:extLst>
                  </p:cNvPr>
                  <p:cNvSpPr>
                    <a:spLocks/>
                  </p:cNvSpPr>
                  <p:nvPr/>
                </p:nvSpPr>
                <p:spPr bwMode="auto">
                  <a:xfrm>
                    <a:off x="2859" y="2002"/>
                    <a:ext cx="101" cy="155"/>
                  </a:xfrm>
                  <a:custGeom>
                    <a:avLst/>
                    <a:gdLst>
                      <a:gd name="T0" fmla="*/ 138 w 202"/>
                      <a:gd name="T1" fmla="*/ 0 h 309"/>
                      <a:gd name="T2" fmla="*/ 132 w 202"/>
                      <a:gd name="T3" fmla="*/ 53 h 309"/>
                      <a:gd name="T4" fmla="*/ 143 w 202"/>
                      <a:gd name="T5" fmla="*/ 104 h 309"/>
                      <a:gd name="T6" fmla="*/ 155 w 202"/>
                      <a:gd name="T7" fmla="*/ 139 h 309"/>
                      <a:gd name="T8" fmla="*/ 177 w 202"/>
                      <a:gd name="T9" fmla="*/ 190 h 309"/>
                      <a:gd name="T10" fmla="*/ 189 w 202"/>
                      <a:gd name="T11" fmla="*/ 223 h 309"/>
                      <a:gd name="T12" fmla="*/ 202 w 202"/>
                      <a:gd name="T13" fmla="*/ 264 h 309"/>
                      <a:gd name="T14" fmla="*/ 189 w 202"/>
                      <a:gd name="T15" fmla="*/ 293 h 309"/>
                      <a:gd name="T16" fmla="*/ 173 w 202"/>
                      <a:gd name="T17" fmla="*/ 303 h 309"/>
                      <a:gd name="T18" fmla="*/ 143 w 202"/>
                      <a:gd name="T19" fmla="*/ 309 h 309"/>
                      <a:gd name="T20" fmla="*/ 109 w 202"/>
                      <a:gd name="T21" fmla="*/ 293 h 309"/>
                      <a:gd name="T22" fmla="*/ 63 w 202"/>
                      <a:gd name="T23" fmla="*/ 287 h 309"/>
                      <a:gd name="T24" fmla="*/ 0 w 202"/>
                      <a:gd name="T25" fmla="*/ 297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 h="309">
                        <a:moveTo>
                          <a:pt x="138" y="0"/>
                        </a:moveTo>
                        <a:lnTo>
                          <a:pt x="132" y="53"/>
                        </a:lnTo>
                        <a:lnTo>
                          <a:pt x="143" y="104"/>
                        </a:lnTo>
                        <a:lnTo>
                          <a:pt x="155" y="139"/>
                        </a:lnTo>
                        <a:lnTo>
                          <a:pt x="177" y="190"/>
                        </a:lnTo>
                        <a:lnTo>
                          <a:pt x="189" y="223"/>
                        </a:lnTo>
                        <a:lnTo>
                          <a:pt x="202" y="264"/>
                        </a:lnTo>
                        <a:lnTo>
                          <a:pt x="189" y="293"/>
                        </a:lnTo>
                        <a:lnTo>
                          <a:pt x="173" y="303"/>
                        </a:lnTo>
                        <a:lnTo>
                          <a:pt x="143" y="309"/>
                        </a:lnTo>
                        <a:lnTo>
                          <a:pt x="109" y="293"/>
                        </a:lnTo>
                        <a:lnTo>
                          <a:pt x="63" y="287"/>
                        </a:lnTo>
                        <a:lnTo>
                          <a:pt x="0" y="2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875" name="Group 35">
                  <a:extLst>
                    <a:ext uri="{FF2B5EF4-FFF2-40B4-BE49-F238E27FC236}">
                      <a16:creationId xmlns:a16="http://schemas.microsoft.com/office/drawing/2014/main" id="{FE9A8CEC-E554-439A-9160-76B549CC4A98}"/>
                    </a:ext>
                  </a:extLst>
                </p:cNvPr>
                <p:cNvGrpSpPr>
                  <a:grpSpLocks/>
                </p:cNvGrpSpPr>
                <p:nvPr/>
              </p:nvGrpSpPr>
              <p:grpSpPr bwMode="auto">
                <a:xfrm>
                  <a:off x="2780" y="1904"/>
                  <a:ext cx="287" cy="26"/>
                  <a:chOff x="2780" y="1904"/>
                  <a:chExt cx="287" cy="26"/>
                </a:xfrm>
              </p:grpSpPr>
              <p:sp>
                <p:nvSpPr>
                  <p:cNvPr id="35876" name="Freeform 36">
                    <a:extLst>
                      <a:ext uri="{FF2B5EF4-FFF2-40B4-BE49-F238E27FC236}">
                        <a16:creationId xmlns:a16="http://schemas.microsoft.com/office/drawing/2014/main" id="{EE556C02-321B-43B2-BC1B-745ED61845B7}"/>
                      </a:ext>
                    </a:extLst>
                  </p:cNvPr>
                  <p:cNvSpPr>
                    <a:spLocks/>
                  </p:cNvSpPr>
                  <p:nvPr/>
                </p:nvSpPr>
                <p:spPr bwMode="auto">
                  <a:xfrm>
                    <a:off x="2780" y="1904"/>
                    <a:ext cx="116" cy="24"/>
                  </a:xfrm>
                  <a:custGeom>
                    <a:avLst/>
                    <a:gdLst>
                      <a:gd name="T0" fmla="*/ 0 w 232"/>
                      <a:gd name="T1" fmla="*/ 49 h 49"/>
                      <a:gd name="T2" fmla="*/ 33 w 232"/>
                      <a:gd name="T3" fmla="*/ 28 h 49"/>
                      <a:gd name="T4" fmla="*/ 64 w 232"/>
                      <a:gd name="T5" fmla="*/ 14 h 49"/>
                      <a:gd name="T6" fmla="*/ 98 w 232"/>
                      <a:gd name="T7" fmla="*/ 6 h 49"/>
                      <a:gd name="T8" fmla="*/ 126 w 232"/>
                      <a:gd name="T9" fmla="*/ 3 h 49"/>
                      <a:gd name="T10" fmla="*/ 148 w 232"/>
                      <a:gd name="T11" fmla="*/ 0 h 49"/>
                      <a:gd name="T12" fmla="*/ 187 w 232"/>
                      <a:gd name="T13" fmla="*/ 11 h 49"/>
                      <a:gd name="T14" fmla="*/ 232 w 232"/>
                      <a:gd name="T15" fmla="*/ 25 h 49"/>
                      <a:gd name="T16" fmla="*/ 230 w 232"/>
                      <a:gd name="T17" fmla="*/ 38 h 49"/>
                      <a:gd name="T18" fmla="*/ 211 w 232"/>
                      <a:gd name="T19" fmla="*/ 41 h 49"/>
                      <a:gd name="T20" fmla="*/ 187 w 232"/>
                      <a:gd name="T21" fmla="*/ 33 h 49"/>
                      <a:gd name="T22" fmla="*/ 146 w 232"/>
                      <a:gd name="T23" fmla="*/ 29 h 49"/>
                      <a:gd name="T24" fmla="*/ 120 w 232"/>
                      <a:gd name="T25" fmla="*/ 28 h 49"/>
                      <a:gd name="T26" fmla="*/ 96 w 232"/>
                      <a:gd name="T27" fmla="*/ 33 h 49"/>
                      <a:gd name="T28" fmla="*/ 64 w 232"/>
                      <a:gd name="T29" fmla="*/ 41 h 49"/>
                      <a:gd name="T30" fmla="*/ 36 w 232"/>
                      <a:gd name="T31" fmla="*/ 46 h 49"/>
                      <a:gd name="T32" fmla="*/ 0 w 232"/>
                      <a:gd name="T33"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2" h="49">
                        <a:moveTo>
                          <a:pt x="0" y="49"/>
                        </a:moveTo>
                        <a:lnTo>
                          <a:pt x="33" y="28"/>
                        </a:lnTo>
                        <a:lnTo>
                          <a:pt x="64" y="14"/>
                        </a:lnTo>
                        <a:lnTo>
                          <a:pt x="98" y="6"/>
                        </a:lnTo>
                        <a:lnTo>
                          <a:pt x="126" y="3"/>
                        </a:lnTo>
                        <a:lnTo>
                          <a:pt x="148" y="0"/>
                        </a:lnTo>
                        <a:lnTo>
                          <a:pt x="187" y="11"/>
                        </a:lnTo>
                        <a:lnTo>
                          <a:pt x="232" y="25"/>
                        </a:lnTo>
                        <a:lnTo>
                          <a:pt x="230" y="38"/>
                        </a:lnTo>
                        <a:lnTo>
                          <a:pt x="211" y="41"/>
                        </a:lnTo>
                        <a:lnTo>
                          <a:pt x="187" y="33"/>
                        </a:lnTo>
                        <a:lnTo>
                          <a:pt x="146" y="29"/>
                        </a:lnTo>
                        <a:lnTo>
                          <a:pt x="120" y="28"/>
                        </a:lnTo>
                        <a:lnTo>
                          <a:pt x="96" y="33"/>
                        </a:lnTo>
                        <a:lnTo>
                          <a:pt x="64" y="41"/>
                        </a:lnTo>
                        <a:lnTo>
                          <a:pt x="36" y="46"/>
                        </a:lnTo>
                        <a:lnTo>
                          <a:pt x="0" y="49"/>
                        </a:lnTo>
                        <a:close/>
                      </a:path>
                    </a:pathLst>
                  </a:custGeom>
                  <a:solidFill>
                    <a:srgbClr val="804000"/>
                  </a:solidFill>
                  <a:ln w="7938">
                    <a:solidFill>
                      <a:srgbClr val="000000"/>
                    </a:solidFill>
                    <a:prstDash val="solid"/>
                    <a:round/>
                    <a:headEnd/>
                    <a:tailEnd/>
                  </a:ln>
                </p:spPr>
                <p:txBody>
                  <a:bodyPr/>
                  <a:lstStyle/>
                  <a:p>
                    <a:endParaRPr lang="zh-CN" altLang="en-US"/>
                  </a:p>
                </p:txBody>
              </p:sp>
              <p:sp>
                <p:nvSpPr>
                  <p:cNvPr id="35877" name="Freeform 37">
                    <a:extLst>
                      <a:ext uri="{FF2B5EF4-FFF2-40B4-BE49-F238E27FC236}">
                        <a16:creationId xmlns:a16="http://schemas.microsoft.com/office/drawing/2014/main" id="{11693941-46C8-4989-8275-382FABE77277}"/>
                      </a:ext>
                    </a:extLst>
                  </p:cNvPr>
                  <p:cNvSpPr>
                    <a:spLocks/>
                  </p:cNvSpPr>
                  <p:nvPr/>
                </p:nvSpPr>
                <p:spPr bwMode="auto">
                  <a:xfrm>
                    <a:off x="2954" y="1906"/>
                    <a:ext cx="113" cy="24"/>
                  </a:xfrm>
                  <a:custGeom>
                    <a:avLst/>
                    <a:gdLst>
                      <a:gd name="T0" fmla="*/ 226 w 226"/>
                      <a:gd name="T1" fmla="*/ 48 h 48"/>
                      <a:gd name="T2" fmla="*/ 194 w 226"/>
                      <a:gd name="T3" fmla="*/ 26 h 48"/>
                      <a:gd name="T4" fmla="*/ 162 w 226"/>
                      <a:gd name="T5" fmla="*/ 13 h 48"/>
                      <a:gd name="T6" fmla="*/ 131 w 226"/>
                      <a:gd name="T7" fmla="*/ 6 h 48"/>
                      <a:gd name="T8" fmla="*/ 104 w 226"/>
                      <a:gd name="T9" fmla="*/ 2 h 48"/>
                      <a:gd name="T10" fmla="*/ 83 w 226"/>
                      <a:gd name="T11" fmla="*/ 0 h 48"/>
                      <a:gd name="T12" fmla="*/ 45 w 226"/>
                      <a:gd name="T13" fmla="*/ 10 h 48"/>
                      <a:gd name="T14" fmla="*/ 0 w 226"/>
                      <a:gd name="T15" fmla="*/ 23 h 48"/>
                      <a:gd name="T16" fmla="*/ 3 w 226"/>
                      <a:gd name="T17" fmla="*/ 37 h 48"/>
                      <a:gd name="T18" fmla="*/ 21 w 226"/>
                      <a:gd name="T19" fmla="*/ 40 h 48"/>
                      <a:gd name="T20" fmla="*/ 45 w 226"/>
                      <a:gd name="T21" fmla="*/ 32 h 48"/>
                      <a:gd name="T22" fmla="*/ 85 w 226"/>
                      <a:gd name="T23" fmla="*/ 29 h 48"/>
                      <a:gd name="T24" fmla="*/ 110 w 226"/>
                      <a:gd name="T25" fmla="*/ 26 h 48"/>
                      <a:gd name="T26" fmla="*/ 133 w 226"/>
                      <a:gd name="T27" fmla="*/ 32 h 48"/>
                      <a:gd name="T28" fmla="*/ 162 w 226"/>
                      <a:gd name="T29" fmla="*/ 40 h 48"/>
                      <a:gd name="T30" fmla="*/ 191 w 226"/>
                      <a:gd name="T31" fmla="*/ 46 h 48"/>
                      <a:gd name="T32" fmla="*/ 226 w 226"/>
                      <a:gd name="T3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 h="48">
                        <a:moveTo>
                          <a:pt x="226" y="48"/>
                        </a:moveTo>
                        <a:lnTo>
                          <a:pt x="194" y="26"/>
                        </a:lnTo>
                        <a:lnTo>
                          <a:pt x="162" y="13"/>
                        </a:lnTo>
                        <a:lnTo>
                          <a:pt x="131" y="6"/>
                        </a:lnTo>
                        <a:lnTo>
                          <a:pt x="104" y="2"/>
                        </a:lnTo>
                        <a:lnTo>
                          <a:pt x="83" y="0"/>
                        </a:lnTo>
                        <a:lnTo>
                          <a:pt x="45" y="10"/>
                        </a:lnTo>
                        <a:lnTo>
                          <a:pt x="0" y="23"/>
                        </a:lnTo>
                        <a:lnTo>
                          <a:pt x="3" y="37"/>
                        </a:lnTo>
                        <a:lnTo>
                          <a:pt x="21" y="40"/>
                        </a:lnTo>
                        <a:lnTo>
                          <a:pt x="45" y="32"/>
                        </a:lnTo>
                        <a:lnTo>
                          <a:pt x="85" y="29"/>
                        </a:lnTo>
                        <a:lnTo>
                          <a:pt x="110" y="26"/>
                        </a:lnTo>
                        <a:lnTo>
                          <a:pt x="133" y="32"/>
                        </a:lnTo>
                        <a:lnTo>
                          <a:pt x="162" y="40"/>
                        </a:lnTo>
                        <a:lnTo>
                          <a:pt x="191" y="46"/>
                        </a:lnTo>
                        <a:lnTo>
                          <a:pt x="226" y="48"/>
                        </a:lnTo>
                        <a:close/>
                      </a:path>
                    </a:pathLst>
                  </a:custGeom>
                  <a:solidFill>
                    <a:srgbClr val="804000"/>
                  </a:solidFill>
                  <a:ln w="7938">
                    <a:solidFill>
                      <a:srgbClr val="000000"/>
                    </a:solidFill>
                    <a:prstDash val="solid"/>
                    <a:round/>
                    <a:headEnd/>
                    <a:tailEnd/>
                  </a:ln>
                </p:spPr>
                <p:txBody>
                  <a:bodyPr/>
                  <a:lstStyle/>
                  <a:p>
                    <a:endParaRPr lang="zh-CN" altLang="en-US"/>
                  </a:p>
                </p:txBody>
              </p:sp>
            </p:grpSp>
            <p:sp>
              <p:nvSpPr>
                <p:cNvPr id="35878" name="Freeform 38">
                  <a:extLst>
                    <a:ext uri="{FF2B5EF4-FFF2-40B4-BE49-F238E27FC236}">
                      <a16:creationId xmlns:a16="http://schemas.microsoft.com/office/drawing/2014/main" id="{96EF4406-066E-430C-BDA8-566140518EE1}"/>
                    </a:ext>
                  </a:extLst>
                </p:cNvPr>
                <p:cNvSpPr>
                  <a:spLocks/>
                </p:cNvSpPr>
                <p:nvPr/>
              </p:nvSpPr>
              <p:spPr bwMode="auto">
                <a:xfrm>
                  <a:off x="2693" y="1686"/>
                  <a:ext cx="451" cy="294"/>
                </a:xfrm>
                <a:custGeom>
                  <a:avLst/>
                  <a:gdLst>
                    <a:gd name="T0" fmla="*/ 23 w 903"/>
                    <a:gd name="T1" fmla="*/ 580 h 586"/>
                    <a:gd name="T2" fmla="*/ 67 w 903"/>
                    <a:gd name="T3" fmla="*/ 586 h 586"/>
                    <a:gd name="T4" fmla="*/ 57 w 903"/>
                    <a:gd name="T5" fmla="*/ 503 h 586"/>
                    <a:gd name="T6" fmla="*/ 110 w 903"/>
                    <a:gd name="T7" fmla="*/ 428 h 586"/>
                    <a:gd name="T8" fmla="*/ 114 w 903"/>
                    <a:gd name="T9" fmla="*/ 337 h 586"/>
                    <a:gd name="T10" fmla="*/ 179 w 903"/>
                    <a:gd name="T11" fmla="*/ 286 h 586"/>
                    <a:gd name="T12" fmla="*/ 179 w 903"/>
                    <a:gd name="T13" fmla="*/ 212 h 586"/>
                    <a:gd name="T14" fmla="*/ 235 w 903"/>
                    <a:gd name="T15" fmla="*/ 207 h 586"/>
                    <a:gd name="T16" fmla="*/ 287 w 903"/>
                    <a:gd name="T17" fmla="*/ 166 h 586"/>
                    <a:gd name="T18" fmla="*/ 372 w 903"/>
                    <a:gd name="T19" fmla="*/ 217 h 586"/>
                    <a:gd name="T20" fmla="*/ 390 w 903"/>
                    <a:gd name="T21" fmla="*/ 189 h 586"/>
                    <a:gd name="T22" fmla="*/ 476 w 903"/>
                    <a:gd name="T23" fmla="*/ 217 h 586"/>
                    <a:gd name="T24" fmla="*/ 453 w 903"/>
                    <a:gd name="T25" fmla="*/ 166 h 586"/>
                    <a:gd name="T26" fmla="*/ 563 w 903"/>
                    <a:gd name="T27" fmla="*/ 229 h 586"/>
                    <a:gd name="T28" fmla="*/ 574 w 903"/>
                    <a:gd name="T29" fmla="*/ 189 h 586"/>
                    <a:gd name="T30" fmla="*/ 673 w 903"/>
                    <a:gd name="T31" fmla="*/ 252 h 586"/>
                    <a:gd name="T32" fmla="*/ 724 w 903"/>
                    <a:gd name="T33" fmla="*/ 240 h 586"/>
                    <a:gd name="T34" fmla="*/ 752 w 903"/>
                    <a:gd name="T35" fmla="*/ 303 h 586"/>
                    <a:gd name="T36" fmla="*/ 787 w 903"/>
                    <a:gd name="T37" fmla="*/ 296 h 586"/>
                    <a:gd name="T38" fmla="*/ 814 w 903"/>
                    <a:gd name="T39" fmla="*/ 341 h 586"/>
                    <a:gd name="T40" fmla="*/ 790 w 903"/>
                    <a:gd name="T41" fmla="*/ 421 h 586"/>
                    <a:gd name="T42" fmla="*/ 799 w 903"/>
                    <a:gd name="T43" fmla="*/ 488 h 586"/>
                    <a:gd name="T44" fmla="*/ 820 w 903"/>
                    <a:gd name="T45" fmla="*/ 574 h 586"/>
                    <a:gd name="T46" fmla="*/ 845 w 903"/>
                    <a:gd name="T47" fmla="*/ 574 h 586"/>
                    <a:gd name="T48" fmla="*/ 872 w 903"/>
                    <a:gd name="T49" fmla="*/ 517 h 586"/>
                    <a:gd name="T50" fmla="*/ 890 w 903"/>
                    <a:gd name="T51" fmla="*/ 463 h 586"/>
                    <a:gd name="T52" fmla="*/ 903 w 903"/>
                    <a:gd name="T53" fmla="*/ 383 h 586"/>
                    <a:gd name="T54" fmla="*/ 890 w 903"/>
                    <a:gd name="T55" fmla="*/ 264 h 586"/>
                    <a:gd name="T56" fmla="*/ 844 w 903"/>
                    <a:gd name="T57" fmla="*/ 182 h 586"/>
                    <a:gd name="T58" fmla="*/ 810 w 903"/>
                    <a:gd name="T59" fmla="*/ 132 h 586"/>
                    <a:gd name="T60" fmla="*/ 752 w 903"/>
                    <a:gd name="T61" fmla="*/ 79 h 586"/>
                    <a:gd name="T62" fmla="*/ 667 w 903"/>
                    <a:gd name="T63" fmla="*/ 40 h 586"/>
                    <a:gd name="T64" fmla="*/ 580 w 903"/>
                    <a:gd name="T65" fmla="*/ 16 h 586"/>
                    <a:gd name="T66" fmla="*/ 453 w 903"/>
                    <a:gd name="T67" fmla="*/ 0 h 586"/>
                    <a:gd name="T68" fmla="*/ 337 w 903"/>
                    <a:gd name="T69" fmla="*/ 16 h 586"/>
                    <a:gd name="T70" fmla="*/ 258 w 903"/>
                    <a:gd name="T71" fmla="*/ 22 h 586"/>
                    <a:gd name="T72" fmla="*/ 196 w 903"/>
                    <a:gd name="T73" fmla="*/ 44 h 586"/>
                    <a:gd name="T74" fmla="*/ 121 w 903"/>
                    <a:gd name="T75" fmla="*/ 90 h 586"/>
                    <a:gd name="T76" fmla="*/ 57 w 903"/>
                    <a:gd name="T77" fmla="*/ 172 h 586"/>
                    <a:gd name="T78" fmla="*/ 29 w 903"/>
                    <a:gd name="T79" fmla="*/ 223 h 586"/>
                    <a:gd name="T80" fmla="*/ 0 w 903"/>
                    <a:gd name="T81" fmla="*/ 326 h 586"/>
                    <a:gd name="T82" fmla="*/ 0 w 903"/>
                    <a:gd name="T83" fmla="*/ 440 h 586"/>
                    <a:gd name="T84" fmla="*/ 0 w 903"/>
                    <a:gd name="T85" fmla="*/ 516 h 586"/>
                    <a:gd name="T86" fmla="*/ 23 w 903"/>
                    <a:gd name="T87" fmla="*/ 58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03" h="586">
                      <a:moveTo>
                        <a:pt x="23" y="580"/>
                      </a:moveTo>
                      <a:lnTo>
                        <a:pt x="67" y="586"/>
                      </a:lnTo>
                      <a:lnTo>
                        <a:pt x="57" y="503"/>
                      </a:lnTo>
                      <a:lnTo>
                        <a:pt x="110" y="428"/>
                      </a:lnTo>
                      <a:lnTo>
                        <a:pt x="114" y="337"/>
                      </a:lnTo>
                      <a:lnTo>
                        <a:pt x="179" y="286"/>
                      </a:lnTo>
                      <a:lnTo>
                        <a:pt x="179" y="212"/>
                      </a:lnTo>
                      <a:lnTo>
                        <a:pt x="235" y="207"/>
                      </a:lnTo>
                      <a:lnTo>
                        <a:pt x="287" y="166"/>
                      </a:lnTo>
                      <a:lnTo>
                        <a:pt x="372" y="217"/>
                      </a:lnTo>
                      <a:lnTo>
                        <a:pt x="390" y="189"/>
                      </a:lnTo>
                      <a:lnTo>
                        <a:pt x="476" y="217"/>
                      </a:lnTo>
                      <a:lnTo>
                        <a:pt x="453" y="166"/>
                      </a:lnTo>
                      <a:lnTo>
                        <a:pt x="563" y="229"/>
                      </a:lnTo>
                      <a:lnTo>
                        <a:pt x="574" y="189"/>
                      </a:lnTo>
                      <a:lnTo>
                        <a:pt x="673" y="252"/>
                      </a:lnTo>
                      <a:lnTo>
                        <a:pt x="724" y="240"/>
                      </a:lnTo>
                      <a:lnTo>
                        <a:pt x="752" y="303"/>
                      </a:lnTo>
                      <a:lnTo>
                        <a:pt x="787" y="296"/>
                      </a:lnTo>
                      <a:lnTo>
                        <a:pt x="814" y="341"/>
                      </a:lnTo>
                      <a:lnTo>
                        <a:pt x="790" y="421"/>
                      </a:lnTo>
                      <a:lnTo>
                        <a:pt x="799" y="488"/>
                      </a:lnTo>
                      <a:lnTo>
                        <a:pt x="820" y="574"/>
                      </a:lnTo>
                      <a:lnTo>
                        <a:pt x="845" y="574"/>
                      </a:lnTo>
                      <a:lnTo>
                        <a:pt x="872" y="517"/>
                      </a:lnTo>
                      <a:lnTo>
                        <a:pt x="890" y="463"/>
                      </a:lnTo>
                      <a:lnTo>
                        <a:pt x="903" y="383"/>
                      </a:lnTo>
                      <a:lnTo>
                        <a:pt x="890" y="264"/>
                      </a:lnTo>
                      <a:lnTo>
                        <a:pt x="844" y="182"/>
                      </a:lnTo>
                      <a:lnTo>
                        <a:pt x="810" y="132"/>
                      </a:lnTo>
                      <a:lnTo>
                        <a:pt x="752" y="79"/>
                      </a:lnTo>
                      <a:lnTo>
                        <a:pt x="667" y="40"/>
                      </a:lnTo>
                      <a:lnTo>
                        <a:pt x="580" y="16"/>
                      </a:lnTo>
                      <a:lnTo>
                        <a:pt x="453" y="0"/>
                      </a:lnTo>
                      <a:lnTo>
                        <a:pt x="337" y="16"/>
                      </a:lnTo>
                      <a:lnTo>
                        <a:pt x="258" y="22"/>
                      </a:lnTo>
                      <a:lnTo>
                        <a:pt x="196" y="44"/>
                      </a:lnTo>
                      <a:lnTo>
                        <a:pt x="121" y="90"/>
                      </a:lnTo>
                      <a:lnTo>
                        <a:pt x="57" y="172"/>
                      </a:lnTo>
                      <a:lnTo>
                        <a:pt x="29" y="223"/>
                      </a:lnTo>
                      <a:lnTo>
                        <a:pt x="0" y="326"/>
                      </a:lnTo>
                      <a:lnTo>
                        <a:pt x="0" y="440"/>
                      </a:lnTo>
                      <a:lnTo>
                        <a:pt x="0" y="516"/>
                      </a:lnTo>
                      <a:lnTo>
                        <a:pt x="23" y="580"/>
                      </a:lnTo>
                      <a:close/>
                    </a:path>
                  </a:pathLst>
                </a:custGeom>
                <a:solidFill>
                  <a:srgbClr val="804000"/>
                </a:solidFill>
                <a:ln w="7938">
                  <a:solidFill>
                    <a:srgbClr val="000000"/>
                  </a:solidFill>
                  <a:prstDash val="solid"/>
                  <a:round/>
                  <a:headEnd/>
                  <a:tailEnd/>
                </a:ln>
              </p:spPr>
              <p:txBody>
                <a:bodyPr/>
                <a:lstStyle/>
                <a:p>
                  <a:endParaRPr lang="zh-CN" altLang="en-US"/>
                </a:p>
              </p:txBody>
            </p:sp>
          </p:grpSp>
          <p:sp>
            <p:nvSpPr>
              <p:cNvPr id="35879" name="Freeform 39">
                <a:extLst>
                  <a:ext uri="{FF2B5EF4-FFF2-40B4-BE49-F238E27FC236}">
                    <a16:creationId xmlns:a16="http://schemas.microsoft.com/office/drawing/2014/main" id="{708E7880-E498-4288-BBC9-5C2253EC5F94}"/>
                  </a:ext>
                </a:extLst>
              </p:cNvPr>
              <p:cNvSpPr>
                <a:spLocks/>
              </p:cNvSpPr>
              <p:nvPr/>
            </p:nvSpPr>
            <p:spPr bwMode="auto">
              <a:xfrm>
                <a:off x="3072" y="2309"/>
                <a:ext cx="477" cy="509"/>
              </a:xfrm>
              <a:custGeom>
                <a:avLst/>
                <a:gdLst>
                  <a:gd name="T0" fmla="*/ 65 w 954"/>
                  <a:gd name="T1" fmla="*/ 139 h 1017"/>
                  <a:gd name="T2" fmla="*/ 215 w 954"/>
                  <a:gd name="T3" fmla="*/ 107 h 1017"/>
                  <a:gd name="T4" fmla="*/ 289 w 954"/>
                  <a:gd name="T5" fmla="*/ 53 h 1017"/>
                  <a:gd name="T6" fmla="*/ 343 w 954"/>
                  <a:gd name="T7" fmla="*/ 0 h 1017"/>
                  <a:gd name="T8" fmla="*/ 470 w 954"/>
                  <a:gd name="T9" fmla="*/ 118 h 1017"/>
                  <a:gd name="T10" fmla="*/ 621 w 954"/>
                  <a:gd name="T11" fmla="*/ 257 h 1017"/>
                  <a:gd name="T12" fmla="*/ 749 w 954"/>
                  <a:gd name="T13" fmla="*/ 384 h 1017"/>
                  <a:gd name="T14" fmla="*/ 795 w 954"/>
                  <a:gd name="T15" fmla="*/ 441 h 1017"/>
                  <a:gd name="T16" fmla="*/ 825 w 954"/>
                  <a:gd name="T17" fmla="*/ 483 h 1017"/>
                  <a:gd name="T18" fmla="*/ 865 w 954"/>
                  <a:gd name="T19" fmla="*/ 534 h 1017"/>
                  <a:gd name="T20" fmla="*/ 902 w 954"/>
                  <a:gd name="T21" fmla="*/ 598 h 1017"/>
                  <a:gd name="T22" fmla="*/ 922 w 954"/>
                  <a:gd name="T23" fmla="*/ 648 h 1017"/>
                  <a:gd name="T24" fmla="*/ 941 w 954"/>
                  <a:gd name="T25" fmla="*/ 704 h 1017"/>
                  <a:gd name="T26" fmla="*/ 954 w 954"/>
                  <a:gd name="T27" fmla="*/ 802 h 1017"/>
                  <a:gd name="T28" fmla="*/ 944 w 954"/>
                  <a:gd name="T29" fmla="*/ 858 h 1017"/>
                  <a:gd name="T30" fmla="*/ 922 w 954"/>
                  <a:gd name="T31" fmla="*/ 910 h 1017"/>
                  <a:gd name="T32" fmla="*/ 860 w 954"/>
                  <a:gd name="T33" fmla="*/ 954 h 1017"/>
                  <a:gd name="T34" fmla="*/ 804 w 954"/>
                  <a:gd name="T35" fmla="*/ 984 h 1017"/>
                  <a:gd name="T36" fmla="*/ 726 w 954"/>
                  <a:gd name="T37" fmla="*/ 1004 h 1017"/>
                  <a:gd name="T38" fmla="*/ 664 w 954"/>
                  <a:gd name="T39" fmla="*/ 1017 h 1017"/>
                  <a:gd name="T40" fmla="*/ 603 w 954"/>
                  <a:gd name="T41" fmla="*/ 1011 h 1017"/>
                  <a:gd name="T42" fmla="*/ 557 w 954"/>
                  <a:gd name="T43" fmla="*/ 1007 h 1017"/>
                  <a:gd name="T44" fmla="*/ 508 w 954"/>
                  <a:gd name="T45" fmla="*/ 996 h 1017"/>
                  <a:gd name="T46" fmla="*/ 461 w 954"/>
                  <a:gd name="T47" fmla="*/ 974 h 1017"/>
                  <a:gd name="T48" fmla="*/ 411 w 954"/>
                  <a:gd name="T49" fmla="*/ 944 h 1017"/>
                  <a:gd name="T50" fmla="*/ 375 w 954"/>
                  <a:gd name="T51" fmla="*/ 910 h 1017"/>
                  <a:gd name="T52" fmla="*/ 335 w 954"/>
                  <a:gd name="T53" fmla="*/ 851 h 1017"/>
                  <a:gd name="T54" fmla="*/ 311 w 954"/>
                  <a:gd name="T55" fmla="*/ 813 h 1017"/>
                  <a:gd name="T56" fmla="*/ 252 w 954"/>
                  <a:gd name="T57" fmla="*/ 688 h 1017"/>
                  <a:gd name="T58" fmla="*/ 182 w 954"/>
                  <a:gd name="T59" fmla="*/ 524 h 1017"/>
                  <a:gd name="T60" fmla="*/ 129 w 954"/>
                  <a:gd name="T61" fmla="*/ 396 h 1017"/>
                  <a:gd name="T62" fmla="*/ 43 w 954"/>
                  <a:gd name="T63" fmla="*/ 245 h 1017"/>
                  <a:gd name="T64" fmla="*/ 0 w 954"/>
                  <a:gd name="T65" fmla="*/ 159 h 1017"/>
                  <a:gd name="T66" fmla="*/ 65 w 954"/>
                  <a:gd name="T67" fmla="*/ 139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54" h="1017">
                    <a:moveTo>
                      <a:pt x="65" y="139"/>
                    </a:moveTo>
                    <a:lnTo>
                      <a:pt x="215" y="107"/>
                    </a:lnTo>
                    <a:lnTo>
                      <a:pt x="289" y="53"/>
                    </a:lnTo>
                    <a:lnTo>
                      <a:pt x="343" y="0"/>
                    </a:lnTo>
                    <a:lnTo>
                      <a:pt x="470" y="118"/>
                    </a:lnTo>
                    <a:lnTo>
                      <a:pt x="621" y="257"/>
                    </a:lnTo>
                    <a:lnTo>
                      <a:pt x="749" y="384"/>
                    </a:lnTo>
                    <a:lnTo>
                      <a:pt x="795" y="441"/>
                    </a:lnTo>
                    <a:lnTo>
                      <a:pt x="825" y="483"/>
                    </a:lnTo>
                    <a:lnTo>
                      <a:pt x="865" y="534"/>
                    </a:lnTo>
                    <a:lnTo>
                      <a:pt x="902" y="598"/>
                    </a:lnTo>
                    <a:lnTo>
                      <a:pt x="922" y="648"/>
                    </a:lnTo>
                    <a:lnTo>
                      <a:pt x="941" y="704"/>
                    </a:lnTo>
                    <a:lnTo>
                      <a:pt x="954" y="802"/>
                    </a:lnTo>
                    <a:lnTo>
                      <a:pt x="944" y="858"/>
                    </a:lnTo>
                    <a:lnTo>
                      <a:pt x="922" y="910"/>
                    </a:lnTo>
                    <a:lnTo>
                      <a:pt x="860" y="954"/>
                    </a:lnTo>
                    <a:lnTo>
                      <a:pt x="804" y="984"/>
                    </a:lnTo>
                    <a:lnTo>
                      <a:pt x="726" y="1004"/>
                    </a:lnTo>
                    <a:lnTo>
                      <a:pt x="664" y="1017"/>
                    </a:lnTo>
                    <a:lnTo>
                      <a:pt x="603" y="1011"/>
                    </a:lnTo>
                    <a:lnTo>
                      <a:pt x="557" y="1007"/>
                    </a:lnTo>
                    <a:lnTo>
                      <a:pt x="508" y="996"/>
                    </a:lnTo>
                    <a:lnTo>
                      <a:pt x="461" y="974"/>
                    </a:lnTo>
                    <a:lnTo>
                      <a:pt x="411" y="944"/>
                    </a:lnTo>
                    <a:lnTo>
                      <a:pt x="375" y="910"/>
                    </a:lnTo>
                    <a:lnTo>
                      <a:pt x="335" y="851"/>
                    </a:lnTo>
                    <a:lnTo>
                      <a:pt x="311" y="813"/>
                    </a:lnTo>
                    <a:lnTo>
                      <a:pt x="252" y="688"/>
                    </a:lnTo>
                    <a:lnTo>
                      <a:pt x="182" y="524"/>
                    </a:lnTo>
                    <a:lnTo>
                      <a:pt x="129" y="396"/>
                    </a:lnTo>
                    <a:lnTo>
                      <a:pt x="43" y="245"/>
                    </a:lnTo>
                    <a:lnTo>
                      <a:pt x="0" y="159"/>
                    </a:lnTo>
                    <a:lnTo>
                      <a:pt x="65" y="139"/>
                    </a:lnTo>
                    <a:close/>
                  </a:path>
                </a:pathLst>
              </a:custGeom>
              <a:solidFill>
                <a:srgbClr val="C0C0FF"/>
              </a:solidFill>
              <a:ln w="7938">
                <a:solidFill>
                  <a:srgbClr val="000000"/>
                </a:solidFill>
                <a:prstDash val="solid"/>
                <a:round/>
                <a:headEnd/>
                <a:tailEnd/>
              </a:ln>
            </p:spPr>
            <p:txBody>
              <a:bodyPr/>
              <a:lstStyle/>
              <a:p>
                <a:endParaRPr lang="zh-CN" altLang="en-US"/>
              </a:p>
            </p:txBody>
          </p:sp>
          <p:sp>
            <p:nvSpPr>
              <p:cNvPr id="35880" name="Freeform 40">
                <a:extLst>
                  <a:ext uri="{FF2B5EF4-FFF2-40B4-BE49-F238E27FC236}">
                    <a16:creationId xmlns:a16="http://schemas.microsoft.com/office/drawing/2014/main" id="{9A74A6EF-0167-415B-A76D-8ED051C7BCF0}"/>
                  </a:ext>
                </a:extLst>
              </p:cNvPr>
              <p:cNvSpPr>
                <a:spLocks/>
              </p:cNvSpPr>
              <p:nvPr/>
            </p:nvSpPr>
            <p:spPr bwMode="auto">
              <a:xfrm>
                <a:off x="3065" y="2297"/>
                <a:ext cx="291" cy="243"/>
              </a:xfrm>
              <a:custGeom>
                <a:avLst/>
                <a:gdLst>
                  <a:gd name="T0" fmla="*/ 0 w 581"/>
                  <a:gd name="T1" fmla="*/ 171 h 486"/>
                  <a:gd name="T2" fmla="*/ 42 w 581"/>
                  <a:gd name="T3" fmla="*/ 171 h 486"/>
                  <a:gd name="T4" fmla="*/ 96 w 581"/>
                  <a:gd name="T5" fmla="*/ 160 h 486"/>
                  <a:gd name="T6" fmla="*/ 153 w 581"/>
                  <a:gd name="T7" fmla="*/ 150 h 486"/>
                  <a:gd name="T8" fmla="*/ 191 w 581"/>
                  <a:gd name="T9" fmla="*/ 137 h 486"/>
                  <a:gd name="T10" fmla="*/ 267 w 581"/>
                  <a:gd name="T11" fmla="*/ 104 h 486"/>
                  <a:gd name="T12" fmla="*/ 335 w 581"/>
                  <a:gd name="T13" fmla="*/ 46 h 486"/>
                  <a:gd name="T14" fmla="*/ 369 w 581"/>
                  <a:gd name="T15" fmla="*/ 0 h 486"/>
                  <a:gd name="T16" fmla="*/ 581 w 581"/>
                  <a:gd name="T17" fmla="*/ 213 h 486"/>
                  <a:gd name="T18" fmla="*/ 578 w 581"/>
                  <a:gd name="T19" fmla="*/ 248 h 486"/>
                  <a:gd name="T20" fmla="*/ 563 w 581"/>
                  <a:gd name="T21" fmla="*/ 287 h 486"/>
                  <a:gd name="T22" fmla="*/ 528 w 581"/>
                  <a:gd name="T23" fmla="*/ 324 h 486"/>
                  <a:gd name="T24" fmla="*/ 495 w 581"/>
                  <a:gd name="T25" fmla="*/ 357 h 486"/>
                  <a:gd name="T26" fmla="*/ 455 w 581"/>
                  <a:gd name="T27" fmla="*/ 381 h 486"/>
                  <a:gd name="T28" fmla="*/ 398 w 581"/>
                  <a:gd name="T29" fmla="*/ 409 h 486"/>
                  <a:gd name="T30" fmla="*/ 334 w 581"/>
                  <a:gd name="T31" fmla="*/ 436 h 486"/>
                  <a:gd name="T32" fmla="*/ 254 w 581"/>
                  <a:gd name="T33" fmla="*/ 459 h 486"/>
                  <a:gd name="T34" fmla="*/ 188 w 581"/>
                  <a:gd name="T35" fmla="*/ 473 h 486"/>
                  <a:gd name="T36" fmla="*/ 142 w 581"/>
                  <a:gd name="T37" fmla="*/ 486 h 486"/>
                  <a:gd name="T38" fmla="*/ 0 w 581"/>
                  <a:gd name="T39" fmla="*/ 17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81" h="486">
                    <a:moveTo>
                      <a:pt x="0" y="171"/>
                    </a:moveTo>
                    <a:lnTo>
                      <a:pt x="42" y="171"/>
                    </a:lnTo>
                    <a:lnTo>
                      <a:pt x="96" y="160"/>
                    </a:lnTo>
                    <a:lnTo>
                      <a:pt x="153" y="150"/>
                    </a:lnTo>
                    <a:lnTo>
                      <a:pt x="191" y="137"/>
                    </a:lnTo>
                    <a:lnTo>
                      <a:pt x="267" y="104"/>
                    </a:lnTo>
                    <a:lnTo>
                      <a:pt x="335" y="46"/>
                    </a:lnTo>
                    <a:lnTo>
                      <a:pt x="369" y="0"/>
                    </a:lnTo>
                    <a:lnTo>
                      <a:pt x="581" y="213"/>
                    </a:lnTo>
                    <a:lnTo>
                      <a:pt x="578" y="248"/>
                    </a:lnTo>
                    <a:lnTo>
                      <a:pt x="563" y="287"/>
                    </a:lnTo>
                    <a:lnTo>
                      <a:pt x="528" y="324"/>
                    </a:lnTo>
                    <a:lnTo>
                      <a:pt x="495" y="357"/>
                    </a:lnTo>
                    <a:lnTo>
                      <a:pt x="455" y="381"/>
                    </a:lnTo>
                    <a:lnTo>
                      <a:pt x="398" y="409"/>
                    </a:lnTo>
                    <a:lnTo>
                      <a:pt x="334" y="436"/>
                    </a:lnTo>
                    <a:lnTo>
                      <a:pt x="254" y="459"/>
                    </a:lnTo>
                    <a:lnTo>
                      <a:pt x="188" y="473"/>
                    </a:lnTo>
                    <a:lnTo>
                      <a:pt x="142" y="486"/>
                    </a:lnTo>
                    <a:lnTo>
                      <a:pt x="0" y="171"/>
                    </a:lnTo>
                    <a:close/>
                  </a:path>
                </a:pathLst>
              </a:custGeom>
              <a:solidFill>
                <a:srgbClr val="FFFFFF"/>
              </a:solidFill>
              <a:ln w="7938">
                <a:solidFill>
                  <a:srgbClr val="000000"/>
                </a:solidFill>
                <a:prstDash val="solid"/>
                <a:round/>
                <a:headEnd/>
                <a:tailEnd/>
              </a:ln>
            </p:spPr>
            <p:txBody>
              <a:bodyPr/>
              <a:lstStyle/>
              <a:p>
                <a:endParaRPr lang="zh-CN" altLang="en-US"/>
              </a:p>
            </p:txBody>
          </p:sp>
        </p:grpSp>
        <p:grpSp>
          <p:nvGrpSpPr>
            <p:cNvPr id="35881" name="Group 41">
              <a:extLst>
                <a:ext uri="{FF2B5EF4-FFF2-40B4-BE49-F238E27FC236}">
                  <a16:creationId xmlns:a16="http://schemas.microsoft.com/office/drawing/2014/main" id="{B9A07CC5-2116-4F43-B7B0-50AF538803CF}"/>
                </a:ext>
              </a:extLst>
            </p:cNvPr>
            <p:cNvGrpSpPr>
              <a:grpSpLocks/>
            </p:cNvGrpSpPr>
            <p:nvPr/>
          </p:nvGrpSpPr>
          <p:grpSpPr bwMode="auto">
            <a:xfrm>
              <a:off x="2692" y="1940"/>
              <a:ext cx="431" cy="125"/>
              <a:chOff x="2692" y="1940"/>
              <a:chExt cx="431" cy="125"/>
            </a:xfrm>
          </p:grpSpPr>
          <p:grpSp>
            <p:nvGrpSpPr>
              <p:cNvPr id="35882" name="Group 42">
                <a:extLst>
                  <a:ext uri="{FF2B5EF4-FFF2-40B4-BE49-F238E27FC236}">
                    <a16:creationId xmlns:a16="http://schemas.microsoft.com/office/drawing/2014/main" id="{DC04D3BA-C46E-481C-9265-EAC73B6A1B5C}"/>
                  </a:ext>
                </a:extLst>
              </p:cNvPr>
              <p:cNvGrpSpPr>
                <a:grpSpLocks/>
              </p:cNvGrpSpPr>
              <p:nvPr/>
            </p:nvGrpSpPr>
            <p:grpSpPr bwMode="auto">
              <a:xfrm>
                <a:off x="2692" y="1940"/>
                <a:ext cx="431" cy="125"/>
                <a:chOff x="2692" y="1940"/>
                <a:chExt cx="431" cy="125"/>
              </a:xfrm>
            </p:grpSpPr>
            <p:sp>
              <p:nvSpPr>
                <p:cNvPr id="35883" name="Freeform 43">
                  <a:extLst>
                    <a:ext uri="{FF2B5EF4-FFF2-40B4-BE49-F238E27FC236}">
                      <a16:creationId xmlns:a16="http://schemas.microsoft.com/office/drawing/2014/main" id="{863A92DA-1D56-41DD-B771-5EFFFBEAE0E7}"/>
                    </a:ext>
                  </a:extLst>
                </p:cNvPr>
                <p:cNvSpPr>
                  <a:spLocks/>
                </p:cNvSpPr>
                <p:nvPr/>
              </p:nvSpPr>
              <p:spPr bwMode="auto">
                <a:xfrm>
                  <a:off x="2756" y="1940"/>
                  <a:ext cx="155" cy="124"/>
                </a:xfrm>
                <a:custGeom>
                  <a:avLst/>
                  <a:gdLst>
                    <a:gd name="T0" fmla="*/ 30 w 309"/>
                    <a:gd name="T1" fmla="*/ 13 h 246"/>
                    <a:gd name="T2" fmla="*/ 88 w 309"/>
                    <a:gd name="T3" fmla="*/ 0 h 246"/>
                    <a:gd name="T4" fmla="*/ 150 w 309"/>
                    <a:gd name="T5" fmla="*/ 0 h 246"/>
                    <a:gd name="T6" fmla="*/ 243 w 309"/>
                    <a:gd name="T7" fmla="*/ 7 h 246"/>
                    <a:gd name="T8" fmla="*/ 276 w 309"/>
                    <a:gd name="T9" fmla="*/ 13 h 246"/>
                    <a:gd name="T10" fmla="*/ 309 w 309"/>
                    <a:gd name="T11" fmla="*/ 29 h 246"/>
                    <a:gd name="T12" fmla="*/ 309 w 309"/>
                    <a:gd name="T13" fmla="*/ 65 h 246"/>
                    <a:gd name="T14" fmla="*/ 309 w 309"/>
                    <a:gd name="T15" fmla="*/ 105 h 246"/>
                    <a:gd name="T16" fmla="*/ 299 w 309"/>
                    <a:gd name="T17" fmla="*/ 142 h 246"/>
                    <a:gd name="T18" fmla="*/ 288 w 309"/>
                    <a:gd name="T19" fmla="*/ 167 h 246"/>
                    <a:gd name="T20" fmla="*/ 279 w 309"/>
                    <a:gd name="T21" fmla="*/ 190 h 246"/>
                    <a:gd name="T22" fmla="*/ 266 w 309"/>
                    <a:gd name="T23" fmla="*/ 208 h 246"/>
                    <a:gd name="T24" fmla="*/ 248 w 309"/>
                    <a:gd name="T25" fmla="*/ 225 h 246"/>
                    <a:gd name="T26" fmla="*/ 218 w 309"/>
                    <a:gd name="T27" fmla="*/ 235 h 246"/>
                    <a:gd name="T28" fmla="*/ 180 w 309"/>
                    <a:gd name="T29" fmla="*/ 242 h 246"/>
                    <a:gd name="T30" fmla="*/ 137 w 309"/>
                    <a:gd name="T31" fmla="*/ 246 h 246"/>
                    <a:gd name="T32" fmla="*/ 103 w 309"/>
                    <a:gd name="T33" fmla="*/ 242 h 246"/>
                    <a:gd name="T34" fmla="*/ 75 w 309"/>
                    <a:gd name="T35" fmla="*/ 237 h 246"/>
                    <a:gd name="T36" fmla="*/ 47 w 309"/>
                    <a:gd name="T37" fmla="*/ 225 h 246"/>
                    <a:gd name="T38" fmla="*/ 23 w 309"/>
                    <a:gd name="T39" fmla="*/ 204 h 246"/>
                    <a:gd name="T40" fmla="*/ 11 w 309"/>
                    <a:gd name="T41" fmla="*/ 184 h 246"/>
                    <a:gd name="T42" fmla="*/ 0 w 309"/>
                    <a:gd name="T43" fmla="*/ 133 h 246"/>
                    <a:gd name="T44" fmla="*/ 0 w 309"/>
                    <a:gd name="T45" fmla="*/ 87 h 246"/>
                    <a:gd name="T46" fmla="*/ 0 w 309"/>
                    <a:gd name="T47" fmla="*/ 41 h 246"/>
                    <a:gd name="T48" fmla="*/ 30 w 309"/>
                    <a:gd name="T49" fmla="*/ 13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9" h="246">
                      <a:moveTo>
                        <a:pt x="30" y="13"/>
                      </a:moveTo>
                      <a:lnTo>
                        <a:pt x="88" y="0"/>
                      </a:lnTo>
                      <a:lnTo>
                        <a:pt x="150" y="0"/>
                      </a:lnTo>
                      <a:lnTo>
                        <a:pt x="243" y="7"/>
                      </a:lnTo>
                      <a:lnTo>
                        <a:pt x="276" y="13"/>
                      </a:lnTo>
                      <a:lnTo>
                        <a:pt x="309" y="29"/>
                      </a:lnTo>
                      <a:lnTo>
                        <a:pt x="309" y="65"/>
                      </a:lnTo>
                      <a:lnTo>
                        <a:pt x="309" y="105"/>
                      </a:lnTo>
                      <a:lnTo>
                        <a:pt x="299" y="142"/>
                      </a:lnTo>
                      <a:lnTo>
                        <a:pt x="288" y="167"/>
                      </a:lnTo>
                      <a:lnTo>
                        <a:pt x="279" y="190"/>
                      </a:lnTo>
                      <a:lnTo>
                        <a:pt x="266" y="208"/>
                      </a:lnTo>
                      <a:lnTo>
                        <a:pt x="248" y="225"/>
                      </a:lnTo>
                      <a:lnTo>
                        <a:pt x="218" y="235"/>
                      </a:lnTo>
                      <a:lnTo>
                        <a:pt x="180" y="242"/>
                      </a:lnTo>
                      <a:lnTo>
                        <a:pt x="137" y="246"/>
                      </a:lnTo>
                      <a:lnTo>
                        <a:pt x="103" y="242"/>
                      </a:lnTo>
                      <a:lnTo>
                        <a:pt x="75" y="237"/>
                      </a:lnTo>
                      <a:lnTo>
                        <a:pt x="47" y="225"/>
                      </a:lnTo>
                      <a:lnTo>
                        <a:pt x="23" y="204"/>
                      </a:lnTo>
                      <a:lnTo>
                        <a:pt x="11" y="184"/>
                      </a:lnTo>
                      <a:lnTo>
                        <a:pt x="0" y="133"/>
                      </a:lnTo>
                      <a:lnTo>
                        <a:pt x="0" y="87"/>
                      </a:lnTo>
                      <a:lnTo>
                        <a:pt x="0" y="41"/>
                      </a:lnTo>
                      <a:lnTo>
                        <a:pt x="30" y="13"/>
                      </a:lnTo>
                      <a:close/>
                    </a:path>
                  </a:pathLst>
                </a:custGeom>
                <a:solidFill>
                  <a:srgbClr val="C0FFFF"/>
                </a:solidFill>
                <a:ln w="7938">
                  <a:solidFill>
                    <a:srgbClr val="000000"/>
                  </a:solidFill>
                  <a:prstDash val="solid"/>
                  <a:round/>
                  <a:headEnd/>
                  <a:tailEnd/>
                </a:ln>
              </p:spPr>
              <p:txBody>
                <a:bodyPr/>
                <a:lstStyle/>
                <a:p>
                  <a:endParaRPr lang="zh-CN" altLang="en-US"/>
                </a:p>
              </p:txBody>
            </p:sp>
            <p:sp>
              <p:nvSpPr>
                <p:cNvPr id="35884" name="Freeform 44">
                  <a:extLst>
                    <a:ext uri="{FF2B5EF4-FFF2-40B4-BE49-F238E27FC236}">
                      <a16:creationId xmlns:a16="http://schemas.microsoft.com/office/drawing/2014/main" id="{E674B46B-09E9-474F-BF04-41074169466B}"/>
                    </a:ext>
                  </a:extLst>
                </p:cNvPr>
                <p:cNvSpPr>
                  <a:spLocks/>
                </p:cNvSpPr>
                <p:nvPr/>
              </p:nvSpPr>
              <p:spPr bwMode="auto">
                <a:xfrm>
                  <a:off x="2932" y="1943"/>
                  <a:ext cx="154" cy="122"/>
                </a:xfrm>
                <a:custGeom>
                  <a:avLst/>
                  <a:gdLst>
                    <a:gd name="T0" fmla="*/ 269 w 308"/>
                    <a:gd name="T1" fmla="*/ 12 h 245"/>
                    <a:gd name="T2" fmla="*/ 212 w 308"/>
                    <a:gd name="T3" fmla="*/ 2 h 245"/>
                    <a:gd name="T4" fmla="*/ 158 w 308"/>
                    <a:gd name="T5" fmla="*/ 2 h 245"/>
                    <a:gd name="T6" fmla="*/ 107 w 308"/>
                    <a:gd name="T7" fmla="*/ 0 h 245"/>
                    <a:gd name="T8" fmla="*/ 61 w 308"/>
                    <a:gd name="T9" fmla="*/ 3 h 245"/>
                    <a:gd name="T10" fmla="*/ 28 w 308"/>
                    <a:gd name="T11" fmla="*/ 12 h 245"/>
                    <a:gd name="T12" fmla="*/ 0 w 308"/>
                    <a:gd name="T13" fmla="*/ 26 h 245"/>
                    <a:gd name="T14" fmla="*/ 0 w 308"/>
                    <a:gd name="T15" fmla="*/ 107 h 245"/>
                    <a:gd name="T16" fmla="*/ 8 w 308"/>
                    <a:gd name="T17" fmla="*/ 153 h 245"/>
                    <a:gd name="T18" fmla="*/ 22 w 308"/>
                    <a:gd name="T19" fmla="*/ 185 h 245"/>
                    <a:gd name="T20" fmla="*/ 39 w 308"/>
                    <a:gd name="T21" fmla="*/ 207 h 245"/>
                    <a:gd name="T22" fmla="*/ 57 w 308"/>
                    <a:gd name="T23" fmla="*/ 220 h 245"/>
                    <a:gd name="T24" fmla="*/ 80 w 308"/>
                    <a:gd name="T25" fmla="*/ 232 h 245"/>
                    <a:gd name="T26" fmla="*/ 102 w 308"/>
                    <a:gd name="T27" fmla="*/ 239 h 245"/>
                    <a:gd name="T28" fmla="*/ 128 w 308"/>
                    <a:gd name="T29" fmla="*/ 242 h 245"/>
                    <a:gd name="T30" fmla="*/ 157 w 308"/>
                    <a:gd name="T31" fmla="*/ 245 h 245"/>
                    <a:gd name="T32" fmla="*/ 205 w 308"/>
                    <a:gd name="T33" fmla="*/ 242 h 245"/>
                    <a:gd name="T34" fmla="*/ 235 w 308"/>
                    <a:gd name="T35" fmla="*/ 235 h 245"/>
                    <a:gd name="T36" fmla="*/ 262 w 308"/>
                    <a:gd name="T37" fmla="*/ 226 h 245"/>
                    <a:gd name="T38" fmla="*/ 283 w 308"/>
                    <a:gd name="T39" fmla="*/ 200 h 245"/>
                    <a:gd name="T40" fmla="*/ 297 w 308"/>
                    <a:gd name="T41" fmla="*/ 168 h 245"/>
                    <a:gd name="T42" fmla="*/ 308 w 308"/>
                    <a:gd name="T43" fmla="*/ 134 h 245"/>
                    <a:gd name="T44" fmla="*/ 308 w 308"/>
                    <a:gd name="T45" fmla="*/ 87 h 245"/>
                    <a:gd name="T46" fmla="*/ 308 w 308"/>
                    <a:gd name="T47" fmla="*/ 42 h 245"/>
                    <a:gd name="T48" fmla="*/ 269 w 308"/>
                    <a:gd name="T49" fmla="*/ 1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8" h="245">
                      <a:moveTo>
                        <a:pt x="269" y="12"/>
                      </a:moveTo>
                      <a:lnTo>
                        <a:pt x="212" y="2"/>
                      </a:lnTo>
                      <a:lnTo>
                        <a:pt x="158" y="2"/>
                      </a:lnTo>
                      <a:lnTo>
                        <a:pt x="107" y="0"/>
                      </a:lnTo>
                      <a:lnTo>
                        <a:pt x="61" y="3"/>
                      </a:lnTo>
                      <a:lnTo>
                        <a:pt x="28" y="12"/>
                      </a:lnTo>
                      <a:lnTo>
                        <a:pt x="0" y="26"/>
                      </a:lnTo>
                      <a:lnTo>
                        <a:pt x="0" y="107"/>
                      </a:lnTo>
                      <a:lnTo>
                        <a:pt x="8" y="153"/>
                      </a:lnTo>
                      <a:lnTo>
                        <a:pt x="22" y="185"/>
                      </a:lnTo>
                      <a:lnTo>
                        <a:pt x="39" y="207"/>
                      </a:lnTo>
                      <a:lnTo>
                        <a:pt x="57" y="220"/>
                      </a:lnTo>
                      <a:lnTo>
                        <a:pt x="80" y="232"/>
                      </a:lnTo>
                      <a:lnTo>
                        <a:pt x="102" y="239"/>
                      </a:lnTo>
                      <a:lnTo>
                        <a:pt x="128" y="242"/>
                      </a:lnTo>
                      <a:lnTo>
                        <a:pt x="157" y="245"/>
                      </a:lnTo>
                      <a:lnTo>
                        <a:pt x="205" y="242"/>
                      </a:lnTo>
                      <a:lnTo>
                        <a:pt x="235" y="235"/>
                      </a:lnTo>
                      <a:lnTo>
                        <a:pt x="262" y="226"/>
                      </a:lnTo>
                      <a:lnTo>
                        <a:pt x="283" y="200"/>
                      </a:lnTo>
                      <a:lnTo>
                        <a:pt x="297" y="168"/>
                      </a:lnTo>
                      <a:lnTo>
                        <a:pt x="308" y="134"/>
                      </a:lnTo>
                      <a:lnTo>
                        <a:pt x="308" y="87"/>
                      </a:lnTo>
                      <a:lnTo>
                        <a:pt x="308" y="42"/>
                      </a:lnTo>
                      <a:lnTo>
                        <a:pt x="269" y="12"/>
                      </a:lnTo>
                      <a:close/>
                    </a:path>
                  </a:pathLst>
                </a:custGeom>
                <a:solidFill>
                  <a:srgbClr val="C0FFFF"/>
                </a:solidFill>
                <a:ln w="7938">
                  <a:solidFill>
                    <a:srgbClr val="000000"/>
                  </a:solidFill>
                  <a:prstDash val="solid"/>
                  <a:round/>
                  <a:headEnd/>
                  <a:tailEnd/>
                </a:ln>
              </p:spPr>
              <p:txBody>
                <a:bodyPr/>
                <a:lstStyle/>
                <a:p>
                  <a:endParaRPr lang="zh-CN" altLang="en-US"/>
                </a:p>
              </p:txBody>
            </p:sp>
            <p:sp>
              <p:nvSpPr>
                <p:cNvPr id="35885" name="Freeform 45">
                  <a:extLst>
                    <a:ext uri="{FF2B5EF4-FFF2-40B4-BE49-F238E27FC236}">
                      <a16:creationId xmlns:a16="http://schemas.microsoft.com/office/drawing/2014/main" id="{23EC0050-7123-4821-9251-20C7A8113F83}"/>
                    </a:ext>
                  </a:extLst>
                </p:cNvPr>
                <p:cNvSpPr>
                  <a:spLocks/>
                </p:cNvSpPr>
                <p:nvPr/>
              </p:nvSpPr>
              <p:spPr bwMode="auto">
                <a:xfrm>
                  <a:off x="2911" y="1958"/>
                  <a:ext cx="22" cy="16"/>
                </a:xfrm>
                <a:custGeom>
                  <a:avLst/>
                  <a:gdLst>
                    <a:gd name="T0" fmla="*/ 0 w 45"/>
                    <a:gd name="T1" fmla="*/ 10 h 33"/>
                    <a:gd name="T2" fmla="*/ 7 w 45"/>
                    <a:gd name="T3" fmla="*/ 3 h 33"/>
                    <a:gd name="T4" fmla="*/ 17 w 45"/>
                    <a:gd name="T5" fmla="*/ 0 h 33"/>
                    <a:gd name="T6" fmla="*/ 31 w 45"/>
                    <a:gd name="T7" fmla="*/ 0 h 33"/>
                    <a:gd name="T8" fmla="*/ 41 w 45"/>
                    <a:gd name="T9" fmla="*/ 6 h 33"/>
                    <a:gd name="T10" fmla="*/ 45 w 45"/>
                    <a:gd name="T11" fmla="*/ 31 h 33"/>
                    <a:gd name="T12" fmla="*/ 34 w 45"/>
                    <a:gd name="T13" fmla="*/ 29 h 33"/>
                    <a:gd name="T14" fmla="*/ 25 w 45"/>
                    <a:gd name="T15" fmla="*/ 24 h 33"/>
                    <a:gd name="T16" fmla="*/ 13 w 45"/>
                    <a:gd name="T17" fmla="*/ 29 h 33"/>
                    <a:gd name="T18" fmla="*/ 2 w 45"/>
                    <a:gd name="T19" fmla="*/ 33 h 33"/>
                    <a:gd name="T20" fmla="*/ 0 w 45"/>
                    <a:gd name="T21"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33">
                      <a:moveTo>
                        <a:pt x="0" y="10"/>
                      </a:moveTo>
                      <a:lnTo>
                        <a:pt x="7" y="3"/>
                      </a:lnTo>
                      <a:lnTo>
                        <a:pt x="17" y="0"/>
                      </a:lnTo>
                      <a:lnTo>
                        <a:pt x="31" y="0"/>
                      </a:lnTo>
                      <a:lnTo>
                        <a:pt x="41" y="6"/>
                      </a:lnTo>
                      <a:lnTo>
                        <a:pt x="45" y="31"/>
                      </a:lnTo>
                      <a:lnTo>
                        <a:pt x="34" y="29"/>
                      </a:lnTo>
                      <a:lnTo>
                        <a:pt x="25" y="24"/>
                      </a:lnTo>
                      <a:lnTo>
                        <a:pt x="13" y="29"/>
                      </a:lnTo>
                      <a:lnTo>
                        <a:pt x="2" y="33"/>
                      </a:lnTo>
                      <a:lnTo>
                        <a:pt x="0" y="10"/>
                      </a:lnTo>
                      <a:close/>
                    </a:path>
                  </a:pathLst>
                </a:custGeom>
                <a:solidFill>
                  <a:srgbClr val="C0C0C0"/>
                </a:solidFill>
                <a:ln w="7938">
                  <a:solidFill>
                    <a:srgbClr val="000000"/>
                  </a:solidFill>
                  <a:prstDash val="solid"/>
                  <a:round/>
                  <a:headEnd/>
                  <a:tailEnd/>
                </a:ln>
              </p:spPr>
              <p:txBody>
                <a:bodyPr/>
                <a:lstStyle/>
                <a:p>
                  <a:endParaRPr lang="zh-CN" altLang="en-US"/>
                </a:p>
              </p:txBody>
            </p:sp>
            <p:sp>
              <p:nvSpPr>
                <p:cNvPr id="35886" name="Freeform 46">
                  <a:extLst>
                    <a:ext uri="{FF2B5EF4-FFF2-40B4-BE49-F238E27FC236}">
                      <a16:creationId xmlns:a16="http://schemas.microsoft.com/office/drawing/2014/main" id="{BB58C559-1C56-463F-B2D9-40C61E421244}"/>
                    </a:ext>
                  </a:extLst>
                </p:cNvPr>
                <p:cNvSpPr>
                  <a:spLocks/>
                </p:cNvSpPr>
                <p:nvPr/>
              </p:nvSpPr>
              <p:spPr bwMode="auto">
                <a:xfrm>
                  <a:off x="2692" y="1951"/>
                  <a:ext cx="65" cy="26"/>
                </a:xfrm>
                <a:custGeom>
                  <a:avLst/>
                  <a:gdLst>
                    <a:gd name="T0" fmla="*/ 128 w 128"/>
                    <a:gd name="T1" fmla="*/ 17 h 52"/>
                    <a:gd name="T2" fmla="*/ 128 w 128"/>
                    <a:gd name="T3" fmla="*/ 52 h 52"/>
                    <a:gd name="T4" fmla="*/ 14 w 128"/>
                    <a:gd name="T5" fmla="*/ 20 h 52"/>
                    <a:gd name="T6" fmla="*/ 0 w 128"/>
                    <a:gd name="T7" fmla="*/ 0 h 52"/>
                    <a:gd name="T8" fmla="*/ 128 w 128"/>
                    <a:gd name="T9" fmla="*/ 17 h 52"/>
                  </a:gdLst>
                  <a:ahLst/>
                  <a:cxnLst>
                    <a:cxn ang="0">
                      <a:pos x="T0" y="T1"/>
                    </a:cxn>
                    <a:cxn ang="0">
                      <a:pos x="T2" y="T3"/>
                    </a:cxn>
                    <a:cxn ang="0">
                      <a:pos x="T4" y="T5"/>
                    </a:cxn>
                    <a:cxn ang="0">
                      <a:pos x="T6" y="T7"/>
                    </a:cxn>
                    <a:cxn ang="0">
                      <a:pos x="T8" y="T9"/>
                    </a:cxn>
                  </a:cxnLst>
                  <a:rect l="0" t="0" r="r" b="b"/>
                  <a:pathLst>
                    <a:path w="128" h="52">
                      <a:moveTo>
                        <a:pt x="128" y="17"/>
                      </a:moveTo>
                      <a:lnTo>
                        <a:pt x="128" y="52"/>
                      </a:lnTo>
                      <a:lnTo>
                        <a:pt x="14" y="20"/>
                      </a:lnTo>
                      <a:lnTo>
                        <a:pt x="0" y="0"/>
                      </a:lnTo>
                      <a:lnTo>
                        <a:pt x="128" y="17"/>
                      </a:lnTo>
                      <a:close/>
                    </a:path>
                  </a:pathLst>
                </a:custGeom>
                <a:solidFill>
                  <a:srgbClr val="C0C0C0"/>
                </a:solidFill>
                <a:ln w="7938">
                  <a:solidFill>
                    <a:srgbClr val="000000"/>
                  </a:solidFill>
                  <a:prstDash val="solid"/>
                  <a:round/>
                  <a:headEnd/>
                  <a:tailEnd/>
                </a:ln>
              </p:spPr>
              <p:txBody>
                <a:bodyPr/>
                <a:lstStyle/>
                <a:p>
                  <a:endParaRPr lang="zh-CN" altLang="en-US"/>
                </a:p>
              </p:txBody>
            </p:sp>
            <p:sp>
              <p:nvSpPr>
                <p:cNvPr id="35887" name="Freeform 47">
                  <a:extLst>
                    <a:ext uri="{FF2B5EF4-FFF2-40B4-BE49-F238E27FC236}">
                      <a16:creationId xmlns:a16="http://schemas.microsoft.com/office/drawing/2014/main" id="{A215A251-4AF2-45BF-B4D1-A95255D358AC}"/>
                    </a:ext>
                  </a:extLst>
                </p:cNvPr>
                <p:cNvSpPr>
                  <a:spLocks/>
                </p:cNvSpPr>
                <p:nvPr/>
              </p:nvSpPr>
              <p:spPr bwMode="auto">
                <a:xfrm>
                  <a:off x="3085" y="1950"/>
                  <a:ext cx="38" cy="27"/>
                </a:xfrm>
                <a:custGeom>
                  <a:avLst/>
                  <a:gdLst>
                    <a:gd name="T0" fmla="*/ 0 w 74"/>
                    <a:gd name="T1" fmla="*/ 29 h 54"/>
                    <a:gd name="T2" fmla="*/ 0 w 74"/>
                    <a:gd name="T3" fmla="*/ 54 h 54"/>
                    <a:gd name="T4" fmla="*/ 70 w 74"/>
                    <a:gd name="T5" fmla="*/ 22 h 54"/>
                    <a:gd name="T6" fmla="*/ 74 w 74"/>
                    <a:gd name="T7" fmla="*/ 0 h 54"/>
                    <a:gd name="T8" fmla="*/ 0 w 74"/>
                    <a:gd name="T9" fmla="*/ 29 h 54"/>
                  </a:gdLst>
                  <a:ahLst/>
                  <a:cxnLst>
                    <a:cxn ang="0">
                      <a:pos x="T0" y="T1"/>
                    </a:cxn>
                    <a:cxn ang="0">
                      <a:pos x="T2" y="T3"/>
                    </a:cxn>
                    <a:cxn ang="0">
                      <a:pos x="T4" y="T5"/>
                    </a:cxn>
                    <a:cxn ang="0">
                      <a:pos x="T6" y="T7"/>
                    </a:cxn>
                    <a:cxn ang="0">
                      <a:pos x="T8" y="T9"/>
                    </a:cxn>
                  </a:cxnLst>
                  <a:rect l="0" t="0" r="r" b="b"/>
                  <a:pathLst>
                    <a:path w="74" h="54">
                      <a:moveTo>
                        <a:pt x="0" y="29"/>
                      </a:moveTo>
                      <a:lnTo>
                        <a:pt x="0" y="54"/>
                      </a:lnTo>
                      <a:lnTo>
                        <a:pt x="70" y="22"/>
                      </a:lnTo>
                      <a:lnTo>
                        <a:pt x="74" y="0"/>
                      </a:lnTo>
                      <a:lnTo>
                        <a:pt x="0" y="29"/>
                      </a:lnTo>
                      <a:close/>
                    </a:path>
                  </a:pathLst>
                </a:custGeom>
                <a:solidFill>
                  <a:srgbClr val="C0C0C0"/>
                </a:solidFill>
                <a:ln w="7938">
                  <a:solidFill>
                    <a:srgbClr val="000000"/>
                  </a:solidFill>
                  <a:prstDash val="solid"/>
                  <a:round/>
                  <a:headEnd/>
                  <a:tailEnd/>
                </a:ln>
              </p:spPr>
              <p:txBody>
                <a:bodyPr/>
                <a:lstStyle/>
                <a:p>
                  <a:endParaRPr lang="zh-CN" altLang="en-US"/>
                </a:p>
              </p:txBody>
            </p:sp>
          </p:grpSp>
          <p:grpSp>
            <p:nvGrpSpPr>
              <p:cNvPr id="35888" name="Group 48">
                <a:extLst>
                  <a:ext uri="{FF2B5EF4-FFF2-40B4-BE49-F238E27FC236}">
                    <a16:creationId xmlns:a16="http://schemas.microsoft.com/office/drawing/2014/main" id="{231584A6-1578-4CAC-9D28-8BFC5929A752}"/>
                  </a:ext>
                </a:extLst>
              </p:cNvPr>
              <p:cNvGrpSpPr>
                <a:grpSpLocks/>
              </p:cNvGrpSpPr>
              <p:nvPr/>
            </p:nvGrpSpPr>
            <p:grpSpPr bwMode="auto">
              <a:xfrm>
                <a:off x="2803" y="1970"/>
                <a:ext cx="67" cy="57"/>
                <a:chOff x="2803" y="1970"/>
                <a:chExt cx="67" cy="57"/>
              </a:xfrm>
            </p:grpSpPr>
            <p:sp>
              <p:nvSpPr>
                <p:cNvPr id="35889" name="Oval 49">
                  <a:extLst>
                    <a:ext uri="{FF2B5EF4-FFF2-40B4-BE49-F238E27FC236}">
                      <a16:creationId xmlns:a16="http://schemas.microsoft.com/office/drawing/2014/main" id="{A6691052-57B2-42B9-A09A-332B3FDFFBD9}"/>
                    </a:ext>
                  </a:extLst>
                </p:cNvPr>
                <p:cNvSpPr>
                  <a:spLocks noChangeArrowheads="1"/>
                </p:cNvSpPr>
                <p:nvPr/>
              </p:nvSpPr>
              <p:spPr bwMode="auto">
                <a:xfrm>
                  <a:off x="2803" y="1970"/>
                  <a:ext cx="67" cy="57"/>
                </a:xfrm>
                <a:prstGeom prst="ellipse">
                  <a:avLst/>
                </a:prstGeom>
                <a:solidFill>
                  <a:srgbClr val="C0FFFF"/>
                </a:solidFill>
                <a:ln w="7938">
                  <a:solidFill>
                    <a:srgbClr val="000000"/>
                  </a:solidFill>
                  <a:round/>
                  <a:headEnd/>
                  <a:tailEnd/>
                </a:ln>
              </p:spPr>
              <p:txBody>
                <a:bodyPr/>
                <a:lstStyle/>
                <a:p>
                  <a:endParaRPr lang="zh-CN" altLang="en-US"/>
                </a:p>
              </p:txBody>
            </p:sp>
            <p:sp>
              <p:nvSpPr>
                <p:cNvPr id="35890" name="Oval 50">
                  <a:extLst>
                    <a:ext uri="{FF2B5EF4-FFF2-40B4-BE49-F238E27FC236}">
                      <a16:creationId xmlns:a16="http://schemas.microsoft.com/office/drawing/2014/main" id="{96F7E0E2-A9D9-4030-B75A-4719749FD250}"/>
                    </a:ext>
                  </a:extLst>
                </p:cNvPr>
                <p:cNvSpPr>
                  <a:spLocks noChangeArrowheads="1"/>
                </p:cNvSpPr>
                <p:nvPr/>
              </p:nvSpPr>
              <p:spPr bwMode="auto">
                <a:xfrm>
                  <a:off x="2826" y="1976"/>
                  <a:ext cx="35" cy="36"/>
                </a:xfrm>
                <a:prstGeom prst="ellipse">
                  <a:avLst/>
                </a:prstGeom>
                <a:solidFill>
                  <a:srgbClr val="618FFD"/>
                </a:solidFill>
                <a:ln w="7938">
                  <a:solidFill>
                    <a:srgbClr val="000000"/>
                  </a:solidFill>
                  <a:round/>
                  <a:headEnd/>
                  <a:tailEnd/>
                </a:ln>
              </p:spPr>
              <p:txBody>
                <a:bodyPr/>
                <a:lstStyle/>
                <a:p>
                  <a:endParaRPr lang="zh-CN" altLang="en-US"/>
                </a:p>
              </p:txBody>
            </p:sp>
          </p:grpSp>
          <p:grpSp>
            <p:nvGrpSpPr>
              <p:cNvPr id="35891" name="Group 51">
                <a:extLst>
                  <a:ext uri="{FF2B5EF4-FFF2-40B4-BE49-F238E27FC236}">
                    <a16:creationId xmlns:a16="http://schemas.microsoft.com/office/drawing/2014/main" id="{07029C07-48C6-4231-B29C-4EDDE53FDD8B}"/>
                  </a:ext>
                </a:extLst>
              </p:cNvPr>
              <p:cNvGrpSpPr>
                <a:grpSpLocks/>
              </p:cNvGrpSpPr>
              <p:nvPr/>
            </p:nvGrpSpPr>
            <p:grpSpPr bwMode="auto">
              <a:xfrm>
                <a:off x="2975" y="1975"/>
                <a:ext cx="67" cy="57"/>
                <a:chOff x="2975" y="1975"/>
                <a:chExt cx="67" cy="57"/>
              </a:xfrm>
            </p:grpSpPr>
            <p:sp>
              <p:nvSpPr>
                <p:cNvPr id="35892" name="Oval 52">
                  <a:extLst>
                    <a:ext uri="{FF2B5EF4-FFF2-40B4-BE49-F238E27FC236}">
                      <a16:creationId xmlns:a16="http://schemas.microsoft.com/office/drawing/2014/main" id="{DAA82177-6A31-4F94-ACE5-B5F757ACFC63}"/>
                    </a:ext>
                  </a:extLst>
                </p:cNvPr>
                <p:cNvSpPr>
                  <a:spLocks noChangeArrowheads="1"/>
                </p:cNvSpPr>
                <p:nvPr/>
              </p:nvSpPr>
              <p:spPr bwMode="auto">
                <a:xfrm>
                  <a:off x="2975" y="1975"/>
                  <a:ext cx="67" cy="57"/>
                </a:xfrm>
                <a:prstGeom prst="ellipse">
                  <a:avLst/>
                </a:prstGeom>
                <a:solidFill>
                  <a:srgbClr val="C0FFFF"/>
                </a:solidFill>
                <a:ln w="7938">
                  <a:solidFill>
                    <a:srgbClr val="000000"/>
                  </a:solidFill>
                  <a:round/>
                  <a:headEnd/>
                  <a:tailEnd/>
                </a:ln>
              </p:spPr>
              <p:txBody>
                <a:bodyPr/>
                <a:lstStyle/>
                <a:p>
                  <a:endParaRPr lang="zh-CN" altLang="en-US"/>
                </a:p>
              </p:txBody>
            </p:sp>
            <p:sp>
              <p:nvSpPr>
                <p:cNvPr id="35893" name="Oval 53">
                  <a:extLst>
                    <a:ext uri="{FF2B5EF4-FFF2-40B4-BE49-F238E27FC236}">
                      <a16:creationId xmlns:a16="http://schemas.microsoft.com/office/drawing/2014/main" id="{77154796-B53D-4761-B4AE-A909E83F7A27}"/>
                    </a:ext>
                  </a:extLst>
                </p:cNvPr>
                <p:cNvSpPr>
                  <a:spLocks noChangeArrowheads="1"/>
                </p:cNvSpPr>
                <p:nvPr/>
              </p:nvSpPr>
              <p:spPr bwMode="auto">
                <a:xfrm>
                  <a:off x="2998" y="1982"/>
                  <a:ext cx="35" cy="35"/>
                </a:xfrm>
                <a:prstGeom prst="ellipse">
                  <a:avLst/>
                </a:prstGeom>
                <a:solidFill>
                  <a:srgbClr val="618FFD"/>
                </a:solidFill>
                <a:ln w="7938">
                  <a:solidFill>
                    <a:srgbClr val="000000"/>
                  </a:solidFill>
                  <a:round/>
                  <a:headEnd/>
                  <a:tailEnd/>
                </a:ln>
              </p:spPr>
              <p:txBody>
                <a:bodyPr/>
                <a:lstStyle/>
                <a:p>
                  <a:endParaRPr lang="zh-CN" altLang="en-US"/>
                </a:p>
              </p:txBody>
            </p:sp>
          </p:grpSp>
        </p:grpSp>
        <p:sp>
          <p:nvSpPr>
            <p:cNvPr id="35894" name="Freeform 54">
              <a:extLst>
                <a:ext uri="{FF2B5EF4-FFF2-40B4-BE49-F238E27FC236}">
                  <a16:creationId xmlns:a16="http://schemas.microsoft.com/office/drawing/2014/main" id="{DD4DF9AD-99A8-4DA6-AEB5-8AC82398673F}"/>
                </a:ext>
              </a:extLst>
            </p:cNvPr>
            <p:cNvSpPr>
              <a:spLocks/>
            </p:cNvSpPr>
            <p:nvPr/>
          </p:nvSpPr>
          <p:spPr bwMode="auto">
            <a:xfrm>
              <a:off x="2208" y="2064"/>
              <a:ext cx="192" cy="192"/>
            </a:xfrm>
            <a:custGeom>
              <a:avLst/>
              <a:gdLst>
                <a:gd name="T0" fmla="*/ 94 w 487"/>
                <a:gd name="T1" fmla="*/ 0 h 424"/>
                <a:gd name="T2" fmla="*/ 115 w 487"/>
                <a:gd name="T3" fmla="*/ 35 h 424"/>
                <a:gd name="T4" fmla="*/ 125 w 487"/>
                <a:gd name="T5" fmla="*/ 50 h 424"/>
                <a:gd name="T6" fmla="*/ 143 w 487"/>
                <a:gd name="T7" fmla="*/ 84 h 424"/>
                <a:gd name="T8" fmla="*/ 156 w 487"/>
                <a:gd name="T9" fmla="*/ 107 h 424"/>
                <a:gd name="T10" fmla="*/ 174 w 487"/>
                <a:gd name="T11" fmla="*/ 122 h 424"/>
                <a:gd name="T12" fmla="*/ 201 w 487"/>
                <a:gd name="T13" fmla="*/ 143 h 424"/>
                <a:gd name="T14" fmla="*/ 246 w 487"/>
                <a:gd name="T15" fmla="*/ 166 h 424"/>
                <a:gd name="T16" fmla="*/ 288 w 487"/>
                <a:gd name="T17" fmla="*/ 166 h 424"/>
                <a:gd name="T18" fmla="*/ 327 w 487"/>
                <a:gd name="T19" fmla="*/ 161 h 424"/>
                <a:gd name="T20" fmla="*/ 375 w 487"/>
                <a:gd name="T21" fmla="*/ 143 h 424"/>
                <a:gd name="T22" fmla="*/ 440 w 487"/>
                <a:gd name="T23" fmla="*/ 114 h 424"/>
                <a:gd name="T24" fmla="*/ 446 w 487"/>
                <a:gd name="T25" fmla="*/ 138 h 424"/>
                <a:gd name="T26" fmla="*/ 476 w 487"/>
                <a:gd name="T27" fmla="*/ 304 h 424"/>
                <a:gd name="T28" fmla="*/ 487 w 487"/>
                <a:gd name="T29" fmla="*/ 389 h 424"/>
                <a:gd name="T30" fmla="*/ 417 w 487"/>
                <a:gd name="T31" fmla="*/ 412 h 424"/>
                <a:gd name="T32" fmla="*/ 327 w 487"/>
                <a:gd name="T33" fmla="*/ 418 h 424"/>
                <a:gd name="T34" fmla="*/ 275 w 487"/>
                <a:gd name="T35" fmla="*/ 424 h 424"/>
                <a:gd name="T36" fmla="*/ 184 w 487"/>
                <a:gd name="T37" fmla="*/ 400 h 424"/>
                <a:gd name="T38" fmla="*/ 120 w 487"/>
                <a:gd name="T39" fmla="*/ 365 h 424"/>
                <a:gd name="T40" fmla="*/ 71 w 487"/>
                <a:gd name="T41" fmla="*/ 320 h 424"/>
                <a:gd name="T42" fmla="*/ 29 w 487"/>
                <a:gd name="T43" fmla="*/ 275 h 424"/>
                <a:gd name="T44" fmla="*/ 0 w 487"/>
                <a:gd name="T45" fmla="*/ 224 h 424"/>
                <a:gd name="T46" fmla="*/ 11 w 487"/>
                <a:gd name="T47" fmla="*/ 175 h 424"/>
                <a:gd name="T48" fmla="*/ 35 w 487"/>
                <a:gd name="T49" fmla="*/ 108 h 424"/>
                <a:gd name="T50" fmla="*/ 59 w 487"/>
                <a:gd name="T51" fmla="*/ 66 h 424"/>
                <a:gd name="T52" fmla="*/ 94 w 487"/>
                <a:gd name="T53"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7" h="424">
                  <a:moveTo>
                    <a:pt x="94" y="0"/>
                  </a:moveTo>
                  <a:lnTo>
                    <a:pt x="115" y="35"/>
                  </a:lnTo>
                  <a:lnTo>
                    <a:pt x="125" y="50"/>
                  </a:lnTo>
                  <a:lnTo>
                    <a:pt x="143" y="84"/>
                  </a:lnTo>
                  <a:lnTo>
                    <a:pt x="156" y="107"/>
                  </a:lnTo>
                  <a:lnTo>
                    <a:pt x="174" y="122"/>
                  </a:lnTo>
                  <a:lnTo>
                    <a:pt x="201" y="143"/>
                  </a:lnTo>
                  <a:lnTo>
                    <a:pt x="246" y="166"/>
                  </a:lnTo>
                  <a:lnTo>
                    <a:pt x="288" y="166"/>
                  </a:lnTo>
                  <a:lnTo>
                    <a:pt x="327" y="161"/>
                  </a:lnTo>
                  <a:lnTo>
                    <a:pt x="375" y="143"/>
                  </a:lnTo>
                  <a:lnTo>
                    <a:pt x="440" y="114"/>
                  </a:lnTo>
                  <a:lnTo>
                    <a:pt x="446" y="138"/>
                  </a:lnTo>
                  <a:lnTo>
                    <a:pt x="476" y="304"/>
                  </a:lnTo>
                  <a:lnTo>
                    <a:pt x="487" y="389"/>
                  </a:lnTo>
                  <a:lnTo>
                    <a:pt x="417" y="412"/>
                  </a:lnTo>
                  <a:lnTo>
                    <a:pt x="327" y="418"/>
                  </a:lnTo>
                  <a:lnTo>
                    <a:pt x="275" y="424"/>
                  </a:lnTo>
                  <a:lnTo>
                    <a:pt x="184" y="400"/>
                  </a:lnTo>
                  <a:lnTo>
                    <a:pt x="120" y="365"/>
                  </a:lnTo>
                  <a:lnTo>
                    <a:pt x="71" y="320"/>
                  </a:lnTo>
                  <a:lnTo>
                    <a:pt x="29" y="275"/>
                  </a:lnTo>
                  <a:lnTo>
                    <a:pt x="0" y="224"/>
                  </a:lnTo>
                  <a:lnTo>
                    <a:pt x="11" y="175"/>
                  </a:lnTo>
                  <a:lnTo>
                    <a:pt x="35" y="108"/>
                  </a:lnTo>
                  <a:lnTo>
                    <a:pt x="59" y="66"/>
                  </a:lnTo>
                  <a:lnTo>
                    <a:pt x="94" y="0"/>
                  </a:lnTo>
                  <a:close/>
                </a:path>
              </a:pathLst>
            </a:custGeom>
            <a:solidFill>
              <a:srgbClr val="FFFFFF"/>
            </a:solidFill>
            <a:ln w="7938">
              <a:solidFill>
                <a:srgbClr val="000000"/>
              </a:solidFill>
              <a:prstDash val="solid"/>
              <a:round/>
              <a:headEnd/>
              <a:tailEnd/>
            </a:ln>
          </p:spPr>
          <p:txBody>
            <a:bodyPr/>
            <a:lstStyle/>
            <a:p>
              <a:endParaRPr lang="zh-CN" altLang="en-US"/>
            </a:p>
          </p:txBody>
        </p:sp>
        <p:grpSp>
          <p:nvGrpSpPr>
            <p:cNvPr id="35895" name="Group 55">
              <a:extLst>
                <a:ext uri="{FF2B5EF4-FFF2-40B4-BE49-F238E27FC236}">
                  <a16:creationId xmlns:a16="http://schemas.microsoft.com/office/drawing/2014/main" id="{C4C2A891-FA29-4DE6-87BB-80AE4715E648}"/>
                </a:ext>
              </a:extLst>
            </p:cNvPr>
            <p:cNvGrpSpPr>
              <a:grpSpLocks/>
            </p:cNvGrpSpPr>
            <p:nvPr/>
          </p:nvGrpSpPr>
          <p:grpSpPr bwMode="auto">
            <a:xfrm rot="16200000" flipV="1">
              <a:off x="2006" y="1788"/>
              <a:ext cx="442" cy="322"/>
              <a:chOff x="4363" y="2585"/>
              <a:chExt cx="1104" cy="808"/>
            </a:xfrm>
          </p:grpSpPr>
          <p:sp>
            <p:nvSpPr>
              <p:cNvPr id="35896" name="Freeform 56">
                <a:extLst>
                  <a:ext uri="{FF2B5EF4-FFF2-40B4-BE49-F238E27FC236}">
                    <a16:creationId xmlns:a16="http://schemas.microsoft.com/office/drawing/2014/main" id="{77DA94EB-B2F2-4A7C-90D6-414FB80B7EFE}"/>
                  </a:ext>
                </a:extLst>
              </p:cNvPr>
              <p:cNvSpPr>
                <a:spLocks/>
              </p:cNvSpPr>
              <p:nvPr/>
            </p:nvSpPr>
            <p:spPr bwMode="auto">
              <a:xfrm>
                <a:off x="4363" y="2585"/>
                <a:ext cx="1104" cy="808"/>
              </a:xfrm>
              <a:custGeom>
                <a:avLst/>
                <a:gdLst>
                  <a:gd name="T0" fmla="*/ 729 w 3311"/>
                  <a:gd name="T1" fmla="*/ 97 h 2423"/>
                  <a:gd name="T2" fmla="*/ 1249 w 3311"/>
                  <a:gd name="T3" fmla="*/ 0 h 2423"/>
                  <a:gd name="T4" fmla="*/ 1674 w 3311"/>
                  <a:gd name="T5" fmla="*/ 79 h 2423"/>
                  <a:gd name="T6" fmla="*/ 2115 w 3311"/>
                  <a:gd name="T7" fmla="*/ 271 h 2423"/>
                  <a:gd name="T8" fmla="*/ 2512 w 3311"/>
                  <a:gd name="T9" fmla="*/ 443 h 2423"/>
                  <a:gd name="T10" fmla="*/ 2874 w 3311"/>
                  <a:gd name="T11" fmla="*/ 584 h 2423"/>
                  <a:gd name="T12" fmla="*/ 2967 w 3311"/>
                  <a:gd name="T13" fmla="*/ 663 h 2423"/>
                  <a:gd name="T14" fmla="*/ 2971 w 3311"/>
                  <a:gd name="T15" fmla="*/ 829 h 2423"/>
                  <a:gd name="T16" fmla="*/ 2874 w 3311"/>
                  <a:gd name="T17" fmla="*/ 909 h 2423"/>
                  <a:gd name="T18" fmla="*/ 2708 w 3311"/>
                  <a:gd name="T19" fmla="*/ 938 h 2423"/>
                  <a:gd name="T20" fmla="*/ 2574 w 3311"/>
                  <a:gd name="T21" fmla="*/ 931 h 2423"/>
                  <a:gd name="T22" fmla="*/ 2424 w 3311"/>
                  <a:gd name="T23" fmla="*/ 900 h 2423"/>
                  <a:gd name="T24" fmla="*/ 2477 w 3311"/>
                  <a:gd name="T25" fmla="*/ 981 h 2423"/>
                  <a:gd name="T26" fmla="*/ 2526 w 3311"/>
                  <a:gd name="T27" fmla="*/ 1048 h 2423"/>
                  <a:gd name="T28" fmla="*/ 2756 w 3311"/>
                  <a:gd name="T29" fmla="*/ 1194 h 2423"/>
                  <a:gd name="T30" fmla="*/ 2874 w 3311"/>
                  <a:gd name="T31" fmla="*/ 1309 h 2423"/>
                  <a:gd name="T32" fmla="*/ 2983 w 3311"/>
                  <a:gd name="T33" fmla="*/ 1420 h 2423"/>
                  <a:gd name="T34" fmla="*/ 3158 w 3311"/>
                  <a:gd name="T35" fmla="*/ 1570 h 2423"/>
                  <a:gd name="T36" fmla="*/ 3249 w 3311"/>
                  <a:gd name="T37" fmla="*/ 1676 h 2423"/>
                  <a:gd name="T38" fmla="*/ 3299 w 3311"/>
                  <a:gd name="T39" fmla="*/ 1776 h 2423"/>
                  <a:gd name="T40" fmla="*/ 3308 w 3311"/>
                  <a:gd name="T41" fmla="*/ 1879 h 2423"/>
                  <a:gd name="T42" fmla="*/ 3239 w 3311"/>
                  <a:gd name="T43" fmla="*/ 1969 h 2423"/>
                  <a:gd name="T44" fmla="*/ 3228 w 3311"/>
                  <a:gd name="T45" fmla="*/ 2050 h 2423"/>
                  <a:gd name="T46" fmla="*/ 3237 w 3311"/>
                  <a:gd name="T47" fmla="*/ 2131 h 2423"/>
                  <a:gd name="T48" fmla="*/ 3218 w 3311"/>
                  <a:gd name="T49" fmla="*/ 2200 h 2423"/>
                  <a:gd name="T50" fmla="*/ 3184 w 3311"/>
                  <a:gd name="T51" fmla="*/ 2244 h 2423"/>
                  <a:gd name="T52" fmla="*/ 3117 w 3311"/>
                  <a:gd name="T53" fmla="*/ 2272 h 2423"/>
                  <a:gd name="T54" fmla="*/ 3002 w 3311"/>
                  <a:gd name="T55" fmla="*/ 2267 h 2423"/>
                  <a:gd name="T56" fmla="*/ 2939 w 3311"/>
                  <a:gd name="T57" fmla="*/ 2291 h 2423"/>
                  <a:gd name="T58" fmla="*/ 2923 w 3311"/>
                  <a:gd name="T59" fmla="*/ 2369 h 2423"/>
                  <a:gd name="T60" fmla="*/ 2890 w 3311"/>
                  <a:gd name="T61" fmla="*/ 2410 h 2423"/>
                  <a:gd name="T62" fmla="*/ 2842 w 3311"/>
                  <a:gd name="T63" fmla="*/ 2422 h 2423"/>
                  <a:gd name="T64" fmla="*/ 2768 w 3311"/>
                  <a:gd name="T65" fmla="*/ 2420 h 2423"/>
                  <a:gd name="T66" fmla="*/ 2629 w 3311"/>
                  <a:gd name="T67" fmla="*/ 2373 h 2423"/>
                  <a:gd name="T68" fmla="*/ 2337 w 3311"/>
                  <a:gd name="T69" fmla="*/ 2223 h 2423"/>
                  <a:gd name="T70" fmla="*/ 2176 w 3311"/>
                  <a:gd name="T71" fmla="*/ 2173 h 2423"/>
                  <a:gd name="T72" fmla="*/ 2012 w 3311"/>
                  <a:gd name="T73" fmla="*/ 2147 h 2423"/>
                  <a:gd name="T74" fmla="*/ 1642 w 3311"/>
                  <a:gd name="T75" fmla="*/ 2004 h 2423"/>
                  <a:gd name="T76" fmla="*/ 1364 w 3311"/>
                  <a:gd name="T77" fmla="*/ 1853 h 2423"/>
                  <a:gd name="T78" fmla="*/ 1158 w 3311"/>
                  <a:gd name="T79" fmla="*/ 1766 h 2423"/>
                  <a:gd name="T80" fmla="*/ 995 w 3311"/>
                  <a:gd name="T81" fmla="*/ 1687 h 2423"/>
                  <a:gd name="T82" fmla="*/ 821 w 3311"/>
                  <a:gd name="T83" fmla="*/ 1562 h 2423"/>
                  <a:gd name="T84" fmla="*/ 270 w 3311"/>
                  <a:gd name="T85" fmla="*/ 1059 h 2423"/>
                  <a:gd name="T86" fmla="*/ 208 w 3311"/>
                  <a:gd name="T87" fmla="*/ 206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11" h="2423">
                    <a:moveTo>
                      <a:pt x="538" y="113"/>
                    </a:moveTo>
                    <a:lnTo>
                      <a:pt x="729" y="97"/>
                    </a:lnTo>
                    <a:lnTo>
                      <a:pt x="1027" y="48"/>
                    </a:lnTo>
                    <a:lnTo>
                      <a:pt x="1249" y="0"/>
                    </a:lnTo>
                    <a:lnTo>
                      <a:pt x="1563" y="32"/>
                    </a:lnTo>
                    <a:lnTo>
                      <a:pt x="1674" y="79"/>
                    </a:lnTo>
                    <a:lnTo>
                      <a:pt x="1926" y="175"/>
                    </a:lnTo>
                    <a:lnTo>
                      <a:pt x="2115" y="271"/>
                    </a:lnTo>
                    <a:lnTo>
                      <a:pt x="2376" y="379"/>
                    </a:lnTo>
                    <a:lnTo>
                      <a:pt x="2512" y="443"/>
                    </a:lnTo>
                    <a:lnTo>
                      <a:pt x="2708" y="513"/>
                    </a:lnTo>
                    <a:lnTo>
                      <a:pt x="2874" y="584"/>
                    </a:lnTo>
                    <a:lnTo>
                      <a:pt x="2927" y="616"/>
                    </a:lnTo>
                    <a:lnTo>
                      <a:pt x="2967" y="663"/>
                    </a:lnTo>
                    <a:lnTo>
                      <a:pt x="2993" y="753"/>
                    </a:lnTo>
                    <a:lnTo>
                      <a:pt x="2971" y="829"/>
                    </a:lnTo>
                    <a:lnTo>
                      <a:pt x="2929" y="873"/>
                    </a:lnTo>
                    <a:lnTo>
                      <a:pt x="2874" y="909"/>
                    </a:lnTo>
                    <a:lnTo>
                      <a:pt x="2795" y="935"/>
                    </a:lnTo>
                    <a:lnTo>
                      <a:pt x="2708" y="938"/>
                    </a:lnTo>
                    <a:lnTo>
                      <a:pt x="2643" y="937"/>
                    </a:lnTo>
                    <a:lnTo>
                      <a:pt x="2574" y="931"/>
                    </a:lnTo>
                    <a:lnTo>
                      <a:pt x="2498" y="920"/>
                    </a:lnTo>
                    <a:lnTo>
                      <a:pt x="2424" y="900"/>
                    </a:lnTo>
                    <a:lnTo>
                      <a:pt x="2258" y="837"/>
                    </a:lnTo>
                    <a:lnTo>
                      <a:pt x="2477" y="981"/>
                    </a:lnTo>
                    <a:lnTo>
                      <a:pt x="2512" y="1013"/>
                    </a:lnTo>
                    <a:lnTo>
                      <a:pt x="2526" y="1048"/>
                    </a:lnTo>
                    <a:lnTo>
                      <a:pt x="2645" y="1115"/>
                    </a:lnTo>
                    <a:lnTo>
                      <a:pt x="2756" y="1194"/>
                    </a:lnTo>
                    <a:lnTo>
                      <a:pt x="2824" y="1275"/>
                    </a:lnTo>
                    <a:lnTo>
                      <a:pt x="2874" y="1309"/>
                    </a:lnTo>
                    <a:lnTo>
                      <a:pt x="2929" y="1351"/>
                    </a:lnTo>
                    <a:lnTo>
                      <a:pt x="2983" y="1420"/>
                    </a:lnTo>
                    <a:lnTo>
                      <a:pt x="3024" y="1475"/>
                    </a:lnTo>
                    <a:lnTo>
                      <a:pt x="3158" y="1570"/>
                    </a:lnTo>
                    <a:lnTo>
                      <a:pt x="3202" y="1613"/>
                    </a:lnTo>
                    <a:lnTo>
                      <a:pt x="3249" y="1676"/>
                    </a:lnTo>
                    <a:lnTo>
                      <a:pt x="3273" y="1722"/>
                    </a:lnTo>
                    <a:lnTo>
                      <a:pt x="3299" y="1776"/>
                    </a:lnTo>
                    <a:lnTo>
                      <a:pt x="3311" y="1829"/>
                    </a:lnTo>
                    <a:lnTo>
                      <a:pt x="3308" y="1879"/>
                    </a:lnTo>
                    <a:lnTo>
                      <a:pt x="3287" y="1928"/>
                    </a:lnTo>
                    <a:lnTo>
                      <a:pt x="3239" y="1969"/>
                    </a:lnTo>
                    <a:lnTo>
                      <a:pt x="3196" y="1988"/>
                    </a:lnTo>
                    <a:lnTo>
                      <a:pt x="3228" y="2050"/>
                    </a:lnTo>
                    <a:lnTo>
                      <a:pt x="3239" y="2087"/>
                    </a:lnTo>
                    <a:lnTo>
                      <a:pt x="3237" y="2131"/>
                    </a:lnTo>
                    <a:lnTo>
                      <a:pt x="3227" y="2179"/>
                    </a:lnTo>
                    <a:lnTo>
                      <a:pt x="3218" y="2200"/>
                    </a:lnTo>
                    <a:lnTo>
                      <a:pt x="3201" y="2226"/>
                    </a:lnTo>
                    <a:lnTo>
                      <a:pt x="3184" y="2244"/>
                    </a:lnTo>
                    <a:lnTo>
                      <a:pt x="3159" y="2262"/>
                    </a:lnTo>
                    <a:lnTo>
                      <a:pt x="3117" y="2272"/>
                    </a:lnTo>
                    <a:lnTo>
                      <a:pt x="3068" y="2281"/>
                    </a:lnTo>
                    <a:lnTo>
                      <a:pt x="3002" y="2267"/>
                    </a:lnTo>
                    <a:lnTo>
                      <a:pt x="2934" y="2245"/>
                    </a:lnTo>
                    <a:lnTo>
                      <a:pt x="2939" y="2291"/>
                    </a:lnTo>
                    <a:lnTo>
                      <a:pt x="2934" y="2342"/>
                    </a:lnTo>
                    <a:lnTo>
                      <a:pt x="2923" y="2369"/>
                    </a:lnTo>
                    <a:lnTo>
                      <a:pt x="2908" y="2394"/>
                    </a:lnTo>
                    <a:lnTo>
                      <a:pt x="2890" y="2410"/>
                    </a:lnTo>
                    <a:lnTo>
                      <a:pt x="2867" y="2420"/>
                    </a:lnTo>
                    <a:lnTo>
                      <a:pt x="2842" y="2422"/>
                    </a:lnTo>
                    <a:lnTo>
                      <a:pt x="2808" y="2423"/>
                    </a:lnTo>
                    <a:lnTo>
                      <a:pt x="2768" y="2420"/>
                    </a:lnTo>
                    <a:lnTo>
                      <a:pt x="2734" y="2410"/>
                    </a:lnTo>
                    <a:lnTo>
                      <a:pt x="2629" y="2373"/>
                    </a:lnTo>
                    <a:lnTo>
                      <a:pt x="2537" y="2325"/>
                    </a:lnTo>
                    <a:lnTo>
                      <a:pt x="2337" y="2223"/>
                    </a:lnTo>
                    <a:lnTo>
                      <a:pt x="2229" y="2147"/>
                    </a:lnTo>
                    <a:lnTo>
                      <a:pt x="2176" y="2173"/>
                    </a:lnTo>
                    <a:lnTo>
                      <a:pt x="2115" y="2173"/>
                    </a:lnTo>
                    <a:lnTo>
                      <a:pt x="2012" y="2147"/>
                    </a:lnTo>
                    <a:lnTo>
                      <a:pt x="1832" y="2084"/>
                    </a:lnTo>
                    <a:lnTo>
                      <a:pt x="1642" y="2004"/>
                    </a:lnTo>
                    <a:lnTo>
                      <a:pt x="1454" y="1910"/>
                    </a:lnTo>
                    <a:lnTo>
                      <a:pt x="1364" y="1853"/>
                    </a:lnTo>
                    <a:lnTo>
                      <a:pt x="1263" y="1800"/>
                    </a:lnTo>
                    <a:lnTo>
                      <a:pt x="1158" y="1766"/>
                    </a:lnTo>
                    <a:lnTo>
                      <a:pt x="1073" y="1729"/>
                    </a:lnTo>
                    <a:lnTo>
                      <a:pt x="995" y="1687"/>
                    </a:lnTo>
                    <a:lnTo>
                      <a:pt x="941" y="1654"/>
                    </a:lnTo>
                    <a:lnTo>
                      <a:pt x="821" y="1562"/>
                    </a:lnTo>
                    <a:lnTo>
                      <a:pt x="585" y="1341"/>
                    </a:lnTo>
                    <a:lnTo>
                      <a:pt x="270" y="1059"/>
                    </a:lnTo>
                    <a:lnTo>
                      <a:pt x="0" y="696"/>
                    </a:lnTo>
                    <a:lnTo>
                      <a:pt x="208" y="206"/>
                    </a:lnTo>
                    <a:lnTo>
                      <a:pt x="538" y="113"/>
                    </a:lnTo>
                    <a:close/>
                  </a:path>
                </a:pathLst>
              </a:custGeom>
              <a:solidFill>
                <a:srgbClr val="FFDBB7"/>
              </a:solidFill>
              <a:ln w="6350">
                <a:solidFill>
                  <a:srgbClr val="000000"/>
                </a:solidFill>
                <a:prstDash val="solid"/>
                <a:round/>
                <a:headEnd/>
                <a:tailEnd/>
              </a:ln>
            </p:spPr>
            <p:txBody>
              <a:bodyPr/>
              <a:lstStyle/>
              <a:p>
                <a:endParaRPr lang="zh-CN" altLang="en-US"/>
              </a:p>
            </p:txBody>
          </p:sp>
          <p:sp>
            <p:nvSpPr>
              <p:cNvPr id="35897" name="Freeform 57">
                <a:extLst>
                  <a:ext uri="{FF2B5EF4-FFF2-40B4-BE49-F238E27FC236}">
                    <a16:creationId xmlns:a16="http://schemas.microsoft.com/office/drawing/2014/main" id="{9DD3A87E-F359-450C-96BB-E5088EEE8155}"/>
                  </a:ext>
                </a:extLst>
              </p:cNvPr>
              <p:cNvSpPr>
                <a:spLocks/>
              </p:cNvSpPr>
              <p:nvPr/>
            </p:nvSpPr>
            <p:spPr bwMode="auto">
              <a:xfrm>
                <a:off x="4784" y="3075"/>
                <a:ext cx="336" cy="224"/>
              </a:xfrm>
              <a:custGeom>
                <a:avLst/>
                <a:gdLst>
                  <a:gd name="T0" fmla="*/ 961 w 1008"/>
                  <a:gd name="T1" fmla="*/ 673 h 673"/>
                  <a:gd name="T2" fmla="*/ 995 w 1008"/>
                  <a:gd name="T3" fmla="*/ 624 h 673"/>
                  <a:gd name="T4" fmla="*/ 1008 w 1008"/>
                  <a:gd name="T5" fmla="*/ 572 h 673"/>
                  <a:gd name="T6" fmla="*/ 1004 w 1008"/>
                  <a:gd name="T7" fmla="*/ 530 h 673"/>
                  <a:gd name="T8" fmla="*/ 970 w 1008"/>
                  <a:gd name="T9" fmla="*/ 469 h 673"/>
                  <a:gd name="T10" fmla="*/ 916 w 1008"/>
                  <a:gd name="T11" fmla="*/ 420 h 673"/>
                  <a:gd name="T12" fmla="*/ 847 w 1008"/>
                  <a:gd name="T13" fmla="*/ 372 h 673"/>
                  <a:gd name="T14" fmla="*/ 763 w 1008"/>
                  <a:gd name="T15" fmla="*/ 332 h 673"/>
                  <a:gd name="T16" fmla="*/ 679 w 1008"/>
                  <a:gd name="T17" fmla="*/ 310 h 673"/>
                  <a:gd name="T18" fmla="*/ 599 w 1008"/>
                  <a:gd name="T19" fmla="*/ 291 h 673"/>
                  <a:gd name="T20" fmla="*/ 557 w 1008"/>
                  <a:gd name="T21" fmla="*/ 248 h 673"/>
                  <a:gd name="T22" fmla="*/ 513 w 1008"/>
                  <a:gd name="T23" fmla="*/ 208 h 673"/>
                  <a:gd name="T24" fmla="*/ 454 w 1008"/>
                  <a:gd name="T25" fmla="*/ 161 h 673"/>
                  <a:gd name="T26" fmla="*/ 405 w 1008"/>
                  <a:gd name="T27" fmla="*/ 129 h 673"/>
                  <a:gd name="T28" fmla="*/ 332 w 1008"/>
                  <a:gd name="T29" fmla="*/ 92 h 673"/>
                  <a:gd name="T30" fmla="*/ 292 w 1008"/>
                  <a:gd name="T31" fmla="*/ 75 h 673"/>
                  <a:gd name="T32" fmla="*/ 220 w 1008"/>
                  <a:gd name="T33" fmla="*/ 33 h 673"/>
                  <a:gd name="T34" fmla="*/ 142 w 1008"/>
                  <a:gd name="T35" fmla="*/ 10 h 673"/>
                  <a:gd name="T36" fmla="*/ 53 w 1008"/>
                  <a:gd name="T37" fmla="*/ 0 h 673"/>
                  <a:gd name="T38" fmla="*/ 0 w 1008"/>
                  <a:gd name="T39" fmla="*/ 1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08" h="673">
                    <a:moveTo>
                      <a:pt x="961" y="673"/>
                    </a:moveTo>
                    <a:lnTo>
                      <a:pt x="995" y="624"/>
                    </a:lnTo>
                    <a:lnTo>
                      <a:pt x="1008" y="572"/>
                    </a:lnTo>
                    <a:lnTo>
                      <a:pt x="1004" y="530"/>
                    </a:lnTo>
                    <a:lnTo>
                      <a:pt x="970" y="469"/>
                    </a:lnTo>
                    <a:lnTo>
                      <a:pt x="916" y="420"/>
                    </a:lnTo>
                    <a:lnTo>
                      <a:pt x="847" y="372"/>
                    </a:lnTo>
                    <a:lnTo>
                      <a:pt x="763" y="332"/>
                    </a:lnTo>
                    <a:lnTo>
                      <a:pt x="679" y="310"/>
                    </a:lnTo>
                    <a:lnTo>
                      <a:pt x="599" y="291"/>
                    </a:lnTo>
                    <a:lnTo>
                      <a:pt x="557" y="248"/>
                    </a:lnTo>
                    <a:lnTo>
                      <a:pt x="513" y="208"/>
                    </a:lnTo>
                    <a:lnTo>
                      <a:pt x="454" y="161"/>
                    </a:lnTo>
                    <a:lnTo>
                      <a:pt x="405" y="129"/>
                    </a:lnTo>
                    <a:lnTo>
                      <a:pt x="332" y="92"/>
                    </a:lnTo>
                    <a:lnTo>
                      <a:pt x="292" y="75"/>
                    </a:lnTo>
                    <a:lnTo>
                      <a:pt x="220" y="33"/>
                    </a:lnTo>
                    <a:lnTo>
                      <a:pt x="142" y="10"/>
                    </a:lnTo>
                    <a:lnTo>
                      <a:pt x="53" y="0"/>
                    </a:lnTo>
                    <a:lnTo>
                      <a:pt x="0" y="1"/>
                    </a:lnTo>
                  </a:path>
                </a:pathLst>
              </a:custGeom>
              <a:solidFill>
                <a:srgbClr val="FFDBB7"/>
              </a:solidFill>
              <a:ln w="6350">
                <a:solidFill>
                  <a:srgbClr val="000000"/>
                </a:solidFill>
                <a:prstDash val="solid"/>
                <a:round/>
                <a:headEnd/>
                <a:tailEnd/>
              </a:ln>
            </p:spPr>
            <p:txBody>
              <a:bodyPr/>
              <a:lstStyle/>
              <a:p>
                <a:endParaRPr lang="zh-CN" altLang="en-US"/>
              </a:p>
            </p:txBody>
          </p:sp>
          <p:sp>
            <p:nvSpPr>
              <p:cNvPr id="35898" name="Freeform 58">
                <a:extLst>
                  <a:ext uri="{FF2B5EF4-FFF2-40B4-BE49-F238E27FC236}">
                    <a16:creationId xmlns:a16="http://schemas.microsoft.com/office/drawing/2014/main" id="{47239805-FAAD-4D53-AF08-F75659397FA3}"/>
                  </a:ext>
                </a:extLst>
              </p:cNvPr>
              <p:cNvSpPr>
                <a:spLocks/>
              </p:cNvSpPr>
              <p:nvPr/>
            </p:nvSpPr>
            <p:spPr bwMode="auto">
              <a:xfrm>
                <a:off x="4981" y="3054"/>
                <a:ext cx="359" cy="279"/>
              </a:xfrm>
              <a:custGeom>
                <a:avLst/>
                <a:gdLst>
                  <a:gd name="T0" fmla="*/ 1077 w 1077"/>
                  <a:gd name="T1" fmla="*/ 838 h 838"/>
                  <a:gd name="T2" fmla="*/ 1069 w 1077"/>
                  <a:gd name="T3" fmla="*/ 806 h 838"/>
                  <a:gd name="T4" fmla="*/ 1057 w 1077"/>
                  <a:gd name="T5" fmla="*/ 769 h 838"/>
                  <a:gd name="T6" fmla="*/ 1036 w 1077"/>
                  <a:gd name="T7" fmla="*/ 732 h 838"/>
                  <a:gd name="T8" fmla="*/ 1016 w 1077"/>
                  <a:gd name="T9" fmla="*/ 704 h 838"/>
                  <a:gd name="T10" fmla="*/ 989 w 1077"/>
                  <a:gd name="T11" fmla="*/ 676 h 838"/>
                  <a:gd name="T12" fmla="*/ 908 w 1077"/>
                  <a:gd name="T13" fmla="*/ 609 h 838"/>
                  <a:gd name="T14" fmla="*/ 814 w 1077"/>
                  <a:gd name="T15" fmla="*/ 548 h 838"/>
                  <a:gd name="T16" fmla="*/ 736 w 1077"/>
                  <a:gd name="T17" fmla="*/ 514 h 838"/>
                  <a:gd name="T18" fmla="*/ 635 w 1077"/>
                  <a:gd name="T19" fmla="*/ 485 h 838"/>
                  <a:gd name="T20" fmla="*/ 547 w 1077"/>
                  <a:gd name="T21" fmla="*/ 413 h 838"/>
                  <a:gd name="T22" fmla="*/ 469 w 1077"/>
                  <a:gd name="T23" fmla="*/ 339 h 838"/>
                  <a:gd name="T24" fmla="*/ 386 w 1077"/>
                  <a:gd name="T25" fmla="*/ 275 h 838"/>
                  <a:gd name="T26" fmla="*/ 286 w 1077"/>
                  <a:gd name="T27" fmla="*/ 213 h 838"/>
                  <a:gd name="T28" fmla="*/ 198 w 1077"/>
                  <a:gd name="T29" fmla="*/ 159 h 838"/>
                  <a:gd name="T30" fmla="*/ 120 w 1077"/>
                  <a:gd name="T31" fmla="*/ 72 h 838"/>
                  <a:gd name="T32" fmla="*/ 0 w 1077"/>
                  <a:gd name="T33" fmla="*/ 0 h 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7" h="838">
                    <a:moveTo>
                      <a:pt x="1077" y="838"/>
                    </a:moveTo>
                    <a:lnTo>
                      <a:pt x="1069" y="806"/>
                    </a:lnTo>
                    <a:lnTo>
                      <a:pt x="1057" y="769"/>
                    </a:lnTo>
                    <a:lnTo>
                      <a:pt x="1036" y="732"/>
                    </a:lnTo>
                    <a:lnTo>
                      <a:pt x="1016" y="704"/>
                    </a:lnTo>
                    <a:lnTo>
                      <a:pt x="989" y="676"/>
                    </a:lnTo>
                    <a:lnTo>
                      <a:pt x="908" y="609"/>
                    </a:lnTo>
                    <a:lnTo>
                      <a:pt x="814" y="548"/>
                    </a:lnTo>
                    <a:lnTo>
                      <a:pt x="736" y="514"/>
                    </a:lnTo>
                    <a:lnTo>
                      <a:pt x="635" y="485"/>
                    </a:lnTo>
                    <a:lnTo>
                      <a:pt x="547" y="413"/>
                    </a:lnTo>
                    <a:lnTo>
                      <a:pt x="469" y="339"/>
                    </a:lnTo>
                    <a:lnTo>
                      <a:pt x="386" y="275"/>
                    </a:lnTo>
                    <a:lnTo>
                      <a:pt x="286" y="213"/>
                    </a:lnTo>
                    <a:lnTo>
                      <a:pt x="198" y="159"/>
                    </a:lnTo>
                    <a:lnTo>
                      <a:pt x="120" y="72"/>
                    </a:lnTo>
                    <a:lnTo>
                      <a:pt x="0"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899" name="Freeform 59">
                <a:extLst>
                  <a:ext uri="{FF2B5EF4-FFF2-40B4-BE49-F238E27FC236}">
                    <a16:creationId xmlns:a16="http://schemas.microsoft.com/office/drawing/2014/main" id="{3C719586-A4A7-4034-97E7-CD4D0BFD065F}"/>
                  </a:ext>
                </a:extLst>
              </p:cNvPr>
              <p:cNvSpPr>
                <a:spLocks/>
              </p:cNvSpPr>
              <p:nvPr/>
            </p:nvSpPr>
            <p:spPr bwMode="auto">
              <a:xfrm>
                <a:off x="5074" y="2973"/>
                <a:ext cx="356" cy="276"/>
              </a:xfrm>
              <a:custGeom>
                <a:avLst/>
                <a:gdLst>
                  <a:gd name="T0" fmla="*/ 1069 w 1069"/>
                  <a:gd name="T1" fmla="*/ 828 h 828"/>
                  <a:gd name="T2" fmla="*/ 1026 w 1069"/>
                  <a:gd name="T3" fmla="*/ 771 h 828"/>
                  <a:gd name="T4" fmla="*/ 989 w 1069"/>
                  <a:gd name="T5" fmla="*/ 728 h 828"/>
                  <a:gd name="T6" fmla="*/ 947 w 1069"/>
                  <a:gd name="T7" fmla="*/ 694 h 828"/>
                  <a:gd name="T8" fmla="*/ 797 w 1069"/>
                  <a:gd name="T9" fmla="*/ 593 h 828"/>
                  <a:gd name="T10" fmla="*/ 698 w 1069"/>
                  <a:gd name="T11" fmla="*/ 540 h 828"/>
                  <a:gd name="T12" fmla="*/ 624 w 1069"/>
                  <a:gd name="T13" fmla="*/ 463 h 828"/>
                  <a:gd name="T14" fmla="*/ 539 w 1069"/>
                  <a:gd name="T15" fmla="*/ 393 h 828"/>
                  <a:gd name="T16" fmla="*/ 458 w 1069"/>
                  <a:gd name="T17" fmla="*/ 332 h 828"/>
                  <a:gd name="T18" fmla="*/ 372 w 1069"/>
                  <a:gd name="T19" fmla="*/ 278 h 828"/>
                  <a:gd name="T20" fmla="*/ 322 w 1069"/>
                  <a:gd name="T21" fmla="*/ 243 h 828"/>
                  <a:gd name="T22" fmla="*/ 222 w 1069"/>
                  <a:gd name="T23" fmla="*/ 188 h 828"/>
                  <a:gd name="T24" fmla="*/ 126 w 1069"/>
                  <a:gd name="T25" fmla="*/ 80 h 828"/>
                  <a:gd name="T26" fmla="*/ 0 w 1069"/>
                  <a:gd name="T27"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9" h="828">
                    <a:moveTo>
                      <a:pt x="1069" y="828"/>
                    </a:moveTo>
                    <a:lnTo>
                      <a:pt x="1026" y="771"/>
                    </a:lnTo>
                    <a:lnTo>
                      <a:pt x="989" y="728"/>
                    </a:lnTo>
                    <a:lnTo>
                      <a:pt x="947" y="694"/>
                    </a:lnTo>
                    <a:lnTo>
                      <a:pt x="797" y="593"/>
                    </a:lnTo>
                    <a:lnTo>
                      <a:pt x="698" y="540"/>
                    </a:lnTo>
                    <a:lnTo>
                      <a:pt x="624" y="463"/>
                    </a:lnTo>
                    <a:lnTo>
                      <a:pt x="539" y="393"/>
                    </a:lnTo>
                    <a:lnTo>
                      <a:pt x="458" y="332"/>
                    </a:lnTo>
                    <a:lnTo>
                      <a:pt x="372" y="278"/>
                    </a:lnTo>
                    <a:lnTo>
                      <a:pt x="322" y="243"/>
                    </a:lnTo>
                    <a:lnTo>
                      <a:pt x="222" y="188"/>
                    </a:lnTo>
                    <a:lnTo>
                      <a:pt x="126" y="80"/>
                    </a:lnTo>
                    <a:lnTo>
                      <a:pt x="0"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0" name="Freeform 60">
                <a:extLst>
                  <a:ext uri="{FF2B5EF4-FFF2-40B4-BE49-F238E27FC236}">
                    <a16:creationId xmlns:a16="http://schemas.microsoft.com/office/drawing/2014/main" id="{6D1130CB-4534-44B2-B940-70FA72542C47}"/>
                  </a:ext>
                </a:extLst>
              </p:cNvPr>
              <p:cNvSpPr>
                <a:spLocks/>
              </p:cNvSpPr>
              <p:nvPr/>
            </p:nvSpPr>
            <p:spPr bwMode="auto">
              <a:xfrm>
                <a:off x="5130" y="2749"/>
                <a:ext cx="12" cy="104"/>
              </a:xfrm>
              <a:custGeom>
                <a:avLst/>
                <a:gdLst>
                  <a:gd name="T0" fmla="*/ 20 w 36"/>
                  <a:gd name="T1" fmla="*/ 313 h 313"/>
                  <a:gd name="T2" fmla="*/ 4 w 36"/>
                  <a:gd name="T3" fmla="*/ 216 h 313"/>
                  <a:gd name="T4" fmla="*/ 0 w 36"/>
                  <a:gd name="T5" fmla="*/ 152 h 313"/>
                  <a:gd name="T6" fmla="*/ 16 w 36"/>
                  <a:gd name="T7" fmla="*/ 66 h 313"/>
                  <a:gd name="T8" fmla="*/ 36 w 36"/>
                  <a:gd name="T9" fmla="*/ 0 h 313"/>
                </a:gdLst>
                <a:ahLst/>
                <a:cxnLst>
                  <a:cxn ang="0">
                    <a:pos x="T0" y="T1"/>
                  </a:cxn>
                  <a:cxn ang="0">
                    <a:pos x="T2" y="T3"/>
                  </a:cxn>
                  <a:cxn ang="0">
                    <a:pos x="T4" y="T5"/>
                  </a:cxn>
                  <a:cxn ang="0">
                    <a:pos x="T6" y="T7"/>
                  </a:cxn>
                  <a:cxn ang="0">
                    <a:pos x="T8" y="T9"/>
                  </a:cxn>
                </a:cxnLst>
                <a:rect l="0" t="0" r="r" b="b"/>
                <a:pathLst>
                  <a:path w="36" h="313">
                    <a:moveTo>
                      <a:pt x="20" y="313"/>
                    </a:moveTo>
                    <a:lnTo>
                      <a:pt x="4" y="216"/>
                    </a:lnTo>
                    <a:lnTo>
                      <a:pt x="0" y="152"/>
                    </a:lnTo>
                    <a:lnTo>
                      <a:pt x="16" y="66"/>
                    </a:lnTo>
                    <a:lnTo>
                      <a:pt x="36"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1" name="Freeform 61">
                <a:extLst>
                  <a:ext uri="{FF2B5EF4-FFF2-40B4-BE49-F238E27FC236}">
                    <a16:creationId xmlns:a16="http://schemas.microsoft.com/office/drawing/2014/main" id="{0947AF28-8D86-4637-B537-F341E5FE7FA9}"/>
                  </a:ext>
                </a:extLst>
              </p:cNvPr>
              <p:cNvSpPr>
                <a:spLocks/>
              </p:cNvSpPr>
              <p:nvPr/>
            </p:nvSpPr>
            <p:spPr bwMode="auto">
              <a:xfrm>
                <a:off x="5146" y="2938"/>
                <a:ext cx="59" cy="59"/>
              </a:xfrm>
              <a:custGeom>
                <a:avLst/>
                <a:gdLst>
                  <a:gd name="T0" fmla="*/ 177 w 177"/>
                  <a:gd name="T1" fmla="*/ 0 h 175"/>
                  <a:gd name="T2" fmla="*/ 133 w 177"/>
                  <a:gd name="T3" fmla="*/ 9 h 175"/>
                  <a:gd name="T4" fmla="*/ 84 w 177"/>
                  <a:gd name="T5" fmla="*/ 34 h 175"/>
                  <a:gd name="T6" fmla="*/ 43 w 177"/>
                  <a:gd name="T7" fmla="*/ 72 h 175"/>
                  <a:gd name="T8" fmla="*/ 21 w 177"/>
                  <a:gd name="T9" fmla="*/ 107 h 175"/>
                  <a:gd name="T10" fmla="*/ 0 w 177"/>
                  <a:gd name="T11" fmla="*/ 175 h 175"/>
                </a:gdLst>
                <a:ahLst/>
                <a:cxnLst>
                  <a:cxn ang="0">
                    <a:pos x="T0" y="T1"/>
                  </a:cxn>
                  <a:cxn ang="0">
                    <a:pos x="T2" y="T3"/>
                  </a:cxn>
                  <a:cxn ang="0">
                    <a:pos x="T4" y="T5"/>
                  </a:cxn>
                  <a:cxn ang="0">
                    <a:pos x="T6" y="T7"/>
                  </a:cxn>
                  <a:cxn ang="0">
                    <a:pos x="T8" y="T9"/>
                  </a:cxn>
                  <a:cxn ang="0">
                    <a:pos x="T10" y="T11"/>
                  </a:cxn>
                </a:cxnLst>
                <a:rect l="0" t="0" r="r" b="b"/>
                <a:pathLst>
                  <a:path w="177" h="175">
                    <a:moveTo>
                      <a:pt x="177" y="0"/>
                    </a:moveTo>
                    <a:lnTo>
                      <a:pt x="133" y="9"/>
                    </a:lnTo>
                    <a:lnTo>
                      <a:pt x="84" y="34"/>
                    </a:lnTo>
                    <a:lnTo>
                      <a:pt x="43" y="72"/>
                    </a:lnTo>
                    <a:lnTo>
                      <a:pt x="21" y="107"/>
                    </a:lnTo>
                    <a:lnTo>
                      <a:pt x="0" y="175"/>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2" name="Freeform 62">
                <a:extLst>
                  <a:ext uri="{FF2B5EF4-FFF2-40B4-BE49-F238E27FC236}">
                    <a16:creationId xmlns:a16="http://schemas.microsoft.com/office/drawing/2014/main" id="{0318E789-EB25-40D2-82C6-41BB67EEE9A6}"/>
                  </a:ext>
                </a:extLst>
              </p:cNvPr>
              <p:cNvSpPr>
                <a:spLocks/>
              </p:cNvSpPr>
              <p:nvPr/>
            </p:nvSpPr>
            <p:spPr bwMode="auto">
              <a:xfrm>
                <a:off x="5048" y="3028"/>
                <a:ext cx="94" cy="41"/>
              </a:xfrm>
              <a:custGeom>
                <a:avLst/>
                <a:gdLst>
                  <a:gd name="T0" fmla="*/ 281 w 281"/>
                  <a:gd name="T1" fmla="*/ 3 h 123"/>
                  <a:gd name="T2" fmla="*/ 229 w 281"/>
                  <a:gd name="T3" fmla="*/ 0 h 123"/>
                  <a:gd name="T4" fmla="*/ 159 w 281"/>
                  <a:gd name="T5" fmla="*/ 12 h 123"/>
                  <a:gd name="T6" fmla="*/ 88 w 281"/>
                  <a:gd name="T7" fmla="*/ 34 h 123"/>
                  <a:gd name="T8" fmla="*/ 50 w 281"/>
                  <a:gd name="T9" fmla="*/ 60 h 123"/>
                  <a:gd name="T10" fmla="*/ 0 w 281"/>
                  <a:gd name="T11" fmla="*/ 123 h 123"/>
                </a:gdLst>
                <a:ahLst/>
                <a:cxnLst>
                  <a:cxn ang="0">
                    <a:pos x="T0" y="T1"/>
                  </a:cxn>
                  <a:cxn ang="0">
                    <a:pos x="T2" y="T3"/>
                  </a:cxn>
                  <a:cxn ang="0">
                    <a:pos x="T4" y="T5"/>
                  </a:cxn>
                  <a:cxn ang="0">
                    <a:pos x="T6" y="T7"/>
                  </a:cxn>
                  <a:cxn ang="0">
                    <a:pos x="T8" y="T9"/>
                  </a:cxn>
                  <a:cxn ang="0">
                    <a:pos x="T10" y="T11"/>
                  </a:cxn>
                </a:cxnLst>
                <a:rect l="0" t="0" r="r" b="b"/>
                <a:pathLst>
                  <a:path w="281" h="123">
                    <a:moveTo>
                      <a:pt x="281" y="3"/>
                    </a:moveTo>
                    <a:lnTo>
                      <a:pt x="229" y="0"/>
                    </a:lnTo>
                    <a:lnTo>
                      <a:pt x="159" y="12"/>
                    </a:lnTo>
                    <a:lnTo>
                      <a:pt x="88" y="34"/>
                    </a:lnTo>
                    <a:lnTo>
                      <a:pt x="50" y="60"/>
                    </a:lnTo>
                    <a:lnTo>
                      <a:pt x="0" y="123"/>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3" name="Freeform 63">
                <a:extLst>
                  <a:ext uri="{FF2B5EF4-FFF2-40B4-BE49-F238E27FC236}">
                    <a16:creationId xmlns:a16="http://schemas.microsoft.com/office/drawing/2014/main" id="{409C6FB1-B7CC-48C3-8170-E706F71AC87E}"/>
                  </a:ext>
                </a:extLst>
              </p:cNvPr>
              <p:cNvSpPr>
                <a:spLocks/>
              </p:cNvSpPr>
              <p:nvPr/>
            </p:nvSpPr>
            <p:spPr bwMode="auto">
              <a:xfrm>
                <a:off x="4920" y="3088"/>
                <a:ext cx="106" cy="22"/>
              </a:xfrm>
              <a:custGeom>
                <a:avLst/>
                <a:gdLst>
                  <a:gd name="T0" fmla="*/ 319 w 319"/>
                  <a:gd name="T1" fmla="*/ 5 h 68"/>
                  <a:gd name="T2" fmla="*/ 247 w 319"/>
                  <a:gd name="T3" fmla="*/ 0 h 68"/>
                  <a:gd name="T4" fmla="*/ 171 w 319"/>
                  <a:gd name="T5" fmla="*/ 3 h 68"/>
                  <a:gd name="T6" fmla="*/ 108 w 319"/>
                  <a:gd name="T7" fmla="*/ 21 h 68"/>
                  <a:gd name="T8" fmla="*/ 42 w 319"/>
                  <a:gd name="T9" fmla="*/ 41 h 68"/>
                  <a:gd name="T10" fmla="*/ 0 w 319"/>
                  <a:gd name="T11" fmla="*/ 68 h 68"/>
                </a:gdLst>
                <a:ahLst/>
                <a:cxnLst>
                  <a:cxn ang="0">
                    <a:pos x="T0" y="T1"/>
                  </a:cxn>
                  <a:cxn ang="0">
                    <a:pos x="T2" y="T3"/>
                  </a:cxn>
                  <a:cxn ang="0">
                    <a:pos x="T4" y="T5"/>
                  </a:cxn>
                  <a:cxn ang="0">
                    <a:pos x="T6" y="T7"/>
                  </a:cxn>
                  <a:cxn ang="0">
                    <a:pos x="T8" y="T9"/>
                  </a:cxn>
                  <a:cxn ang="0">
                    <a:pos x="T10" y="T11"/>
                  </a:cxn>
                </a:cxnLst>
                <a:rect l="0" t="0" r="r" b="b"/>
                <a:pathLst>
                  <a:path w="319" h="68">
                    <a:moveTo>
                      <a:pt x="319" y="5"/>
                    </a:moveTo>
                    <a:lnTo>
                      <a:pt x="247" y="0"/>
                    </a:lnTo>
                    <a:lnTo>
                      <a:pt x="171" y="3"/>
                    </a:lnTo>
                    <a:lnTo>
                      <a:pt x="108" y="21"/>
                    </a:lnTo>
                    <a:lnTo>
                      <a:pt x="42" y="41"/>
                    </a:lnTo>
                    <a:lnTo>
                      <a:pt x="0" y="68"/>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4" name="Freeform 64">
                <a:extLst>
                  <a:ext uri="{FF2B5EF4-FFF2-40B4-BE49-F238E27FC236}">
                    <a16:creationId xmlns:a16="http://schemas.microsoft.com/office/drawing/2014/main" id="{E34F2DC5-FFE2-4D3A-A564-B8454DA262A0}"/>
                  </a:ext>
                </a:extLst>
              </p:cNvPr>
              <p:cNvSpPr>
                <a:spLocks/>
              </p:cNvSpPr>
              <p:nvPr/>
            </p:nvSpPr>
            <p:spPr bwMode="auto">
              <a:xfrm>
                <a:off x="5251" y="3010"/>
                <a:ext cx="50" cy="35"/>
              </a:xfrm>
              <a:custGeom>
                <a:avLst/>
                <a:gdLst>
                  <a:gd name="T0" fmla="*/ 150 w 150"/>
                  <a:gd name="T1" fmla="*/ 0 h 103"/>
                  <a:gd name="T2" fmla="*/ 97 w 150"/>
                  <a:gd name="T3" fmla="*/ 12 h 103"/>
                  <a:gd name="T4" fmla="*/ 45 w 150"/>
                  <a:gd name="T5" fmla="*/ 40 h 103"/>
                  <a:gd name="T6" fmla="*/ 0 w 150"/>
                  <a:gd name="T7" fmla="*/ 103 h 103"/>
                </a:gdLst>
                <a:ahLst/>
                <a:cxnLst>
                  <a:cxn ang="0">
                    <a:pos x="T0" y="T1"/>
                  </a:cxn>
                  <a:cxn ang="0">
                    <a:pos x="T2" y="T3"/>
                  </a:cxn>
                  <a:cxn ang="0">
                    <a:pos x="T4" y="T5"/>
                  </a:cxn>
                  <a:cxn ang="0">
                    <a:pos x="T6" y="T7"/>
                  </a:cxn>
                </a:cxnLst>
                <a:rect l="0" t="0" r="r" b="b"/>
                <a:pathLst>
                  <a:path w="150" h="103">
                    <a:moveTo>
                      <a:pt x="150" y="0"/>
                    </a:moveTo>
                    <a:lnTo>
                      <a:pt x="97" y="12"/>
                    </a:lnTo>
                    <a:lnTo>
                      <a:pt x="45" y="40"/>
                    </a:lnTo>
                    <a:lnTo>
                      <a:pt x="0" y="103"/>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5" name="Freeform 65">
                <a:extLst>
                  <a:ext uri="{FF2B5EF4-FFF2-40B4-BE49-F238E27FC236}">
                    <a16:creationId xmlns:a16="http://schemas.microsoft.com/office/drawing/2014/main" id="{D504C51C-EE9E-41A6-A3EA-B6B61249D662}"/>
                  </a:ext>
                </a:extLst>
              </p:cNvPr>
              <p:cNvSpPr>
                <a:spLocks/>
              </p:cNvSpPr>
              <p:nvPr/>
            </p:nvSpPr>
            <p:spPr bwMode="auto">
              <a:xfrm>
                <a:off x="5142" y="3082"/>
                <a:ext cx="81" cy="42"/>
              </a:xfrm>
              <a:custGeom>
                <a:avLst/>
                <a:gdLst>
                  <a:gd name="T0" fmla="*/ 242 w 242"/>
                  <a:gd name="T1" fmla="*/ 3 h 124"/>
                  <a:gd name="T2" fmla="*/ 165 w 242"/>
                  <a:gd name="T3" fmla="*/ 0 h 124"/>
                  <a:gd name="T4" fmla="*/ 114 w 242"/>
                  <a:gd name="T5" fmla="*/ 19 h 124"/>
                  <a:gd name="T6" fmla="*/ 59 w 242"/>
                  <a:gd name="T7" fmla="*/ 57 h 124"/>
                  <a:gd name="T8" fmla="*/ 0 w 242"/>
                  <a:gd name="T9" fmla="*/ 124 h 124"/>
                </a:gdLst>
                <a:ahLst/>
                <a:cxnLst>
                  <a:cxn ang="0">
                    <a:pos x="T0" y="T1"/>
                  </a:cxn>
                  <a:cxn ang="0">
                    <a:pos x="T2" y="T3"/>
                  </a:cxn>
                  <a:cxn ang="0">
                    <a:pos x="T4" y="T5"/>
                  </a:cxn>
                  <a:cxn ang="0">
                    <a:pos x="T6" y="T7"/>
                  </a:cxn>
                  <a:cxn ang="0">
                    <a:pos x="T8" y="T9"/>
                  </a:cxn>
                </a:cxnLst>
                <a:rect l="0" t="0" r="r" b="b"/>
                <a:pathLst>
                  <a:path w="242" h="124">
                    <a:moveTo>
                      <a:pt x="242" y="3"/>
                    </a:moveTo>
                    <a:lnTo>
                      <a:pt x="165" y="0"/>
                    </a:lnTo>
                    <a:lnTo>
                      <a:pt x="114" y="19"/>
                    </a:lnTo>
                    <a:lnTo>
                      <a:pt x="59" y="57"/>
                    </a:lnTo>
                    <a:lnTo>
                      <a:pt x="0" y="124"/>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6" name="Freeform 66">
                <a:extLst>
                  <a:ext uri="{FF2B5EF4-FFF2-40B4-BE49-F238E27FC236}">
                    <a16:creationId xmlns:a16="http://schemas.microsoft.com/office/drawing/2014/main" id="{D5FF83F1-1D43-4B7E-8611-129A970009E3}"/>
                  </a:ext>
                </a:extLst>
              </p:cNvPr>
              <p:cNvSpPr>
                <a:spLocks/>
              </p:cNvSpPr>
              <p:nvPr/>
            </p:nvSpPr>
            <p:spPr bwMode="auto">
              <a:xfrm>
                <a:off x="5262" y="3167"/>
                <a:ext cx="68" cy="32"/>
              </a:xfrm>
              <a:custGeom>
                <a:avLst/>
                <a:gdLst>
                  <a:gd name="T0" fmla="*/ 205 w 205"/>
                  <a:gd name="T1" fmla="*/ 0 h 95"/>
                  <a:gd name="T2" fmla="*/ 155 w 205"/>
                  <a:gd name="T3" fmla="*/ 0 h 95"/>
                  <a:gd name="T4" fmla="*/ 102 w 205"/>
                  <a:gd name="T5" fmla="*/ 15 h 95"/>
                  <a:gd name="T6" fmla="*/ 44 w 205"/>
                  <a:gd name="T7" fmla="*/ 48 h 95"/>
                  <a:gd name="T8" fmla="*/ 0 w 205"/>
                  <a:gd name="T9" fmla="*/ 95 h 95"/>
                </a:gdLst>
                <a:ahLst/>
                <a:cxnLst>
                  <a:cxn ang="0">
                    <a:pos x="T0" y="T1"/>
                  </a:cxn>
                  <a:cxn ang="0">
                    <a:pos x="T2" y="T3"/>
                  </a:cxn>
                  <a:cxn ang="0">
                    <a:pos x="T4" y="T5"/>
                  </a:cxn>
                  <a:cxn ang="0">
                    <a:pos x="T6" y="T7"/>
                  </a:cxn>
                  <a:cxn ang="0">
                    <a:pos x="T8" y="T9"/>
                  </a:cxn>
                </a:cxnLst>
                <a:rect l="0" t="0" r="r" b="b"/>
                <a:pathLst>
                  <a:path w="205" h="95">
                    <a:moveTo>
                      <a:pt x="205" y="0"/>
                    </a:moveTo>
                    <a:lnTo>
                      <a:pt x="155" y="0"/>
                    </a:lnTo>
                    <a:lnTo>
                      <a:pt x="102" y="15"/>
                    </a:lnTo>
                    <a:lnTo>
                      <a:pt x="44" y="48"/>
                    </a:lnTo>
                    <a:lnTo>
                      <a:pt x="0" y="95"/>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7" name="Freeform 67">
                <a:extLst>
                  <a:ext uri="{FF2B5EF4-FFF2-40B4-BE49-F238E27FC236}">
                    <a16:creationId xmlns:a16="http://schemas.microsoft.com/office/drawing/2014/main" id="{A2D728BB-63FE-4205-A71C-FF8A025F0304}"/>
                  </a:ext>
                </a:extLst>
              </p:cNvPr>
              <p:cNvSpPr>
                <a:spLocks/>
              </p:cNvSpPr>
              <p:nvPr/>
            </p:nvSpPr>
            <p:spPr bwMode="auto">
              <a:xfrm>
                <a:off x="5139" y="3221"/>
                <a:ext cx="66" cy="33"/>
              </a:xfrm>
              <a:custGeom>
                <a:avLst/>
                <a:gdLst>
                  <a:gd name="T0" fmla="*/ 199 w 199"/>
                  <a:gd name="T1" fmla="*/ 0 h 101"/>
                  <a:gd name="T2" fmla="*/ 127 w 199"/>
                  <a:gd name="T3" fmla="*/ 14 h 101"/>
                  <a:gd name="T4" fmla="*/ 81 w 199"/>
                  <a:gd name="T5" fmla="*/ 31 h 101"/>
                  <a:gd name="T6" fmla="*/ 37 w 199"/>
                  <a:gd name="T7" fmla="*/ 66 h 101"/>
                  <a:gd name="T8" fmla="*/ 0 w 199"/>
                  <a:gd name="T9" fmla="*/ 101 h 101"/>
                </a:gdLst>
                <a:ahLst/>
                <a:cxnLst>
                  <a:cxn ang="0">
                    <a:pos x="T0" y="T1"/>
                  </a:cxn>
                  <a:cxn ang="0">
                    <a:pos x="T2" y="T3"/>
                  </a:cxn>
                  <a:cxn ang="0">
                    <a:pos x="T4" y="T5"/>
                  </a:cxn>
                  <a:cxn ang="0">
                    <a:pos x="T6" y="T7"/>
                  </a:cxn>
                  <a:cxn ang="0">
                    <a:pos x="T8" y="T9"/>
                  </a:cxn>
                </a:cxnLst>
                <a:rect l="0" t="0" r="r" b="b"/>
                <a:pathLst>
                  <a:path w="199" h="101">
                    <a:moveTo>
                      <a:pt x="199" y="0"/>
                    </a:moveTo>
                    <a:lnTo>
                      <a:pt x="127" y="14"/>
                    </a:lnTo>
                    <a:lnTo>
                      <a:pt x="81" y="31"/>
                    </a:lnTo>
                    <a:lnTo>
                      <a:pt x="37" y="66"/>
                    </a:lnTo>
                    <a:lnTo>
                      <a:pt x="0" y="101"/>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8" name="Freeform 68">
                <a:extLst>
                  <a:ext uri="{FF2B5EF4-FFF2-40B4-BE49-F238E27FC236}">
                    <a16:creationId xmlns:a16="http://schemas.microsoft.com/office/drawing/2014/main" id="{A39C6125-EF3B-4B68-A923-4D1DA2369692}"/>
                  </a:ext>
                </a:extLst>
              </p:cNvPr>
              <p:cNvSpPr>
                <a:spLocks/>
              </p:cNvSpPr>
              <p:nvPr/>
            </p:nvSpPr>
            <p:spPr bwMode="auto">
              <a:xfrm>
                <a:off x="5013" y="2863"/>
                <a:ext cx="98" cy="85"/>
              </a:xfrm>
              <a:custGeom>
                <a:avLst/>
                <a:gdLst>
                  <a:gd name="T0" fmla="*/ 0 w 296"/>
                  <a:gd name="T1" fmla="*/ 253 h 253"/>
                  <a:gd name="T2" fmla="*/ 63 w 296"/>
                  <a:gd name="T3" fmla="*/ 206 h 253"/>
                  <a:gd name="T4" fmla="*/ 146 w 296"/>
                  <a:gd name="T5" fmla="*/ 142 h 253"/>
                  <a:gd name="T6" fmla="*/ 231 w 296"/>
                  <a:gd name="T7" fmla="*/ 72 h 253"/>
                  <a:gd name="T8" fmla="*/ 296 w 296"/>
                  <a:gd name="T9" fmla="*/ 0 h 253"/>
                </a:gdLst>
                <a:ahLst/>
                <a:cxnLst>
                  <a:cxn ang="0">
                    <a:pos x="T0" y="T1"/>
                  </a:cxn>
                  <a:cxn ang="0">
                    <a:pos x="T2" y="T3"/>
                  </a:cxn>
                  <a:cxn ang="0">
                    <a:pos x="T4" y="T5"/>
                  </a:cxn>
                  <a:cxn ang="0">
                    <a:pos x="T6" y="T7"/>
                  </a:cxn>
                  <a:cxn ang="0">
                    <a:pos x="T8" y="T9"/>
                  </a:cxn>
                </a:cxnLst>
                <a:rect l="0" t="0" r="r" b="b"/>
                <a:pathLst>
                  <a:path w="296" h="253">
                    <a:moveTo>
                      <a:pt x="0" y="253"/>
                    </a:moveTo>
                    <a:lnTo>
                      <a:pt x="63" y="206"/>
                    </a:lnTo>
                    <a:lnTo>
                      <a:pt x="146" y="142"/>
                    </a:lnTo>
                    <a:lnTo>
                      <a:pt x="231" y="72"/>
                    </a:lnTo>
                    <a:lnTo>
                      <a:pt x="296"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909" name="Freeform 69">
                <a:extLst>
                  <a:ext uri="{FF2B5EF4-FFF2-40B4-BE49-F238E27FC236}">
                    <a16:creationId xmlns:a16="http://schemas.microsoft.com/office/drawing/2014/main" id="{42FC5FB1-E309-499A-B971-0FD1A7DF11CB}"/>
                  </a:ext>
                </a:extLst>
              </p:cNvPr>
              <p:cNvSpPr>
                <a:spLocks/>
              </p:cNvSpPr>
              <p:nvPr/>
            </p:nvSpPr>
            <p:spPr bwMode="auto">
              <a:xfrm>
                <a:off x="5016" y="3137"/>
                <a:ext cx="79" cy="32"/>
              </a:xfrm>
              <a:custGeom>
                <a:avLst/>
                <a:gdLst>
                  <a:gd name="T0" fmla="*/ 237 w 237"/>
                  <a:gd name="T1" fmla="*/ 0 h 96"/>
                  <a:gd name="T2" fmla="*/ 152 w 237"/>
                  <a:gd name="T3" fmla="*/ 5 h 96"/>
                  <a:gd name="T4" fmla="*/ 88 w 237"/>
                  <a:gd name="T5" fmla="*/ 25 h 96"/>
                  <a:gd name="T6" fmla="*/ 41 w 237"/>
                  <a:gd name="T7" fmla="*/ 53 h 96"/>
                  <a:gd name="T8" fmla="*/ 0 w 237"/>
                  <a:gd name="T9" fmla="*/ 96 h 96"/>
                </a:gdLst>
                <a:ahLst/>
                <a:cxnLst>
                  <a:cxn ang="0">
                    <a:pos x="T0" y="T1"/>
                  </a:cxn>
                  <a:cxn ang="0">
                    <a:pos x="T2" y="T3"/>
                  </a:cxn>
                  <a:cxn ang="0">
                    <a:pos x="T4" y="T5"/>
                  </a:cxn>
                  <a:cxn ang="0">
                    <a:pos x="T6" y="T7"/>
                  </a:cxn>
                  <a:cxn ang="0">
                    <a:pos x="T8" y="T9"/>
                  </a:cxn>
                </a:cxnLst>
                <a:rect l="0" t="0" r="r" b="b"/>
                <a:pathLst>
                  <a:path w="237" h="96">
                    <a:moveTo>
                      <a:pt x="237" y="0"/>
                    </a:moveTo>
                    <a:lnTo>
                      <a:pt x="152" y="5"/>
                    </a:lnTo>
                    <a:lnTo>
                      <a:pt x="88" y="25"/>
                    </a:lnTo>
                    <a:lnTo>
                      <a:pt x="41" y="53"/>
                    </a:lnTo>
                    <a:lnTo>
                      <a:pt x="0" y="96"/>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0" name="Freeform 70">
                <a:extLst>
                  <a:ext uri="{FF2B5EF4-FFF2-40B4-BE49-F238E27FC236}">
                    <a16:creationId xmlns:a16="http://schemas.microsoft.com/office/drawing/2014/main" id="{6516B57A-1E22-425C-962D-E3B38C969079}"/>
                  </a:ext>
                </a:extLst>
              </p:cNvPr>
              <p:cNvSpPr>
                <a:spLocks/>
              </p:cNvSpPr>
              <p:nvPr/>
            </p:nvSpPr>
            <p:spPr bwMode="auto">
              <a:xfrm>
                <a:off x="5320" y="3082"/>
                <a:ext cx="66" cy="27"/>
              </a:xfrm>
              <a:custGeom>
                <a:avLst/>
                <a:gdLst>
                  <a:gd name="T0" fmla="*/ 198 w 198"/>
                  <a:gd name="T1" fmla="*/ 16 h 79"/>
                  <a:gd name="T2" fmla="*/ 145 w 198"/>
                  <a:gd name="T3" fmla="*/ 0 h 79"/>
                  <a:gd name="T4" fmla="*/ 97 w 198"/>
                  <a:gd name="T5" fmla="*/ 3 h 79"/>
                  <a:gd name="T6" fmla="*/ 47 w 198"/>
                  <a:gd name="T7" fmla="*/ 25 h 79"/>
                  <a:gd name="T8" fmla="*/ 16 w 198"/>
                  <a:gd name="T9" fmla="*/ 47 h 79"/>
                  <a:gd name="T10" fmla="*/ 0 w 198"/>
                  <a:gd name="T11" fmla="*/ 79 h 79"/>
                </a:gdLst>
                <a:ahLst/>
                <a:cxnLst>
                  <a:cxn ang="0">
                    <a:pos x="T0" y="T1"/>
                  </a:cxn>
                  <a:cxn ang="0">
                    <a:pos x="T2" y="T3"/>
                  </a:cxn>
                  <a:cxn ang="0">
                    <a:pos x="T4" y="T5"/>
                  </a:cxn>
                  <a:cxn ang="0">
                    <a:pos x="T6" y="T7"/>
                  </a:cxn>
                  <a:cxn ang="0">
                    <a:pos x="T8" y="T9"/>
                  </a:cxn>
                  <a:cxn ang="0">
                    <a:pos x="T10" y="T11"/>
                  </a:cxn>
                </a:cxnLst>
                <a:rect l="0" t="0" r="r" b="b"/>
                <a:pathLst>
                  <a:path w="198" h="79">
                    <a:moveTo>
                      <a:pt x="198" y="16"/>
                    </a:moveTo>
                    <a:lnTo>
                      <a:pt x="145" y="0"/>
                    </a:lnTo>
                    <a:lnTo>
                      <a:pt x="97" y="3"/>
                    </a:lnTo>
                    <a:lnTo>
                      <a:pt x="47" y="25"/>
                    </a:lnTo>
                    <a:lnTo>
                      <a:pt x="16" y="47"/>
                    </a:lnTo>
                    <a:lnTo>
                      <a:pt x="0" y="79"/>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1" name="Freeform 71">
                <a:extLst>
                  <a:ext uri="{FF2B5EF4-FFF2-40B4-BE49-F238E27FC236}">
                    <a16:creationId xmlns:a16="http://schemas.microsoft.com/office/drawing/2014/main" id="{F1EBE05C-EC90-4AA7-9E2F-D9609F7F6DDB}"/>
                  </a:ext>
                </a:extLst>
              </p:cNvPr>
              <p:cNvSpPr>
                <a:spLocks/>
              </p:cNvSpPr>
              <p:nvPr/>
            </p:nvSpPr>
            <p:spPr bwMode="auto">
              <a:xfrm>
                <a:off x="4928" y="3174"/>
                <a:ext cx="61" cy="24"/>
              </a:xfrm>
              <a:custGeom>
                <a:avLst/>
                <a:gdLst>
                  <a:gd name="T0" fmla="*/ 184 w 184"/>
                  <a:gd name="T1" fmla="*/ 0 h 72"/>
                  <a:gd name="T2" fmla="*/ 153 w 184"/>
                  <a:gd name="T3" fmla="*/ 0 h 72"/>
                  <a:gd name="T4" fmla="*/ 104 w 184"/>
                  <a:gd name="T5" fmla="*/ 5 h 72"/>
                  <a:gd name="T6" fmla="*/ 62 w 184"/>
                  <a:gd name="T7" fmla="*/ 17 h 72"/>
                  <a:gd name="T8" fmla="*/ 40 w 184"/>
                  <a:gd name="T9" fmla="*/ 32 h 72"/>
                  <a:gd name="T10" fmla="*/ 16 w 184"/>
                  <a:gd name="T11" fmla="*/ 54 h 72"/>
                  <a:gd name="T12" fmla="*/ 0 w 184"/>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84" h="72">
                    <a:moveTo>
                      <a:pt x="184" y="0"/>
                    </a:moveTo>
                    <a:lnTo>
                      <a:pt x="153" y="0"/>
                    </a:lnTo>
                    <a:lnTo>
                      <a:pt x="104" y="5"/>
                    </a:lnTo>
                    <a:lnTo>
                      <a:pt x="62" y="17"/>
                    </a:lnTo>
                    <a:lnTo>
                      <a:pt x="40" y="32"/>
                    </a:lnTo>
                    <a:lnTo>
                      <a:pt x="16" y="54"/>
                    </a:lnTo>
                    <a:lnTo>
                      <a:pt x="0" y="72"/>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2" name="Freeform 72">
                <a:extLst>
                  <a:ext uri="{FF2B5EF4-FFF2-40B4-BE49-F238E27FC236}">
                    <a16:creationId xmlns:a16="http://schemas.microsoft.com/office/drawing/2014/main" id="{AA254D17-D052-4042-A723-75616C072D34}"/>
                  </a:ext>
                </a:extLst>
              </p:cNvPr>
              <p:cNvSpPr>
                <a:spLocks/>
              </p:cNvSpPr>
              <p:nvPr/>
            </p:nvSpPr>
            <p:spPr bwMode="auto">
              <a:xfrm>
                <a:off x="4839" y="3054"/>
                <a:ext cx="12" cy="26"/>
              </a:xfrm>
              <a:custGeom>
                <a:avLst/>
                <a:gdLst>
                  <a:gd name="T0" fmla="*/ 0 w 38"/>
                  <a:gd name="T1" fmla="*/ 78 h 78"/>
                  <a:gd name="T2" fmla="*/ 12 w 38"/>
                  <a:gd name="T3" fmla="*/ 32 h 78"/>
                  <a:gd name="T4" fmla="*/ 28 w 38"/>
                  <a:gd name="T5" fmla="*/ 9 h 78"/>
                  <a:gd name="T6" fmla="*/ 38 w 38"/>
                  <a:gd name="T7" fmla="*/ 0 h 78"/>
                </a:gdLst>
                <a:ahLst/>
                <a:cxnLst>
                  <a:cxn ang="0">
                    <a:pos x="T0" y="T1"/>
                  </a:cxn>
                  <a:cxn ang="0">
                    <a:pos x="T2" y="T3"/>
                  </a:cxn>
                  <a:cxn ang="0">
                    <a:pos x="T4" y="T5"/>
                  </a:cxn>
                  <a:cxn ang="0">
                    <a:pos x="T6" y="T7"/>
                  </a:cxn>
                </a:cxnLst>
                <a:rect l="0" t="0" r="r" b="b"/>
                <a:pathLst>
                  <a:path w="38" h="78">
                    <a:moveTo>
                      <a:pt x="0" y="78"/>
                    </a:moveTo>
                    <a:lnTo>
                      <a:pt x="12" y="32"/>
                    </a:lnTo>
                    <a:lnTo>
                      <a:pt x="28" y="9"/>
                    </a:lnTo>
                    <a:lnTo>
                      <a:pt x="38"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3" name="Freeform 73">
                <a:extLst>
                  <a:ext uri="{FF2B5EF4-FFF2-40B4-BE49-F238E27FC236}">
                    <a16:creationId xmlns:a16="http://schemas.microsoft.com/office/drawing/2014/main" id="{AF52CB06-4B06-44CB-BFAB-77D05D6EC16A}"/>
                  </a:ext>
                </a:extLst>
              </p:cNvPr>
              <p:cNvSpPr>
                <a:spLocks/>
              </p:cNvSpPr>
              <p:nvPr/>
            </p:nvSpPr>
            <p:spPr bwMode="auto">
              <a:xfrm>
                <a:off x="4684" y="2741"/>
                <a:ext cx="342" cy="89"/>
              </a:xfrm>
              <a:custGeom>
                <a:avLst/>
                <a:gdLst>
                  <a:gd name="T0" fmla="*/ 0 w 1027"/>
                  <a:gd name="T1" fmla="*/ 0 h 266"/>
                  <a:gd name="T2" fmla="*/ 158 w 1027"/>
                  <a:gd name="T3" fmla="*/ 141 h 266"/>
                  <a:gd name="T4" fmla="*/ 270 w 1027"/>
                  <a:gd name="T5" fmla="*/ 204 h 266"/>
                  <a:gd name="T6" fmla="*/ 379 w 1027"/>
                  <a:gd name="T7" fmla="*/ 250 h 266"/>
                  <a:gd name="T8" fmla="*/ 727 w 1027"/>
                  <a:gd name="T9" fmla="*/ 266 h 266"/>
                  <a:gd name="T10" fmla="*/ 869 w 1027"/>
                  <a:gd name="T11" fmla="*/ 236 h 266"/>
                  <a:gd name="T12" fmla="*/ 948 w 1027"/>
                  <a:gd name="T13" fmla="*/ 204 h 266"/>
                  <a:gd name="T14" fmla="*/ 1027 w 1027"/>
                  <a:gd name="T15" fmla="*/ 204 h 2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7" h="266">
                    <a:moveTo>
                      <a:pt x="0" y="0"/>
                    </a:moveTo>
                    <a:lnTo>
                      <a:pt x="158" y="141"/>
                    </a:lnTo>
                    <a:lnTo>
                      <a:pt x="270" y="204"/>
                    </a:lnTo>
                    <a:lnTo>
                      <a:pt x="379" y="250"/>
                    </a:lnTo>
                    <a:lnTo>
                      <a:pt x="727" y="266"/>
                    </a:lnTo>
                    <a:lnTo>
                      <a:pt x="869" y="236"/>
                    </a:lnTo>
                    <a:lnTo>
                      <a:pt x="948" y="204"/>
                    </a:lnTo>
                    <a:lnTo>
                      <a:pt x="1027" y="204"/>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4" name="Freeform 74">
                <a:extLst>
                  <a:ext uri="{FF2B5EF4-FFF2-40B4-BE49-F238E27FC236}">
                    <a16:creationId xmlns:a16="http://schemas.microsoft.com/office/drawing/2014/main" id="{D4EE49DB-5BEA-46B1-A71F-F60DEBC4CCAB}"/>
                  </a:ext>
                </a:extLst>
              </p:cNvPr>
              <p:cNvSpPr>
                <a:spLocks/>
              </p:cNvSpPr>
              <p:nvPr/>
            </p:nvSpPr>
            <p:spPr bwMode="auto">
              <a:xfrm>
                <a:off x="4700" y="2762"/>
                <a:ext cx="58" cy="132"/>
              </a:xfrm>
              <a:custGeom>
                <a:avLst/>
                <a:gdLst>
                  <a:gd name="T0" fmla="*/ 0 w 174"/>
                  <a:gd name="T1" fmla="*/ 0 h 396"/>
                  <a:gd name="T2" fmla="*/ 80 w 174"/>
                  <a:gd name="T3" fmla="*/ 111 h 396"/>
                  <a:gd name="T4" fmla="*/ 127 w 174"/>
                  <a:gd name="T5" fmla="*/ 221 h 396"/>
                  <a:gd name="T6" fmla="*/ 143 w 174"/>
                  <a:gd name="T7" fmla="*/ 284 h 396"/>
                  <a:gd name="T8" fmla="*/ 174 w 174"/>
                  <a:gd name="T9" fmla="*/ 396 h 396"/>
                </a:gdLst>
                <a:ahLst/>
                <a:cxnLst>
                  <a:cxn ang="0">
                    <a:pos x="T0" y="T1"/>
                  </a:cxn>
                  <a:cxn ang="0">
                    <a:pos x="T2" y="T3"/>
                  </a:cxn>
                  <a:cxn ang="0">
                    <a:pos x="T4" y="T5"/>
                  </a:cxn>
                  <a:cxn ang="0">
                    <a:pos x="T6" y="T7"/>
                  </a:cxn>
                  <a:cxn ang="0">
                    <a:pos x="T8" y="T9"/>
                  </a:cxn>
                </a:cxnLst>
                <a:rect l="0" t="0" r="r" b="b"/>
                <a:pathLst>
                  <a:path w="174" h="396">
                    <a:moveTo>
                      <a:pt x="0" y="0"/>
                    </a:moveTo>
                    <a:lnTo>
                      <a:pt x="80" y="111"/>
                    </a:lnTo>
                    <a:lnTo>
                      <a:pt x="127" y="221"/>
                    </a:lnTo>
                    <a:lnTo>
                      <a:pt x="143" y="284"/>
                    </a:lnTo>
                    <a:lnTo>
                      <a:pt x="174" y="396"/>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5" name="Freeform 75">
                <a:extLst>
                  <a:ext uri="{FF2B5EF4-FFF2-40B4-BE49-F238E27FC236}">
                    <a16:creationId xmlns:a16="http://schemas.microsoft.com/office/drawing/2014/main" id="{8AE81B7A-49B9-4804-A2BD-668F3FB7D7C7}"/>
                  </a:ext>
                </a:extLst>
              </p:cNvPr>
              <p:cNvSpPr>
                <a:spLocks/>
              </p:cNvSpPr>
              <p:nvPr/>
            </p:nvSpPr>
            <p:spPr bwMode="auto">
              <a:xfrm>
                <a:off x="4653" y="2924"/>
                <a:ext cx="331" cy="142"/>
              </a:xfrm>
              <a:custGeom>
                <a:avLst/>
                <a:gdLst>
                  <a:gd name="T0" fmla="*/ 992 w 992"/>
                  <a:gd name="T1" fmla="*/ 0 h 425"/>
                  <a:gd name="T2" fmla="*/ 804 w 992"/>
                  <a:gd name="T3" fmla="*/ 110 h 425"/>
                  <a:gd name="T4" fmla="*/ 678 w 992"/>
                  <a:gd name="T5" fmla="*/ 141 h 425"/>
                  <a:gd name="T6" fmla="*/ 504 w 992"/>
                  <a:gd name="T7" fmla="*/ 204 h 425"/>
                  <a:gd name="T8" fmla="*/ 331 w 992"/>
                  <a:gd name="T9" fmla="*/ 253 h 425"/>
                  <a:gd name="T10" fmla="*/ 172 w 992"/>
                  <a:gd name="T11" fmla="*/ 315 h 425"/>
                  <a:gd name="T12" fmla="*/ 15 w 992"/>
                  <a:gd name="T13" fmla="*/ 394 h 425"/>
                  <a:gd name="T14" fmla="*/ 0 w 992"/>
                  <a:gd name="T15" fmla="*/ 425 h 4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2" h="425">
                    <a:moveTo>
                      <a:pt x="992" y="0"/>
                    </a:moveTo>
                    <a:lnTo>
                      <a:pt x="804" y="110"/>
                    </a:lnTo>
                    <a:lnTo>
                      <a:pt x="678" y="141"/>
                    </a:lnTo>
                    <a:lnTo>
                      <a:pt x="504" y="204"/>
                    </a:lnTo>
                    <a:lnTo>
                      <a:pt x="331" y="253"/>
                    </a:lnTo>
                    <a:lnTo>
                      <a:pt x="172" y="315"/>
                    </a:lnTo>
                    <a:lnTo>
                      <a:pt x="15" y="394"/>
                    </a:lnTo>
                    <a:lnTo>
                      <a:pt x="0" y="425"/>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6" name="Freeform 76">
                <a:extLst>
                  <a:ext uri="{FF2B5EF4-FFF2-40B4-BE49-F238E27FC236}">
                    <a16:creationId xmlns:a16="http://schemas.microsoft.com/office/drawing/2014/main" id="{46EC6CE9-9644-492C-8233-70D5842AA945}"/>
                  </a:ext>
                </a:extLst>
              </p:cNvPr>
              <p:cNvSpPr>
                <a:spLocks/>
              </p:cNvSpPr>
              <p:nvPr/>
            </p:nvSpPr>
            <p:spPr bwMode="auto">
              <a:xfrm>
                <a:off x="5082" y="2939"/>
                <a:ext cx="9" cy="39"/>
              </a:xfrm>
              <a:custGeom>
                <a:avLst/>
                <a:gdLst>
                  <a:gd name="T0" fmla="*/ 18 w 27"/>
                  <a:gd name="T1" fmla="*/ 116 h 116"/>
                  <a:gd name="T2" fmla="*/ 27 w 27"/>
                  <a:gd name="T3" fmla="*/ 86 h 116"/>
                  <a:gd name="T4" fmla="*/ 0 w 27"/>
                  <a:gd name="T5" fmla="*/ 31 h 116"/>
                  <a:gd name="T6" fmla="*/ 0 w 27"/>
                  <a:gd name="T7" fmla="*/ 0 h 116"/>
                </a:gdLst>
                <a:ahLst/>
                <a:cxnLst>
                  <a:cxn ang="0">
                    <a:pos x="T0" y="T1"/>
                  </a:cxn>
                  <a:cxn ang="0">
                    <a:pos x="T2" y="T3"/>
                  </a:cxn>
                  <a:cxn ang="0">
                    <a:pos x="T4" y="T5"/>
                  </a:cxn>
                  <a:cxn ang="0">
                    <a:pos x="T6" y="T7"/>
                  </a:cxn>
                </a:cxnLst>
                <a:rect l="0" t="0" r="r" b="b"/>
                <a:pathLst>
                  <a:path w="27" h="116">
                    <a:moveTo>
                      <a:pt x="18" y="116"/>
                    </a:moveTo>
                    <a:lnTo>
                      <a:pt x="27" y="86"/>
                    </a:lnTo>
                    <a:lnTo>
                      <a:pt x="0" y="31"/>
                    </a:lnTo>
                    <a:lnTo>
                      <a:pt x="0" y="0"/>
                    </a:lnTo>
                  </a:path>
                </a:pathLst>
              </a:custGeom>
              <a:solidFill>
                <a:srgbClr val="FFDBB7"/>
              </a:solidFill>
              <a:ln w="6350">
                <a:solidFill>
                  <a:srgbClr val="000000"/>
                </a:solidFill>
                <a:prstDash val="solid"/>
                <a:round/>
                <a:headEnd/>
                <a:tailEnd/>
              </a:ln>
            </p:spPr>
            <p:txBody>
              <a:bodyPr/>
              <a:lstStyle/>
              <a:p>
                <a:endParaRPr lang="zh-CN" altLang="en-US"/>
              </a:p>
            </p:txBody>
          </p:sp>
          <p:sp>
            <p:nvSpPr>
              <p:cNvPr id="35917" name="Freeform 77">
                <a:extLst>
                  <a:ext uri="{FF2B5EF4-FFF2-40B4-BE49-F238E27FC236}">
                    <a16:creationId xmlns:a16="http://schemas.microsoft.com/office/drawing/2014/main" id="{336167CF-F000-41E2-9F3D-D789A4D1ECE3}"/>
                  </a:ext>
                </a:extLst>
              </p:cNvPr>
              <p:cNvSpPr>
                <a:spLocks/>
              </p:cNvSpPr>
              <p:nvPr/>
            </p:nvSpPr>
            <p:spPr bwMode="auto">
              <a:xfrm>
                <a:off x="5042" y="2814"/>
                <a:ext cx="68" cy="49"/>
              </a:xfrm>
              <a:custGeom>
                <a:avLst/>
                <a:gdLst>
                  <a:gd name="T0" fmla="*/ 0 w 204"/>
                  <a:gd name="T1" fmla="*/ 0 h 149"/>
                  <a:gd name="T2" fmla="*/ 53 w 204"/>
                  <a:gd name="T3" fmla="*/ 47 h 149"/>
                  <a:gd name="T4" fmla="*/ 107 w 204"/>
                  <a:gd name="T5" fmla="*/ 86 h 149"/>
                  <a:gd name="T6" fmla="*/ 204 w 204"/>
                  <a:gd name="T7" fmla="*/ 149 h 149"/>
                </a:gdLst>
                <a:ahLst/>
                <a:cxnLst>
                  <a:cxn ang="0">
                    <a:pos x="T0" y="T1"/>
                  </a:cxn>
                  <a:cxn ang="0">
                    <a:pos x="T2" y="T3"/>
                  </a:cxn>
                  <a:cxn ang="0">
                    <a:pos x="T4" y="T5"/>
                  </a:cxn>
                  <a:cxn ang="0">
                    <a:pos x="T6" y="T7"/>
                  </a:cxn>
                </a:cxnLst>
                <a:rect l="0" t="0" r="r" b="b"/>
                <a:pathLst>
                  <a:path w="204" h="149">
                    <a:moveTo>
                      <a:pt x="0" y="0"/>
                    </a:moveTo>
                    <a:lnTo>
                      <a:pt x="53" y="47"/>
                    </a:lnTo>
                    <a:lnTo>
                      <a:pt x="107" y="86"/>
                    </a:lnTo>
                    <a:lnTo>
                      <a:pt x="204" y="149"/>
                    </a:lnTo>
                  </a:path>
                </a:pathLst>
              </a:custGeom>
              <a:solidFill>
                <a:srgbClr val="FFDBB7"/>
              </a:solidFill>
              <a:ln w="6350">
                <a:solidFill>
                  <a:srgbClr val="000000"/>
                </a:solidFill>
                <a:prstDash val="solid"/>
                <a:round/>
                <a:headEnd/>
                <a:tailEnd/>
              </a:ln>
            </p:spPr>
            <p:txBody>
              <a:bodyPr/>
              <a:lstStyle/>
              <a:p>
                <a:endParaRPr lang="zh-CN" altLang="en-US"/>
              </a:p>
            </p:txBody>
          </p:sp>
        </p:grpSp>
      </p:grpSp>
      <p:sp>
        <p:nvSpPr>
          <p:cNvPr id="35918" name="AutoShape 78">
            <a:extLst>
              <a:ext uri="{FF2B5EF4-FFF2-40B4-BE49-F238E27FC236}">
                <a16:creationId xmlns:a16="http://schemas.microsoft.com/office/drawing/2014/main" id="{C20B654F-2473-49D1-BEEE-CC02321DB716}"/>
              </a:ext>
            </a:extLst>
          </p:cNvPr>
          <p:cNvSpPr>
            <a:spLocks noChangeArrowheads="1"/>
          </p:cNvSpPr>
          <p:nvPr/>
        </p:nvSpPr>
        <p:spPr bwMode="auto">
          <a:xfrm>
            <a:off x="2590800" y="4267200"/>
            <a:ext cx="4419600" cy="1600200"/>
          </a:xfrm>
          <a:prstGeom prst="cloudCallout">
            <a:avLst>
              <a:gd name="adj1" fmla="val 64509"/>
              <a:gd name="adj2" fmla="val 44940"/>
            </a:avLst>
          </a:prstGeom>
          <a:gradFill rotWithShape="0">
            <a:gsLst>
              <a:gs pos="0">
                <a:srgbClr val="CCFFFF"/>
              </a:gs>
              <a:gs pos="100000">
                <a:schemeClr val="bg1"/>
              </a:gs>
            </a:gsLst>
            <a:lin ang="18900000" scaled="1"/>
          </a:gradFill>
          <a:ln w="9525">
            <a:solidFill>
              <a:srgbClr val="CCFF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2400" b="1" i="1">
                <a:latin typeface="Times New Roman" panose="02020603050405020304" pitchFamily="18" charset="0"/>
                <a:ea typeface="楷体_GB2312" pitchFamily="49" charset="-122"/>
              </a:rPr>
              <a:t>r</a:t>
            </a:r>
            <a:r>
              <a:rPr lang="en-US" altLang="zh-CN" sz="2000" b="1">
                <a:latin typeface="楷体_GB2312" pitchFamily="49" charset="-122"/>
                <a:ea typeface="楷体_GB2312" pitchFamily="49" charset="-122"/>
              </a:rPr>
              <a:t>(</a:t>
            </a:r>
            <a:r>
              <a:rPr lang="en-US" altLang="zh-CN" sz="2000" b="1" i="1">
                <a:latin typeface="楷体_GB2312" pitchFamily="49" charset="-122"/>
                <a:ea typeface="楷体_GB2312" pitchFamily="49" charset="-122"/>
              </a:rPr>
              <a:t>x</a:t>
            </a:r>
            <a:r>
              <a:rPr lang="en-US" altLang="zh-CN" sz="2000" b="1">
                <a:latin typeface="楷体_GB2312" pitchFamily="49" charset="-122"/>
                <a:ea typeface="楷体_GB2312" pitchFamily="49" charset="-122"/>
              </a:rPr>
              <a:t>)</a:t>
            </a:r>
            <a:r>
              <a:rPr lang="zh-CN" altLang="en-US" sz="2000" b="1">
                <a:latin typeface="楷体_GB2312" pitchFamily="49" charset="-122"/>
                <a:ea typeface="楷体_GB2312" pitchFamily="49" charset="-122"/>
              </a:rPr>
              <a:t>是未知函数，但根据实际背景，它无法用拟合方法来求 。</a:t>
            </a:r>
          </a:p>
        </p:txBody>
      </p:sp>
      <p:grpSp>
        <p:nvGrpSpPr>
          <p:cNvPr id="35919" name="Group 79">
            <a:extLst>
              <a:ext uri="{FF2B5EF4-FFF2-40B4-BE49-F238E27FC236}">
                <a16:creationId xmlns:a16="http://schemas.microsoft.com/office/drawing/2014/main" id="{0D82279D-47CC-4C3F-86CE-763FF9D4305B}"/>
              </a:ext>
            </a:extLst>
          </p:cNvPr>
          <p:cNvGrpSpPr>
            <a:grpSpLocks/>
          </p:cNvGrpSpPr>
          <p:nvPr/>
        </p:nvGrpSpPr>
        <p:grpSpPr bwMode="auto">
          <a:xfrm>
            <a:off x="228600" y="4800600"/>
            <a:ext cx="1593850" cy="1631950"/>
            <a:chOff x="2051" y="1696"/>
            <a:chExt cx="1004" cy="1028"/>
          </a:xfrm>
        </p:grpSpPr>
        <p:sp>
          <p:nvSpPr>
            <p:cNvPr id="35920" name="Freeform 80">
              <a:extLst>
                <a:ext uri="{FF2B5EF4-FFF2-40B4-BE49-F238E27FC236}">
                  <a16:creationId xmlns:a16="http://schemas.microsoft.com/office/drawing/2014/main" id="{D1B0D19B-4FEE-4826-A093-81148D18CBEF}"/>
                </a:ext>
              </a:extLst>
            </p:cNvPr>
            <p:cNvSpPr>
              <a:spLocks/>
            </p:cNvSpPr>
            <p:nvPr/>
          </p:nvSpPr>
          <p:spPr bwMode="auto">
            <a:xfrm rot="1123344">
              <a:off x="2261" y="1981"/>
              <a:ext cx="467" cy="582"/>
            </a:xfrm>
            <a:custGeom>
              <a:avLst/>
              <a:gdLst>
                <a:gd name="T0" fmla="*/ 38 w 648"/>
                <a:gd name="T1" fmla="*/ 148 h 858"/>
                <a:gd name="T2" fmla="*/ 89 w 648"/>
                <a:gd name="T3" fmla="*/ 103 h 858"/>
                <a:gd name="T4" fmla="*/ 292 w 648"/>
                <a:gd name="T5" fmla="*/ 40 h 858"/>
                <a:gd name="T6" fmla="*/ 418 w 648"/>
                <a:gd name="T7" fmla="*/ 7 h 858"/>
                <a:gd name="T8" fmla="*/ 463 w 648"/>
                <a:gd name="T9" fmla="*/ 0 h 858"/>
                <a:gd name="T10" fmla="*/ 526 w 648"/>
                <a:gd name="T11" fmla="*/ 97 h 858"/>
                <a:gd name="T12" fmla="*/ 559 w 648"/>
                <a:gd name="T13" fmla="*/ 206 h 858"/>
                <a:gd name="T14" fmla="*/ 577 w 648"/>
                <a:gd name="T15" fmla="*/ 309 h 858"/>
                <a:gd name="T16" fmla="*/ 577 w 648"/>
                <a:gd name="T17" fmla="*/ 495 h 858"/>
                <a:gd name="T18" fmla="*/ 648 w 648"/>
                <a:gd name="T19" fmla="*/ 678 h 858"/>
                <a:gd name="T20" fmla="*/ 640 w 648"/>
                <a:gd name="T21" fmla="*/ 763 h 858"/>
                <a:gd name="T22" fmla="*/ 545 w 648"/>
                <a:gd name="T23" fmla="*/ 813 h 858"/>
                <a:gd name="T24" fmla="*/ 299 w 648"/>
                <a:gd name="T25" fmla="*/ 858 h 858"/>
                <a:gd name="T26" fmla="*/ 210 w 648"/>
                <a:gd name="T27" fmla="*/ 807 h 858"/>
                <a:gd name="T28" fmla="*/ 153 w 648"/>
                <a:gd name="T29" fmla="*/ 660 h 858"/>
                <a:gd name="T30" fmla="*/ 108 w 648"/>
                <a:gd name="T31" fmla="*/ 499 h 858"/>
                <a:gd name="T32" fmla="*/ 25 w 648"/>
                <a:gd name="T33" fmla="*/ 416 h 858"/>
                <a:gd name="T34" fmla="*/ 6 w 648"/>
                <a:gd name="T35" fmla="*/ 328 h 858"/>
                <a:gd name="T36" fmla="*/ 0 w 648"/>
                <a:gd name="T37" fmla="*/ 219 h 858"/>
                <a:gd name="T38" fmla="*/ 38 w 648"/>
                <a:gd name="T39" fmla="*/ 148 h 8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solidFill>
            <a:ln w="12700">
              <a:solidFill>
                <a:srgbClr val="000000"/>
              </a:solidFill>
              <a:prstDash val="solid"/>
              <a:round/>
              <a:headEnd/>
              <a:tailEnd/>
            </a:ln>
          </p:spPr>
          <p:txBody>
            <a:bodyPr/>
            <a:lstStyle/>
            <a:p>
              <a:endParaRPr lang="zh-CN" altLang="en-US"/>
            </a:p>
          </p:txBody>
        </p:sp>
        <p:grpSp>
          <p:nvGrpSpPr>
            <p:cNvPr id="35921" name="Group 81">
              <a:extLst>
                <a:ext uri="{FF2B5EF4-FFF2-40B4-BE49-F238E27FC236}">
                  <a16:creationId xmlns:a16="http://schemas.microsoft.com/office/drawing/2014/main" id="{0D2DA8F2-8225-4BDA-B42D-9DE267249586}"/>
                </a:ext>
              </a:extLst>
            </p:cNvPr>
            <p:cNvGrpSpPr>
              <a:grpSpLocks/>
            </p:cNvGrpSpPr>
            <p:nvPr/>
          </p:nvGrpSpPr>
          <p:grpSpPr bwMode="auto">
            <a:xfrm rot="1123344">
              <a:off x="2441" y="2029"/>
              <a:ext cx="511" cy="637"/>
              <a:chOff x="2308" y="1206"/>
              <a:chExt cx="710" cy="940"/>
            </a:xfrm>
          </p:grpSpPr>
          <p:sp>
            <p:nvSpPr>
              <p:cNvPr id="35922" name="Freeform 82">
                <a:extLst>
                  <a:ext uri="{FF2B5EF4-FFF2-40B4-BE49-F238E27FC236}">
                    <a16:creationId xmlns:a16="http://schemas.microsoft.com/office/drawing/2014/main" id="{0928D69F-401B-45AD-925A-642C36E60C65}"/>
                  </a:ext>
                </a:extLst>
              </p:cNvPr>
              <p:cNvSpPr>
                <a:spLocks/>
              </p:cNvSpPr>
              <p:nvPr/>
            </p:nvSpPr>
            <p:spPr bwMode="auto">
              <a:xfrm>
                <a:off x="2308" y="1206"/>
                <a:ext cx="710" cy="940"/>
              </a:xfrm>
              <a:custGeom>
                <a:avLst/>
                <a:gdLst>
                  <a:gd name="T0" fmla="*/ 0 w 710"/>
                  <a:gd name="T1" fmla="*/ 58 h 940"/>
                  <a:gd name="T2" fmla="*/ 39 w 710"/>
                  <a:gd name="T3" fmla="*/ 113 h 940"/>
                  <a:gd name="T4" fmla="*/ 90 w 710"/>
                  <a:gd name="T5" fmla="*/ 197 h 940"/>
                  <a:gd name="T6" fmla="*/ 141 w 710"/>
                  <a:gd name="T7" fmla="*/ 307 h 940"/>
                  <a:gd name="T8" fmla="*/ 182 w 710"/>
                  <a:gd name="T9" fmla="*/ 415 h 940"/>
                  <a:gd name="T10" fmla="*/ 211 w 710"/>
                  <a:gd name="T11" fmla="*/ 503 h 940"/>
                  <a:gd name="T12" fmla="*/ 261 w 710"/>
                  <a:gd name="T13" fmla="*/ 685 h 940"/>
                  <a:gd name="T14" fmla="*/ 276 w 710"/>
                  <a:gd name="T15" fmla="*/ 741 h 940"/>
                  <a:gd name="T16" fmla="*/ 297 w 710"/>
                  <a:gd name="T17" fmla="*/ 777 h 940"/>
                  <a:gd name="T18" fmla="*/ 315 w 710"/>
                  <a:gd name="T19" fmla="*/ 807 h 940"/>
                  <a:gd name="T20" fmla="*/ 455 w 710"/>
                  <a:gd name="T21" fmla="*/ 901 h 940"/>
                  <a:gd name="T22" fmla="*/ 507 w 710"/>
                  <a:gd name="T23" fmla="*/ 940 h 940"/>
                  <a:gd name="T24" fmla="*/ 500 w 710"/>
                  <a:gd name="T25" fmla="*/ 844 h 940"/>
                  <a:gd name="T26" fmla="*/ 477 w 710"/>
                  <a:gd name="T27" fmla="*/ 766 h 940"/>
                  <a:gd name="T28" fmla="*/ 450 w 710"/>
                  <a:gd name="T29" fmla="*/ 684 h 940"/>
                  <a:gd name="T30" fmla="*/ 387 w 710"/>
                  <a:gd name="T31" fmla="*/ 583 h 940"/>
                  <a:gd name="T32" fmla="*/ 347 w 710"/>
                  <a:gd name="T33" fmla="*/ 472 h 940"/>
                  <a:gd name="T34" fmla="*/ 328 w 710"/>
                  <a:gd name="T35" fmla="*/ 307 h 940"/>
                  <a:gd name="T36" fmla="*/ 411 w 710"/>
                  <a:gd name="T37" fmla="*/ 371 h 940"/>
                  <a:gd name="T38" fmla="*/ 488 w 710"/>
                  <a:gd name="T39" fmla="*/ 423 h 940"/>
                  <a:gd name="T40" fmla="*/ 564 w 710"/>
                  <a:gd name="T41" fmla="*/ 448 h 940"/>
                  <a:gd name="T42" fmla="*/ 614 w 710"/>
                  <a:gd name="T43" fmla="*/ 460 h 940"/>
                  <a:gd name="T44" fmla="*/ 653 w 710"/>
                  <a:gd name="T45" fmla="*/ 454 h 940"/>
                  <a:gd name="T46" fmla="*/ 678 w 710"/>
                  <a:gd name="T47" fmla="*/ 423 h 940"/>
                  <a:gd name="T48" fmla="*/ 704 w 710"/>
                  <a:gd name="T49" fmla="*/ 335 h 940"/>
                  <a:gd name="T50" fmla="*/ 710 w 710"/>
                  <a:gd name="T51" fmla="*/ 271 h 940"/>
                  <a:gd name="T52" fmla="*/ 710 w 710"/>
                  <a:gd name="T53" fmla="*/ 163 h 940"/>
                  <a:gd name="T54" fmla="*/ 710 w 710"/>
                  <a:gd name="T55" fmla="*/ 73 h 940"/>
                  <a:gd name="T56" fmla="*/ 595 w 710"/>
                  <a:gd name="T57" fmla="*/ 76 h 940"/>
                  <a:gd name="T58" fmla="*/ 545 w 710"/>
                  <a:gd name="T59" fmla="*/ 64 h 940"/>
                  <a:gd name="T60" fmla="*/ 538 w 710"/>
                  <a:gd name="T61" fmla="*/ 166 h 940"/>
                  <a:gd name="T62" fmla="*/ 526 w 710"/>
                  <a:gd name="T63" fmla="*/ 198 h 940"/>
                  <a:gd name="T64" fmla="*/ 450 w 710"/>
                  <a:gd name="T65" fmla="*/ 160 h 940"/>
                  <a:gd name="T66" fmla="*/ 398 w 710"/>
                  <a:gd name="T67" fmla="*/ 116 h 940"/>
                  <a:gd name="T68" fmla="*/ 302 w 710"/>
                  <a:gd name="T69" fmla="*/ 64 h 940"/>
                  <a:gd name="T70" fmla="*/ 233 w 710"/>
                  <a:gd name="T71" fmla="*/ 19 h 940"/>
                  <a:gd name="T72" fmla="*/ 171 w 710"/>
                  <a:gd name="T73" fmla="*/ 0 h 940"/>
                  <a:gd name="T74" fmla="*/ 94 w 710"/>
                  <a:gd name="T75" fmla="*/ 31 h 940"/>
                  <a:gd name="T76" fmla="*/ 0 w 710"/>
                  <a:gd name="T77" fmla="*/ 58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solidFill>
              <a:ln w="12700">
                <a:solidFill>
                  <a:srgbClr val="000000"/>
                </a:solidFill>
                <a:prstDash val="solid"/>
                <a:round/>
                <a:headEnd/>
                <a:tailEnd/>
              </a:ln>
            </p:spPr>
            <p:txBody>
              <a:bodyPr/>
              <a:lstStyle/>
              <a:p>
                <a:endParaRPr lang="zh-CN" altLang="en-US"/>
              </a:p>
            </p:txBody>
          </p:sp>
          <p:sp>
            <p:nvSpPr>
              <p:cNvPr id="35923" name="Freeform 83">
                <a:extLst>
                  <a:ext uri="{FF2B5EF4-FFF2-40B4-BE49-F238E27FC236}">
                    <a16:creationId xmlns:a16="http://schemas.microsoft.com/office/drawing/2014/main" id="{EFADA444-4724-44D4-BA60-348A80D472AF}"/>
                  </a:ext>
                </a:extLst>
              </p:cNvPr>
              <p:cNvSpPr>
                <a:spLocks/>
              </p:cNvSpPr>
              <p:nvPr/>
            </p:nvSpPr>
            <p:spPr bwMode="auto">
              <a:xfrm>
                <a:off x="2355" y="1252"/>
                <a:ext cx="199" cy="569"/>
              </a:xfrm>
              <a:custGeom>
                <a:avLst/>
                <a:gdLst>
                  <a:gd name="T0" fmla="*/ 0 w 199"/>
                  <a:gd name="T1" fmla="*/ 0 h 569"/>
                  <a:gd name="T2" fmla="*/ 87 w 199"/>
                  <a:gd name="T3" fmla="*/ 39 h 569"/>
                  <a:gd name="T4" fmla="*/ 79 w 199"/>
                  <a:gd name="T5" fmla="*/ 107 h 569"/>
                  <a:gd name="T6" fmla="*/ 134 w 199"/>
                  <a:gd name="T7" fmla="*/ 110 h 569"/>
                  <a:gd name="T8" fmla="*/ 169 w 199"/>
                  <a:gd name="T9" fmla="*/ 233 h 569"/>
                  <a:gd name="T10" fmla="*/ 189 w 199"/>
                  <a:gd name="T11" fmla="*/ 366 h 569"/>
                  <a:gd name="T12" fmla="*/ 197 w 199"/>
                  <a:gd name="T13" fmla="*/ 492 h 569"/>
                  <a:gd name="T14" fmla="*/ 199 w 199"/>
                  <a:gd name="T15" fmla="*/ 569 h 5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9" h="569">
                    <a:moveTo>
                      <a:pt x="0" y="0"/>
                    </a:moveTo>
                    <a:lnTo>
                      <a:pt x="87" y="39"/>
                    </a:lnTo>
                    <a:lnTo>
                      <a:pt x="79" y="107"/>
                    </a:lnTo>
                    <a:lnTo>
                      <a:pt x="134" y="110"/>
                    </a:lnTo>
                    <a:lnTo>
                      <a:pt x="169" y="233"/>
                    </a:lnTo>
                    <a:lnTo>
                      <a:pt x="189" y="366"/>
                    </a:lnTo>
                    <a:lnTo>
                      <a:pt x="197" y="492"/>
                    </a:lnTo>
                    <a:lnTo>
                      <a:pt x="199" y="56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924" name="Freeform 84">
              <a:extLst>
                <a:ext uri="{FF2B5EF4-FFF2-40B4-BE49-F238E27FC236}">
                  <a16:creationId xmlns:a16="http://schemas.microsoft.com/office/drawing/2014/main" id="{5B7B4962-7376-419E-974D-435E93720F95}"/>
                </a:ext>
              </a:extLst>
            </p:cNvPr>
            <p:cNvSpPr>
              <a:spLocks/>
            </p:cNvSpPr>
            <p:nvPr/>
          </p:nvSpPr>
          <p:spPr bwMode="auto">
            <a:xfrm rot="1123344">
              <a:off x="2406" y="1975"/>
              <a:ext cx="154" cy="119"/>
            </a:xfrm>
            <a:custGeom>
              <a:avLst/>
              <a:gdLst>
                <a:gd name="T0" fmla="*/ 19 w 213"/>
                <a:gd name="T1" fmla="*/ 56 h 176"/>
                <a:gd name="T2" fmla="*/ 0 w 213"/>
                <a:gd name="T3" fmla="*/ 85 h 176"/>
                <a:gd name="T4" fmla="*/ 92 w 213"/>
                <a:gd name="T5" fmla="*/ 176 h 176"/>
                <a:gd name="T6" fmla="*/ 122 w 213"/>
                <a:gd name="T7" fmla="*/ 69 h 176"/>
                <a:gd name="T8" fmla="*/ 213 w 213"/>
                <a:gd name="T9" fmla="*/ 122 h 176"/>
                <a:gd name="T10" fmla="*/ 209 w 213"/>
                <a:gd name="T11" fmla="*/ 30 h 176"/>
                <a:gd name="T12" fmla="*/ 153 w 213"/>
                <a:gd name="T13" fmla="*/ 0 h 176"/>
                <a:gd name="T14" fmla="*/ 19 w 213"/>
                <a:gd name="T15" fmla="*/ 56 h 1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solidFill>
            <a:ln w="12700">
              <a:solidFill>
                <a:srgbClr val="000000"/>
              </a:solidFill>
              <a:prstDash val="solid"/>
              <a:round/>
              <a:headEnd/>
              <a:tailEnd/>
            </a:ln>
          </p:spPr>
          <p:txBody>
            <a:bodyPr/>
            <a:lstStyle/>
            <a:p>
              <a:endParaRPr lang="zh-CN" altLang="en-US"/>
            </a:p>
          </p:txBody>
        </p:sp>
        <p:grpSp>
          <p:nvGrpSpPr>
            <p:cNvPr id="35925" name="Group 85">
              <a:extLst>
                <a:ext uri="{FF2B5EF4-FFF2-40B4-BE49-F238E27FC236}">
                  <a16:creationId xmlns:a16="http://schemas.microsoft.com/office/drawing/2014/main" id="{5A4A749D-9A96-40C7-9590-B99224A601E4}"/>
                </a:ext>
              </a:extLst>
            </p:cNvPr>
            <p:cNvGrpSpPr>
              <a:grpSpLocks/>
            </p:cNvGrpSpPr>
            <p:nvPr/>
          </p:nvGrpSpPr>
          <p:grpSpPr bwMode="auto">
            <a:xfrm rot="1123344">
              <a:off x="2051" y="1977"/>
              <a:ext cx="454" cy="747"/>
              <a:chOff x="1799" y="1328"/>
              <a:chExt cx="630" cy="1101"/>
            </a:xfrm>
          </p:grpSpPr>
          <p:grpSp>
            <p:nvGrpSpPr>
              <p:cNvPr id="35926" name="Group 86">
                <a:extLst>
                  <a:ext uri="{FF2B5EF4-FFF2-40B4-BE49-F238E27FC236}">
                    <a16:creationId xmlns:a16="http://schemas.microsoft.com/office/drawing/2014/main" id="{AC8CFF02-0488-4A86-AE8A-1839192C2C93}"/>
                  </a:ext>
                </a:extLst>
              </p:cNvPr>
              <p:cNvGrpSpPr>
                <a:grpSpLocks/>
              </p:cNvGrpSpPr>
              <p:nvPr/>
            </p:nvGrpSpPr>
            <p:grpSpPr bwMode="auto">
              <a:xfrm>
                <a:off x="1968" y="1328"/>
                <a:ext cx="461" cy="1101"/>
                <a:chOff x="1968" y="1328"/>
                <a:chExt cx="461" cy="1101"/>
              </a:xfrm>
            </p:grpSpPr>
            <p:sp>
              <p:nvSpPr>
                <p:cNvPr id="35927" name="Freeform 87">
                  <a:extLst>
                    <a:ext uri="{FF2B5EF4-FFF2-40B4-BE49-F238E27FC236}">
                      <a16:creationId xmlns:a16="http://schemas.microsoft.com/office/drawing/2014/main" id="{038B54B3-451F-4F07-8C36-1B6639CE2C6D}"/>
                    </a:ext>
                  </a:extLst>
                </p:cNvPr>
                <p:cNvSpPr>
                  <a:spLocks/>
                </p:cNvSpPr>
                <p:nvPr/>
              </p:nvSpPr>
              <p:spPr bwMode="auto">
                <a:xfrm>
                  <a:off x="1968" y="1328"/>
                  <a:ext cx="461" cy="1101"/>
                </a:xfrm>
                <a:custGeom>
                  <a:avLst/>
                  <a:gdLst>
                    <a:gd name="T0" fmla="*/ 322 w 461"/>
                    <a:gd name="T1" fmla="*/ 1065 h 1101"/>
                    <a:gd name="T2" fmla="*/ 398 w 461"/>
                    <a:gd name="T3" fmla="*/ 1019 h 1101"/>
                    <a:gd name="T4" fmla="*/ 430 w 461"/>
                    <a:gd name="T5" fmla="*/ 916 h 1101"/>
                    <a:gd name="T6" fmla="*/ 454 w 461"/>
                    <a:gd name="T7" fmla="*/ 823 h 1101"/>
                    <a:gd name="T8" fmla="*/ 461 w 461"/>
                    <a:gd name="T9" fmla="*/ 720 h 1101"/>
                    <a:gd name="T10" fmla="*/ 434 w 461"/>
                    <a:gd name="T11" fmla="*/ 608 h 1101"/>
                    <a:gd name="T12" fmla="*/ 416 w 461"/>
                    <a:gd name="T13" fmla="*/ 516 h 1101"/>
                    <a:gd name="T14" fmla="*/ 392 w 461"/>
                    <a:gd name="T15" fmla="*/ 410 h 1101"/>
                    <a:gd name="T16" fmla="*/ 363 w 461"/>
                    <a:gd name="T17" fmla="*/ 331 h 1101"/>
                    <a:gd name="T18" fmla="*/ 315 w 461"/>
                    <a:gd name="T19" fmla="*/ 236 h 1101"/>
                    <a:gd name="T20" fmla="*/ 276 w 461"/>
                    <a:gd name="T21" fmla="*/ 149 h 1101"/>
                    <a:gd name="T22" fmla="*/ 207 w 461"/>
                    <a:gd name="T23" fmla="*/ 45 h 1101"/>
                    <a:gd name="T24" fmla="*/ 169 w 461"/>
                    <a:gd name="T25" fmla="*/ 0 h 1101"/>
                    <a:gd name="T26" fmla="*/ 124 w 461"/>
                    <a:gd name="T27" fmla="*/ 33 h 1101"/>
                    <a:gd name="T28" fmla="*/ 77 w 461"/>
                    <a:gd name="T29" fmla="*/ 76 h 1101"/>
                    <a:gd name="T30" fmla="*/ 13 w 461"/>
                    <a:gd name="T31" fmla="*/ 134 h 1101"/>
                    <a:gd name="T32" fmla="*/ 7 w 461"/>
                    <a:gd name="T33" fmla="*/ 153 h 1101"/>
                    <a:gd name="T34" fmla="*/ 0 w 461"/>
                    <a:gd name="T35" fmla="*/ 187 h 1101"/>
                    <a:gd name="T36" fmla="*/ 19 w 461"/>
                    <a:gd name="T37" fmla="*/ 247 h 1101"/>
                    <a:gd name="T38" fmla="*/ 45 w 461"/>
                    <a:gd name="T39" fmla="*/ 321 h 1101"/>
                    <a:gd name="T40" fmla="*/ 115 w 461"/>
                    <a:gd name="T41" fmla="*/ 457 h 1101"/>
                    <a:gd name="T42" fmla="*/ 141 w 461"/>
                    <a:gd name="T43" fmla="*/ 573 h 1101"/>
                    <a:gd name="T44" fmla="*/ 150 w 461"/>
                    <a:gd name="T45" fmla="*/ 661 h 1101"/>
                    <a:gd name="T46" fmla="*/ 153 w 461"/>
                    <a:gd name="T47" fmla="*/ 728 h 1101"/>
                    <a:gd name="T48" fmla="*/ 153 w 461"/>
                    <a:gd name="T49" fmla="*/ 843 h 1101"/>
                    <a:gd name="T50" fmla="*/ 141 w 461"/>
                    <a:gd name="T51" fmla="*/ 1024 h 1101"/>
                    <a:gd name="T52" fmla="*/ 141 w 461"/>
                    <a:gd name="T53" fmla="*/ 1086 h 1101"/>
                    <a:gd name="T54" fmla="*/ 162 w 461"/>
                    <a:gd name="T55" fmla="*/ 1095 h 1101"/>
                    <a:gd name="T56" fmla="*/ 224 w 461"/>
                    <a:gd name="T57" fmla="*/ 1101 h 1101"/>
                    <a:gd name="T58" fmla="*/ 269 w 461"/>
                    <a:gd name="T59" fmla="*/ 1088 h 1101"/>
                    <a:gd name="T60" fmla="*/ 322 w 461"/>
                    <a:gd name="T61" fmla="*/ 1065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solidFill>
                <a:ln w="12700">
                  <a:solidFill>
                    <a:srgbClr val="000000"/>
                  </a:solidFill>
                  <a:prstDash val="solid"/>
                  <a:round/>
                  <a:headEnd/>
                  <a:tailEnd/>
                </a:ln>
              </p:spPr>
              <p:txBody>
                <a:bodyPr/>
                <a:lstStyle/>
                <a:p>
                  <a:endParaRPr lang="zh-CN" altLang="en-US"/>
                </a:p>
              </p:txBody>
            </p:sp>
            <p:sp>
              <p:nvSpPr>
                <p:cNvPr id="35928" name="Freeform 88">
                  <a:extLst>
                    <a:ext uri="{FF2B5EF4-FFF2-40B4-BE49-F238E27FC236}">
                      <a16:creationId xmlns:a16="http://schemas.microsoft.com/office/drawing/2014/main" id="{CB940865-DA75-41C0-B642-4D90D89ABFDF}"/>
                    </a:ext>
                  </a:extLst>
                </p:cNvPr>
                <p:cNvSpPr>
                  <a:spLocks/>
                </p:cNvSpPr>
                <p:nvPr/>
              </p:nvSpPr>
              <p:spPr bwMode="auto">
                <a:xfrm>
                  <a:off x="2085" y="1371"/>
                  <a:ext cx="325" cy="620"/>
                </a:xfrm>
                <a:custGeom>
                  <a:avLst/>
                  <a:gdLst>
                    <a:gd name="T0" fmla="*/ 0 w 325"/>
                    <a:gd name="T1" fmla="*/ 0 h 620"/>
                    <a:gd name="T2" fmla="*/ 44 w 325"/>
                    <a:gd name="T3" fmla="*/ 144 h 620"/>
                    <a:gd name="T4" fmla="*/ 119 w 325"/>
                    <a:gd name="T5" fmla="*/ 125 h 620"/>
                    <a:gd name="T6" fmla="*/ 71 w 325"/>
                    <a:gd name="T7" fmla="*/ 200 h 620"/>
                    <a:gd name="T8" fmla="*/ 119 w 325"/>
                    <a:gd name="T9" fmla="*/ 255 h 620"/>
                    <a:gd name="T10" fmla="*/ 172 w 325"/>
                    <a:gd name="T11" fmla="*/ 341 h 620"/>
                    <a:gd name="T12" fmla="*/ 235 w 325"/>
                    <a:gd name="T13" fmla="*/ 440 h 620"/>
                    <a:gd name="T14" fmla="*/ 289 w 325"/>
                    <a:gd name="T15" fmla="*/ 535 h 620"/>
                    <a:gd name="T16" fmla="*/ 325 w 325"/>
                    <a:gd name="T17" fmla="*/ 62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929" name="Group 89">
                <a:extLst>
                  <a:ext uri="{FF2B5EF4-FFF2-40B4-BE49-F238E27FC236}">
                    <a16:creationId xmlns:a16="http://schemas.microsoft.com/office/drawing/2014/main" id="{1CFFD0B5-18A0-4F7A-84EE-133C23B1E51A}"/>
                  </a:ext>
                </a:extLst>
              </p:cNvPr>
              <p:cNvGrpSpPr>
                <a:grpSpLocks/>
              </p:cNvGrpSpPr>
              <p:nvPr/>
            </p:nvGrpSpPr>
            <p:grpSpPr bwMode="auto">
              <a:xfrm>
                <a:off x="1799" y="1444"/>
                <a:ext cx="549" cy="922"/>
                <a:chOff x="1799" y="1444"/>
                <a:chExt cx="549" cy="922"/>
              </a:xfrm>
            </p:grpSpPr>
            <p:sp>
              <p:nvSpPr>
                <p:cNvPr id="35930" name="Freeform 90">
                  <a:extLst>
                    <a:ext uri="{FF2B5EF4-FFF2-40B4-BE49-F238E27FC236}">
                      <a16:creationId xmlns:a16="http://schemas.microsoft.com/office/drawing/2014/main" id="{6CFD7332-68F1-4A58-8305-6D5EC769D7AE}"/>
                    </a:ext>
                  </a:extLst>
                </p:cNvPr>
                <p:cNvSpPr>
                  <a:spLocks/>
                </p:cNvSpPr>
                <p:nvPr/>
              </p:nvSpPr>
              <p:spPr bwMode="auto">
                <a:xfrm>
                  <a:off x="2144" y="2152"/>
                  <a:ext cx="204" cy="214"/>
                </a:xfrm>
                <a:custGeom>
                  <a:avLst/>
                  <a:gdLst>
                    <a:gd name="T0" fmla="*/ 63 w 204"/>
                    <a:gd name="T1" fmla="*/ 0 h 214"/>
                    <a:gd name="T2" fmla="*/ 102 w 204"/>
                    <a:gd name="T3" fmla="*/ 28 h 214"/>
                    <a:gd name="T4" fmla="*/ 142 w 204"/>
                    <a:gd name="T5" fmla="*/ 29 h 214"/>
                    <a:gd name="T6" fmla="*/ 176 w 204"/>
                    <a:gd name="T7" fmla="*/ 37 h 214"/>
                    <a:gd name="T8" fmla="*/ 192 w 204"/>
                    <a:gd name="T9" fmla="*/ 50 h 214"/>
                    <a:gd name="T10" fmla="*/ 196 w 204"/>
                    <a:gd name="T11" fmla="*/ 66 h 214"/>
                    <a:gd name="T12" fmla="*/ 189 w 204"/>
                    <a:gd name="T13" fmla="*/ 95 h 214"/>
                    <a:gd name="T14" fmla="*/ 204 w 204"/>
                    <a:gd name="T15" fmla="*/ 115 h 214"/>
                    <a:gd name="T16" fmla="*/ 203 w 204"/>
                    <a:gd name="T17" fmla="*/ 143 h 214"/>
                    <a:gd name="T18" fmla="*/ 187 w 204"/>
                    <a:gd name="T19" fmla="*/ 160 h 214"/>
                    <a:gd name="T20" fmla="*/ 175 w 204"/>
                    <a:gd name="T21" fmla="*/ 181 h 214"/>
                    <a:gd name="T22" fmla="*/ 147 w 204"/>
                    <a:gd name="T23" fmla="*/ 191 h 214"/>
                    <a:gd name="T24" fmla="*/ 129 w 204"/>
                    <a:gd name="T25" fmla="*/ 214 h 214"/>
                    <a:gd name="T26" fmla="*/ 95 w 204"/>
                    <a:gd name="T27" fmla="*/ 210 h 214"/>
                    <a:gd name="T28" fmla="*/ 75 w 204"/>
                    <a:gd name="T29" fmla="*/ 197 h 214"/>
                    <a:gd name="T30" fmla="*/ 56 w 204"/>
                    <a:gd name="T31" fmla="*/ 176 h 214"/>
                    <a:gd name="T32" fmla="*/ 44 w 204"/>
                    <a:gd name="T33" fmla="*/ 127 h 214"/>
                    <a:gd name="T34" fmla="*/ 0 w 204"/>
                    <a:gd name="T35" fmla="*/ 83 h 214"/>
                    <a:gd name="T36" fmla="*/ 63 w 204"/>
                    <a:gd name="T3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solidFill>
                <a:ln w="12700">
                  <a:solidFill>
                    <a:srgbClr val="000000"/>
                  </a:solidFill>
                  <a:prstDash val="solid"/>
                  <a:round/>
                  <a:headEnd/>
                  <a:tailEnd/>
                </a:ln>
              </p:spPr>
              <p:txBody>
                <a:bodyPr/>
                <a:lstStyle/>
                <a:p>
                  <a:endParaRPr lang="zh-CN" altLang="en-US"/>
                </a:p>
              </p:txBody>
            </p:sp>
            <p:sp>
              <p:nvSpPr>
                <p:cNvPr id="35931" name="Freeform 91">
                  <a:extLst>
                    <a:ext uri="{FF2B5EF4-FFF2-40B4-BE49-F238E27FC236}">
                      <a16:creationId xmlns:a16="http://schemas.microsoft.com/office/drawing/2014/main" id="{191307ED-536E-41A6-BD34-7A1814B1E1A4}"/>
                    </a:ext>
                  </a:extLst>
                </p:cNvPr>
                <p:cNvSpPr>
                  <a:spLocks/>
                </p:cNvSpPr>
                <p:nvPr/>
              </p:nvSpPr>
              <p:spPr bwMode="auto">
                <a:xfrm>
                  <a:off x="2116" y="2142"/>
                  <a:ext cx="121" cy="137"/>
                </a:xfrm>
                <a:custGeom>
                  <a:avLst/>
                  <a:gdLst>
                    <a:gd name="T0" fmla="*/ 91 w 121"/>
                    <a:gd name="T1" fmla="*/ 0 h 137"/>
                    <a:gd name="T2" fmla="*/ 121 w 121"/>
                    <a:gd name="T3" fmla="*/ 20 h 137"/>
                    <a:gd name="T4" fmla="*/ 105 w 121"/>
                    <a:gd name="T5" fmla="*/ 52 h 137"/>
                    <a:gd name="T6" fmla="*/ 75 w 121"/>
                    <a:gd name="T7" fmla="*/ 92 h 137"/>
                    <a:gd name="T8" fmla="*/ 33 w 121"/>
                    <a:gd name="T9" fmla="*/ 137 h 137"/>
                    <a:gd name="T10" fmla="*/ 0 w 121"/>
                    <a:gd name="T11" fmla="*/ 97 h 137"/>
                    <a:gd name="T12" fmla="*/ 91 w 121"/>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21" h="137">
                      <a:moveTo>
                        <a:pt x="91" y="0"/>
                      </a:moveTo>
                      <a:lnTo>
                        <a:pt x="121" y="20"/>
                      </a:lnTo>
                      <a:lnTo>
                        <a:pt x="105" y="52"/>
                      </a:lnTo>
                      <a:lnTo>
                        <a:pt x="75" y="92"/>
                      </a:lnTo>
                      <a:lnTo>
                        <a:pt x="33" y="137"/>
                      </a:lnTo>
                      <a:lnTo>
                        <a:pt x="0" y="97"/>
                      </a:lnTo>
                      <a:lnTo>
                        <a:pt x="91" y="0"/>
                      </a:lnTo>
                      <a:close/>
                    </a:path>
                  </a:pathLst>
                </a:custGeom>
                <a:solidFill>
                  <a:srgbClr val="FFFFFF"/>
                </a:solidFill>
                <a:ln w="12700">
                  <a:solidFill>
                    <a:srgbClr val="000000"/>
                  </a:solidFill>
                  <a:prstDash val="solid"/>
                  <a:round/>
                  <a:headEnd/>
                  <a:tailEnd/>
                </a:ln>
              </p:spPr>
              <p:txBody>
                <a:bodyPr/>
                <a:lstStyle/>
                <a:p>
                  <a:endParaRPr lang="zh-CN" altLang="en-US"/>
                </a:p>
              </p:txBody>
            </p:sp>
            <p:sp>
              <p:nvSpPr>
                <p:cNvPr id="35932" name="Freeform 92">
                  <a:extLst>
                    <a:ext uri="{FF2B5EF4-FFF2-40B4-BE49-F238E27FC236}">
                      <a16:creationId xmlns:a16="http://schemas.microsoft.com/office/drawing/2014/main" id="{4EAE5239-F8D1-49D9-B701-52EB5BF65DEC}"/>
                    </a:ext>
                  </a:extLst>
                </p:cNvPr>
                <p:cNvSpPr>
                  <a:spLocks/>
                </p:cNvSpPr>
                <p:nvPr/>
              </p:nvSpPr>
              <p:spPr bwMode="auto">
                <a:xfrm>
                  <a:off x="1799" y="1444"/>
                  <a:ext cx="444" cy="840"/>
                </a:xfrm>
                <a:custGeom>
                  <a:avLst/>
                  <a:gdLst>
                    <a:gd name="T0" fmla="*/ 133 w 444"/>
                    <a:gd name="T1" fmla="*/ 64 h 840"/>
                    <a:gd name="T2" fmla="*/ 107 w 444"/>
                    <a:gd name="T3" fmla="*/ 118 h 840"/>
                    <a:gd name="T4" fmla="*/ 61 w 444"/>
                    <a:gd name="T5" fmla="*/ 196 h 840"/>
                    <a:gd name="T6" fmla="*/ 46 w 444"/>
                    <a:gd name="T7" fmla="*/ 258 h 840"/>
                    <a:gd name="T8" fmla="*/ 22 w 444"/>
                    <a:gd name="T9" fmla="*/ 329 h 840"/>
                    <a:gd name="T10" fmla="*/ 5 w 444"/>
                    <a:gd name="T11" fmla="*/ 447 h 840"/>
                    <a:gd name="T12" fmla="*/ 0 w 444"/>
                    <a:gd name="T13" fmla="*/ 510 h 840"/>
                    <a:gd name="T14" fmla="*/ 14 w 444"/>
                    <a:gd name="T15" fmla="*/ 526 h 840"/>
                    <a:gd name="T16" fmla="*/ 56 w 444"/>
                    <a:gd name="T17" fmla="*/ 583 h 840"/>
                    <a:gd name="T18" fmla="*/ 106 w 444"/>
                    <a:gd name="T19" fmla="*/ 644 h 840"/>
                    <a:gd name="T20" fmla="*/ 163 w 444"/>
                    <a:gd name="T21" fmla="*/ 698 h 840"/>
                    <a:gd name="T22" fmla="*/ 318 w 444"/>
                    <a:gd name="T23" fmla="*/ 840 h 840"/>
                    <a:gd name="T24" fmla="*/ 389 w 444"/>
                    <a:gd name="T25" fmla="*/ 753 h 840"/>
                    <a:gd name="T26" fmla="*/ 444 w 444"/>
                    <a:gd name="T27" fmla="*/ 683 h 840"/>
                    <a:gd name="T28" fmla="*/ 297 w 444"/>
                    <a:gd name="T29" fmla="*/ 556 h 840"/>
                    <a:gd name="T30" fmla="*/ 248 w 444"/>
                    <a:gd name="T31" fmla="*/ 519 h 840"/>
                    <a:gd name="T32" fmla="*/ 218 w 444"/>
                    <a:gd name="T33" fmla="*/ 486 h 840"/>
                    <a:gd name="T34" fmla="*/ 193 w 444"/>
                    <a:gd name="T35" fmla="*/ 471 h 840"/>
                    <a:gd name="T36" fmla="*/ 232 w 444"/>
                    <a:gd name="T37" fmla="*/ 368 h 840"/>
                    <a:gd name="T38" fmla="*/ 255 w 444"/>
                    <a:gd name="T39" fmla="*/ 288 h 840"/>
                    <a:gd name="T40" fmla="*/ 267 w 444"/>
                    <a:gd name="T41" fmla="*/ 252 h 840"/>
                    <a:gd name="T42" fmla="*/ 280 w 444"/>
                    <a:gd name="T43" fmla="*/ 213 h 840"/>
                    <a:gd name="T44" fmla="*/ 286 w 444"/>
                    <a:gd name="T45" fmla="*/ 167 h 840"/>
                    <a:gd name="T46" fmla="*/ 286 w 444"/>
                    <a:gd name="T47" fmla="*/ 123 h 840"/>
                    <a:gd name="T48" fmla="*/ 286 w 444"/>
                    <a:gd name="T49" fmla="*/ 88 h 840"/>
                    <a:gd name="T50" fmla="*/ 280 w 444"/>
                    <a:gd name="T51" fmla="*/ 52 h 840"/>
                    <a:gd name="T52" fmla="*/ 258 w 444"/>
                    <a:gd name="T53" fmla="*/ 24 h 840"/>
                    <a:gd name="T54" fmla="*/ 229 w 444"/>
                    <a:gd name="T55" fmla="*/ 5 h 840"/>
                    <a:gd name="T56" fmla="*/ 208 w 444"/>
                    <a:gd name="T57" fmla="*/ 0 h 840"/>
                    <a:gd name="T58" fmla="*/ 169 w 444"/>
                    <a:gd name="T59" fmla="*/ 25 h 840"/>
                    <a:gd name="T60" fmla="*/ 133 w 444"/>
                    <a:gd name="T61" fmla="*/ 64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solidFill>
                <a:ln w="12700">
                  <a:solidFill>
                    <a:srgbClr val="000000"/>
                  </a:solidFill>
                  <a:prstDash val="solid"/>
                  <a:round/>
                  <a:headEnd/>
                  <a:tailEnd/>
                </a:ln>
              </p:spPr>
              <p:txBody>
                <a:bodyPr/>
                <a:lstStyle/>
                <a:p>
                  <a:endParaRPr lang="zh-CN" altLang="en-US"/>
                </a:p>
              </p:txBody>
            </p:sp>
          </p:grpSp>
        </p:grpSp>
        <p:grpSp>
          <p:nvGrpSpPr>
            <p:cNvPr id="35933" name="Group 93">
              <a:extLst>
                <a:ext uri="{FF2B5EF4-FFF2-40B4-BE49-F238E27FC236}">
                  <a16:creationId xmlns:a16="http://schemas.microsoft.com/office/drawing/2014/main" id="{921C43C8-EDD5-42F3-B474-EC36C22512D4}"/>
                </a:ext>
              </a:extLst>
            </p:cNvPr>
            <p:cNvGrpSpPr>
              <a:grpSpLocks/>
            </p:cNvGrpSpPr>
            <p:nvPr/>
          </p:nvGrpSpPr>
          <p:grpSpPr bwMode="auto">
            <a:xfrm rot="1123344">
              <a:off x="2327" y="1696"/>
              <a:ext cx="255" cy="314"/>
              <a:chOff x="1947" y="869"/>
              <a:chExt cx="355" cy="463"/>
            </a:xfrm>
          </p:grpSpPr>
          <p:grpSp>
            <p:nvGrpSpPr>
              <p:cNvPr id="35934" name="Group 94">
                <a:extLst>
                  <a:ext uri="{FF2B5EF4-FFF2-40B4-BE49-F238E27FC236}">
                    <a16:creationId xmlns:a16="http://schemas.microsoft.com/office/drawing/2014/main" id="{33F25834-44D3-468C-9F19-DAB0E8D38C54}"/>
                  </a:ext>
                </a:extLst>
              </p:cNvPr>
              <p:cNvGrpSpPr>
                <a:grpSpLocks/>
              </p:cNvGrpSpPr>
              <p:nvPr/>
            </p:nvGrpSpPr>
            <p:grpSpPr bwMode="auto">
              <a:xfrm>
                <a:off x="1982" y="1005"/>
                <a:ext cx="305" cy="220"/>
                <a:chOff x="1982" y="1005"/>
                <a:chExt cx="305" cy="220"/>
              </a:xfrm>
            </p:grpSpPr>
            <p:sp>
              <p:nvSpPr>
                <p:cNvPr id="35935" name="Freeform 95">
                  <a:extLst>
                    <a:ext uri="{FF2B5EF4-FFF2-40B4-BE49-F238E27FC236}">
                      <a16:creationId xmlns:a16="http://schemas.microsoft.com/office/drawing/2014/main" id="{BE9D0FE0-FCE4-4AE5-B296-C7C424043947}"/>
                    </a:ext>
                  </a:extLst>
                </p:cNvPr>
                <p:cNvSpPr>
                  <a:spLocks/>
                </p:cNvSpPr>
                <p:nvPr/>
              </p:nvSpPr>
              <p:spPr bwMode="auto">
                <a:xfrm>
                  <a:off x="2244" y="1005"/>
                  <a:ext cx="43" cy="100"/>
                </a:xfrm>
                <a:custGeom>
                  <a:avLst/>
                  <a:gdLst>
                    <a:gd name="T0" fmla="*/ 0 w 43"/>
                    <a:gd name="T1" fmla="*/ 11 h 100"/>
                    <a:gd name="T2" fmla="*/ 7 w 43"/>
                    <a:gd name="T3" fmla="*/ 0 h 100"/>
                    <a:gd name="T4" fmla="*/ 21 w 43"/>
                    <a:gd name="T5" fmla="*/ 0 h 100"/>
                    <a:gd name="T6" fmla="*/ 27 w 43"/>
                    <a:gd name="T7" fmla="*/ 7 h 100"/>
                    <a:gd name="T8" fmla="*/ 33 w 43"/>
                    <a:gd name="T9" fmla="*/ 19 h 100"/>
                    <a:gd name="T10" fmla="*/ 38 w 43"/>
                    <a:gd name="T11" fmla="*/ 44 h 100"/>
                    <a:gd name="T12" fmla="*/ 43 w 43"/>
                    <a:gd name="T13" fmla="*/ 76 h 100"/>
                    <a:gd name="T14" fmla="*/ 43 w 43"/>
                    <a:gd name="T15" fmla="*/ 100 h 100"/>
                    <a:gd name="T16" fmla="*/ 32 w 43"/>
                    <a:gd name="T17" fmla="*/ 100 h 100"/>
                    <a:gd name="T18" fmla="*/ 0 w 43"/>
                    <a:gd name="T19"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solidFill>
                <a:ln w="12700">
                  <a:solidFill>
                    <a:srgbClr val="000000"/>
                  </a:solidFill>
                  <a:prstDash val="solid"/>
                  <a:round/>
                  <a:headEnd/>
                  <a:tailEnd/>
                </a:ln>
              </p:spPr>
              <p:txBody>
                <a:bodyPr/>
                <a:lstStyle/>
                <a:p>
                  <a:endParaRPr lang="zh-CN" altLang="en-US"/>
                </a:p>
              </p:txBody>
            </p:sp>
            <p:sp>
              <p:nvSpPr>
                <p:cNvPr id="35936" name="Freeform 96">
                  <a:extLst>
                    <a:ext uri="{FF2B5EF4-FFF2-40B4-BE49-F238E27FC236}">
                      <a16:creationId xmlns:a16="http://schemas.microsoft.com/office/drawing/2014/main" id="{00E4CC28-944A-40EA-A638-68E9F0B3B1F5}"/>
                    </a:ext>
                  </a:extLst>
                </p:cNvPr>
                <p:cNvSpPr>
                  <a:spLocks/>
                </p:cNvSpPr>
                <p:nvPr/>
              </p:nvSpPr>
              <p:spPr bwMode="auto">
                <a:xfrm>
                  <a:off x="1982" y="1143"/>
                  <a:ext cx="73" cy="82"/>
                </a:xfrm>
                <a:custGeom>
                  <a:avLst/>
                  <a:gdLst>
                    <a:gd name="T0" fmla="*/ 17 w 73"/>
                    <a:gd name="T1" fmla="*/ 0 h 82"/>
                    <a:gd name="T2" fmla="*/ 4 w 73"/>
                    <a:gd name="T3" fmla="*/ 7 h 82"/>
                    <a:gd name="T4" fmla="*/ 0 w 73"/>
                    <a:gd name="T5" fmla="*/ 16 h 82"/>
                    <a:gd name="T6" fmla="*/ 4 w 73"/>
                    <a:gd name="T7" fmla="*/ 29 h 82"/>
                    <a:gd name="T8" fmla="*/ 14 w 73"/>
                    <a:gd name="T9" fmla="*/ 43 h 82"/>
                    <a:gd name="T10" fmla="*/ 25 w 73"/>
                    <a:gd name="T11" fmla="*/ 56 h 82"/>
                    <a:gd name="T12" fmla="*/ 46 w 73"/>
                    <a:gd name="T13" fmla="*/ 77 h 82"/>
                    <a:gd name="T14" fmla="*/ 60 w 73"/>
                    <a:gd name="T15" fmla="*/ 82 h 82"/>
                    <a:gd name="T16" fmla="*/ 73 w 73"/>
                    <a:gd name="T17" fmla="*/ 72 h 82"/>
                    <a:gd name="T18" fmla="*/ 17 w 73"/>
                    <a:gd name="T19"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solidFill>
                <a:ln w="12700">
                  <a:solidFill>
                    <a:srgbClr val="000000"/>
                  </a:solidFill>
                  <a:prstDash val="solid"/>
                  <a:round/>
                  <a:headEnd/>
                  <a:tailEnd/>
                </a:ln>
              </p:spPr>
              <p:txBody>
                <a:bodyPr/>
                <a:lstStyle/>
                <a:p>
                  <a:endParaRPr lang="zh-CN" altLang="en-US"/>
                </a:p>
              </p:txBody>
            </p:sp>
          </p:grpSp>
          <p:sp>
            <p:nvSpPr>
              <p:cNvPr id="35937" name="Freeform 97">
                <a:extLst>
                  <a:ext uri="{FF2B5EF4-FFF2-40B4-BE49-F238E27FC236}">
                    <a16:creationId xmlns:a16="http://schemas.microsoft.com/office/drawing/2014/main" id="{B7418C57-C835-400D-98AB-A16EE435FD4A}"/>
                  </a:ext>
                </a:extLst>
              </p:cNvPr>
              <p:cNvSpPr>
                <a:spLocks/>
              </p:cNvSpPr>
              <p:nvPr/>
            </p:nvSpPr>
            <p:spPr bwMode="auto">
              <a:xfrm>
                <a:off x="1962" y="919"/>
                <a:ext cx="340" cy="413"/>
              </a:xfrm>
              <a:custGeom>
                <a:avLst/>
                <a:gdLst>
                  <a:gd name="T0" fmla="*/ 30 w 340"/>
                  <a:gd name="T1" fmla="*/ 59 h 413"/>
                  <a:gd name="T2" fmla="*/ 13 w 340"/>
                  <a:gd name="T3" fmla="*/ 82 h 413"/>
                  <a:gd name="T4" fmla="*/ 4 w 340"/>
                  <a:gd name="T5" fmla="*/ 111 h 413"/>
                  <a:gd name="T6" fmla="*/ 0 w 340"/>
                  <a:gd name="T7" fmla="*/ 145 h 413"/>
                  <a:gd name="T8" fmla="*/ 5 w 340"/>
                  <a:gd name="T9" fmla="*/ 173 h 413"/>
                  <a:gd name="T10" fmla="*/ 17 w 340"/>
                  <a:gd name="T11" fmla="*/ 199 h 413"/>
                  <a:gd name="T12" fmla="*/ 37 w 340"/>
                  <a:gd name="T13" fmla="*/ 222 h 413"/>
                  <a:gd name="T14" fmla="*/ 54 w 340"/>
                  <a:gd name="T15" fmla="*/ 247 h 413"/>
                  <a:gd name="T16" fmla="*/ 71 w 340"/>
                  <a:gd name="T17" fmla="*/ 282 h 413"/>
                  <a:gd name="T18" fmla="*/ 90 w 340"/>
                  <a:gd name="T19" fmla="*/ 323 h 413"/>
                  <a:gd name="T20" fmla="*/ 109 w 340"/>
                  <a:gd name="T21" fmla="*/ 356 h 413"/>
                  <a:gd name="T22" fmla="*/ 128 w 340"/>
                  <a:gd name="T23" fmla="*/ 375 h 413"/>
                  <a:gd name="T24" fmla="*/ 149 w 340"/>
                  <a:gd name="T25" fmla="*/ 387 h 413"/>
                  <a:gd name="T26" fmla="*/ 185 w 340"/>
                  <a:gd name="T27" fmla="*/ 403 h 413"/>
                  <a:gd name="T28" fmla="*/ 222 w 340"/>
                  <a:gd name="T29" fmla="*/ 413 h 413"/>
                  <a:gd name="T30" fmla="*/ 247 w 340"/>
                  <a:gd name="T31" fmla="*/ 410 h 413"/>
                  <a:gd name="T32" fmla="*/ 268 w 340"/>
                  <a:gd name="T33" fmla="*/ 406 h 413"/>
                  <a:gd name="T34" fmla="*/ 304 w 340"/>
                  <a:gd name="T35" fmla="*/ 393 h 413"/>
                  <a:gd name="T36" fmla="*/ 319 w 340"/>
                  <a:gd name="T37" fmla="*/ 379 h 413"/>
                  <a:gd name="T38" fmla="*/ 326 w 340"/>
                  <a:gd name="T39" fmla="*/ 360 h 413"/>
                  <a:gd name="T40" fmla="*/ 337 w 340"/>
                  <a:gd name="T41" fmla="*/ 319 h 413"/>
                  <a:gd name="T42" fmla="*/ 340 w 340"/>
                  <a:gd name="T43" fmla="*/ 288 h 413"/>
                  <a:gd name="T44" fmla="*/ 340 w 340"/>
                  <a:gd name="T45" fmla="*/ 251 h 413"/>
                  <a:gd name="T46" fmla="*/ 335 w 340"/>
                  <a:gd name="T47" fmla="*/ 224 h 413"/>
                  <a:gd name="T48" fmla="*/ 326 w 340"/>
                  <a:gd name="T49" fmla="*/ 194 h 413"/>
                  <a:gd name="T50" fmla="*/ 310 w 340"/>
                  <a:gd name="T51" fmla="*/ 152 h 413"/>
                  <a:gd name="T52" fmla="*/ 291 w 340"/>
                  <a:gd name="T53" fmla="*/ 121 h 413"/>
                  <a:gd name="T54" fmla="*/ 282 w 340"/>
                  <a:gd name="T55" fmla="*/ 86 h 413"/>
                  <a:gd name="T56" fmla="*/ 264 w 340"/>
                  <a:gd name="T57" fmla="*/ 46 h 413"/>
                  <a:gd name="T58" fmla="*/ 244 w 340"/>
                  <a:gd name="T59" fmla="*/ 25 h 413"/>
                  <a:gd name="T60" fmla="*/ 224 w 340"/>
                  <a:gd name="T61" fmla="*/ 13 h 413"/>
                  <a:gd name="T62" fmla="*/ 186 w 340"/>
                  <a:gd name="T63" fmla="*/ 1 h 413"/>
                  <a:gd name="T64" fmla="*/ 160 w 340"/>
                  <a:gd name="T65" fmla="*/ 0 h 413"/>
                  <a:gd name="T66" fmla="*/ 122 w 340"/>
                  <a:gd name="T67" fmla="*/ 7 h 413"/>
                  <a:gd name="T68" fmla="*/ 87 w 340"/>
                  <a:gd name="T69" fmla="*/ 19 h 413"/>
                  <a:gd name="T70" fmla="*/ 52 w 340"/>
                  <a:gd name="T71" fmla="*/ 41 h 413"/>
                  <a:gd name="T72" fmla="*/ 30 w 340"/>
                  <a:gd name="T73" fmla="*/ 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solidFill>
              <a:ln w="12700">
                <a:solidFill>
                  <a:srgbClr val="000000"/>
                </a:solidFill>
                <a:prstDash val="solid"/>
                <a:round/>
                <a:headEnd/>
                <a:tailEnd/>
              </a:ln>
            </p:spPr>
            <p:txBody>
              <a:bodyPr/>
              <a:lstStyle/>
              <a:p>
                <a:endParaRPr lang="zh-CN" altLang="en-US"/>
              </a:p>
            </p:txBody>
          </p:sp>
          <p:grpSp>
            <p:nvGrpSpPr>
              <p:cNvPr id="35938" name="Group 98">
                <a:extLst>
                  <a:ext uri="{FF2B5EF4-FFF2-40B4-BE49-F238E27FC236}">
                    <a16:creationId xmlns:a16="http://schemas.microsoft.com/office/drawing/2014/main" id="{A69D2028-8C98-48B7-B5E4-1A47F80BC82C}"/>
                  </a:ext>
                </a:extLst>
              </p:cNvPr>
              <p:cNvGrpSpPr>
                <a:grpSpLocks/>
              </p:cNvGrpSpPr>
              <p:nvPr/>
            </p:nvGrpSpPr>
            <p:grpSpPr bwMode="auto">
              <a:xfrm>
                <a:off x="1997" y="1009"/>
                <a:ext cx="257" cy="143"/>
                <a:chOff x="1997" y="1009"/>
                <a:chExt cx="257" cy="143"/>
              </a:xfrm>
            </p:grpSpPr>
            <p:sp>
              <p:nvSpPr>
                <p:cNvPr id="35939" name="Freeform 99">
                  <a:extLst>
                    <a:ext uri="{FF2B5EF4-FFF2-40B4-BE49-F238E27FC236}">
                      <a16:creationId xmlns:a16="http://schemas.microsoft.com/office/drawing/2014/main" id="{285E5921-3672-4EBD-9D50-ED3362CD744D}"/>
                    </a:ext>
                  </a:extLst>
                </p:cNvPr>
                <p:cNvSpPr>
                  <a:spLocks/>
                </p:cNvSpPr>
                <p:nvPr/>
              </p:nvSpPr>
              <p:spPr bwMode="auto">
                <a:xfrm>
                  <a:off x="2122" y="1074"/>
                  <a:ext cx="19" cy="21"/>
                </a:xfrm>
                <a:custGeom>
                  <a:avLst/>
                  <a:gdLst>
                    <a:gd name="T0" fmla="*/ 0 w 19"/>
                    <a:gd name="T1" fmla="*/ 12 h 21"/>
                    <a:gd name="T2" fmla="*/ 6 w 19"/>
                    <a:gd name="T3" fmla="*/ 4 h 21"/>
                    <a:gd name="T4" fmla="*/ 17 w 19"/>
                    <a:gd name="T5" fmla="*/ 0 h 21"/>
                    <a:gd name="T6" fmla="*/ 19 w 19"/>
                    <a:gd name="T7" fmla="*/ 11 h 21"/>
                    <a:gd name="T8" fmla="*/ 10 w 19"/>
                    <a:gd name="T9" fmla="*/ 11 h 21"/>
                    <a:gd name="T10" fmla="*/ 3 w 19"/>
                    <a:gd name="T11" fmla="*/ 21 h 21"/>
                    <a:gd name="T12" fmla="*/ 0 w 19"/>
                    <a:gd name="T13" fmla="*/ 12 h 21"/>
                  </a:gdLst>
                  <a:ahLst/>
                  <a:cxnLst>
                    <a:cxn ang="0">
                      <a:pos x="T0" y="T1"/>
                    </a:cxn>
                    <a:cxn ang="0">
                      <a:pos x="T2" y="T3"/>
                    </a:cxn>
                    <a:cxn ang="0">
                      <a:pos x="T4" y="T5"/>
                    </a:cxn>
                    <a:cxn ang="0">
                      <a:pos x="T6" y="T7"/>
                    </a:cxn>
                    <a:cxn ang="0">
                      <a:pos x="T8" y="T9"/>
                    </a:cxn>
                    <a:cxn ang="0">
                      <a:pos x="T10" y="T11"/>
                    </a:cxn>
                    <a:cxn ang="0">
                      <a:pos x="T12" y="T13"/>
                    </a:cxn>
                  </a:cxnLst>
                  <a:rect l="0" t="0" r="r" b="b"/>
                  <a:pathLst>
                    <a:path w="19" h="21">
                      <a:moveTo>
                        <a:pt x="0" y="12"/>
                      </a:moveTo>
                      <a:lnTo>
                        <a:pt x="6" y="4"/>
                      </a:lnTo>
                      <a:lnTo>
                        <a:pt x="17" y="0"/>
                      </a:lnTo>
                      <a:lnTo>
                        <a:pt x="19" y="11"/>
                      </a:lnTo>
                      <a:lnTo>
                        <a:pt x="10" y="11"/>
                      </a:lnTo>
                      <a:lnTo>
                        <a:pt x="3" y="21"/>
                      </a:lnTo>
                      <a:lnTo>
                        <a:pt x="0" y="12"/>
                      </a:lnTo>
                      <a:close/>
                    </a:path>
                  </a:pathLst>
                </a:custGeom>
                <a:solidFill>
                  <a:srgbClr val="C0C0C0"/>
                </a:solidFill>
                <a:ln w="12700">
                  <a:solidFill>
                    <a:srgbClr val="000000"/>
                  </a:solidFill>
                  <a:prstDash val="solid"/>
                  <a:round/>
                  <a:headEnd/>
                  <a:tailEnd/>
                </a:ln>
              </p:spPr>
              <p:txBody>
                <a:bodyPr/>
                <a:lstStyle/>
                <a:p>
                  <a:endParaRPr lang="zh-CN" altLang="en-US"/>
                </a:p>
              </p:txBody>
            </p:sp>
            <p:sp>
              <p:nvSpPr>
                <p:cNvPr id="35940" name="Freeform 100">
                  <a:extLst>
                    <a:ext uri="{FF2B5EF4-FFF2-40B4-BE49-F238E27FC236}">
                      <a16:creationId xmlns:a16="http://schemas.microsoft.com/office/drawing/2014/main" id="{039155B6-07DD-4D5E-A3DA-EC7B701BBC1F}"/>
                    </a:ext>
                  </a:extLst>
                </p:cNvPr>
                <p:cNvSpPr>
                  <a:spLocks/>
                </p:cNvSpPr>
                <p:nvPr/>
              </p:nvSpPr>
              <p:spPr bwMode="auto">
                <a:xfrm>
                  <a:off x="1997" y="1128"/>
                  <a:ext cx="37" cy="24"/>
                </a:xfrm>
                <a:custGeom>
                  <a:avLst/>
                  <a:gdLst>
                    <a:gd name="T0" fmla="*/ 31 w 37"/>
                    <a:gd name="T1" fmla="*/ 0 h 24"/>
                    <a:gd name="T2" fmla="*/ 37 w 37"/>
                    <a:gd name="T3" fmla="*/ 13 h 24"/>
                    <a:gd name="T4" fmla="*/ 6 w 37"/>
                    <a:gd name="T5" fmla="*/ 24 h 24"/>
                    <a:gd name="T6" fmla="*/ 0 w 37"/>
                    <a:gd name="T7" fmla="*/ 18 h 24"/>
                    <a:gd name="T8" fmla="*/ 31 w 37"/>
                    <a:gd name="T9" fmla="*/ 0 h 24"/>
                  </a:gdLst>
                  <a:ahLst/>
                  <a:cxnLst>
                    <a:cxn ang="0">
                      <a:pos x="T0" y="T1"/>
                    </a:cxn>
                    <a:cxn ang="0">
                      <a:pos x="T2" y="T3"/>
                    </a:cxn>
                    <a:cxn ang="0">
                      <a:pos x="T4" y="T5"/>
                    </a:cxn>
                    <a:cxn ang="0">
                      <a:pos x="T6" y="T7"/>
                    </a:cxn>
                    <a:cxn ang="0">
                      <a:pos x="T8" y="T9"/>
                    </a:cxn>
                  </a:cxnLst>
                  <a:rect l="0" t="0" r="r" b="b"/>
                  <a:pathLst>
                    <a:path w="37" h="24">
                      <a:moveTo>
                        <a:pt x="31" y="0"/>
                      </a:moveTo>
                      <a:lnTo>
                        <a:pt x="37" y="13"/>
                      </a:lnTo>
                      <a:lnTo>
                        <a:pt x="6" y="24"/>
                      </a:lnTo>
                      <a:lnTo>
                        <a:pt x="0" y="18"/>
                      </a:lnTo>
                      <a:lnTo>
                        <a:pt x="31" y="0"/>
                      </a:lnTo>
                      <a:close/>
                    </a:path>
                  </a:pathLst>
                </a:custGeom>
                <a:solidFill>
                  <a:srgbClr val="C0C0C0"/>
                </a:solidFill>
                <a:ln w="12700">
                  <a:solidFill>
                    <a:srgbClr val="000000"/>
                  </a:solidFill>
                  <a:prstDash val="solid"/>
                  <a:round/>
                  <a:headEnd/>
                  <a:tailEnd/>
                </a:ln>
              </p:spPr>
              <p:txBody>
                <a:bodyPr/>
                <a:lstStyle/>
                <a:p>
                  <a:endParaRPr lang="zh-CN" altLang="en-US"/>
                </a:p>
              </p:txBody>
            </p:sp>
            <p:sp>
              <p:nvSpPr>
                <p:cNvPr id="35941" name="Freeform 101">
                  <a:extLst>
                    <a:ext uri="{FF2B5EF4-FFF2-40B4-BE49-F238E27FC236}">
                      <a16:creationId xmlns:a16="http://schemas.microsoft.com/office/drawing/2014/main" id="{5DAA5401-A670-4509-B005-405FD589B8FD}"/>
                    </a:ext>
                  </a:extLst>
                </p:cNvPr>
                <p:cNvSpPr>
                  <a:spLocks/>
                </p:cNvSpPr>
                <p:nvPr/>
              </p:nvSpPr>
              <p:spPr bwMode="auto">
                <a:xfrm>
                  <a:off x="2221" y="1009"/>
                  <a:ext cx="33" cy="24"/>
                </a:xfrm>
                <a:custGeom>
                  <a:avLst/>
                  <a:gdLst>
                    <a:gd name="T0" fmla="*/ 0 w 33"/>
                    <a:gd name="T1" fmla="*/ 13 h 24"/>
                    <a:gd name="T2" fmla="*/ 7 w 33"/>
                    <a:gd name="T3" fmla="*/ 24 h 24"/>
                    <a:gd name="T4" fmla="*/ 33 w 33"/>
                    <a:gd name="T5" fmla="*/ 6 h 24"/>
                    <a:gd name="T6" fmla="*/ 30 w 33"/>
                    <a:gd name="T7" fmla="*/ 0 h 24"/>
                    <a:gd name="T8" fmla="*/ 0 w 33"/>
                    <a:gd name="T9" fmla="*/ 13 h 24"/>
                  </a:gdLst>
                  <a:ahLst/>
                  <a:cxnLst>
                    <a:cxn ang="0">
                      <a:pos x="T0" y="T1"/>
                    </a:cxn>
                    <a:cxn ang="0">
                      <a:pos x="T2" y="T3"/>
                    </a:cxn>
                    <a:cxn ang="0">
                      <a:pos x="T4" y="T5"/>
                    </a:cxn>
                    <a:cxn ang="0">
                      <a:pos x="T6" y="T7"/>
                    </a:cxn>
                    <a:cxn ang="0">
                      <a:pos x="T8" y="T9"/>
                    </a:cxn>
                  </a:cxnLst>
                  <a:rect l="0" t="0" r="r" b="b"/>
                  <a:pathLst>
                    <a:path w="33" h="24">
                      <a:moveTo>
                        <a:pt x="0" y="13"/>
                      </a:moveTo>
                      <a:lnTo>
                        <a:pt x="7" y="24"/>
                      </a:lnTo>
                      <a:lnTo>
                        <a:pt x="33" y="6"/>
                      </a:lnTo>
                      <a:lnTo>
                        <a:pt x="30" y="0"/>
                      </a:lnTo>
                      <a:lnTo>
                        <a:pt x="0" y="13"/>
                      </a:lnTo>
                      <a:close/>
                    </a:path>
                  </a:pathLst>
                </a:custGeom>
                <a:solidFill>
                  <a:srgbClr val="C0C0C0"/>
                </a:solidFill>
                <a:ln w="12700">
                  <a:solidFill>
                    <a:srgbClr val="000000"/>
                  </a:solidFill>
                  <a:prstDash val="solid"/>
                  <a:round/>
                  <a:headEnd/>
                  <a:tailEnd/>
                </a:ln>
              </p:spPr>
              <p:txBody>
                <a:bodyPr/>
                <a:lstStyle/>
                <a:p>
                  <a:endParaRPr lang="zh-CN" altLang="en-US"/>
                </a:p>
              </p:txBody>
            </p:sp>
          </p:grpSp>
          <p:grpSp>
            <p:nvGrpSpPr>
              <p:cNvPr id="35942" name="Group 102">
                <a:extLst>
                  <a:ext uri="{FF2B5EF4-FFF2-40B4-BE49-F238E27FC236}">
                    <a16:creationId xmlns:a16="http://schemas.microsoft.com/office/drawing/2014/main" id="{D3008AC0-1848-4428-AC75-A6B8CA6801E9}"/>
                  </a:ext>
                </a:extLst>
              </p:cNvPr>
              <p:cNvGrpSpPr>
                <a:grpSpLocks/>
              </p:cNvGrpSpPr>
              <p:nvPr/>
            </p:nvGrpSpPr>
            <p:grpSpPr bwMode="auto">
              <a:xfrm>
                <a:off x="2027" y="1019"/>
                <a:ext cx="218" cy="158"/>
                <a:chOff x="2027" y="1019"/>
                <a:chExt cx="218" cy="158"/>
              </a:xfrm>
            </p:grpSpPr>
            <p:sp>
              <p:nvSpPr>
                <p:cNvPr id="35943" name="Freeform 103">
                  <a:extLst>
                    <a:ext uri="{FF2B5EF4-FFF2-40B4-BE49-F238E27FC236}">
                      <a16:creationId xmlns:a16="http://schemas.microsoft.com/office/drawing/2014/main" id="{5AD8907A-399E-4E9B-BB06-D4C52625CAD0}"/>
                    </a:ext>
                  </a:extLst>
                </p:cNvPr>
                <p:cNvSpPr>
                  <a:spLocks/>
                </p:cNvSpPr>
                <p:nvPr/>
              </p:nvSpPr>
              <p:spPr bwMode="auto">
                <a:xfrm>
                  <a:off x="2027" y="1077"/>
                  <a:ext cx="110" cy="100"/>
                </a:xfrm>
                <a:custGeom>
                  <a:avLst/>
                  <a:gdLst>
                    <a:gd name="T0" fmla="*/ 0 w 110"/>
                    <a:gd name="T1" fmla="*/ 51 h 100"/>
                    <a:gd name="T2" fmla="*/ 90 w 110"/>
                    <a:gd name="T3" fmla="*/ 0 h 100"/>
                    <a:gd name="T4" fmla="*/ 105 w 110"/>
                    <a:gd name="T5" fmla="*/ 26 h 100"/>
                    <a:gd name="T6" fmla="*/ 110 w 110"/>
                    <a:gd name="T7" fmla="*/ 44 h 100"/>
                    <a:gd name="T8" fmla="*/ 109 w 110"/>
                    <a:gd name="T9" fmla="*/ 63 h 100"/>
                    <a:gd name="T10" fmla="*/ 101 w 110"/>
                    <a:gd name="T11" fmla="*/ 75 h 100"/>
                    <a:gd name="T12" fmla="*/ 89 w 110"/>
                    <a:gd name="T13" fmla="*/ 85 h 100"/>
                    <a:gd name="T14" fmla="*/ 71 w 110"/>
                    <a:gd name="T15" fmla="*/ 92 h 100"/>
                    <a:gd name="T16" fmla="*/ 60 w 110"/>
                    <a:gd name="T17" fmla="*/ 99 h 100"/>
                    <a:gd name="T18" fmla="*/ 49 w 110"/>
                    <a:gd name="T19" fmla="*/ 100 h 100"/>
                    <a:gd name="T20" fmla="*/ 35 w 110"/>
                    <a:gd name="T21" fmla="*/ 98 h 100"/>
                    <a:gd name="T22" fmla="*/ 25 w 110"/>
                    <a:gd name="T23" fmla="*/ 91 h 100"/>
                    <a:gd name="T24" fmla="*/ 18 w 110"/>
                    <a:gd name="T25" fmla="*/ 83 h 100"/>
                    <a:gd name="T26" fmla="*/ 14 w 110"/>
                    <a:gd name="T27" fmla="*/ 75 h 100"/>
                    <a:gd name="T28" fmla="*/ 6 w 110"/>
                    <a:gd name="T29" fmla="*/ 60 h 100"/>
                    <a:gd name="T30" fmla="*/ 0 w 110"/>
                    <a:gd name="T31" fmla="*/ 5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solidFill>
                <a:ln w="12700">
                  <a:solidFill>
                    <a:srgbClr val="000000"/>
                  </a:solidFill>
                  <a:prstDash val="solid"/>
                  <a:round/>
                  <a:headEnd/>
                  <a:tailEnd/>
                </a:ln>
              </p:spPr>
              <p:txBody>
                <a:bodyPr/>
                <a:lstStyle/>
                <a:p>
                  <a:endParaRPr lang="zh-CN" altLang="en-US"/>
                </a:p>
              </p:txBody>
            </p:sp>
            <p:sp>
              <p:nvSpPr>
                <p:cNvPr id="35944" name="Oval 104">
                  <a:extLst>
                    <a:ext uri="{FF2B5EF4-FFF2-40B4-BE49-F238E27FC236}">
                      <a16:creationId xmlns:a16="http://schemas.microsoft.com/office/drawing/2014/main" id="{835AE1E1-9FCD-4567-B8AA-771CA03B206E}"/>
                    </a:ext>
                  </a:extLst>
                </p:cNvPr>
                <p:cNvSpPr>
                  <a:spLocks noChangeArrowheads="1"/>
                </p:cNvSpPr>
                <p:nvPr/>
              </p:nvSpPr>
              <p:spPr bwMode="auto">
                <a:xfrm>
                  <a:off x="2077" y="1122"/>
                  <a:ext cx="19" cy="18"/>
                </a:xfrm>
                <a:prstGeom prst="ellipse">
                  <a:avLst/>
                </a:prstGeom>
                <a:solidFill>
                  <a:srgbClr val="00A000"/>
                </a:solidFill>
                <a:ln w="12700">
                  <a:solidFill>
                    <a:srgbClr val="000000"/>
                  </a:solidFill>
                  <a:round/>
                  <a:headEnd/>
                  <a:tailEnd/>
                </a:ln>
              </p:spPr>
              <p:txBody>
                <a:bodyPr/>
                <a:lstStyle/>
                <a:p>
                  <a:endParaRPr lang="zh-CN" altLang="en-US"/>
                </a:p>
              </p:txBody>
            </p:sp>
            <p:sp>
              <p:nvSpPr>
                <p:cNvPr id="35945" name="Freeform 105">
                  <a:extLst>
                    <a:ext uri="{FF2B5EF4-FFF2-40B4-BE49-F238E27FC236}">
                      <a16:creationId xmlns:a16="http://schemas.microsoft.com/office/drawing/2014/main" id="{95BA92DC-BFD7-4A12-B877-3C9BE3EFFEB7}"/>
                    </a:ext>
                  </a:extLst>
                </p:cNvPr>
                <p:cNvSpPr>
                  <a:spLocks/>
                </p:cNvSpPr>
                <p:nvPr/>
              </p:nvSpPr>
              <p:spPr bwMode="auto">
                <a:xfrm>
                  <a:off x="2134" y="1019"/>
                  <a:ext cx="111" cy="99"/>
                </a:xfrm>
                <a:custGeom>
                  <a:avLst/>
                  <a:gdLst>
                    <a:gd name="T0" fmla="*/ 0 w 111"/>
                    <a:gd name="T1" fmla="*/ 50 h 99"/>
                    <a:gd name="T2" fmla="*/ 92 w 111"/>
                    <a:gd name="T3" fmla="*/ 0 h 99"/>
                    <a:gd name="T4" fmla="*/ 105 w 111"/>
                    <a:gd name="T5" fmla="*/ 28 h 99"/>
                    <a:gd name="T6" fmla="*/ 111 w 111"/>
                    <a:gd name="T7" fmla="*/ 45 h 99"/>
                    <a:gd name="T8" fmla="*/ 108 w 111"/>
                    <a:gd name="T9" fmla="*/ 62 h 99"/>
                    <a:gd name="T10" fmla="*/ 101 w 111"/>
                    <a:gd name="T11" fmla="*/ 73 h 99"/>
                    <a:gd name="T12" fmla="*/ 88 w 111"/>
                    <a:gd name="T13" fmla="*/ 84 h 99"/>
                    <a:gd name="T14" fmla="*/ 73 w 111"/>
                    <a:gd name="T15" fmla="*/ 92 h 99"/>
                    <a:gd name="T16" fmla="*/ 61 w 111"/>
                    <a:gd name="T17" fmla="*/ 97 h 99"/>
                    <a:gd name="T18" fmla="*/ 48 w 111"/>
                    <a:gd name="T19" fmla="*/ 99 h 99"/>
                    <a:gd name="T20" fmla="*/ 36 w 111"/>
                    <a:gd name="T21" fmla="*/ 97 h 99"/>
                    <a:gd name="T22" fmla="*/ 25 w 111"/>
                    <a:gd name="T23" fmla="*/ 90 h 99"/>
                    <a:gd name="T24" fmla="*/ 19 w 111"/>
                    <a:gd name="T25" fmla="*/ 84 h 99"/>
                    <a:gd name="T26" fmla="*/ 14 w 111"/>
                    <a:gd name="T27" fmla="*/ 74 h 99"/>
                    <a:gd name="T28" fmla="*/ 6 w 111"/>
                    <a:gd name="T29" fmla="*/ 60 h 99"/>
                    <a:gd name="T30" fmla="*/ 0 w 111"/>
                    <a:gd name="T31" fmla="*/ 5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solidFill>
                <a:ln w="12700">
                  <a:solidFill>
                    <a:srgbClr val="000000"/>
                  </a:solidFill>
                  <a:prstDash val="solid"/>
                  <a:round/>
                  <a:headEnd/>
                  <a:tailEnd/>
                </a:ln>
              </p:spPr>
              <p:txBody>
                <a:bodyPr/>
                <a:lstStyle/>
                <a:p>
                  <a:endParaRPr lang="zh-CN" altLang="en-US"/>
                </a:p>
              </p:txBody>
            </p:sp>
            <p:sp>
              <p:nvSpPr>
                <p:cNvPr id="35946" name="Oval 106">
                  <a:extLst>
                    <a:ext uri="{FF2B5EF4-FFF2-40B4-BE49-F238E27FC236}">
                      <a16:creationId xmlns:a16="http://schemas.microsoft.com/office/drawing/2014/main" id="{56227D57-DA9B-4C02-AF2C-2ACEDA766F69}"/>
                    </a:ext>
                  </a:extLst>
                </p:cNvPr>
                <p:cNvSpPr>
                  <a:spLocks noChangeArrowheads="1"/>
                </p:cNvSpPr>
                <p:nvPr/>
              </p:nvSpPr>
              <p:spPr bwMode="auto">
                <a:xfrm>
                  <a:off x="2184" y="1064"/>
                  <a:ext cx="19" cy="18"/>
                </a:xfrm>
                <a:prstGeom prst="ellipse">
                  <a:avLst/>
                </a:prstGeom>
                <a:solidFill>
                  <a:srgbClr val="00A000"/>
                </a:solidFill>
                <a:ln w="12700">
                  <a:solidFill>
                    <a:srgbClr val="000000"/>
                  </a:solidFill>
                  <a:round/>
                  <a:headEnd/>
                  <a:tailEnd/>
                </a:ln>
              </p:spPr>
              <p:txBody>
                <a:bodyPr/>
                <a:lstStyle/>
                <a:p>
                  <a:endParaRPr lang="zh-CN" altLang="en-US"/>
                </a:p>
              </p:txBody>
            </p:sp>
          </p:grpSp>
          <p:sp>
            <p:nvSpPr>
              <p:cNvPr id="35947" name="Freeform 107">
                <a:extLst>
                  <a:ext uri="{FF2B5EF4-FFF2-40B4-BE49-F238E27FC236}">
                    <a16:creationId xmlns:a16="http://schemas.microsoft.com/office/drawing/2014/main" id="{91E8346B-8141-4B49-A54A-6720967FBAD6}"/>
                  </a:ext>
                </a:extLst>
              </p:cNvPr>
              <p:cNvSpPr>
                <a:spLocks/>
              </p:cNvSpPr>
              <p:nvPr/>
            </p:nvSpPr>
            <p:spPr bwMode="auto">
              <a:xfrm>
                <a:off x="2141" y="1182"/>
                <a:ext cx="110" cy="89"/>
              </a:xfrm>
              <a:custGeom>
                <a:avLst/>
                <a:gdLst>
                  <a:gd name="T0" fmla="*/ 0 w 110"/>
                  <a:gd name="T1" fmla="*/ 46 h 89"/>
                  <a:gd name="T2" fmla="*/ 17 w 110"/>
                  <a:gd name="T3" fmla="*/ 46 h 89"/>
                  <a:gd name="T4" fmla="*/ 32 w 110"/>
                  <a:gd name="T5" fmla="*/ 43 h 89"/>
                  <a:gd name="T6" fmla="*/ 50 w 110"/>
                  <a:gd name="T7" fmla="*/ 38 h 89"/>
                  <a:gd name="T8" fmla="*/ 66 w 110"/>
                  <a:gd name="T9" fmla="*/ 33 h 89"/>
                  <a:gd name="T10" fmla="*/ 83 w 110"/>
                  <a:gd name="T11" fmla="*/ 21 h 89"/>
                  <a:gd name="T12" fmla="*/ 93 w 110"/>
                  <a:gd name="T13" fmla="*/ 12 h 89"/>
                  <a:gd name="T14" fmla="*/ 103 w 110"/>
                  <a:gd name="T15" fmla="*/ 0 h 89"/>
                  <a:gd name="T16" fmla="*/ 109 w 110"/>
                  <a:gd name="T17" fmla="*/ 24 h 89"/>
                  <a:gd name="T18" fmla="*/ 110 w 110"/>
                  <a:gd name="T19" fmla="*/ 33 h 89"/>
                  <a:gd name="T20" fmla="*/ 110 w 110"/>
                  <a:gd name="T21" fmla="*/ 51 h 89"/>
                  <a:gd name="T22" fmla="*/ 106 w 110"/>
                  <a:gd name="T23" fmla="*/ 63 h 89"/>
                  <a:gd name="T24" fmla="*/ 98 w 110"/>
                  <a:gd name="T25" fmla="*/ 76 h 89"/>
                  <a:gd name="T26" fmla="*/ 88 w 110"/>
                  <a:gd name="T27" fmla="*/ 84 h 89"/>
                  <a:gd name="T28" fmla="*/ 76 w 110"/>
                  <a:gd name="T29" fmla="*/ 88 h 89"/>
                  <a:gd name="T30" fmla="*/ 62 w 110"/>
                  <a:gd name="T31" fmla="*/ 89 h 89"/>
                  <a:gd name="T32" fmla="*/ 49 w 110"/>
                  <a:gd name="T33" fmla="*/ 88 h 89"/>
                  <a:gd name="T34" fmla="*/ 37 w 110"/>
                  <a:gd name="T35" fmla="*/ 82 h 89"/>
                  <a:gd name="T36" fmla="*/ 31 w 110"/>
                  <a:gd name="T37" fmla="*/ 80 h 89"/>
                  <a:gd name="T38" fmla="*/ 19 w 110"/>
                  <a:gd name="T39" fmla="*/ 72 h 89"/>
                  <a:gd name="T40" fmla="*/ 11 w 110"/>
                  <a:gd name="T41" fmla="*/ 57 h 89"/>
                  <a:gd name="T42" fmla="*/ 0 w 110"/>
                  <a:gd name="T43" fmla="*/ 46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solidFill>
              <a:ln w="12700">
                <a:solidFill>
                  <a:srgbClr val="000000"/>
                </a:solidFill>
                <a:prstDash val="solid"/>
                <a:round/>
                <a:headEnd/>
                <a:tailEnd/>
              </a:ln>
            </p:spPr>
            <p:txBody>
              <a:bodyPr/>
              <a:lstStyle/>
              <a:p>
                <a:endParaRPr lang="zh-CN" altLang="en-US"/>
              </a:p>
            </p:txBody>
          </p:sp>
          <p:sp>
            <p:nvSpPr>
              <p:cNvPr id="35948" name="Freeform 108">
                <a:extLst>
                  <a:ext uri="{FF2B5EF4-FFF2-40B4-BE49-F238E27FC236}">
                    <a16:creationId xmlns:a16="http://schemas.microsoft.com/office/drawing/2014/main" id="{9B7FC04E-9B80-4A3A-8C24-093C95E19F4E}"/>
                  </a:ext>
                </a:extLst>
              </p:cNvPr>
              <p:cNvSpPr>
                <a:spLocks/>
              </p:cNvSpPr>
              <p:nvPr/>
            </p:nvSpPr>
            <p:spPr bwMode="auto">
              <a:xfrm>
                <a:off x="2149" y="1152"/>
                <a:ext cx="57" cy="32"/>
              </a:xfrm>
              <a:custGeom>
                <a:avLst/>
                <a:gdLst>
                  <a:gd name="T0" fmla="*/ 0 w 57"/>
                  <a:gd name="T1" fmla="*/ 32 h 32"/>
                  <a:gd name="T2" fmla="*/ 17 w 57"/>
                  <a:gd name="T3" fmla="*/ 31 h 32"/>
                  <a:gd name="T4" fmla="*/ 24 w 57"/>
                  <a:gd name="T5" fmla="*/ 28 h 32"/>
                  <a:gd name="T6" fmla="*/ 33 w 57"/>
                  <a:gd name="T7" fmla="*/ 25 h 32"/>
                  <a:gd name="T8" fmla="*/ 43 w 57"/>
                  <a:gd name="T9" fmla="*/ 19 h 32"/>
                  <a:gd name="T10" fmla="*/ 49 w 57"/>
                  <a:gd name="T11" fmla="*/ 10 h 32"/>
                  <a:gd name="T12" fmla="*/ 57 w 57"/>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57" h="32">
                    <a:moveTo>
                      <a:pt x="0" y="32"/>
                    </a:moveTo>
                    <a:lnTo>
                      <a:pt x="17" y="31"/>
                    </a:lnTo>
                    <a:lnTo>
                      <a:pt x="24" y="28"/>
                    </a:lnTo>
                    <a:lnTo>
                      <a:pt x="33" y="25"/>
                    </a:lnTo>
                    <a:lnTo>
                      <a:pt x="43" y="19"/>
                    </a:lnTo>
                    <a:lnTo>
                      <a:pt x="49" y="10"/>
                    </a:lnTo>
                    <a:lnTo>
                      <a:pt x="57"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49" name="Freeform 109">
                <a:extLst>
                  <a:ext uri="{FF2B5EF4-FFF2-40B4-BE49-F238E27FC236}">
                    <a16:creationId xmlns:a16="http://schemas.microsoft.com/office/drawing/2014/main" id="{9D8662A0-086F-4AC8-9DA3-8FD9034779C3}"/>
                  </a:ext>
                </a:extLst>
              </p:cNvPr>
              <p:cNvSpPr>
                <a:spLocks/>
              </p:cNvSpPr>
              <p:nvPr/>
            </p:nvSpPr>
            <p:spPr bwMode="auto">
              <a:xfrm>
                <a:off x="1947" y="869"/>
                <a:ext cx="307" cy="282"/>
              </a:xfrm>
              <a:custGeom>
                <a:avLst/>
                <a:gdLst>
                  <a:gd name="T0" fmla="*/ 52 w 307"/>
                  <a:gd name="T1" fmla="*/ 282 h 282"/>
                  <a:gd name="T2" fmla="*/ 65 w 307"/>
                  <a:gd name="T3" fmla="*/ 276 h 282"/>
                  <a:gd name="T4" fmla="*/ 68 w 307"/>
                  <a:gd name="T5" fmla="*/ 258 h 282"/>
                  <a:gd name="T6" fmla="*/ 70 w 307"/>
                  <a:gd name="T7" fmla="*/ 233 h 282"/>
                  <a:gd name="T8" fmla="*/ 58 w 307"/>
                  <a:gd name="T9" fmla="*/ 183 h 282"/>
                  <a:gd name="T10" fmla="*/ 51 w 307"/>
                  <a:gd name="T11" fmla="*/ 154 h 282"/>
                  <a:gd name="T12" fmla="*/ 89 w 307"/>
                  <a:gd name="T13" fmla="*/ 155 h 282"/>
                  <a:gd name="T14" fmla="*/ 139 w 307"/>
                  <a:gd name="T15" fmla="*/ 153 h 282"/>
                  <a:gd name="T16" fmla="*/ 155 w 307"/>
                  <a:gd name="T17" fmla="*/ 137 h 282"/>
                  <a:gd name="T18" fmla="*/ 181 w 307"/>
                  <a:gd name="T19" fmla="*/ 118 h 282"/>
                  <a:gd name="T20" fmla="*/ 221 w 307"/>
                  <a:gd name="T21" fmla="*/ 122 h 282"/>
                  <a:gd name="T22" fmla="*/ 260 w 307"/>
                  <a:gd name="T23" fmla="*/ 101 h 282"/>
                  <a:gd name="T24" fmla="*/ 265 w 307"/>
                  <a:gd name="T25" fmla="*/ 123 h 282"/>
                  <a:gd name="T26" fmla="*/ 281 w 307"/>
                  <a:gd name="T27" fmla="*/ 132 h 282"/>
                  <a:gd name="T28" fmla="*/ 298 w 307"/>
                  <a:gd name="T29" fmla="*/ 160 h 282"/>
                  <a:gd name="T30" fmla="*/ 307 w 307"/>
                  <a:gd name="T31" fmla="*/ 154 h 282"/>
                  <a:gd name="T32" fmla="*/ 307 w 307"/>
                  <a:gd name="T33" fmla="*/ 135 h 282"/>
                  <a:gd name="T34" fmla="*/ 303 w 307"/>
                  <a:gd name="T35" fmla="*/ 106 h 282"/>
                  <a:gd name="T36" fmla="*/ 295 w 307"/>
                  <a:gd name="T37" fmla="*/ 82 h 282"/>
                  <a:gd name="T38" fmla="*/ 280 w 307"/>
                  <a:gd name="T39" fmla="*/ 64 h 282"/>
                  <a:gd name="T40" fmla="*/ 282 w 307"/>
                  <a:gd name="T41" fmla="*/ 33 h 282"/>
                  <a:gd name="T42" fmla="*/ 282 w 307"/>
                  <a:gd name="T43" fmla="*/ 16 h 282"/>
                  <a:gd name="T44" fmla="*/ 261 w 307"/>
                  <a:gd name="T45" fmla="*/ 19 h 282"/>
                  <a:gd name="T46" fmla="*/ 238 w 307"/>
                  <a:gd name="T47" fmla="*/ 19 h 282"/>
                  <a:gd name="T48" fmla="*/ 225 w 307"/>
                  <a:gd name="T49" fmla="*/ 14 h 282"/>
                  <a:gd name="T50" fmla="*/ 209 w 307"/>
                  <a:gd name="T51" fmla="*/ 0 h 282"/>
                  <a:gd name="T52" fmla="*/ 195 w 307"/>
                  <a:gd name="T53" fmla="*/ 13 h 282"/>
                  <a:gd name="T54" fmla="*/ 182 w 307"/>
                  <a:gd name="T55" fmla="*/ 19 h 282"/>
                  <a:gd name="T56" fmla="*/ 156 w 307"/>
                  <a:gd name="T57" fmla="*/ 21 h 282"/>
                  <a:gd name="T58" fmla="*/ 132 w 307"/>
                  <a:gd name="T59" fmla="*/ 26 h 282"/>
                  <a:gd name="T60" fmla="*/ 106 w 307"/>
                  <a:gd name="T61" fmla="*/ 35 h 282"/>
                  <a:gd name="T62" fmla="*/ 84 w 307"/>
                  <a:gd name="T63" fmla="*/ 49 h 282"/>
                  <a:gd name="T64" fmla="*/ 58 w 307"/>
                  <a:gd name="T65" fmla="*/ 73 h 282"/>
                  <a:gd name="T66" fmla="*/ 42 w 307"/>
                  <a:gd name="T67" fmla="*/ 78 h 282"/>
                  <a:gd name="T68" fmla="*/ 28 w 307"/>
                  <a:gd name="T69" fmla="*/ 91 h 282"/>
                  <a:gd name="T70" fmla="*/ 16 w 307"/>
                  <a:gd name="T71" fmla="*/ 103 h 282"/>
                  <a:gd name="T72" fmla="*/ 10 w 307"/>
                  <a:gd name="T73" fmla="*/ 122 h 282"/>
                  <a:gd name="T74" fmla="*/ 2 w 307"/>
                  <a:gd name="T75" fmla="*/ 143 h 282"/>
                  <a:gd name="T76" fmla="*/ 0 w 307"/>
                  <a:gd name="T77" fmla="*/ 161 h 282"/>
                  <a:gd name="T78" fmla="*/ 0 w 307"/>
                  <a:gd name="T79" fmla="*/ 200 h 282"/>
                  <a:gd name="T80" fmla="*/ 10 w 307"/>
                  <a:gd name="T81" fmla="*/ 241 h 282"/>
                  <a:gd name="T82" fmla="*/ 52 w 307"/>
                  <a:gd name="T83"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solidFill>
              <a:ln w="12700">
                <a:solidFill>
                  <a:srgbClr val="000000"/>
                </a:solidFill>
                <a:prstDash val="solid"/>
                <a:round/>
                <a:headEnd/>
                <a:tailEnd/>
              </a:ln>
            </p:spPr>
            <p:txBody>
              <a:bodyPr/>
              <a:lstStyle/>
              <a:p>
                <a:endParaRPr lang="zh-CN" altLang="en-US"/>
              </a:p>
            </p:txBody>
          </p:sp>
        </p:grpSp>
        <p:sp>
          <p:nvSpPr>
            <p:cNvPr id="35950" name="Freeform 110">
              <a:extLst>
                <a:ext uri="{FF2B5EF4-FFF2-40B4-BE49-F238E27FC236}">
                  <a16:creationId xmlns:a16="http://schemas.microsoft.com/office/drawing/2014/main" id="{CA0E6901-9CF8-44F3-951C-F06408C4BE0B}"/>
                </a:ext>
              </a:extLst>
            </p:cNvPr>
            <p:cNvSpPr>
              <a:spLocks/>
            </p:cNvSpPr>
            <p:nvPr/>
          </p:nvSpPr>
          <p:spPr bwMode="auto">
            <a:xfrm rot="1123344">
              <a:off x="2393" y="2047"/>
              <a:ext cx="219" cy="518"/>
            </a:xfrm>
            <a:custGeom>
              <a:avLst/>
              <a:gdLst>
                <a:gd name="T0" fmla="*/ 15 w 304"/>
                <a:gd name="T1" fmla="*/ 6 h 764"/>
                <a:gd name="T2" fmla="*/ 34 w 304"/>
                <a:gd name="T3" fmla="*/ 0 h 764"/>
                <a:gd name="T4" fmla="*/ 75 w 304"/>
                <a:gd name="T5" fmla="*/ 26 h 764"/>
                <a:gd name="T6" fmla="*/ 75 w 304"/>
                <a:gd name="T7" fmla="*/ 71 h 764"/>
                <a:gd name="T8" fmla="*/ 110 w 304"/>
                <a:gd name="T9" fmla="*/ 114 h 764"/>
                <a:gd name="T10" fmla="*/ 144 w 304"/>
                <a:gd name="T11" fmla="*/ 160 h 764"/>
                <a:gd name="T12" fmla="*/ 180 w 304"/>
                <a:gd name="T13" fmla="*/ 220 h 764"/>
                <a:gd name="T14" fmla="*/ 208 w 304"/>
                <a:gd name="T15" fmla="*/ 276 h 764"/>
                <a:gd name="T16" fmla="*/ 237 w 304"/>
                <a:gd name="T17" fmla="*/ 357 h 764"/>
                <a:gd name="T18" fmla="*/ 261 w 304"/>
                <a:gd name="T19" fmla="*/ 428 h 764"/>
                <a:gd name="T20" fmla="*/ 291 w 304"/>
                <a:gd name="T21" fmla="*/ 570 h 764"/>
                <a:gd name="T22" fmla="*/ 304 w 304"/>
                <a:gd name="T23" fmla="*/ 658 h 764"/>
                <a:gd name="T24" fmla="*/ 265 w 304"/>
                <a:gd name="T25" fmla="*/ 764 h 764"/>
                <a:gd name="T26" fmla="*/ 189 w 304"/>
                <a:gd name="T27" fmla="*/ 679 h 764"/>
                <a:gd name="T28" fmla="*/ 168 w 304"/>
                <a:gd name="T29" fmla="*/ 536 h 764"/>
                <a:gd name="T30" fmla="*/ 152 w 304"/>
                <a:gd name="T31" fmla="*/ 449 h 764"/>
                <a:gd name="T32" fmla="*/ 129 w 304"/>
                <a:gd name="T33" fmla="*/ 366 h 764"/>
                <a:gd name="T34" fmla="*/ 103 w 304"/>
                <a:gd name="T35" fmla="*/ 306 h 764"/>
                <a:gd name="T36" fmla="*/ 69 w 304"/>
                <a:gd name="T37" fmla="*/ 219 h 764"/>
                <a:gd name="T38" fmla="*/ 49 w 304"/>
                <a:gd name="T39" fmla="*/ 156 h 764"/>
                <a:gd name="T40" fmla="*/ 30 w 304"/>
                <a:gd name="T41" fmla="*/ 84 h 764"/>
                <a:gd name="T42" fmla="*/ 0 w 304"/>
                <a:gd name="T43" fmla="*/ 66 h 764"/>
                <a:gd name="T44" fmla="*/ 15 w 304"/>
                <a:gd name="T45" fmla="*/ 6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solidFill>
            <a:ln w="12700">
              <a:solidFill>
                <a:srgbClr val="000000"/>
              </a:solidFill>
              <a:prstDash val="solid"/>
              <a:round/>
              <a:headEnd/>
              <a:tailEnd/>
            </a:ln>
          </p:spPr>
          <p:txBody>
            <a:bodyPr/>
            <a:lstStyle/>
            <a:p>
              <a:endParaRPr lang="zh-CN" altLang="en-US"/>
            </a:p>
          </p:txBody>
        </p:sp>
        <p:grpSp>
          <p:nvGrpSpPr>
            <p:cNvPr id="35951" name="Group 111">
              <a:extLst>
                <a:ext uri="{FF2B5EF4-FFF2-40B4-BE49-F238E27FC236}">
                  <a16:creationId xmlns:a16="http://schemas.microsoft.com/office/drawing/2014/main" id="{0AF4F4CB-6F76-4120-8CD1-4C25D006E305}"/>
                </a:ext>
              </a:extLst>
            </p:cNvPr>
            <p:cNvGrpSpPr>
              <a:grpSpLocks/>
            </p:cNvGrpSpPr>
            <p:nvPr/>
          </p:nvGrpSpPr>
          <p:grpSpPr bwMode="auto">
            <a:xfrm rot="1123344">
              <a:off x="2928" y="1942"/>
              <a:ext cx="127" cy="227"/>
              <a:chOff x="2833" y="962"/>
              <a:chExt cx="176" cy="334"/>
            </a:xfrm>
          </p:grpSpPr>
          <p:sp>
            <p:nvSpPr>
              <p:cNvPr id="35952" name="Freeform 112">
                <a:extLst>
                  <a:ext uri="{FF2B5EF4-FFF2-40B4-BE49-F238E27FC236}">
                    <a16:creationId xmlns:a16="http://schemas.microsoft.com/office/drawing/2014/main" id="{F9FE2751-6FF1-4921-82F4-3B326794AEB5}"/>
                  </a:ext>
                </a:extLst>
              </p:cNvPr>
              <p:cNvSpPr>
                <a:spLocks/>
              </p:cNvSpPr>
              <p:nvPr/>
            </p:nvSpPr>
            <p:spPr bwMode="auto">
              <a:xfrm>
                <a:off x="2834" y="1086"/>
                <a:ext cx="175" cy="210"/>
              </a:xfrm>
              <a:custGeom>
                <a:avLst/>
                <a:gdLst>
                  <a:gd name="T0" fmla="*/ 957 w 1229"/>
                  <a:gd name="T1" fmla="*/ 1468 h 1468"/>
                  <a:gd name="T2" fmla="*/ 981 w 1229"/>
                  <a:gd name="T3" fmla="*/ 1270 h 1468"/>
                  <a:gd name="T4" fmla="*/ 1049 w 1229"/>
                  <a:gd name="T5" fmla="*/ 1164 h 1468"/>
                  <a:gd name="T6" fmla="*/ 1118 w 1229"/>
                  <a:gd name="T7" fmla="*/ 1071 h 1468"/>
                  <a:gd name="T8" fmla="*/ 1182 w 1229"/>
                  <a:gd name="T9" fmla="*/ 953 h 1468"/>
                  <a:gd name="T10" fmla="*/ 1216 w 1229"/>
                  <a:gd name="T11" fmla="*/ 854 h 1468"/>
                  <a:gd name="T12" fmla="*/ 1229 w 1229"/>
                  <a:gd name="T13" fmla="*/ 734 h 1468"/>
                  <a:gd name="T14" fmla="*/ 1202 w 1229"/>
                  <a:gd name="T15" fmla="*/ 604 h 1468"/>
                  <a:gd name="T16" fmla="*/ 1159 w 1229"/>
                  <a:gd name="T17" fmla="*/ 500 h 1468"/>
                  <a:gd name="T18" fmla="*/ 1166 w 1229"/>
                  <a:gd name="T19" fmla="*/ 405 h 1468"/>
                  <a:gd name="T20" fmla="*/ 1149 w 1229"/>
                  <a:gd name="T21" fmla="*/ 320 h 1468"/>
                  <a:gd name="T22" fmla="*/ 1125 w 1229"/>
                  <a:gd name="T23" fmla="*/ 272 h 1468"/>
                  <a:gd name="T24" fmla="*/ 1091 w 1229"/>
                  <a:gd name="T25" fmla="*/ 231 h 1468"/>
                  <a:gd name="T26" fmla="*/ 1079 w 1229"/>
                  <a:gd name="T27" fmla="*/ 204 h 1468"/>
                  <a:gd name="T28" fmla="*/ 1032 w 1229"/>
                  <a:gd name="T29" fmla="*/ 176 h 1468"/>
                  <a:gd name="T30" fmla="*/ 992 w 1229"/>
                  <a:gd name="T31" fmla="*/ 170 h 1468"/>
                  <a:gd name="T32" fmla="*/ 963 w 1229"/>
                  <a:gd name="T33" fmla="*/ 185 h 1468"/>
                  <a:gd name="T34" fmla="*/ 927 w 1229"/>
                  <a:gd name="T35" fmla="*/ 279 h 1468"/>
                  <a:gd name="T36" fmla="*/ 861 w 1229"/>
                  <a:gd name="T37" fmla="*/ 414 h 1468"/>
                  <a:gd name="T38" fmla="*/ 958 w 1229"/>
                  <a:gd name="T39" fmla="*/ 181 h 1468"/>
                  <a:gd name="T40" fmla="*/ 975 w 1229"/>
                  <a:gd name="T41" fmla="*/ 152 h 1468"/>
                  <a:gd name="T42" fmla="*/ 953 w 1229"/>
                  <a:gd name="T43" fmla="*/ 100 h 1468"/>
                  <a:gd name="T44" fmla="*/ 918 w 1229"/>
                  <a:gd name="T45" fmla="*/ 82 h 1468"/>
                  <a:gd name="T46" fmla="*/ 871 w 1229"/>
                  <a:gd name="T47" fmla="*/ 62 h 1468"/>
                  <a:gd name="T48" fmla="*/ 806 w 1229"/>
                  <a:gd name="T49" fmla="*/ 39 h 1468"/>
                  <a:gd name="T50" fmla="*/ 790 w 1229"/>
                  <a:gd name="T51" fmla="*/ 25 h 1468"/>
                  <a:gd name="T52" fmla="*/ 760 w 1229"/>
                  <a:gd name="T53" fmla="*/ 0 h 1468"/>
                  <a:gd name="T54" fmla="*/ 582 w 1229"/>
                  <a:gd name="T55" fmla="*/ 39 h 1468"/>
                  <a:gd name="T56" fmla="*/ 346 w 1229"/>
                  <a:gd name="T57" fmla="*/ 169 h 1468"/>
                  <a:gd name="T58" fmla="*/ 329 w 1229"/>
                  <a:gd name="T59" fmla="*/ 204 h 1468"/>
                  <a:gd name="T60" fmla="*/ 274 w 1229"/>
                  <a:gd name="T61" fmla="*/ 259 h 1468"/>
                  <a:gd name="T62" fmla="*/ 210 w 1229"/>
                  <a:gd name="T63" fmla="*/ 303 h 1468"/>
                  <a:gd name="T64" fmla="*/ 154 w 1229"/>
                  <a:gd name="T65" fmla="*/ 326 h 1468"/>
                  <a:gd name="T66" fmla="*/ 102 w 1229"/>
                  <a:gd name="T67" fmla="*/ 378 h 1468"/>
                  <a:gd name="T68" fmla="*/ 67 w 1229"/>
                  <a:gd name="T69" fmla="*/ 466 h 1468"/>
                  <a:gd name="T70" fmla="*/ 20 w 1229"/>
                  <a:gd name="T71" fmla="*/ 584 h 1468"/>
                  <a:gd name="T72" fmla="*/ 0 w 1229"/>
                  <a:gd name="T73" fmla="*/ 649 h 1468"/>
                  <a:gd name="T74" fmla="*/ 20 w 1229"/>
                  <a:gd name="T75" fmla="*/ 753 h 1468"/>
                  <a:gd name="T76" fmla="*/ 55 w 1229"/>
                  <a:gd name="T77" fmla="*/ 861 h 1468"/>
                  <a:gd name="T78" fmla="*/ 110 w 1229"/>
                  <a:gd name="T79" fmla="*/ 998 h 1468"/>
                  <a:gd name="T80" fmla="*/ 141 w 1229"/>
                  <a:gd name="T81" fmla="*/ 1111 h 1468"/>
                  <a:gd name="T82" fmla="*/ 218 w 1229"/>
                  <a:gd name="T83" fmla="*/ 1215 h 1468"/>
                  <a:gd name="T84" fmla="*/ 257 w 1229"/>
                  <a:gd name="T85" fmla="*/ 1233 h 1468"/>
                  <a:gd name="T86" fmla="*/ 279 w 1229"/>
                  <a:gd name="T87" fmla="*/ 1290 h 1468"/>
                  <a:gd name="T88" fmla="*/ 283 w 1229"/>
                  <a:gd name="T89" fmla="*/ 1465 h 1468"/>
                  <a:gd name="T90" fmla="*/ 957 w 1229"/>
                  <a:gd name="T91" fmla="*/ 1468 h 1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53" name="Freeform 113">
                <a:extLst>
                  <a:ext uri="{FF2B5EF4-FFF2-40B4-BE49-F238E27FC236}">
                    <a16:creationId xmlns:a16="http://schemas.microsoft.com/office/drawing/2014/main" id="{710C1A38-4B95-4CBC-BBDF-C78D28D3017F}"/>
                  </a:ext>
                </a:extLst>
              </p:cNvPr>
              <p:cNvSpPr>
                <a:spLocks/>
              </p:cNvSpPr>
              <p:nvPr/>
            </p:nvSpPr>
            <p:spPr bwMode="auto">
              <a:xfrm>
                <a:off x="2932" y="1151"/>
                <a:ext cx="77" cy="40"/>
              </a:xfrm>
              <a:custGeom>
                <a:avLst/>
                <a:gdLst>
                  <a:gd name="T0" fmla="*/ 0 w 538"/>
                  <a:gd name="T1" fmla="*/ 0 h 275"/>
                  <a:gd name="T2" fmla="*/ 234 w 538"/>
                  <a:gd name="T3" fmla="*/ 164 h 275"/>
                  <a:gd name="T4" fmla="*/ 445 w 538"/>
                  <a:gd name="T5" fmla="*/ 246 h 275"/>
                  <a:gd name="T6" fmla="*/ 538 w 538"/>
                  <a:gd name="T7" fmla="*/ 275 h 275"/>
                </a:gdLst>
                <a:ahLst/>
                <a:cxnLst>
                  <a:cxn ang="0">
                    <a:pos x="T0" y="T1"/>
                  </a:cxn>
                  <a:cxn ang="0">
                    <a:pos x="T2" y="T3"/>
                  </a:cxn>
                  <a:cxn ang="0">
                    <a:pos x="T4" y="T5"/>
                  </a:cxn>
                  <a:cxn ang="0">
                    <a:pos x="T6" y="T7"/>
                  </a:cxn>
                </a:cxnLst>
                <a:rect l="0" t="0" r="r" b="b"/>
                <a:pathLst>
                  <a:path w="538" h="275">
                    <a:moveTo>
                      <a:pt x="0" y="0"/>
                    </a:moveTo>
                    <a:lnTo>
                      <a:pt x="234" y="164"/>
                    </a:lnTo>
                    <a:lnTo>
                      <a:pt x="445" y="246"/>
                    </a:lnTo>
                    <a:lnTo>
                      <a:pt x="538" y="275"/>
                    </a:lnTo>
                  </a:path>
                </a:pathLst>
              </a:custGeom>
              <a:solidFill>
                <a:srgbClr val="FFD7AF"/>
              </a:solidFill>
              <a:ln w="1588">
                <a:solidFill>
                  <a:srgbClr val="000000"/>
                </a:solidFill>
                <a:prstDash val="solid"/>
                <a:round/>
                <a:headEnd/>
                <a:tailEnd/>
              </a:ln>
            </p:spPr>
            <p:txBody>
              <a:bodyPr/>
              <a:lstStyle/>
              <a:p>
                <a:endParaRPr lang="zh-CN" altLang="en-US"/>
              </a:p>
            </p:txBody>
          </p:sp>
          <p:sp>
            <p:nvSpPr>
              <p:cNvPr id="35954" name="Freeform 114">
                <a:extLst>
                  <a:ext uri="{FF2B5EF4-FFF2-40B4-BE49-F238E27FC236}">
                    <a16:creationId xmlns:a16="http://schemas.microsoft.com/office/drawing/2014/main" id="{CAFD18FB-13E0-4464-9361-C392D14F60EA}"/>
                  </a:ext>
                </a:extLst>
              </p:cNvPr>
              <p:cNvSpPr>
                <a:spLocks/>
              </p:cNvSpPr>
              <p:nvPr/>
            </p:nvSpPr>
            <p:spPr bwMode="auto">
              <a:xfrm>
                <a:off x="2885" y="1141"/>
                <a:ext cx="86" cy="91"/>
              </a:xfrm>
              <a:custGeom>
                <a:avLst/>
                <a:gdLst>
                  <a:gd name="T0" fmla="*/ 0 w 601"/>
                  <a:gd name="T1" fmla="*/ 0 h 643"/>
                  <a:gd name="T2" fmla="*/ 337 w 601"/>
                  <a:gd name="T3" fmla="*/ 180 h 643"/>
                  <a:gd name="T4" fmla="*/ 413 w 601"/>
                  <a:gd name="T5" fmla="*/ 245 h 643"/>
                  <a:gd name="T6" fmla="*/ 510 w 601"/>
                  <a:gd name="T7" fmla="*/ 360 h 643"/>
                  <a:gd name="T8" fmla="*/ 551 w 601"/>
                  <a:gd name="T9" fmla="*/ 454 h 643"/>
                  <a:gd name="T10" fmla="*/ 573 w 601"/>
                  <a:gd name="T11" fmla="*/ 534 h 643"/>
                  <a:gd name="T12" fmla="*/ 601 w 601"/>
                  <a:gd name="T13" fmla="*/ 643 h 643"/>
                </a:gdLst>
                <a:ahLst/>
                <a:cxnLst>
                  <a:cxn ang="0">
                    <a:pos x="T0" y="T1"/>
                  </a:cxn>
                  <a:cxn ang="0">
                    <a:pos x="T2" y="T3"/>
                  </a:cxn>
                  <a:cxn ang="0">
                    <a:pos x="T4" y="T5"/>
                  </a:cxn>
                  <a:cxn ang="0">
                    <a:pos x="T6" y="T7"/>
                  </a:cxn>
                  <a:cxn ang="0">
                    <a:pos x="T8" y="T9"/>
                  </a:cxn>
                  <a:cxn ang="0">
                    <a:pos x="T10" y="T11"/>
                  </a:cxn>
                  <a:cxn ang="0">
                    <a:pos x="T12" y="T13"/>
                  </a:cxn>
                </a:cxnLst>
                <a:rect l="0" t="0" r="r" b="b"/>
                <a:pathLst>
                  <a:path w="601" h="643">
                    <a:moveTo>
                      <a:pt x="0" y="0"/>
                    </a:moveTo>
                    <a:lnTo>
                      <a:pt x="337" y="180"/>
                    </a:lnTo>
                    <a:lnTo>
                      <a:pt x="413" y="245"/>
                    </a:lnTo>
                    <a:lnTo>
                      <a:pt x="510" y="360"/>
                    </a:lnTo>
                    <a:lnTo>
                      <a:pt x="551" y="454"/>
                    </a:lnTo>
                    <a:lnTo>
                      <a:pt x="573" y="534"/>
                    </a:lnTo>
                    <a:lnTo>
                      <a:pt x="601" y="643"/>
                    </a:lnTo>
                  </a:path>
                </a:pathLst>
              </a:custGeom>
              <a:solidFill>
                <a:srgbClr val="FFD7AF"/>
              </a:solidFill>
              <a:ln w="1588">
                <a:solidFill>
                  <a:srgbClr val="000000"/>
                </a:solidFill>
                <a:prstDash val="solid"/>
                <a:round/>
                <a:headEnd/>
                <a:tailEnd/>
              </a:ln>
            </p:spPr>
            <p:txBody>
              <a:bodyPr/>
              <a:lstStyle/>
              <a:p>
                <a:endParaRPr lang="zh-CN" altLang="en-US"/>
              </a:p>
            </p:txBody>
          </p:sp>
          <p:sp>
            <p:nvSpPr>
              <p:cNvPr id="35955" name="Freeform 115">
                <a:extLst>
                  <a:ext uri="{FF2B5EF4-FFF2-40B4-BE49-F238E27FC236}">
                    <a16:creationId xmlns:a16="http://schemas.microsoft.com/office/drawing/2014/main" id="{577AE36E-D184-426C-92EE-D23E4291ADDC}"/>
                  </a:ext>
                </a:extLst>
              </p:cNvPr>
              <p:cNvSpPr>
                <a:spLocks/>
              </p:cNvSpPr>
              <p:nvPr/>
            </p:nvSpPr>
            <p:spPr bwMode="auto">
              <a:xfrm>
                <a:off x="2919" y="1090"/>
                <a:ext cx="57" cy="89"/>
              </a:xfrm>
              <a:custGeom>
                <a:avLst/>
                <a:gdLst>
                  <a:gd name="T0" fmla="*/ 391 w 395"/>
                  <a:gd name="T1" fmla="*/ 139 h 623"/>
                  <a:gd name="T2" fmla="*/ 395 w 395"/>
                  <a:gd name="T3" fmla="*/ 98 h 623"/>
                  <a:gd name="T4" fmla="*/ 368 w 395"/>
                  <a:gd name="T5" fmla="*/ 42 h 623"/>
                  <a:gd name="T6" fmla="*/ 328 w 395"/>
                  <a:gd name="T7" fmla="*/ 15 h 623"/>
                  <a:gd name="T8" fmla="*/ 290 w 395"/>
                  <a:gd name="T9" fmla="*/ 0 h 623"/>
                  <a:gd name="T10" fmla="*/ 248 w 395"/>
                  <a:gd name="T11" fmla="*/ 1 h 623"/>
                  <a:gd name="T12" fmla="*/ 211 w 395"/>
                  <a:gd name="T13" fmla="*/ 10 h 623"/>
                  <a:gd name="T14" fmla="*/ 181 w 395"/>
                  <a:gd name="T15" fmla="*/ 28 h 623"/>
                  <a:gd name="T16" fmla="*/ 123 w 395"/>
                  <a:gd name="T17" fmla="*/ 167 h 623"/>
                  <a:gd name="T18" fmla="*/ 83 w 395"/>
                  <a:gd name="T19" fmla="*/ 298 h 623"/>
                  <a:gd name="T20" fmla="*/ 45 w 395"/>
                  <a:gd name="T21" fmla="*/ 401 h 623"/>
                  <a:gd name="T22" fmla="*/ 0 w 395"/>
                  <a:gd name="T23" fmla="*/ 512 h 623"/>
                  <a:gd name="T24" fmla="*/ 16 w 395"/>
                  <a:gd name="T25" fmla="*/ 581 h 623"/>
                  <a:gd name="T26" fmla="*/ 38 w 395"/>
                  <a:gd name="T27" fmla="*/ 604 h 623"/>
                  <a:gd name="T28" fmla="*/ 72 w 395"/>
                  <a:gd name="T29" fmla="*/ 623 h 623"/>
                  <a:gd name="T30" fmla="*/ 110 w 395"/>
                  <a:gd name="T31" fmla="*/ 618 h 623"/>
                  <a:gd name="T32" fmla="*/ 148 w 395"/>
                  <a:gd name="T33" fmla="*/ 602 h 623"/>
                  <a:gd name="T34" fmla="*/ 186 w 395"/>
                  <a:gd name="T35" fmla="*/ 540 h 623"/>
                  <a:gd name="T36" fmla="*/ 201 w 395"/>
                  <a:gd name="T37" fmla="*/ 453 h 623"/>
                  <a:gd name="T38" fmla="*/ 235 w 395"/>
                  <a:gd name="T39" fmla="*/ 398 h 623"/>
                  <a:gd name="T40" fmla="*/ 265 w 395"/>
                  <a:gd name="T41" fmla="*/ 332 h 623"/>
                  <a:gd name="T42" fmla="*/ 315 w 395"/>
                  <a:gd name="T43" fmla="*/ 267 h 623"/>
                  <a:gd name="T44" fmla="*/ 364 w 395"/>
                  <a:gd name="T45" fmla="*/ 183 h 623"/>
                  <a:gd name="T46" fmla="*/ 391 w 395"/>
                  <a:gd name="T47" fmla="*/ 139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35956" name="Freeform 116">
                <a:extLst>
                  <a:ext uri="{FF2B5EF4-FFF2-40B4-BE49-F238E27FC236}">
                    <a16:creationId xmlns:a16="http://schemas.microsoft.com/office/drawing/2014/main" id="{24082534-DCA1-49F5-8320-2D2A0340E2EA}"/>
                  </a:ext>
                </a:extLst>
              </p:cNvPr>
              <p:cNvSpPr>
                <a:spLocks/>
              </p:cNvSpPr>
              <p:nvPr/>
            </p:nvSpPr>
            <p:spPr bwMode="auto">
              <a:xfrm>
                <a:off x="2925" y="1154"/>
                <a:ext cx="16" cy="21"/>
              </a:xfrm>
              <a:custGeom>
                <a:avLst/>
                <a:gdLst>
                  <a:gd name="T0" fmla="*/ 16 w 114"/>
                  <a:gd name="T1" fmla="*/ 18 h 148"/>
                  <a:gd name="T2" fmla="*/ 38 w 114"/>
                  <a:gd name="T3" fmla="*/ 0 h 148"/>
                  <a:gd name="T4" fmla="*/ 77 w 114"/>
                  <a:gd name="T5" fmla="*/ 4 h 148"/>
                  <a:gd name="T6" fmla="*/ 114 w 114"/>
                  <a:gd name="T7" fmla="*/ 22 h 148"/>
                  <a:gd name="T8" fmla="*/ 114 w 114"/>
                  <a:gd name="T9" fmla="*/ 77 h 148"/>
                  <a:gd name="T10" fmla="*/ 108 w 114"/>
                  <a:gd name="T11" fmla="*/ 107 h 148"/>
                  <a:gd name="T12" fmla="*/ 92 w 114"/>
                  <a:gd name="T13" fmla="*/ 139 h 148"/>
                  <a:gd name="T14" fmla="*/ 54 w 114"/>
                  <a:gd name="T15" fmla="*/ 148 h 148"/>
                  <a:gd name="T16" fmla="*/ 35 w 114"/>
                  <a:gd name="T17" fmla="*/ 146 h 148"/>
                  <a:gd name="T18" fmla="*/ 13 w 114"/>
                  <a:gd name="T19" fmla="*/ 124 h 148"/>
                  <a:gd name="T20" fmla="*/ 0 w 114"/>
                  <a:gd name="T21" fmla="*/ 98 h 148"/>
                  <a:gd name="T22" fmla="*/ 16 w 114"/>
                  <a:gd name="T23" fmla="*/ 1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35957" name="Freeform 117">
                <a:extLst>
                  <a:ext uri="{FF2B5EF4-FFF2-40B4-BE49-F238E27FC236}">
                    <a16:creationId xmlns:a16="http://schemas.microsoft.com/office/drawing/2014/main" id="{A4AD3581-DDF7-4B6F-92D7-2775AEBB06A6}"/>
                  </a:ext>
                </a:extLst>
              </p:cNvPr>
              <p:cNvSpPr>
                <a:spLocks/>
              </p:cNvSpPr>
              <p:nvPr/>
            </p:nvSpPr>
            <p:spPr bwMode="auto">
              <a:xfrm>
                <a:off x="2870" y="962"/>
                <a:ext cx="42" cy="155"/>
              </a:xfrm>
              <a:custGeom>
                <a:avLst/>
                <a:gdLst>
                  <a:gd name="T0" fmla="*/ 284 w 290"/>
                  <a:gd name="T1" fmla="*/ 1005 h 1090"/>
                  <a:gd name="T2" fmla="*/ 289 w 290"/>
                  <a:gd name="T3" fmla="*/ 947 h 1090"/>
                  <a:gd name="T4" fmla="*/ 290 w 290"/>
                  <a:gd name="T5" fmla="*/ 818 h 1090"/>
                  <a:gd name="T6" fmla="*/ 281 w 290"/>
                  <a:gd name="T7" fmla="*/ 691 h 1090"/>
                  <a:gd name="T8" fmla="*/ 275 w 290"/>
                  <a:gd name="T9" fmla="*/ 635 h 1090"/>
                  <a:gd name="T10" fmla="*/ 271 w 290"/>
                  <a:gd name="T11" fmla="*/ 594 h 1090"/>
                  <a:gd name="T12" fmla="*/ 271 w 290"/>
                  <a:gd name="T13" fmla="*/ 505 h 1090"/>
                  <a:gd name="T14" fmla="*/ 276 w 290"/>
                  <a:gd name="T15" fmla="*/ 406 h 1090"/>
                  <a:gd name="T16" fmla="*/ 275 w 290"/>
                  <a:gd name="T17" fmla="*/ 332 h 1090"/>
                  <a:gd name="T18" fmla="*/ 273 w 290"/>
                  <a:gd name="T19" fmla="*/ 276 h 1090"/>
                  <a:gd name="T20" fmla="*/ 262 w 290"/>
                  <a:gd name="T21" fmla="*/ 166 h 1090"/>
                  <a:gd name="T22" fmla="*/ 253 w 290"/>
                  <a:gd name="T23" fmla="*/ 88 h 1090"/>
                  <a:gd name="T24" fmla="*/ 236 w 290"/>
                  <a:gd name="T25" fmla="*/ 24 h 1090"/>
                  <a:gd name="T26" fmla="*/ 214 w 290"/>
                  <a:gd name="T27" fmla="*/ 3 h 1090"/>
                  <a:gd name="T28" fmla="*/ 186 w 290"/>
                  <a:gd name="T29" fmla="*/ 1 h 1090"/>
                  <a:gd name="T30" fmla="*/ 156 w 290"/>
                  <a:gd name="T31" fmla="*/ 0 h 1090"/>
                  <a:gd name="T32" fmla="*/ 121 w 290"/>
                  <a:gd name="T33" fmla="*/ 14 h 1090"/>
                  <a:gd name="T34" fmla="*/ 92 w 290"/>
                  <a:gd name="T35" fmla="*/ 70 h 1090"/>
                  <a:gd name="T36" fmla="*/ 85 w 290"/>
                  <a:gd name="T37" fmla="*/ 160 h 1090"/>
                  <a:gd name="T38" fmla="*/ 82 w 290"/>
                  <a:gd name="T39" fmla="*/ 264 h 1090"/>
                  <a:gd name="T40" fmla="*/ 76 w 290"/>
                  <a:gd name="T41" fmla="*/ 332 h 1090"/>
                  <a:gd name="T42" fmla="*/ 67 w 290"/>
                  <a:gd name="T43" fmla="*/ 402 h 1090"/>
                  <a:gd name="T44" fmla="*/ 68 w 290"/>
                  <a:gd name="T45" fmla="*/ 485 h 1090"/>
                  <a:gd name="T46" fmla="*/ 64 w 290"/>
                  <a:gd name="T47" fmla="*/ 580 h 1090"/>
                  <a:gd name="T48" fmla="*/ 51 w 290"/>
                  <a:gd name="T49" fmla="*/ 651 h 1090"/>
                  <a:gd name="T50" fmla="*/ 37 w 290"/>
                  <a:gd name="T51" fmla="*/ 765 h 1090"/>
                  <a:gd name="T52" fmla="*/ 19 w 290"/>
                  <a:gd name="T53" fmla="*/ 885 h 1090"/>
                  <a:gd name="T54" fmla="*/ 3 w 290"/>
                  <a:gd name="T55" fmla="*/ 986 h 1090"/>
                  <a:gd name="T56" fmla="*/ 0 w 290"/>
                  <a:gd name="T57" fmla="*/ 1090 h 1090"/>
                  <a:gd name="T58" fmla="*/ 266 w 290"/>
                  <a:gd name="T59" fmla="*/ 1085 h 1090"/>
                  <a:gd name="T60" fmla="*/ 284 w 290"/>
                  <a:gd name="T61" fmla="*/ 1005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58" name="Freeform 118">
                <a:extLst>
                  <a:ext uri="{FF2B5EF4-FFF2-40B4-BE49-F238E27FC236}">
                    <a16:creationId xmlns:a16="http://schemas.microsoft.com/office/drawing/2014/main" id="{BBCE11F9-AD00-4E89-B055-BE6E7DB73955}"/>
                  </a:ext>
                </a:extLst>
              </p:cNvPr>
              <p:cNvSpPr>
                <a:spLocks/>
              </p:cNvSpPr>
              <p:nvPr/>
            </p:nvSpPr>
            <p:spPr bwMode="auto">
              <a:xfrm>
                <a:off x="2968" y="1156"/>
                <a:ext cx="31" cy="4"/>
              </a:xfrm>
              <a:custGeom>
                <a:avLst/>
                <a:gdLst>
                  <a:gd name="T0" fmla="*/ 221 w 221"/>
                  <a:gd name="T1" fmla="*/ 14 h 28"/>
                  <a:gd name="T2" fmla="*/ 156 w 221"/>
                  <a:gd name="T3" fmla="*/ 24 h 28"/>
                  <a:gd name="T4" fmla="*/ 104 w 221"/>
                  <a:gd name="T5" fmla="*/ 28 h 28"/>
                  <a:gd name="T6" fmla="*/ 35 w 221"/>
                  <a:gd name="T7" fmla="*/ 14 h 28"/>
                  <a:gd name="T8" fmla="*/ 0 w 221"/>
                  <a:gd name="T9" fmla="*/ 0 h 28"/>
                </a:gdLst>
                <a:ahLst/>
                <a:cxnLst>
                  <a:cxn ang="0">
                    <a:pos x="T0" y="T1"/>
                  </a:cxn>
                  <a:cxn ang="0">
                    <a:pos x="T2" y="T3"/>
                  </a:cxn>
                  <a:cxn ang="0">
                    <a:pos x="T4" y="T5"/>
                  </a:cxn>
                  <a:cxn ang="0">
                    <a:pos x="T6" y="T7"/>
                  </a:cxn>
                  <a:cxn ang="0">
                    <a:pos x="T8" y="T9"/>
                  </a:cxn>
                </a:cxnLst>
                <a:rect l="0" t="0" r="r" b="b"/>
                <a:pathLst>
                  <a:path w="221" h="28">
                    <a:moveTo>
                      <a:pt x="221" y="14"/>
                    </a:moveTo>
                    <a:lnTo>
                      <a:pt x="156" y="24"/>
                    </a:lnTo>
                    <a:lnTo>
                      <a:pt x="104" y="28"/>
                    </a:lnTo>
                    <a:lnTo>
                      <a:pt x="35" y="14"/>
                    </a:lnTo>
                    <a:lnTo>
                      <a:pt x="0" y="0"/>
                    </a:lnTo>
                  </a:path>
                </a:pathLst>
              </a:custGeom>
              <a:solidFill>
                <a:srgbClr val="FFD7AF"/>
              </a:solidFill>
              <a:ln w="1588">
                <a:solidFill>
                  <a:srgbClr val="000000"/>
                </a:solidFill>
                <a:prstDash val="solid"/>
                <a:round/>
                <a:headEnd/>
                <a:tailEnd/>
              </a:ln>
            </p:spPr>
            <p:txBody>
              <a:bodyPr/>
              <a:lstStyle/>
              <a:p>
                <a:endParaRPr lang="zh-CN" altLang="en-US"/>
              </a:p>
            </p:txBody>
          </p:sp>
          <p:sp>
            <p:nvSpPr>
              <p:cNvPr id="35959" name="Freeform 119">
                <a:extLst>
                  <a:ext uri="{FF2B5EF4-FFF2-40B4-BE49-F238E27FC236}">
                    <a16:creationId xmlns:a16="http://schemas.microsoft.com/office/drawing/2014/main" id="{FECF29C7-B485-4B8F-985F-0456A901F422}"/>
                  </a:ext>
                </a:extLst>
              </p:cNvPr>
              <p:cNvSpPr>
                <a:spLocks/>
              </p:cNvSpPr>
              <p:nvPr/>
            </p:nvSpPr>
            <p:spPr bwMode="auto">
              <a:xfrm>
                <a:off x="2872" y="1264"/>
                <a:ext cx="26" cy="2"/>
              </a:xfrm>
              <a:custGeom>
                <a:avLst/>
                <a:gdLst>
                  <a:gd name="T0" fmla="*/ 0 w 181"/>
                  <a:gd name="T1" fmla="*/ 0 h 14"/>
                  <a:gd name="T2" fmla="*/ 70 w 181"/>
                  <a:gd name="T3" fmla="*/ 14 h 14"/>
                  <a:gd name="T4" fmla="*/ 146 w 181"/>
                  <a:gd name="T5" fmla="*/ 14 h 14"/>
                  <a:gd name="T6" fmla="*/ 181 w 181"/>
                  <a:gd name="T7" fmla="*/ 7 h 14"/>
                </a:gdLst>
                <a:ahLst/>
                <a:cxnLst>
                  <a:cxn ang="0">
                    <a:pos x="T0" y="T1"/>
                  </a:cxn>
                  <a:cxn ang="0">
                    <a:pos x="T2" y="T3"/>
                  </a:cxn>
                  <a:cxn ang="0">
                    <a:pos x="T4" y="T5"/>
                  </a:cxn>
                  <a:cxn ang="0">
                    <a:pos x="T6" y="T7"/>
                  </a:cxn>
                </a:cxnLst>
                <a:rect l="0" t="0" r="r" b="b"/>
                <a:pathLst>
                  <a:path w="181" h="14">
                    <a:moveTo>
                      <a:pt x="0" y="0"/>
                    </a:moveTo>
                    <a:lnTo>
                      <a:pt x="70" y="14"/>
                    </a:lnTo>
                    <a:lnTo>
                      <a:pt x="146" y="14"/>
                    </a:lnTo>
                    <a:lnTo>
                      <a:pt x="181" y="7"/>
                    </a:lnTo>
                  </a:path>
                </a:pathLst>
              </a:custGeom>
              <a:solidFill>
                <a:srgbClr val="FFD7AF"/>
              </a:solidFill>
              <a:ln w="1588">
                <a:solidFill>
                  <a:srgbClr val="000000"/>
                </a:solidFill>
                <a:prstDash val="solid"/>
                <a:round/>
                <a:headEnd/>
                <a:tailEnd/>
              </a:ln>
            </p:spPr>
            <p:txBody>
              <a:bodyPr/>
              <a:lstStyle/>
              <a:p>
                <a:endParaRPr lang="zh-CN" altLang="en-US"/>
              </a:p>
            </p:txBody>
          </p:sp>
          <p:sp>
            <p:nvSpPr>
              <p:cNvPr id="35960" name="Freeform 120">
                <a:extLst>
                  <a:ext uri="{FF2B5EF4-FFF2-40B4-BE49-F238E27FC236}">
                    <a16:creationId xmlns:a16="http://schemas.microsoft.com/office/drawing/2014/main" id="{AFA3261B-C59A-4271-A746-94D8FD1BE470}"/>
                  </a:ext>
                </a:extLst>
              </p:cNvPr>
              <p:cNvSpPr>
                <a:spLocks/>
              </p:cNvSpPr>
              <p:nvPr/>
            </p:nvSpPr>
            <p:spPr bwMode="auto">
              <a:xfrm>
                <a:off x="2928" y="1104"/>
                <a:ext cx="53" cy="72"/>
              </a:xfrm>
              <a:custGeom>
                <a:avLst/>
                <a:gdLst>
                  <a:gd name="T0" fmla="*/ 370 w 370"/>
                  <a:gd name="T1" fmla="*/ 97 h 501"/>
                  <a:gd name="T2" fmla="*/ 362 w 370"/>
                  <a:gd name="T3" fmla="*/ 159 h 501"/>
                  <a:gd name="T4" fmla="*/ 331 w 370"/>
                  <a:gd name="T5" fmla="*/ 214 h 501"/>
                  <a:gd name="T6" fmla="*/ 276 w 370"/>
                  <a:gd name="T7" fmla="*/ 266 h 501"/>
                  <a:gd name="T8" fmla="*/ 239 w 370"/>
                  <a:gd name="T9" fmla="*/ 279 h 501"/>
                  <a:gd name="T10" fmla="*/ 209 w 370"/>
                  <a:gd name="T11" fmla="*/ 294 h 501"/>
                  <a:gd name="T12" fmla="*/ 191 w 370"/>
                  <a:gd name="T13" fmla="*/ 344 h 501"/>
                  <a:gd name="T14" fmla="*/ 163 w 370"/>
                  <a:gd name="T15" fmla="*/ 414 h 501"/>
                  <a:gd name="T16" fmla="*/ 132 w 370"/>
                  <a:gd name="T17" fmla="*/ 480 h 501"/>
                  <a:gd name="T18" fmla="*/ 97 w 370"/>
                  <a:gd name="T19" fmla="*/ 501 h 501"/>
                  <a:gd name="T20" fmla="*/ 46 w 370"/>
                  <a:gd name="T21" fmla="*/ 501 h 501"/>
                  <a:gd name="T22" fmla="*/ 14 w 370"/>
                  <a:gd name="T23" fmla="*/ 486 h 501"/>
                  <a:gd name="T24" fmla="*/ 0 w 370"/>
                  <a:gd name="T25" fmla="*/ 446 h 501"/>
                  <a:gd name="T26" fmla="*/ 3 w 370"/>
                  <a:gd name="T27" fmla="*/ 401 h 501"/>
                  <a:gd name="T28" fmla="*/ 19 w 370"/>
                  <a:gd name="T29" fmla="*/ 318 h 501"/>
                  <a:gd name="T30" fmla="*/ 52 w 370"/>
                  <a:gd name="T31" fmla="*/ 251 h 501"/>
                  <a:gd name="T32" fmla="*/ 90 w 370"/>
                  <a:gd name="T33" fmla="*/ 193 h 501"/>
                  <a:gd name="T34" fmla="*/ 160 w 370"/>
                  <a:gd name="T35" fmla="*/ 69 h 501"/>
                  <a:gd name="T36" fmla="*/ 207 w 370"/>
                  <a:gd name="T37" fmla="*/ 14 h 501"/>
                  <a:gd name="T38" fmla="*/ 269 w 370"/>
                  <a:gd name="T39" fmla="*/ 0 h 501"/>
                  <a:gd name="T40" fmla="*/ 305 w 370"/>
                  <a:gd name="T41" fmla="*/ 9 h 501"/>
                  <a:gd name="T42" fmla="*/ 331 w 370"/>
                  <a:gd name="T43" fmla="*/ 28 h 501"/>
                  <a:gd name="T44" fmla="*/ 357 w 370"/>
                  <a:gd name="T45" fmla="*/ 61 h 501"/>
                  <a:gd name="T46" fmla="*/ 370 w 370"/>
                  <a:gd name="T47" fmla="*/ 97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61" name="Freeform 121">
                <a:extLst>
                  <a:ext uri="{FF2B5EF4-FFF2-40B4-BE49-F238E27FC236}">
                    <a16:creationId xmlns:a16="http://schemas.microsoft.com/office/drawing/2014/main" id="{D034884D-BEC0-4B31-AFB3-612C8CC3245B}"/>
                  </a:ext>
                </a:extLst>
              </p:cNvPr>
              <p:cNvSpPr>
                <a:spLocks/>
              </p:cNvSpPr>
              <p:nvPr/>
            </p:nvSpPr>
            <p:spPr bwMode="auto">
              <a:xfrm>
                <a:off x="2948" y="1163"/>
                <a:ext cx="14" cy="17"/>
              </a:xfrm>
              <a:custGeom>
                <a:avLst/>
                <a:gdLst>
                  <a:gd name="T0" fmla="*/ 17 w 98"/>
                  <a:gd name="T1" fmla="*/ 0 h 114"/>
                  <a:gd name="T2" fmla="*/ 57 w 98"/>
                  <a:gd name="T3" fmla="*/ 0 h 114"/>
                  <a:gd name="T4" fmla="*/ 96 w 98"/>
                  <a:gd name="T5" fmla="*/ 14 h 114"/>
                  <a:gd name="T6" fmla="*/ 98 w 98"/>
                  <a:gd name="T7" fmla="*/ 59 h 114"/>
                  <a:gd name="T8" fmla="*/ 86 w 98"/>
                  <a:gd name="T9" fmla="*/ 92 h 114"/>
                  <a:gd name="T10" fmla="*/ 48 w 98"/>
                  <a:gd name="T11" fmla="*/ 114 h 114"/>
                  <a:gd name="T12" fmla="*/ 21 w 98"/>
                  <a:gd name="T13" fmla="*/ 102 h 114"/>
                  <a:gd name="T14" fmla="*/ 11 w 98"/>
                  <a:gd name="T15" fmla="*/ 83 h 114"/>
                  <a:gd name="T16" fmla="*/ 0 w 98"/>
                  <a:gd name="T17" fmla="*/ 54 h 114"/>
                  <a:gd name="T18" fmla="*/ 4 w 98"/>
                  <a:gd name="T19" fmla="*/ 16 h 114"/>
                  <a:gd name="T20" fmla="*/ 17 w 98"/>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35962" name="Freeform 122">
                <a:extLst>
                  <a:ext uri="{FF2B5EF4-FFF2-40B4-BE49-F238E27FC236}">
                    <a16:creationId xmlns:a16="http://schemas.microsoft.com/office/drawing/2014/main" id="{A43621A4-58D6-4E68-89BC-D92FD1E68750}"/>
                  </a:ext>
                </a:extLst>
              </p:cNvPr>
              <p:cNvSpPr>
                <a:spLocks/>
              </p:cNvSpPr>
              <p:nvPr/>
            </p:nvSpPr>
            <p:spPr bwMode="auto">
              <a:xfrm>
                <a:off x="2902" y="1083"/>
                <a:ext cx="45" cy="90"/>
              </a:xfrm>
              <a:custGeom>
                <a:avLst/>
                <a:gdLst>
                  <a:gd name="T0" fmla="*/ 317 w 317"/>
                  <a:gd name="T1" fmla="*/ 90 h 626"/>
                  <a:gd name="T2" fmla="*/ 303 w 317"/>
                  <a:gd name="T3" fmla="*/ 48 h 626"/>
                  <a:gd name="T4" fmla="*/ 280 w 317"/>
                  <a:gd name="T5" fmla="*/ 18 h 626"/>
                  <a:gd name="T6" fmla="*/ 245 w 317"/>
                  <a:gd name="T7" fmla="*/ 7 h 626"/>
                  <a:gd name="T8" fmla="*/ 200 w 317"/>
                  <a:gd name="T9" fmla="*/ 0 h 626"/>
                  <a:gd name="T10" fmla="*/ 138 w 317"/>
                  <a:gd name="T11" fmla="*/ 21 h 626"/>
                  <a:gd name="T12" fmla="*/ 92 w 317"/>
                  <a:gd name="T13" fmla="*/ 49 h 626"/>
                  <a:gd name="T14" fmla="*/ 53 w 317"/>
                  <a:gd name="T15" fmla="*/ 118 h 626"/>
                  <a:gd name="T16" fmla="*/ 30 w 317"/>
                  <a:gd name="T17" fmla="*/ 277 h 626"/>
                  <a:gd name="T18" fmla="*/ 3 w 317"/>
                  <a:gd name="T19" fmla="*/ 394 h 626"/>
                  <a:gd name="T20" fmla="*/ 0 w 317"/>
                  <a:gd name="T21" fmla="*/ 512 h 626"/>
                  <a:gd name="T22" fmla="*/ 8 w 317"/>
                  <a:gd name="T23" fmla="*/ 567 h 626"/>
                  <a:gd name="T24" fmla="*/ 33 w 317"/>
                  <a:gd name="T25" fmla="*/ 608 h 626"/>
                  <a:gd name="T26" fmla="*/ 91 w 317"/>
                  <a:gd name="T27" fmla="*/ 626 h 626"/>
                  <a:gd name="T28" fmla="*/ 145 w 317"/>
                  <a:gd name="T29" fmla="*/ 601 h 626"/>
                  <a:gd name="T30" fmla="*/ 173 w 317"/>
                  <a:gd name="T31" fmla="*/ 539 h 626"/>
                  <a:gd name="T32" fmla="*/ 193 w 317"/>
                  <a:gd name="T33" fmla="*/ 436 h 626"/>
                  <a:gd name="T34" fmla="*/ 221 w 317"/>
                  <a:gd name="T35" fmla="*/ 341 h 626"/>
                  <a:gd name="T36" fmla="*/ 267 w 317"/>
                  <a:gd name="T37" fmla="*/ 253 h 626"/>
                  <a:gd name="T38" fmla="*/ 300 w 317"/>
                  <a:gd name="T39" fmla="*/ 155 h 626"/>
                  <a:gd name="T40" fmla="*/ 317 w 317"/>
                  <a:gd name="T41" fmla="*/ 9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63" name="Freeform 123">
                <a:extLst>
                  <a:ext uri="{FF2B5EF4-FFF2-40B4-BE49-F238E27FC236}">
                    <a16:creationId xmlns:a16="http://schemas.microsoft.com/office/drawing/2014/main" id="{D9289304-3032-45B4-841E-9E49D10D97DB}"/>
                  </a:ext>
                </a:extLst>
              </p:cNvPr>
              <p:cNvSpPr>
                <a:spLocks/>
              </p:cNvSpPr>
              <p:nvPr/>
            </p:nvSpPr>
            <p:spPr bwMode="auto">
              <a:xfrm>
                <a:off x="2904" y="1147"/>
                <a:ext cx="19" cy="21"/>
              </a:xfrm>
              <a:custGeom>
                <a:avLst/>
                <a:gdLst>
                  <a:gd name="T0" fmla="*/ 131 w 132"/>
                  <a:gd name="T1" fmla="*/ 24 h 152"/>
                  <a:gd name="T2" fmla="*/ 132 w 132"/>
                  <a:gd name="T3" fmla="*/ 80 h 152"/>
                  <a:gd name="T4" fmla="*/ 113 w 132"/>
                  <a:gd name="T5" fmla="*/ 137 h 152"/>
                  <a:gd name="T6" fmla="*/ 78 w 132"/>
                  <a:gd name="T7" fmla="*/ 152 h 152"/>
                  <a:gd name="T8" fmla="*/ 26 w 132"/>
                  <a:gd name="T9" fmla="*/ 137 h 152"/>
                  <a:gd name="T10" fmla="*/ 10 w 132"/>
                  <a:gd name="T11" fmla="*/ 111 h 152"/>
                  <a:gd name="T12" fmla="*/ 2 w 132"/>
                  <a:gd name="T13" fmla="*/ 81 h 152"/>
                  <a:gd name="T14" fmla="*/ 0 w 132"/>
                  <a:gd name="T15" fmla="*/ 39 h 152"/>
                  <a:gd name="T16" fmla="*/ 22 w 132"/>
                  <a:gd name="T17" fmla="*/ 10 h 152"/>
                  <a:gd name="T18" fmla="*/ 92 w 132"/>
                  <a:gd name="T19" fmla="*/ 0 h 152"/>
                  <a:gd name="T20" fmla="*/ 131 w 132"/>
                  <a:gd name="T21" fmla="*/ 2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solidFill>
              <a:ln w="1588">
                <a:solidFill>
                  <a:srgbClr val="000000"/>
                </a:solidFill>
                <a:prstDash val="solid"/>
                <a:round/>
                <a:headEnd/>
                <a:tailEnd/>
              </a:ln>
            </p:spPr>
            <p:txBody>
              <a:bodyPr/>
              <a:lstStyle/>
              <a:p>
                <a:endParaRPr lang="zh-CN" altLang="en-US"/>
              </a:p>
            </p:txBody>
          </p:sp>
          <p:sp>
            <p:nvSpPr>
              <p:cNvPr id="35964" name="Freeform 124">
                <a:extLst>
                  <a:ext uri="{FF2B5EF4-FFF2-40B4-BE49-F238E27FC236}">
                    <a16:creationId xmlns:a16="http://schemas.microsoft.com/office/drawing/2014/main" id="{FC064635-8AC2-4A9E-8A18-9A1260AF3DEB}"/>
                  </a:ext>
                </a:extLst>
              </p:cNvPr>
              <p:cNvSpPr>
                <a:spLocks/>
              </p:cNvSpPr>
              <p:nvPr/>
            </p:nvSpPr>
            <p:spPr bwMode="auto">
              <a:xfrm>
                <a:off x="2833" y="1089"/>
                <a:ext cx="83" cy="135"/>
              </a:xfrm>
              <a:custGeom>
                <a:avLst/>
                <a:gdLst>
                  <a:gd name="T0" fmla="*/ 242 w 578"/>
                  <a:gd name="T1" fmla="*/ 117 h 941"/>
                  <a:gd name="T2" fmla="*/ 326 w 578"/>
                  <a:gd name="T3" fmla="*/ 97 h 941"/>
                  <a:gd name="T4" fmla="*/ 381 w 578"/>
                  <a:gd name="T5" fmla="*/ 62 h 941"/>
                  <a:gd name="T6" fmla="*/ 450 w 578"/>
                  <a:gd name="T7" fmla="*/ 21 h 941"/>
                  <a:gd name="T8" fmla="*/ 526 w 578"/>
                  <a:gd name="T9" fmla="*/ 0 h 941"/>
                  <a:gd name="T10" fmla="*/ 554 w 578"/>
                  <a:gd name="T11" fmla="*/ 10 h 941"/>
                  <a:gd name="T12" fmla="*/ 574 w 578"/>
                  <a:gd name="T13" fmla="*/ 33 h 941"/>
                  <a:gd name="T14" fmla="*/ 578 w 578"/>
                  <a:gd name="T15" fmla="*/ 71 h 941"/>
                  <a:gd name="T16" fmla="*/ 567 w 578"/>
                  <a:gd name="T17" fmla="*/ 117 h 941"/>
                  <a:gd name="T18" fmla="*/ 557 w 578"/>
                  <a:gd name="T19" fmla="*/ 158 h 941"/>
                  <a:gd name="T20" fmla="*/ 526 w 578"/>
                  <a:gd name="T21" fmla="*/ 207 h 941"/>
                  <a:gd name="T22" fmla="*/ 454 w 578"/>
                  <a:gd name="T23" fmla="*/ 276 h 941"/>
                  <a:gd name="T24" fmla="*/ 402 w 578"/>
                  <a:gd name="T25" fmla="*/ 311 h 941"/>
                  <a:gd name="T26" fmla="*/ 360 w 578"/>
                  <a:gd name="T27" fmla="*/ 331 h 941"/>
                  <a:gd name="T28" fmla="*/ 367 w 578"/>
                  <a:gd name="T29" fmla="*/ 407 h 941"/>
                  <a:gd name="T30" fmla="*/ 374 w 578"/>
                  <a:gd name="T31" fmla="*/ 477 h 941"/>
                  <a:gd name="T32" fmla="*/ 367 w 578"/>
                  <a:gd name="T33" fmla="*/ 580 h 941"/>
                  <a:gd name="T34" fmla="*/ 353 w 578"/>
                  <a:gd name="T35" fmla="*/ 642 h 941"/>
                  <a:gd name="T36" fmla="*/ 347 w 578"/>
                  <a:gd name="T37" fmla="*/ 705 h 941"/>
                  <a:gd name="T38" fmla="*/ 315 w 578"/>
                  <a:gd name="T39" fmla="*/ 769 h 941"/>
                  <a:gd name="T40" fmla="*/ 287 w 578"/>
                  <a:gd name="T41" fmla="*/ 815 h 941"/>
                  <a:gd name="T42" fmla="*/ 235 w 578"/>
                  <a:gd name="T43" fmla="*/ 859 h 941"/>
                  <a:gd name="T44" fmla="*/ 187 w 578"/>
                  <a:gd name="T45" fmla="*/ 899 h 941"/>
                  <a:gd name="T46" fmla="*/ 135 w 578"/>
                  <a:gd name="T47" fmla="*/ 926 h 941"/>
                  <a:gd name="T48" fmla="*/ 97 w 578"/>
                  <a:gd name="T49" fmla="*/ 941 h 941"/>
                  <a:gd name="T50" fmla="*/ 62 w 578"/>
                  <a:gd name="T51" fmla="*/ 865 h 941"/>
                  <a:gd name="T52" fmla="*/ 42 w 578"/>
                  <a:gd name="T53" fmla="*/ 787 h 941"/>
                  <a:gd name="T54" fmla="*/ 7 w 578"/>
                  <a:gd name="T55" fmla="*/ 670 h 941"/>
                  <a:gd name="T56" fmla="*/ 0 w 578"/>
                  <a:gd name="T57" fmla="*/ 615 h 941"/>
                  <a:gd name="T58" fmla="*/ 28 w 578"/>
                  <a:gd name="T59" fmla="*/ 525 h 941"/>
                  <a:gd name="T60" fmla="*/ 55 w 578"/>
                  <a:gd name="T61" fmla="*/ 401 h 941"/>
                  <a:gd name="T62" fmla="*/ 90 w 578"/>
                  <a:gd name="T63" fmla="*/ 242 h 941"/>
                  <a:gd name="T64" fmla="*/ 124 w 578"/>
                  <a:gd name="T65" fmla="*/ 166 h 941"/>
                  <a:gd name="T66" fmla="*/ 187 w 578"/>
                  <a:gd name="T67" fmla="*/ 131 h 941"/>
                  <a:gd name="T68" fmla="*/ 242 w 578"/>
                  <a:gd name="T69" fmla="*/ 117 h 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65" name="Freeform 125">
                <a:extLst>
                  <a:ext uri="{FF2B5EF4-FFF2-40B4-BE49-F238E27FC236}">
                    <a16:creationId xmlns:a16="http://schemas.microsoft.com/office/drawing/2014/main" id="{E883374E-50F2-4621-85E5-3E4D18C2A5A5}"/>
                  </a:ext>
                </a:extLst>
              </p:cNvPr>
              <p:cNvSpPr>
                <a:spLocks/>
              </p:cNvSpPr>
              <p:nvPr/>
            </p:nvSpPr>
            <p:spPr bwMode="auto">
              <a:xfrm>
                <a:off x="2883" y="1090"/>
                <a:ext cx="30" cy="21"/>
              </a:xfrm>
              <a:custGeom>
                <a:avLst/>
                <a:gdLst>
                  <a:gd name="T0" fmla="*/ 0 w 210"/>
                  <a:gd name="T1" fmla="*/ 83 h 149"/>
                  <a:gd name="T2" fmla="*/ 27 w 210"/>
                  <a:gd name="T3" fmla="*/ 135 h 149"/>
                  <a:gd name="T4" fmla="*/ 55 w 210"/>
                  <a:gd name="T5" fmla="*/ 149 h 149"/>
                  <a:gd name="T6" fmla="*/ 120 w 210"/>
                  <a:gd name="T7" fmla="*/ 132 h 149"/>
                  <a:gd name="T8" fmla="*/ 182 w 210"/>
                  <a:gd name="T9" fmla="*/ 104 h 149"/>
                  <a:gd name="T10" fmla="*/ 207 w 210"/>
                  <a:gd name="T11" fmla="*/ 83 h 149"/>
                  <a:gd name="T12" fmla="*/ 210 w 210"/>
                  <a:gd name="T13" fmla="*/ 31 h 149"/>
                  <a:gd name="T14" fmla="*/ 189 w 210"/>
                  <a:gd name="T15" fmla="*/ 0 h 149"/>
                  <a:gd name="T16" fmla="*/ 141 w 210"/>
                  <a:gd name="T17" fmla="*/ 4 h 149"/>
                  <a:gd name="T18" fmla="*/ 103 w 210"/>
                  <a:gd name="T19" fmla="*/ 20 h 149"/>
                  <a:gd name="T20" fmla="*/ 62 w 210"/>
                  <a:gd name="T21" fmla="*/ 41 h 149"/>
                  <a:gd name="T22" fmla="*/ 0 w 210"/>
                  <a:gd name="T23" fmla="*/ 8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solidFill>
              <a:ln w="1651">
                <a:solidFill>
                  <a:srgbClr val="000000"/>
                </a:solidFill>
                <a:prstDash val="solid"/>
                <a:round/>
                <a:headEnd/>
                <a:tailEnd/>
              </a:ln>
            </p:spPr>
            <p:txBody>
              <a:bodyPr/>
              <a:lstStyle/>
              <a:p>
                <a:endParaRPr lang="zh-CN" altLang="en-US"/>
              </a:p>
            </p:txBody>
          </p:sp>
          <p:sp>
            <p:nvSpPr>
              <p:cNvPr id="35966" name="Freeform 126">
                <a:extLst>
                  <a:ext uri="{FF2B5EF4-FFF2-40B4-BE49-F238E27FC236}">
                    <a16:creationId xmlns:a16="http://schemas.microsoft.com/office/drawing/2014/main" id="{BB291E9F-FD0E-42A8-9EFC-5BB429D24A3D}"/>
                  </a:ext>
                </a:extLst>
              </p:cNvPr>
              <p:cNvSpPr>
                <a:spLocks/>
              </p:cNvSpPr>
              <p:nvPr/>
            </p:nvSpPr>
            <p:spPr bwMode="auto">
              <a:xfrm>
                <a:off x="2974" y="1146"/>
                <a:ext cx="1" cy="6"/>
              </a:xfrm>
              <a:custGeom>
                <a:avLst/>
                <a:gdLst>
                  <a:gd name="T0" fmla="*/ 7 w 7"/>
                  <a:gd name="T1" fmla="*/ 42 h 42"/>
                  <a:gd name="T2" fmla="*/ 7 w 7"/>
                  <a:gd name="T3" fmla="*/ 18 h 42"/>
                  <a:gd name="T4" fmla="*/ 0 w 7"/>
                  <a:gd name="T5" fmla="*/ 0 h 42"/>
                </a:gdLst>
                <a:ahLst/>
                <a:cxnLst>
                  <a:cxn ang="0">
                    <a:pos x="T0" y="T1"/>
                  </a:cxn>
                  <a:cxn ang="0">
                    <a:pos x="T2" y="T3"/>
                  </a:cxn>
                  <a:cxn ang="0">
                    <a:pos x="T4" y="T5"/>
                  </a:cxn>
                </a:cxnLst>
                <a:rect l="0" t="0" r="r" b="b"/>
                <a:pathLst>
                  <a:path w="7" h="42">
                    <a:moveTo>
                      <a:pt x="7" y="42"/>
                    </a:moveTo>
                    <a:lnTo>
                      <a:pt x="7" y="18"/>
                    </a:lnTo>
                    <a:lnTo>
                      <a:pt x="0" y="0"/>
                    </a:lnTo>
                  </a:path>
                </a:pathLst>
              </a:custGeom>
              <a:solidFill>
                <a:srgbClr val="FFD7AF"/>
              </a:solidFill>
              <a:ln w="1588">
                <a:solidFill>
                  <a:srgbClr val="000000"/>
                </a:solidFill>
                <a:prstDash val="solid"/>
                <a:round/>
                <a:headEnd/>
                <a:tailEnd/>
              </a:ln>
            </p:spPr>
            <p:txBody>
              <a:bodyPr/>
              <a:lstStyle/>
              <a:p>
                <a:endParaRPr lang="zh-CN" altLang="en-US"/>
              </a:p>
            </p:txBody>
          </p:sp>
        </p:grpSp>
      </p:grpSp>
      <p:sp>
        <p:nvSpPr>
          <p:cNvPr id="35967" name="AutoShape 127">
            <a:extLst>
              <a:ext uri="{FF2B5EF4-FFF2-40B4-BE49-F238E27FC236}">
                <a16:creationId xmlns:a16="http://schemas.microsoft.com/office/drawing/2014/main" id="{F69A9060-25D3-4958-B25B-87B2AB93DA49}"/>
              </a:ext>
            </a:extLst>
          </p:cNvPr>
          <p:cNvSpPr>
            <a:spLocks noChangeArrowheads="1"/>
          </p:cNvSpPr>
          <p:nvPr/>
        </p:nvSpPr>
        <p:spPr bwMode="auto">
          <a:xfrm>
            <a:off x="2714625" y="3789363"/>
            <a:ext cx="4953000" cy="2133600"/>
          </a:xfrm>
          <a:prstGeom prst="cloudCallout">
            <a:avLst>
              <a:gd name="adj1" fmla="val -66602"/>
              <a:gd name="adj2" fmla="val 15028"/>
            </a:avLst>
          </a:prstGeom>
          <a:gradFill rotWithShape="0">
            <a:gsLst>
              <a:gs pos="0">
                <a:schemeClr val="bg1"/>
              </a:gs>
              <a:gs pos="100000">
                <a:srgbClr val="CCFFCC"/>
              </a:gs>
            </a:gsLst>
            <a:lin ang="2700000" scaled="1"/>
          </a:gradFill>
          <a:ln w="9525">
            <a:solidFill>
              <a:srgbClr val="CC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a:latin typeface="楷体_GB2312" pitchFamily="49" charset="-122"/>
                <a:ea typeface="楷体_GB2312" pitchFamily="49" charset="-122"/>
              </a:rPr>
              <a:t>为了得出一个有实际意义的模型，我们不妨采用一下工程师原则。工程师们在建立实际问题的数学模型时，总是采用尽可能简单的方法。 </a:t>
            </a:r>
          </a:p>
        </p:txBody>
      </p:sp>
      <p:sp>
        <p:nvSpPr>
          <p:cNvPr id="35968" name="AutoShape 128">
            <a:extLst>
              <a:ext uri="{FF2B5EF4-FFF2-40B4-BE49-F238E27FC236}">
                <a16:creationId xmlns:a16="http://schemas.microsoft.com/office/drawing/2014/main" id="{758B4284-5449-4AB8-A893-A087EADCFAD6}"/>
              </a:ext>
            </a:extLst>
          </p:cNvPr>
          <p:cNvSpPr>
            <a:spLocks noChangeArrowheads="1"/>
          </p:cNvSpPr>
          <p:nvPr/>
        </p:nvSpPr>
        <p:spPr bwMode="auto">
          <a:xfrm>
            <a:off x="2249488" y="3743325"/>
            <a:ext cx="5562600" cy="2133600"/>
          </a:xfrm>
          <a:prstGeom prst="cloudCallout">
            <a:avLst>
              <a:gd name="adj1" fmla="val -64782"/>
              <a:gd name="adj2" fmla="val 15028"/>
            </a:avLst>
          </a:prstGeom>
          <a:gradFill rotWithShape="0">
            <a:gsLst>
              <a:gs pos="0">
                <a:schemeClr val="bg1"/>
              </a:gs>
              <a:gs pos="100000">
                <a:srgbClr val="CCFFCC"/>
              </a:gs>
            </a:gsLst>
            <a:lin ang="2700000" scaled="1"/>
          </a:gradFill>
          <a:ln w="9525">
            <a:solidFill>
              <a:srgbClr val="CC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sz="2000" b="1" i="1">
                <a:latin typeface="Times New Roman" panose="02020603050405020304" pitchFamily="18" charset="0"/>
                <a:ea typeface="楷体_GB2312" pitchFamily="49" charset="-122"/>
              </a:rPr>
              <a:t>r</a:t>
            </a:r>
            <a:r>
              <a:rPr lang="en-US" altLang="zh-CN" sz="2000" b="1">
                <a:latin typeface="Times New Roman" panose="02020603050405020304" pitchFamily="18" charset="0"/>
                <a:ea typeface="楷体_GB2312" pitchFamily="49" charset="-122"/>
              </a:rPr>
              <a:t>(</a:t>
            </a:r>
            <a:r>
              <a:rPr lang="en-US" altLang="zh-CN" sz="2000" b="1" i="1">
                <a:latin typeface="Times New Roman" panose="02020603050405020304" pitchFamily="18" charset="0"/>
                <a:ea typeface="楷体_GB2312" pitchFamily="49" charset="-122"/>
              </a:rPr>
              <a:t>x</a:t>
            </a:r>
            <a:r>
              <a:rPr lang="en-US" altLang="zh-CN" sz="2000" b="1">
                <a:latin typeface="Times New Roman" panose="02020603050405020304" pitchFamily="18" charset="0"/>
                <a:ea typeface="楷体_GB2312" pitchFamily="49" charset="-122"/>
              </a:rPr>
              <a:t>)</a:t>
            </a:r>
            <a:r>
              <a:rPr lang="zh-CN" altLang="en-US" sz="2000" b="1">
                <a:latin typeface="Times New Roman" panose="02020603050405020304" pitchFamily="18" charset="0"/>
                <a:ea typeface="楷体_GB2312" pitchFamily="49" charset="-122"/>
              </a:rPr>
              <a:t>最简单的形式是常数，此时得到的就是马尔萨斯模型。对马尔萨斯模型的最简单的改进就是引进一次项（竞争项） </a:t>
            </a:r>
          </a:p>
        </p:txBody>
      </p:sp>
      <p:grpSp>
        <p:nvGrpSpPr>
          <p:cNvPr id="35969" name="Group 129">
            <a:extLst>
              <a:ext uri="{FF2B5EF4-FFF2-40B4-BE49-F238E27FC236}">
                <a16:creationId xmlns:a16="http://schemas.microsoft.com/office/drawing/2014/main" id="{C3A8B8D8-C65E-401C-94EA-77A680D15FBE}"/>
              </a:ext>
            </a:extLst>
          </p:cNvPr>
          <p:cNvGrpSpPr>
            <a:grpSpLocks/>
          </p:cNvGrpSpPr>
          <p:nvPr/>
        </p:nvGrpSpPr>
        <p:grpSpPr bwMode="auto">
          <a:xfrm>
            <a:off x="7419" y="2792987"/>
            <a:ext cx="9144001" cy="4648200"/>
            <a:chOff x="0" y="1392"/>
            <a:chExt cx="5760" cy="2928"/>
          </a:xfrm>
        </p:grpSpPr>
        <p:sp>
          <p:nvSpPr>
            <p:cNvPr id="35970" name="Rectangle 130">
              <a:extLst>
                <a:ext uri="{FF2B5EF4-FFF2-40B4-BE49-F238E27FC236}">
                  <a16:creationId xmlns:a16="http://schemas.microsoft.com/office/drawing/2014/main" id="{EE1A28ED-4168-4413-91D9-8FBDBEC171B1}"/>
                </a:ext>
              </a:extLst>
            </p:cNvPr>
            <p:cNvSpPr>
              <a:spLocks noChangeArrowheads="1"/>
            </p:cNvSpPr>
            <p:nvPr/>
          </p:nvSpPr>
          <p:spPr bwMode="auto">
            <a:xfrm>
              <a:off x="0" y="1392"/>
              <a:ext cx="5760" cy="292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71" name="Rectangle 131">
              <a:extLst>
                <a:ext uri="{FF2B5EF4-FFF2-40B4-BE49-F238E27FC236}">
                  <a16:creationId xmlns:a16="http://schemas.microsoft.com/office/drawing/2014/main" id="{0765FBC3-338D-4262-9A79-A1A284325571}"/>
                </a:ext>
              </a:extLst>
            </p:cNvPr>
            <p:cNvSpPr>
              <a:spLocks noChangeArrowheads="1"/>
            </p:cNvSpPr>
            <p:nvPr/>
          </p:nvSpPr>
          <p:spPr bwMode="auto">
            <a:xfrm>
              <a:off x="480" y="1440"/>
              <a:ext cx="5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latin typeface="Times New Roman" panose="02020603050405020304" pitchFamily="18" charset="0"/>
                  <a:ea typeface="楷体_GB2312" pitchFamily="49" charset="-122"/>
                </a:rPr>
                <a:t>对马尔萨斯模型引入一次项（竞争项），令  </a:t>
              </a:r>
              <a:r>
                <a:rPr lang="en-US" altLang="zh-CN" sz="2400" b="1" i="1" dirty="0">
                  <a:solidFill>
                    <a:srgbClr val="0000FF"/>
                  </a:solidFill>
                  <a:latin typeface="Times New Roman" panose="02020603050405020304" pitchFamily="18" charset="0"/>
                  <a:ea typeface="楷体_GB2312" pitchFamily="49" charset="-122"/>
                </a:rPr>
                <a:t>r</a:t>
              </a:r>
              <a:r>
                <a:rPr lang="en-US" altLang="zh-CN" sz="2400" b="1" dirty="0">
                  <a:solidFill>
                    <a:srgbClr val="0000FF"/>
                  </a:solidFill>
                  <a:latin typeface="Times New Roman" panose="02020603050405020304" pitchFamily="18" charset="0"/>
                  <a:ea typeface="楷体_GB2312" pitchFamily="49" charset="-122"/>
                </a:rPr>
                <a:t>(</a:t>
              </a:r>
              <a:r>
                <a:rPr lang="en-US" altLang="zh-CN" sz="2400" b="1" i="1" dirty="0">
                  <a:solidFill>
                    <a:srgbClr val="0000FF"/>
                  </a:solidFill>
                  <a:latin typeface="Times New Roman" panose="02020603050405020304" pitchFamily="18" charset="0"/>
                  <a:ea typeface="楷体_GB2312" pitchFamily="49" charset="-122"/>
                </a:rPr>
                <a:t>x</a:t>
              </a:r>
              <a:r>
                <a:rPr lang="en-US" altLang="zh-CN" sz="2400" b="1" dirty="0">
                  <a:solidFill>
                    <a:srgbClr val="0000FF"/>
                  </a:solidFill>
                  <a:latin typeface="Times New Roman" panose="02020603050405020304" pitchFamily="18" charset="0"/>
                  <a:ea typeface="楷体_GB2312" pitchFamily="49" charset="-122"/>
                </a:rPr>
                <a:t>)=</a:t>
              </a:r>
              <a:r>
                <a:rPr lang="en-US" altLang="zh-CN" sz="2400" b="1" i="1" dirty="0">
                  <a:solidFill>
                    <a:srgbClr val="0000FF"/>
                  </a:solidFill>
                  <a:latin typeface="Times New Roman" panose="02020603050405020304" pitchFamily="18" charset="0"/>
                  <a:ea typeface="楷体_GB2312" pitchFamily="49" charset="-122"/>
                </a:rPr>
                <a:t>r</a:t>
              </a:r>
              <a:r>
                <a:rPr lang="en-US" altLang="zh-CN" sz="2400" b="1" dirty="0">
                  <a:solidFill>
                    <a:srgbClr val="0000FF"/>
                  </a:solidFill>
                  <a:latin typeface="Times New Roman" panose="02020603050405020304" pitchFamily="18" charset="0"/>
                  <a:ea typeface="楷体_GB2312" pitchFamily="49" charset="-122"/>
                </a:rPr>
                <a:t>-</a:t>
              </a:r>
              <a:r>
                <a:rPr lang="en-US" altLang="zh-CN" sz="2400" b="1" i="1" dirty="0">
                  <a:solidFill>
                    <a:srgbClr val="0000FF"/>
                  </a:solidFill>
                  <a:latin typeface="Times New Roman" panose="02020603050405020304" pitchFamily="18" charset="0"/>
                  <a:ea typeface="楷体_GB2312" pitchFamily="49" charset="-122"/>
                </a:rPr>
                <a:t>ax</a:t>
              </a:r>
              <a:r>
                <a:rPr lang="en-US" altLang="zh-CN" sz="2400" b="1" dirty="0">
                  <a:latin typeface="Times New Roman" panose="02020603050405020304" pitchFamily="18" charset="0"/>
                  <a:ea typeface="楷体_GB2312" pitchFamily="49" charset="-122"/>
                </a:rPr>
                <a:t>  </a:t>
              </a:r>
            </a:p>
          </p:txBody>
        </p:sp>
      </p:grpSp>
      <p:grpSp>
        <p:nvGrpSpPr>
          <p:cNvPr id="35972" name="Group 132">
            <a:extLst>
              <a:ext uri="{FF2B5EF4-FFF2-40B4-BE49-F238E27FC236}">
                <a16:creationId xmlns:a16="http://schemas.microsoft.com/office/drawing/2014/main" id="{4A3462DC-D489-4339-A5EB-B838647451D3}"/>
              </a:ext>
            </a:extLst>
          </p:cNvPr>
          <p:cNvGrpSpPr>
            <a:grpSpLocks/>
          </p:cNvGrpSpPr>
          <p:nvPr/>
        </p:nvGrpSpPr>
        <p:grpSpPr bwMode="auto">
          <a:xfrm>
            <a:off x="755650" y="3284538"/>
            <a:ext cx="7696200" cy="1165225"/>
            <a:chOff x="480" y="1824"/>
            <a:chExt cx="4848" cy="734"/>
          </a:xfrm>
        </p:grpSpPr>
        <p:sp>
          <p:nvSpPr>
            <p:cNvPr id="35973" name="Rectangle 133">
              <a:extLst>
                <a:ext uri="{FF2B5EF4-FFF2-40B4-BE49-F238E27FC236}">
                  <a16:creationId xmlns:a16="http://schemas.microsoft.com/office/drawing/2014/main" id="{D93471AE-73F6-466C-B091-ACFBCC8B2B55}"/>
                </a:ext>
              </a:extLst>
            </p:cNvPr>
            <p:cNvSpPr>
              <a:spLocks noChangeArrowheads="1"/>
            </p:cNvSpPr>
            <p:nvPr/>
          </p:nvSpPr>
          <p:spPr bwMode="auto">
            <a:xfrm>
              <a:off x="480" y="1824"/>
              <a:ext cx="48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latin typeface="楷体_GB2312" pitchFamily="49" charset="-122"/>
                  <a:ea typeface="楷体_GB2312" pitchFamily="49" charset="-122"/>
                </a:rPr>
                <a:t>此时得到微分方程： </a:t>
              </a:r>
            </a:p>
          </p:txBody>
        </p:sp>
        <p:grpSp>
          <p:nvGrpSpPr>
            <p:cNvPr id="35974" name="Group 134">
              <a:extLst>
                <a:ext uri="{FF2B5EF4-FFF2-40B4-BE49-F238E27FC236}">
                  <a16:creationId xmlns:a16="http://schemas.microsoft.com/office/drawing/2014/main" id="{EF5C5547-C19D-44D4-A26A-EDA4D9CDC158}"/>
                </a:ext>
              </a:extLst>
            </p:cNvPr>
            <p:cNvGrpSpPr>
              <a:grpSpLocks/>
            </p:cNvGrpSpPr>
            <p:nvPr/>
          </p:nvGrpSpPr>
          <p:grpSpPr bwMode="auto">
            <a:xfrm>
              <a:off x="1383" y="2107"/>
              <a:ext cx="3083" cy="451"/>
              <a:chOff x="1383" y="2107"/>
              <a:chExt cx="3083" cy="451"/>
            </a:xfrm>
          </p:grpSpPr>
          <p:grpSp>
            <p:nvGrpSpPr>
              <p:cNvPr id="35975" name="Group 135">
                <a:extLst>
                  <a:ext uri="{FF2B5EF4-FFF2-40B4-BE49-F238E27FC236}">
                    <a16:creationId xmlns:a16="http://schemas.microsoft.com/office/drawing/2014/main" id="{F1122D4A-798F-49CE-B04F-51B34B23C83D}"/>
                  </a:ext>
                </a:extLst>
              </p:cNvPr>
              <p:cNvGrpSpPr>
                <a:grpSpLocks/>
              </p:cNvGrpSpPr>
              <p:nvPr/>
            </p:nvGrpSpPr>
            <p:grpSpPr bwMode="auto">
              <a:xfrm>
                <a:off x="1383" y="2107"/>
                <a:ext cx="2525" cy="451"/>
                <a:chOff x="1502" y="3380"/>
                <a:chExt cx="2616" cy="497"/>
              </a:xfrm>
            </p:grpSpPr>
            <p:graphicFrame>
              <p:nvGraphicFramePr>
                <p:cNvPr id="35976" name="Object 136">
                  <a:extLst>
                    <a:ext uri="{FF2B5EF4-FFF2-40B4-BE49-F238E27FC236}">
                      <a16:creationId xmlns:a16="http://schemas.microsoft.com/office/drawing/2014/main" id="{738DDF29-7ADC-4CCC-A098-2CCD668D16D1}"/>
                    </a:ext>
                  </a:extLst>
                </p:cNvPr>
                <p:cNvGraphicFramePr>
                  <a:graphicFrameLocks noChangeAspect="1"/>
                </p:cNvGraphicFramePr>
                <p:nvPr>
                  <p:extLst>
                    <p:ext uri="{D42A27DB-BD31-4B8C-83A1-F6EECF244321}">
                      <p14:modId xmlns:p14="http://schemas.microsoft.com/office/powerpoint/2010/main" val="645039537"/>
                    </p:ext>
                  </p:extLst>
                </p:nvPr>
              </p:nvGraphicFramePr>
              <p:xfrm>
                <a:off x="1502" y="3385"/>
                <a:ext cx="1056" cy="455"/>
              </p:xfrm>
              <a:graphic>
                <a:graphicData uri="http://schemas.openxmlformats.org/presentationml/2006/ole">
                  <mc:AlternateContent xmlns:mc="http://schemas.openxmlformats.org/markup-compatibility/2006">
                    <mc:Choice xmlns:v="urn:schemas-microsoft-com:vml" Requires="v">
                      <p:oleObj name="Equation" r:id="rId4" imgW="901440" imgH="393480" progId="Equation.DSMT4">
                        <p:embed/>
                      </p:oleObj>
                    </mc:Choice>
                    <mc:Fallback>
                      <p:oleObj name="Equation" r:id="rId4" imgW="901440" imgH="393480" progId="Equation.DSMT4">
                        <p:embed/>
                        <p:pic>
                          <p:nvPicPr>
                            <p:cNvPr id="35976" name="Object 136">
                              <a:extLst>
                                <a:ext uri="{FF2B5EF4-FFF2-40B4-BE49-F238E27FC236}">
                                  <a16:creationId xmlns:a16="http://schemas.microsoft.com/office/drawing/2014/main" id="{738DDF29-7ADC-4CCC-A098-2CCD668D16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2" y="3385"/>
                              <a:ext cx="1056" cy="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977" name="Object 137">
                  <a:extLst>
                    <a:ext uri="{FF2B5EF4-FFF2-40B4-BE49-F238E27FC236}">
                      <a16:creationId xmlns:a16="http://schemas.microsoft.com/office/drawing/2014/main" id="{1BEDF095-C7C8-4A5D-AA2C-FE2C15A57DC4}"/>
                    </a:ext>
                  </a:extLst>
                </p:cNvPr>
                <p:cNvGraphicFramePr>
                  <a:graphicFrameLocks noChangeAspect="1"/>
                </p:cNvGraphicFramePr>
                <p:nvPr>
                  <p:extLst>
                    <p:ext uri="{D42A27DB-BD31-4B8C-83A1-F6EECF244321}">
                      <p14:modId xmlns:p14="http://schemas.microsoft.com/office/powerpoint/2010/main" val="4134898880"/>
                    </p:ext>
                  </p:extLst>
                </p:nvPr>
              </p:nvGraphicFramePr>
              <p:xfrm>
                <a:off x="2973" y="3380"/>
                <a:ext cx="1145" cy="497"/>
              </p:xfrm>
              <a:graphic>
                <a:graphicData uri="http://schemas.openxmlformats.org/presentationml/2006/ole">
                  <mc:AlternateContent xmlns:mc="http://schemas.openxmlformats.org/markup-compatibility/2006">
                    <mc:Choice xmlns:v="urn:schemas-microsoft-com:vml" Requires="v">
                      <p:oleObj name="Equation" r:id="rId6" imgW="990360" imgH="431640" progId="Equation.DSMT4">
                        <p:embed/>
                      </p:oleObj>
                    </mc:Choice>
                    <mc:Fallback>
                      <p:oleObj name="Equation" r:id="rId6" imgW="990360" imgH="431640" progId="Equation.DSMT4">
                        <p:embed/>
                        <p:pic>
                          <p:nvPicPr>
                            <p:cNvPr id="35977" name="Object 137">
                              <a:extLst>
                                <a:ext uri="{FF2B5EF4-FFF2-40B4-BE49-F238E27FC236}">
                                  <a16:creationId xmlns:a16="http://schemas.microsoft.com/office/drawing/2014/main" id="{1BEDF095-C7C8-4A5D-AA2C-FE2C15A57D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3" y="3380"/>
                              <a:ext cx="1145" cy="4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978" name="Text Box 138">
                  <a:extLst>
                    <a:ext uri="{FF2B5EF4-FFF2-40B4-BE49-F238E27FC236}">
                      <a16:creationId xmlns:a16="http://schemas.microsoft.com/office/drawing/2014/main" id="{14014603-1170-451E-937D-BD728CEDE9D8}"/>
                    </a:ext>
                  </a:extLst>
                </p:cNvPr>
                <p:cNvSpPr txBox="1">
                  <a:spLocks noChangeArrowheads="1"/>
                </p:cNvSpPr>
                <p:nvPr/>
              </p:nvSpPr>
              <p:spPr bwMode="auto">
                <a:xfrm>
                  <a:off x="2641" y="3456"/>
                  <a:ext cx="479"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ea typeface="楷体_GB2312" pitchFamily="49" charset="-122"/>
                    </a:rPr>
                    <a:t>或</a:t>
                  </a:r>
                </a:p>
              </p:txBody>
            </p:sp>
          </p:grpSp>
          <p:sp>
            <p:nvSpPr>
              <p:cNvPr id="35979" name="Rectangle 139">
                <a:extLst>
                  <a:ext uri="{FF2B5EF4-FFF2-40B4-BE49-F238E27FC236}">
                    <a16:creationId xmlns:a16="http://schemas.microsoft.com/office/drawing/2014/main" id="{2FC6F505-0A8A-4B93-A983-137CF031BA8F}"/>
                  </a:ext>
                </a:extLst>
              </p:cNvPr>
              <p:cNvSpPr>
                <a:spLocks noChangeArrowheads="1"/>
              </p:cNvSpPr>
              <p:nvPr/>
            </p:nvSpPr>
            <p:spPr bwMode="auto">
              <a:xfrm>
                <a:off x="3984" y="2217"/>
                <a:ext cx="4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latin typeface="宋体" panose="02010600030101010101" pitchFamily="2" charset="-122"/>
                  </a:rPr>
                  <a:t>（</a:t>
                </a:r>
                <a:r>
                  <a:rPr lang="en-US" altLang="zh-CN" b="1" dirty="0">
                    <a:latin typeface="Times New Roman" panose="02020603050405020304" pitchFamily="18" charset="0"/>
                    <a:cs typeface="Times New Roman" panose="02020603050405020304" pitchFamily="18" charset="0"/>
                  </a:rPr>
                  <a:t>5</a:t>
                </a:r>
                <a:r>
                  <a:rPr lang="zh-CN" altLang="en-US" b="1" dirty="0">
                    <a:latin typeface="宋体" panose="02010600030101010101" pitchFamily="2" charset="-122"/>
                  </a:rPr>
                  <a:t>）</a:t>
                </a:r>
              </a:p>
            </p:txBody>
          </p:sp>
        </p:grpSp>
      </p:grpSp>
      <p:grpSp>
        <p:nvGrpSpPr>
          <p:cNvPr id="35980" name="Group 140">
            <a:extLst>
              <a:ext uri="{FF2B5EF4-FFF2-40B4-BE49-F238E27FC236}">
                <a16:creationId xmlns:a16="http://schemas.microsoft.com/office/drawing/2014/main" id="{ADAC5BC0-A7B6-4AEC-9FFE-C9E91C72A9F0}"/>
              </a:ext>
            </a:extLst>
          </p:cNvPr>
          <p:cNvGrpSpPr>
            <a:grpSpLocks/>
          </p:cNvGrpSpPr>
          <p:nvPr/>
        </p:nvGrpSpPr>
        <p:grpSpPr bwMode="auto">
          <a:xfrm>
            <a:off x="344488" y="4581525"/>
            <a:ext cx="8153400" cy="2228850"/>
            <a:chOff x="217" y="2795"/>
            <a:chExt cx="5136" cy="1404"/>
          </a:xfrm>
        </p:grpSpPr>
        <p:sp>
          <p:nvSpPr>
            <p:cNvPr id="35981" name="Rectangle 141">
              <a:extLst>
                <a:ext uri="{FF2B5EF4-FFF2-40B4-BE49-F238E27FC236}">
                  <a16:creationId xmlns:a16="http://schemas.microsoft.com/office/drawing/2014/main" id="{B189867A-0130-44F4-9962-3E7A07D45190}"/>
                </a:ext>
              </a:extLst>
            </p:cNvPr>
            <p:cNvSpPr>
              <a:spLocks noChangeArrowheads="1"/>
            </p:cNvSpPr>
            <p:nvPr/>
          </p:nvSpPr>
          <p:spPr bwMode="auto">
            <a:xfrm>
              <a:off x="217" y="3622"/>
              <a:ext cx="5136" cy="577"/>
            </a:xfrm>
            <a:prstGeom prst="rect">
              <a:avLst/>
            </a:prstGeom>
            <a:solidFill>
              <a:srgbClr val="FF9900"/>
            </a:solidFill>
            <a:ln>
              <a:noFill/>
            </a:ln>
            <a:effectLst>
              <a:outerShdw dist="107763" dir="2700000" algn="ctr" rotWithShape="0">
                <a:schemeClr val="bg2"/>
              </a:outerShdw>
            </a:effectLst>
            <a:extLst>
              <a:ext uri="{91240B29-F687-4F45-9708-019B960494DF}">
                <a14:hiddenLine xmlns:a14="http://schemas.microsoft.com/office/drawing/2010/main" w="38100">
                  <a:solidFill>
                    <a:schemeClr val="tx1"/>
                  </a:solidFill>
                  <a:miter lim="800000"/>
                  <a:headEnd/>
                  <a:tailEnd/>
                </a14:hiddenLine>
              </a:ext>
            </a:extLst>
          </p:spPr>
          <p:txBody>
            <a:bodyPr>
              <a:spAutoFit/>
            </a:bodyPr>
            <a:lstStyle/>
            <a:p>
              <a:pPr algn="l"/>
              <a:r>
                <a:rPr lang="en-US" altLang="zh-CN" b="1" dirty="0">
                  <a:latin typeface="宋体" panose="02010600030101010101" pitchFamily="2" charset="-122"/>
                </a:rPr>
                <a:t>   </a:t>
              </a:r>
              <a:r>
                <a:rPr lang="zh-CN" altLang="en-US" b="1" dirty="0">
                  <a:solidFill>
                    <a:schemeClr val="tx2"/>
                  </a:solidFill>
                  <a:latin typeface="宋体" panose="02010600030101010101" pitchFamily="2" charset="-122"/>
                </a:rPr>
                <a:t>（</a:t>
              </a:r>
              <a:r>
                <a:rPr lang="en-US" altLang="zh-CN" b="1" dirty="0">
                  <a:solidFill>
                    <a:schemeClr val="tx2"/>
                  </a:solidFill>
                  <a:latin typeface="Times New Roman" panose="02020603050405020304" pitchFamily="18" charset="0"/>
                  <a:cs typeface="Times New Roman" panose="02020603050405020304" pitchFamily="18" charset="0"/>
                </a:rPr>
                <a:t>5</a:t>
              </a:r>
              <a:r>
                <a:rPr lang="zh-CN" altLang="en-US" b="1" dirty="0">
                  <a:solidFill>
                    <a:schemeClr val="tx2"/>
                  </a:solidFill>
                  <a:latin typeface="宋体" panose="02010600030101010101" pitchFamily="2" charset="-122"/>
                </a:rPr>
                <a:t>）</a:t>
              </a:r>
              <a:r>
                <a:rPr lang="zh-CN" altLang="en-US" b="1" dirty="0">
                  <a:solidFill>
                    <a:schemeClr val="tx2"/>
                  </a:solidFill>
                  <a:latin typeface="楷体_GB2312" pitchFamily="49" charset="-122"/>
                  <a:ea typeface="楷体_GB2312" pitchFamily="49" charset="-122"/>
                </a:rPr>
                <a:t>被称为</a:t>
              </a:r>
              <a:r>
                <a:rPr lang="en-US" altLang="zh-CN" b="1" dirty="0">
                  <a:solidFill>
                    <a:schemeClr val="tx2"/>
                  </a:solidFill>
                  <a:latin typeface="楷体_GB2312" pitchFamily="49" charset="-122"/>
                  <a:ea typeface="楷体_GB2312" pitchFamily="49" charset="-122"/>
                </a:rPr>
                <a:t>Logistic</a:t>
              </a:r>
              <a:r>
                <a:rPr lang="zh-CN" altLang="en-US" b="1" dirty="0">
                  <a:solidFill>
                    <a:schemeClr val="tx2"/>
                  </a:solidFill>
                  <a:latin typeface="楷体_GB2312" pitchFamily="49" charset="-122"/>
                  <a:ea typeface="楷体_GB2312" pitchFamily="49" charset="-122"/>
                </a:rPr>
                <a:t>模型或生物总数增长的统计筹算律，是由荷兰数学生物学家弗赫斯特（</a:t>
              </a:r>
              <a:r>
                <a:rPr lang="en-US" altLang="zh-CN" b="1" dirty="0">
                  <a:solidFill>
                    <a:schemeClr val="tx2"/>
                  </a:solidFill>
                  <a:latin typeface="楷体_GB2312" pitchFamily="49" charset="-122"/>
                  <a:ea typeface="楷体_GB2312" pitchFamily="49" charset="-122"/>
                </a:rPr>
                <a:t>Verhulst</a:t>
              </a:r>
              <a:r>
                <a:rPr lang="zh-CN" altLang="en-US" b="1" dirty="0">
                  <a:solidFill>
                    <a:schemeClr val="tx2"/>
                  </a:solidFill>
                  <a:latin typeface="楷体_GB2312" pitchFamily="49" charset="-122"/>
                  <a:ea typeface="楷体_GB2312" pitchFamily="49" charset="-122"/>
                </a:rPr>
                <a:t>）首先提出的。一次项系数是负的，因为当种群数量很大时，会对自身增大产生抑制性，故一次项又被称为竞争项。</a:t>
              </a:r>
              <a:endParaRPr lang="zh-CN" altLang="en-US" b="1" dirty="0">
                <a:solidFill>
                  <a:schemeClr val="tx2"/>
                </a:solidFill>
                <a:latin typeface="Times New Roman" panose="02020603050405020304" pitchFamily="18" charset="0"/>
                <a:ea typeface="楷体_GB2312" pitchFamily="49" charset="-122"/>
              </a:endParaRPr>
            </a:p>
          </p:txBody>
        </p:sp>
        <p:sp>
          <p:nvSpPr>
            <p:cNvPr id="35982" name="Line 142">
              <a:extLst>
                <a:ext uri="{FF2B5EF4-FFF2-40B4-BE49-F238E27FC236}">
                  <a16:creationId xmlns:a16="http://schemas.microsoft.com/office/drawing/2014/main" id="{34D6D4E0-6FC4-44BF-AAAC-D1AFF271AB71}"/>
                </a:ext>
              </a:extLst>
            </p:cNvPr>
            <p:cNvSpPr>
              <a:spLocks noChangeShapeType="1"/>
            </p:cNvSpPr>
            <p:nvPr/>
          </p:nvSpPr>
          <p:spPr bwMode="auto">
            <a:xfrm flipH="1" flipV="1">
              <a:off x="3617" y="2795"/>
              <a:ext cx="624" cy="48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983" name="Group 143">
            <a:extLst>
              <a:ext uri="{FF2B5EF4-FFF2-40B4-BE49-F238E27FC236}">
                <a16:creationId xmlns:a16="http://schemas.microsoft.com/office/drawing/2014/main" id="{A0C5B2E2-24B9-478C-8627-9D18B6C8F885}"/>
              </a:ext>
            </a:extLst>
          </p:cNvPr>
          <p:cNvGrpSpPr>
            <a:grpSpLocks/>
          </p:cNvGrpSpPr>
          <p:nvPr/>
        </p:nvGrpSpPr>
        <p:grpSpPr bwMode="auto">
          <a:xfrm>
            <a:off x="611188" y="4652963"/>
            <a:ext cx="7620000" cy="1238250"/>
            <a:chOff x="384" y="2649"/>
            <a:chExt cx="4800" cy="780"/>
          </a:xfrm>
        </p:grpSpPr>
        <p:grpSp>
          <p:nvGrpSpPr>
            <p:cNvPr id="35984" name="Group 144">
              <a:extLst>
                <a:ext uri="{FF2B5EF4-FFF2-40B4-BE49-F238E27FC236}">
                  <a16:creationId xmlns:a16="http://schemas.microsoft.com/office/drawing/2014/main" id="{D79D13DF-76AD-4736-8E38-B3AF3F68A775}"/>
                </a:ext>
              </a:extLst>
            </p:cNvPr>
            <p:cNvGrpSpPr>
              <a:grpSpLocks/>
            </p:cNvGrpSpPr>
            <p:nvPr/>
          </p:nvGrpSpPr>
          <p:grpSpPr bwMode="auto">
            <a:xfrm>
              <a:off x="384" y="2649"/>
              <a:ext cx="4800" cy="780"/>
              <a:chOff x="384" y="2649"/>
              <a:chExt cx="4800" cy="780"/>
            </a:xfrm>
          </p:grpSpPr>
          <p:sp>
            <p:nvSpPr>
              <p:cNvPr id="35985" name="Rectangle 145">
                <a:extLst>
                  <a:ext uri="{FF2B5EF4-FFF2-40B4-BE49-F238E27FC236}">
                    <a16:creationId xmlns:a16="http://schemas.microsoft.com/office/drawing/2014/main" id="{80D9CC1B-4B93-4116-BB07-9B46318A8B13}"/>
                  </a:ext>
                </a:extLst>
              </p:cNvPr>
              <p:cNvSpPr>
                <a:spLocks noChangeArrowheads="1"/>
              </p:cNvSpPr>
              <p:nvPr/>
            </p:nvSpPr>
            <p:spPr bwMode="auto">
              <a:xfrm>
                <a:off x="384" y="2649"/>
                <a:ext cx="48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latin typeface="宋体-18030" pitchFamily="49" charset="-122"/>
                    <a:ea typeface="宋体-18030" pitchFamily="49" charset="-122"/>
                  </a:rPr>
                  <a:t>（</a:t>
                </a:r>
                <a:r>
                  <a:rPr lang="en-US" altLang="zh-CN" sz="2400" b="1" dirty="0">
                    <a:latin typeface="宋体-18030" pitchFamily="49" charset="-122"/>
                    <a:ea typeface="宋体-18030" pitchFamily="49" charset="-122"/>
                  </a:rPr>
                  <a:t>5</a:t>
                </a:r>
                <a:r>
                  <a:rPr lang="zh-CN" altLang="en-US" sz="2400" b="1" dirty="0">
                    <a:latin typeface="宋体-18030" pitchFamily="49" charset="-122"/>
                    <a:ea typeface="宋体-18030" pitchFamily="49" charset="-122"/>
                  </a:rPr>
                  <a:t>）</a:t>
                </a:r>
                <a:r>
                  <a:rPr lang="zh-CN" altLang="en-US" sz="2400" b="1" dirty="0">
                    <a:latin typeface="楷体_GB2312" pitchFamily="49" charset="-122"/>
                    <a:ea typeface="楷体_GB2312" pitchFamily="49" charset="-122"/>
                  </a:rPr>
                  <a:t>可改写成：</a:t>
                </a:r>
                <a:r>
                  <a:rPr lang="zh-CN" altLang="en-US" dirty="0"/>
                  <a:t> </a:t>
                </a:r>
              </a:p>
            </p:txBody>
          </p:sp>
          <p:graphicFrame>
            <p:nvGraphicFramePr>
              <p:cNvPr id="35986" name="Object 146">
                <a:extLst>
                  <a:ext uri="{FF2B5EF4-FFF2-40B4-BE49-F238E27FC236}">
                    <a16:creationId xmlns:a16="http://schemas.microsoft.com/office/drawing/2014/main" id="{FDD05BD5-C4F4-44BD-95DC-F10C13219307}"/>
                  </a:ext>
                </a:extLst>
              </p:cNvPr>
              <p:cNvGraphicFramePr>
                <a:graphicFrameLocks noChangeAspect="1"/>
              </p:cNvGraphicFramePr>
              <p:nvPr/>
            </p:nvGraphicFramePr>
            <p:xfrm>
              <a:off x="1263" y="2955"/>
              <a:ext cx="1233" cy="474"/>
            </p:xfrm>
            <a:graphic>
              <a:graphicData uri="http://schemas.openxmlformats.org/presentationml/2006/ole">
                <mc:AlternateContent xmlns:mc="http://schemas.openxmlformats.org/markup-compatibility/2006">
                  <mc:Choice xmlns:v="urn:schemas-microsoft-com:vml" Requires="v">
                    <p:oleObj name="Equation" r:id="rId8" imgW="1117440" imgH="431640" progId="Equation.DSMT4">
                      <p:embed/>
                    </p:oleObj>
                  </mc:Choice>
                  <mc:Fallback>
                    <p:oleObj name="Equation" r:id="rId8" imgW="1117440" imgH="431640" progId="Equation.DSMT4">
                      <p:embed/>
                      <p:pic>
                        <p:nvPicPr>
                          <p:cNvPr id="35986" name="Object 146">
                            <a:extLst>
                              <a:ext uri="{FF2B5EF4-FFF2-40B4-BE49-F238E27FC236}">
                                <a16:creationId xmlns:a16="http://schemas.microsoft.com/office/drawing/2014/main" id="{FDD05BD5-C4F4-44BD-95DC-F10C1321930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63" y="2955"/>
                            <a:ext cx="1233" cy="4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5987" name="Rectangle 147">
              <a:extLst>
                <a:ext uri="{FF2B5EF4-FFF2-40B4-BE49-F238E27FC236}">
                  <a16:creationId xmlns:a16="http://schemas.microsoft.com/office/drawing/2014/main" id="{C5883545-FFA4-49A9-A5B6-8BA30B3B0A73}"/>
                </a:ext>
              </a:extLst>
            </p:cNvPr>
            <p:cNvSpPr>
              <a:spLocks noChangeArrowheads="1"/>
            </p:cNvSpPr>
            <p:nvPr/>
          </p:nvSpPr>
          <p:spPr bwMode="auto">
            <a:xfrm>
              <a:off x="3110" y="3081"/>
              <a:ext cx="48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latin typeface="宋体" panose="02010600030101010101" pitchFamily="2" charset="-122"/>
                </a:rPr>
                <a:t>（</a:t>
              </a:r>
              <a:r>
                <a:rPr lang="en-US" altLang="zh-CN" b="1" dirty="0">
                  <a:latin typeface="Times New Roman" panose="02020603050405020304" pitchFamily="18" charset="0"/>
                  <a:cs typeface="Times New Roman" panose="02020603050405020304" pitchFamily="18" charset="0"/>
                </a:rPr>
                <a:t>6</a:t>
              </a:r>
              <a:r>
                <a:rPr lang="zh-CN" altLang="en-US" b="1" dirty="0">
                  <a:latin typeface="宋体" panose="02010600030101010101" pitchFamily="2" charset="-122"/>
                </a:rPr>
                <a:t>）</a:t>
              </a:r>
            </a:p>
          </p:txBody>
        </p:sp>
      </p:grpSp>
      <p:sp>
        <p:nvSpPr>
          <p:cNvPr id="2" name="灯片编号占位符 1">
            <a:extLst>
              <a:ext uri="{FF2B5EF4-FFF2-40B4-BE49-F238E27FC236}">
                <a16:creationId xmlns:a16="http://schemas.microsoft.com/office/drawing/2014/main" id="{97F210BC-5AE5-8AE7-08AE-9A32124E5FA8}"/>
              </a:ext>
            </a:extLst>
          </p:cNvPr>
          <p:cNvSpPr>
            <a:spLocks noGrp="1"/>
          </p:cNvSpPr>
          <p:nvPr>
            <p:ph type="sldNum" sz="quarter" idx="12"/>
          </p:nvPr>
        </p:nvSpPr>
        <p:spPr/>
        <p:txBody>
          <a:bodyPr/>
          <a:lstStyle/>
          <a:p>
            <a:fld id="{0C913308-F349-4B6D-A68A-DD1791B4A57B}" type="slidenum">
              <a:rPr lang="zh-CN" altLang="en-US" smtClean="0"/>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wipe(left)">
                                      <p:cBhvr>
                                        <p:cTn id="7" dur="500"/>
                                        <p:tgtEl>
                                          <p:spTgt spid="35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wipe(left)">
                                      <p:cBhvr>
                                        <p:cTn id="12" dur="500"/>
                                        <p:tgtEl>
                                          <p:spTgt spid="35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5844"/>
                                        </p:tgtEl>
                                        <p:attrNameLst>
                                          <p:attrName>style.visibility</p:attrName>
                                        </p:attrNameLst>
                                      </p:cBhvr>
                                      <p:to>
                                        <p:strVal val="visible"/>
                                      </p:to>
                                    </p:set>
                                    <p:anim calcmode="lin" valueType="num">
                                      <p:cBhvr additive="base">
                                        <p:cTn id="17" dur="500" fill="hold"/>
                                        <p:tgtEl>
                                          <p:spTgt spid="35844"/>
                                        </p:tgtEl>
                                        <p:attrNameLst>
                                          <p:attrName>ppt_x</p:attrName>
                                        </p:attrNameLst>
                                      </p:cBhvr>
                                      <p:tavLst>
                                        <p:tav tm="0">
                                          <p:val>
                                            <p:strVal val="#ppt_x"/>
                                          </p:val>
                                        </p:tav>
                                        <p:tav tm="100000">
                                          <p:val>
                                            <p:strVal val="#ppt_x"/>
                                          </p:val>
                                        </p:tav>
                                      </p:tavLst>
                                    </p:anim>
                                    <p:anim calcmode="lin" valueType="num">
                                      <p:cBhvr additive="base">
                                        <p:cTn id="18" dur="500" fill="hold"/>
                                        <p:tgtEl>
                                          <p:spTgt spid="3584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5848"/>
                                        </p:tgtEl>
                                        <p:attrNameLst>
                                          <p:attrName>style.visibility</p:attrName>
                                        </p:attrNameLst>
                                      </p:cBhvr>
                                      <p:to>
                                        <p:strVal val="visible"/>
                                      </p:to>
                                    </p:set>
                                    <p:animEffect transition="in" filter="blinds(horizontal)">
                                      <p:cBhvr>
                                        <p:cTn id="23" dur="500"/>
                                        <p:tgtEl>
                                          <p:spTgt spid="35848"/>
                                        </p:tgtEl>
                                      </p:cBhvr>
                                    </p:animEffect>
                                  </p:childTnLst>
                                </p:cTn>
                              </p:par>
                            </p:childTnLst>
                          </p:cTn>
                        </p:par>
                        <p:par>
                          <p:cTn id="24" fill="hold" nodeType="afterGroup">
                            <p:stCondLst>
                              <p:cond delay="500"/>
                            </p:stCondLst>
                            <p:childTnLst>
                              <p:par>
                                <p:cTn id="25" presetID="22" presetClass="entr" presetSubtype="2" fill="hold" grpId="0" nodeType="afterEffect">
                                  <p:stCondLst>
                                    <p:cond delay="0"/>
                                  </p:stCondLst>
                                  <p:childTnLst>
                                    <p:set>
                                      <p:cBhvr>
                                        <p:cTn id="26" dur="1" fill="hold">
                                          <p:stCondLst>
                                            <p:cond delay="0"/>
                                          </p:stCondLst>
                                        </p:cTn>
                                        <p:tgtEl>
                                          <p:spTgt spid="35918"/>
                                        </p:tgtEl>
                                        <p:attrNameLst>
                                          <p:attrName>style.visibility</p:attrName>
                                        </p:attrNameLst>
                                      </p:cBhvr>
                                      <p:to>
                                        <p:strVal val="visible"/>
                                      </p:to>
                                    </p:set>
                                    <p:animEffect transition="in" filter="wipe(right)">
                                      <p:cBhvr>
                                        <p:cTn id="27" dur="500"/>
                                        <p:tgtEl>
                                          <p:spTgt spid="35918"/>
                                        </p:tgtEl>
                                      </p:cBhvr>
                                    </p:animEffect>
                                  </p:childTnLst>
                                  <p:subTnLst>
                                    <p:set>
                                      <p:cBhvr override="childStyle">
                                        <p:cTn dur="1" fill="hold" display="0" masterRel="nextClick" afterEffect="1"/>
                                        <p:tgtEl>
                                          <p:spTgt spid="35918"/>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5919"/>
                                        </p:tgtEl>
                                        <p:attrNameLst>
                                          <p:attrName>style.visibility</p:attrName>
                                        </p:attrNameLst>
                                      </p:cBhvr>
                                      <p:to>
                                        <p:strVal val="visible"/>
                                      </p:to>
                                    </p:set>
                                    <p:animEffect transition="in" filter="dissolve">
                                      <p:cBhvr>
                                        <p:cTn id="32" dur="500"/>
                                        <p:tgtEl>
                                          <p:spTgt spid="35919"/>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35967"/>
                                        </p:tgtEl>
                                        <p:attrNameLst>
                                          <p:attrName>style.visibility</p:attrName>
                                        </p:attrNameLst>
                                      </p:cBhvr>
                                      <p:to>
                                        <p:strVal val="visible"/>
                                      </p:to>
                                    </p:set>
                                    <p:animEffect transition="in" filter="wipe(left)">
                                      <p:cBhvr>
                                        <p:cTn id="36" dur="500"/>
                                        <p:tgtEl>
                                          <p:spTgt spid="35967"/>
                                        </p:tgtEl>
                                      </p:cBhvr>
                                    </p:animEffect>
                                  </p:childTnLst>
                                  <p:subTnLst>
                                    <p:set>
                                      <p:cBhvr override="childStyle">
                                        <p:cTn dur="1" fill="hold" display="0" masterRel="nextClick" afterEffect="1"/>
                                        <p:tgtEl>
                                          <p:spTgt spid="35967"/>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5968"/>
                                        </p:tgtEl>
                                        <p:attrNameLst>
                                          <p:attrName>style.visibility</p:attrName>
                                        </p:attrNameLst>
                                      </p:cBhvr>
                                      <p:to>
                                        <p:strVal val="visible"/>
                                      </p:to>
                                    </p:set>
                                    <p:animEffect transition="in" filter="wipe(left)">
                                      <p:cBhvr>
                                        <p:cTn id="41" dur="500"/>
                                        <p:tgtEl>
                                          <p:spTgt spid="35968"/>
                                        </p:tgtEl>
                                      </p:cBhvr>
                                    </p:animEffect>
                                  </p:childTnLst>
                                  <p:subTnLst>
                                    <p:set>
                                      <p:cBhvr override="childStyle">
                                        <p:cTn dur="1" fill="hold" display="0" masterRel="nextClick" afterEffect="1"/>
                                        <p:tgtEl>
                                          <p:spTgt spid="35968"/>
                                        </p:tgtEl>
                                        <p:attrNameLst>
                                          <p:attrName>style.visibility</p:attrName>
                                        </p:attrNameLst>
                                      </p:cBhvr>
                                      <p:to>
                                        <p:strVal val="hidden"/>
                                      </p:to>
                                    </p:set>
                                  </p:sub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35969"/>
                                        </p:tgtEl>
                                        <p:attrNameLst>
                                          <p:attrName>style.visibility</p:attrName>
                                        </p:attrNameLst>
                                      </p:cBhvr>
                                      <p:to>
                                        <p:strVal val="visible"/>
                                      </p:to>
                                    </p:set>
                                    <p:animEffect transition="in" filter="wipe(up)">
                                      <p:cBhvr>
                                        <p:cTn id="46" dur="500"/>
                                        <p:tgtEl>
                                          <p:spTgt spid="3596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5972"/>
                                        </p:tgtEl>
                                        <p:attrNameLst>
                                          <p:attrName>style.visibility</p:attrName>
                                        </p:attrNameLst>
                                      </p:cBhvr>
                                      <p:to>
                                        <p:strVal val="visible"/>
                                      </p:to>
                                    </p:set>
                                    <p:animEffect transition="in" filter="wipe(left)">
                                      <p:cBhvr>
                                        <p:cTn id="51" dur="500"/>
                                        <p:tgtEl>
                                          <p:spTgt spid="3597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nodeType="clickEffect">
                                  <p:stCondLst>
                                    <p:cond delay="0"/>
                                  </p:stCondLst>
                                  <p:childTnLst>
                                    <p:set>
                                      <p:cBhvr>
                                        <p:cTn id="55" dur="1" fill="hold">
                                          <p:stCondLst>
                                            <p:cond delay="0"/>
                                          </p:stCondLst>
                                        </p:cTn>
                                        <p:tgtEl>
                                          <p:spTgt spid="35980"/>
                                        </p:tgtEl>
                                        <p:attrNameLst>
                                          <p:attrName>style.visibility</p:attrName>
                                        </p:attrNameLst>
                                      </p:cBhvr>
                                      <p:to>
                                        <p:strVal val="visible"/>
                                      </p:to>
                                    </p:set>
                                    <p:anim calcmode="lin" valueType="num">
                                      <p:cBhvr additive="base">
                                        <p:cTn id="56" dur="500" fill="hold"/>
                                        <p:tgtEl>
                                          <p:spTgt spid="35980"/>
                                        </p:tgtEl>
                                        <p:attrNameLst>
                                          <p:attrName>ppt_x</p:attrName>
                                        </p:attrNameLst>
                                      </p:cBhvr>
                                      <p:tavLst>
                                        <p:tav tm="0">
                                          <p:val>
                                            <p:strVal val="#ppt_x"/>
                                          </p:val>
                                        </p:tav>
                                        <p:tav tm="100000">
                                          <p:val>
                                            <p:strVal val="#ppt_x"/>
                                          </p:val>
                                        </p:tav>
                                      </p:tavLst>
                                    </p:anim>
                                    <p:anim calcmode="lin" valueType="num">
                                      <p:cBhvr additive="base">
                                        <p:cTn id="57" dur="500" fill="hold"/>
                                        <p:tgtEl>
                                          <p:spTgt spid="35980"/>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xit" presetSubtype="4" fill="hold" nodeType="clickEffect">
                                  <p:stCondLst>
                                    <p:cond delay="0"/>
                                  </p:stCondLst>
                                  <p:childTnLst>
                                    <p:anim calcmode="lin" valueType="num">
                                      <p:cBhvr additive="base">
                                        <p:cTn id="61" dur="500"/>
                                        <p:tgtEl>
                                          <p:spTgt spid="35980"/>
                                        </p:tgtEl>
                                        <p:attrNameLst>
                                          <p:attrName>ppt_x</p:attrName>
                                        </p:attrNameLst>
                                      </p:cBhvr>
                                      <p:tavLst>
                                        <p:tav tm="0">
                                          <p:val>
                                            <p:strVal val="ppt_x"/>
                                          </p:val>
                                        </p:tav>
                                        <p:tav tm="100000">
                                          <p:val>
                                            <p:strVal val="ppt_x"/>
                                          </p:val>
                                        </p:tav>
                                      </p:tavLst>
                                    </p:anim>
                                    <p:anim calcmode="lin" valueType="num">
                                      <p:cBhvr additive="base">
                                        <p:cTn id="62" dur="500"/>
                                        <p:tgtEl>
                                          <p:spTgt spid="35980"/>
                                        </p:tgtEl>
                                        <p:attrNameLst>
                                          <p:attrName>ppt_y</p:attrName>
                                        </p:attrNameLst>
                                      </p:cBhvr>
                                      <p:tavLst>
                                        <p:tav tm="0">
                                          <p:val>
                                            <p:strVal val="ppt_y"/>
                                          </p:val>
                                        </p:tav>
                                        <p:tav tm="100000">
                                          <p:val>
                                            <p:strVal val="1+ppt_h/2"/>
                                          </p:val>
                                        </p:tav>
                                      </p:tavLst>
                                    </p:anim>
                                    <p:set>
                                      <p:cBhvr>
                                        <p:cTn id="63" dur="1" fill="hold">
                                          <p:stCondLst>
                                            <p:cond delay="499"/>
                                          </p:stCondLst>
                                        </p:cTn>
                                        <p:tgtEl>
                                          <p:spTgt spid="35980"/>
                                        </p:tgtEl>
                                        <p:attrNameLst>
                                          <p:attrName>style.visibility</p:attrName>
                                        </p:attrNameLst>
                                      </p:cBhvr>
                                      <p:to>
                                        <p:strVal val="hidden"/>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nodeType="clickEffect">
                                  <p:stCondLst>
                                    <p:cond delay="0"/>
                                  </p:stCondLst>
                                  <p:childTnLst>
                                    <p:set>
                                      <p:cBhvr>
                                        <p:cTn id="67" dur="1" fill="hold">
                                          <p:stCondLst>
                                            <p:cond delay="0"/>
                                          </p:stCondLst>
                                        </p:cTn>
                                        <p:tgtEl>
                                          <p:spTgt spid="35983"/>
                                        </p:tgtEl>
                                        <p:attrNameLst>
                                          <p:attrName>style.visibility</p:attrName>
                                        </p:attrNameLst>
                                      </p:cBhvr>
                                      <p:to>
                                        <p:strVal val="visible"/>
                                      </p:to>
                                    </p:set>
                                    <p:animEffect transition="in" filter="wipe(up)">
                                      <p:cBhvr>
                                        <p:cTn id="68" dur="500"/>
                                        <p:tgtEl>
                                          <p:spTgt spid="3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p:bldP spid="35918" grpId="0" animBg="1" autoUpdateAnimBg="0"/>
      <p:bldP spid="35967" grpId="0" animBg="1" autoUpdateAnimBg="0"/>
      <p:bldP spid="35968"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93" name="Group 25">
            <a:extLst>
              <a:ext uri="{FF2B5EF4-FFF2-40B4-BE49-F238E27FC236}">
                <a16:creationId xmlns:a16="http://schemas.microsoft.com/office/drawing/2014/main" id="{9A80BE03-1039-42C7-A909-8AD890B287C4}"/>
              </a:ext>
            </a:extLst>
          </p:cNvPr>
          <p:cNvGrpSpPr>
            <a:grpSpLocks/>
          </p:cNvGrpSpPr>
          <p:nvPr/>
        </p:nvGrpSpPr>
        <p:grpSpPr bwMode="auto">
          <a:xfrm>
            <a:off x="609600" y="188913"/>
            <a:ext cx="6629400" cy="968375"/>
            <a:chOff x="384" y="119"/>
            <a:chExt cx="4176" cy="610"/>
          </a:xfrm>
        </p:grpSpPr>
        <p:sp>
          <p:nvSpPr>
            <p:cNvPr id="7174" name="Rectangle 6">
              <a:extLst>
                <a:ext uri="{FF2B5EF4-FFF2-40B4-BE49-F238E27FC236}">
                  <a16:creationId xmlns:a16="http://schemas.microsoft.com/office/drawing/2014/main" id="{CB53D633-6D71-4C2A-80E5-E40BB1D503B2}"/>
                </a:ext>
              </a:extLst>
            </p:cNvPr>
            <p:cNvSpPr>
              <a:spLocks noChangeArrowheads="1"/>
            </p:cNvSpPr>
            <p:nvPr/>
          </p:nvSpPr>
          <p:spPr bwMode="auto">
            <a:xfrm>
              <a:off x="384" y="240"/>
              <a:ext cx="4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dirty="0">
                  <a:latin typeface="楷体_GB2312" pitchFamily="49" charset="-122"/>
                  <a:ea typeface="楷体_GB2312" pitchFamily="49" charset="-122"/>
                </a:rPr>
                <a:t>对</a:t>
              </a:r>
              <a:r>
                <a:rPr lang="zh-CN" altLang="en-US" sz="2400" b="1" dirty="0">
                  <a:latin typeface="宋体-18030" pitchFamily="49" charset="-122"/>
                  <a:ea typeface="宋体-18030" pitchFamily="49" charset="-122"/>
                </a:rPr>
                <a:t>（</a:t>
              </a:r>
              <a:r>
                <a:rPr lang="en-US" altLang="zh-CN" sz="2400" b="1" dirty="0">
                  <a:latin typeface="宋体-18030" pitchFamily="49" charset="-122"/>
                  <a:ea typeface="宋体-18030" pitchFamily="49" charset="-122"/>
                </a:rPr>
                <a:t>6</a:t>
              </a:r>
              <a:r>
                <a:rPr lang="zh-CN" altLang="en-US" sz="2400" b="1" dirty="0">
                  <a:latin typeface="宋体-18030" pitchFamily="49" charset="-122"/>
                  <a:ea typeface="宋体-18030" pitchFamily="49" charset="-122"/>
                </a:rPr>
                <a:t>）</a:t>
              </a:r>
              <a:r>
                <a:rPr lang="zh-CN" altLang="en-US" sz="2400" b="1" dirty="0">
                  <a:latin typeface="楷体_GB2312" pitchFamily="49" charset="-122"/>
                  <a:ea typeface="楷体_GB2312" pitchFamily="49" charset="-122"/>
                </a:rPr>
                <a:t>分离变量：</a:t>
              </a:r>
            </a:p>
          </p:txBody>
        </p:sp>
        <p:graphicFrame>
          <p:nvGraphicFramePr>
            <p:cNvPr id="7175" name="Object 7">
              <a:extLst>
                <a:ext uri="{FF2B5EF4-FFF2-40B4-BE49-F238E27FC236}">
                  <a16:creationId xmlns:a16="http://schemas.microsoft.com/office/drawing/2014/main" id="{05DF1CDB-AF5F-48C2-8493-41F24144CB57}"/>
                </a:ext>
              </a:extLst>
            </p:cNvPr>
            <p:cNvGraphicFramePr>
              <a:graphicFrameLocks noChangeAspect="1"/>
            </p:cNvGraphicFramePr>
            <p:nvPr/>
          </p:nvGraphicFramePr>
          <p:xfrm>
            <a:off x="2423" y="119"/>
            <a:ext cx="1814" cy="610"/>
          </p:xfrm>
          <a:graphic>
            <a:graphicData uri="http://schemas.openxmlformats.org/presentationml/2006/ole">
              <mc:AlternateContent xmlns:mc="http://schemas.openxmlformats.org/markup-compatibility/2006">
                <mc:Choice xmlns:v="urn:schemas-microsoft-com:vml" Requires="v">
                  <p:oleObj name="Equation" r:id="rId2" imgW="1422360" imgH="482400" progId="Equation.DSMT4">
                    <p:embed/>
                  </p:oleObj>
                </mc:Choice>
                <mc:Fallback>
                  <p:oleObj name="Equation" r:id="rId2" imgW="1422360" imgH="482400" progId="Equation.DSMT4">
                    <p:embed/>
                    <p:pic>
                      <p:nvPicPr>
                        <p:cNvPr id="7175" name="Object 7">
                          <a:extLst>
                            <a:ext uri="{FF2B5EF4-FFF2-40B4-BE49-F238E27FC236}">
                              <a16:creationId xmlns:a16="http://schemas.microsoft.com/office/drawing/2014/main" id="{05DF1CDB-AF5F-48C2-8493-41F24144C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 y="119"/>
                          <a:ext cx="1814" cy="6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194" name="Group 26">
            <a:extLst>
              <a:ext uri="{FF2B5EF4-FFF2-40B4-BE49-F238E27FC236}">
                <a16:creationId xmlns:a16="http://schemas.microsoft.com/office/drawing/2014/main" id="{A0318677-4A7C-4CED-B13D-BB49DB89868A}"/>
              </a:ext>
            </a:extLst>
          </p:cNvPr>
          <p:cNvGrpSpPr>
            <a:grpSpLocks/>
          </p:cNvGrpSpPr>
          <p:nvPr/>
        </p:nvGrpSpPr>
        <p:grpSpPr bwMode="auto">
          <a:xfrm>
            <a:off x="609600" y="1179513"/>
            <a:ext cx="6629400" cy="809625"/>
            <a:chOff x="384" y="743"/>
            <a:chExt cx="4176" cy="510"/>
          </a:xfrm>
        </p:grpSpPr>
        <p:sp>
          <p:nvSpPr>
            <p:cNvPr id="7177" name="Rectangle 9">
              <a:extLst>
                <a:ext uri="{FF2B5EF4-FFF2-40B4-BE49-F238E27FC236}">
                  <a16:creationId xmlns:a16="http://schemas.microsoft.com/office/drawing/2014/main" id="{ECA6B0C3-08E8-486B-9434-8656094840A1}"/>
                </a:ext>
              </a:extLst>
            </p:cNvPr>
            <p:cNvSpPr>
              <a:spLocks noChangeArrowheads="1"/>
            </p:cNvSpPr>
            <p:nvPr/>
          </p:nvSpPr>
          <p:spPr bwMode="auto">
            <a:xfrm>
              <a:off x="384" y="816"/>
              <a:ext cx="4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latin typeface="楷体_GB2312" pitchFamily="49" charset="-122"/>
                  <a:ea typeface="楷体_GB2312" pitchFamily="49" charset="-122"/>
                </a:rPr>
                <a:t>两边积分并整理得： </a:t>
              </a:r>
            </a:p>
          </p:txBody>
        </p:sp>
        <p:graphicFrame>
          <p:nvGraphicFramePr>
            <p:cNvPr id="7178" name="Object 10">
              <a:extLst>
                <a:ext uri="{FF2B5EF4-FFF2-40B4-BE49-F238E27FC236}">
                  <a16:creationId xmlns:a16="http://schemas.microsoft.com/office/drawing/2014/main" id="{DF055FFD-F915-42A9-B728-DB53D43BB8A9}"/>
                </a:ext>
              </a:extLst>
            </p:cNvPr>
            <p:cNvGraphicFramePr>
              <a:graphicFrameLocks noChangeAspect="1"/>
            </p:cNvGraphicFramePr>
            <p:nvPr/>
          </p:nvGraphicFramePr>
          <p:xfrm>
            <a:off x="2443" y="743"/>
            <a:ext cx="1047" cy="510"/>
          </p:xfrm>
          <a:graphic>
            <a:graphicData uri="http://schemas.openxmlformats.org/presentationml/2006/ole">
              <mc:AlternateContent xmlns:mc="http://schemas.openxmlformats.org/markup-compatibility/2006">
                <mc:Choice xmlns:v="urn:schemas-microsoft-com:vml" Requires="v">
                  <p:oleObj name="Equation" r:id="rId4" imgW="825480" imgH="406080" progId="Equation.DSMT4">
                    <p:embed/>
                  </p:oleObj>
                </mc:Choice>
                <mc:Fallback>
                  <p:oleObj name="Equation" r:id="rId4" imgW="825480" imgH="406080" progId="Equation.DSMT4">
                    <p:embed/>
                    <p:pic>
                      <p:nvPicPr>
                        <p:cNvPr id="7178" name="Object 10">
                          <a:extLst>
                            <a:ext uri="{FF2B5EF4-FFF2-40B4-BE49-F238E27FC236}">
                              <a16:creationId xmlns:a16="http://schemas.microsoft.com/office/drawing/2014/main" id="{DF055FFD-F915-42A9-B728-DB53D43BB8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3" y="743"/>
                          <a:ext cx="1047" cy="5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192" name="Group 24">
            <a:extLst>
              <a:ext uri="{FF2B5EF4-FFF2-40B4-BE49-F238E27FC236}">
                <a16:creationId xmlns:a16="http://schemas.microsoft.com/office/drawing/2014/main" id="{3EFEB87C-0F45-4C76-B9AA-91DAD8166C4E}"/>
              </a:ext>
            </a:extLst>
          </p:cNvPr>
          <p:cNvGrpSpPr>
            <a:grpSpLocks/>
          </p:cNvGrpSpPr>
          <p:nvPr/>
        </p:nvGrpSpPr>
        <p:grpSpPr bwMode="auto">
          <a:xfrm>
            <a:off x="609600" y="2063750"/>
            <a:ext cx="6629400" cy="766763"/>
            <a:chOff x="384" y="1300"/>
            <a:chExt cx="4176" cy="483"/>
          </a:xfrm>
        </p:grpSpPr>
        <p:sp>
          <p:nvSpPr>
            <p:cNvPr id="7180" name="Rectangle 12">
              <a:extLst>
                <a:ext uri="{FF2B5EF4-FFF2-40B4-BE49-F238E27FC236}">
                  <a16:creationId xmlns:a16="http://schemas.microsoft.com/office/drawing/2014/main" id="{A6530CCD-28BF-487D-989F-CC20C3050D32}"/>
                </a:ext>
              </a:extLst>
            </p:cNvPr>
            <p:cNvSpPr>
              <a:spLocks noChangeArrowheads="1"/>
            </p:cNvSpPr>
            <p:nvPr/>
          </p:nvSpPr>
          <p:spPr bwMode="auto">
            <a:xfrm>
              <a:off x="384" y="1344"/>
              <a:ext cx="4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a:latin typeface="Times New Roman" panose="02020603050405020304" pitchFamily="18" charset="0"/>
                  <a:ea typeface="楷体_GB2312" pitchFamily="49" charset="-122"/>
                </a:rPr>
                <a:t>令</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(0)=</a:t>
              </a:r>
              <a:r>
                <a:rPr lang="en-US" altLang="zh-CN" sz="2400" b="1" i="1">
                  <a:latin typeface="Times New Roman" panose="02020603050405020304" pitchFamily="18" charset="0"/>
                  <a:ea typeface="楷体_GB2312" pitchFamily="49" charset="-122"/>
                </a:rPr>
                <a:t>x</a:t>
              </a:r>
              <a:r>
                <a:rPr lang="en-US" altLang="zh-CN" sz="2400" b="1" baseline="-30000">
                  <a:latin typeface="Times New Roman" panose="02020603050405020304" pitchFamily="18" charset="0"/>
                  <a:ea typeface="楷体_GB2312" pitchFamily="49" charset="-122"/>
                </a:rPr>
                <a:t>0</a:t>
              </a:r>
              <a:r>
                <a:rPr lang="zh-CN" altLang="en-US" sz="2400" b="1">
                  <a:latin typeface="Times New Roman" panose="02020603050405020304" pitchFamily="18" charset="0"/>
                  <a:ea typeface="楷体_GB2312" pitchFamily="49" charset="-122"/>
                </a:rPr>
                <a:t>，求得： </a:t>
              </a:r>
            </a:p>
          </p:txBody>
        </p:sp>
        <p:graphicFrame>
          <p:nvGraphicFramePr>
            <p:cNvPr id="7181" name="Object 13">
              <a:extLst>
                <a:ext uri="{FF2B5EF4-FFF2-40B4-BE49-F238E27FC236}">
                  <a16:creationId xmlns:a16="http://schemas.microsoft.com/office/drawing/2014/main" id="{FF9DDE1B-A8E5-485A-8A5E-62364CDE3702}"/>
                </a:ext>
              </a:extLst>
            </p:cNvPr>
            <p:cNvGraphicFramePr>
              <a:graphicFrameLocks noChangeAspect="1"/>
            </p:cNvGraphicFramePr>
            <p:nvPr/>
          </p:nvGraphicFramePr>
          <p:xfrm>
            <a:off x="2367" y="1300"/>
            <a:ext cx="1468" cy="483"/>
          </p:xfrm>
          <a:graphic>
            <a:graphicData uri="http://schemas.openxmlformats.org/presentationml/2006/ole">
              <mc:AlternateContent xmlns:mc="http://schemas.openxmlformats.org/markup-compatibility/2006">
                <mc:Choice xmlns:v="urn:schemas-microsoft-com:vml" Requires="v">
                  <p:oleObj name="Equation" r:id="rId6" imgW="1358640" imgH="444240" progId="Equation.DSMT4">
                    <p:embed/>
                  </p:oleObj>
                </mc:Choice>
                <mc:Fallback>
                  <p:oleObj name="Equation" r:id="rId6" imgW="1358640" imgH="444240" progId="Equation.DSMT4">
                    <p:embed/>
                    <p:pic>
                      <p:nvPicPr>
                        <p:cNvPr id="7181" name="Object 13">
                          <a:extLst>
                            <a:ext uri="{FF2B5EF4-FFF2-40B4-BE49-F238E27FC236}">
                              <a16:creationId xmlns:a16="http://schemas.microsoft.com/office/drawing/2014/main" id="{FF9DDE1B-A8E5-485A-8A5E-62364CDE37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7" y="1300"/>
                          <a:ext cx="1468" cy="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195" name="Group 27">
            <a:extLst>
              <a:ext uri="{FF2B5EF4-FFF2-40B4-BE49-F238E27FC236}">
                <a16:creationId xmlns:a16="http://schemas.microsoft.com/office/drawing/2014/main" id="{62C3E0AD-CB26-48D6-907D-28B5238C63B2}"/>
              </a:ext>
            </a:extLst>
          </p:cNvPr>
          <p:cNvGrpSpPr>
            <a:grpSpLocks/>
          </p:cNvGrpSpPr>
          <p:nvPr/>
        </p:nvGrpSpPr>
        <p:grpSpPr bwMode="auto">
          <a:xfrm>
            <a:off x="609600" y="2797175"/>
            <a:ext cx="7323138" cy="1568450"/>
            <a:chOff x="384" y="1762"/>
            <a:chExt cx="4613" cy="988"/>
          </a:xfrm>
        </p:grpSpPr>
        <p:sp>
          <p:nvSpPr>
            <p:cNvPr id="7183" name="Rectangle 15">
              <a:extLst>
                <a:ext uri="{FF2B5EF4-FFF2-40B4-BE49-F238E27FC236}">
                  <a16:creationId xmlns:a16="http://schemas.microsoft.com/office/drawing/2014/main" id="{0635B30A-CD58-4766-A8EA-5DDD51D6ED85}"/>
                </a:ext>
              </a:extLst>
            </p:cNvPr>
            <p:cNvSpPr>
              <a:spLocks noChangeArrowheads="1"/>
            </p:cNvSpPr>
            <p:nvPr/>
          </p:nvSpPr>
          <p:spPr bwMode="auto">
            <a:xfrm>
              <a:off x="384" y="1762"/>
              <a:ext cx="4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2400" b="1" dirty="0">
                  <a:latin typeface="Times New Roman" panose="02020603050405020304" pitchFamily="18" charset="0"/>
                  <a:ea typeface="楷体_GB2312" pitchFamily="49" charset="-122"/>
                </a:rPr>
                <a:t>故</a:t>
              </a:r>
              <a:r>
                <a:rPr lang="zh-CN" altLang="en-US" sz="2400" b="1" dirty="0">
                  <a:latin typeface="宋体-18030" pitchFamily="49" charset="-122"/>
                  <a:ea typeface="宋体-18030" pitchFamily="49" charset="-122"/>
                </a:rPr>
                <a:t>（</a:t>
              </a:r>
              <a:r>
                <a:rPr lang="en-US" altLang="zh-CN" sz="2400" b="1" dirty="0">
                  <a:latin typeface="宋体-18030" pitchFamily="49" charset="-122"/>
                  <a:ea typeface="宋体-18030" pitchFamily="49" charset="-122"/>
                </a:rPr>
                <a:t>6</a:t>
              </a:r>
              <a:r>
                <a:rPr lang="zh-CN" altLang="en-US" sz="2400" b="1" dirty="0">
                  <a:latin typeface="宋体-18030" pitchFamily="49" charset="-122"/>
                  <a:ea typeface="宋体-18030" pitchFamily="49" charset="-122"/>
                </a:rPr>
                <a:t>）</a:t>
              </a:r>
              <a:r>
                <a:rPr lang="zh-CN" altLang="en-US" sz="2400" b="1" dirty="0">
                  <a:latin typeface="Times New Roman" panose="02020603050405020304" pitchFamily="18" charset="0"/>
                  <a:ea typeface="楷体_GB2312" pitchFamily="49" charset="-122"/>
                </a:rPr>
                <a:t>的满足初始条件</a:t>
              </a:r>
              <a:r>
                <a:rPr lang="en-US" altLang="zh-CN" sz="2400" b="1" i="1" dirty="0">
                  <a:latin typeface="Times New Roman" panose="02020603050405020304" pitchFamily="18" charset="0"/>
                  <a:ea typeface="楷体_GB2312" pitchFamily="49" charset="-122"/>
                </a:rPr>
                <a:t>x</a:t>
              </a:r>
              <a:r>
                <a:rPr lang="en-US" altLang="zh-CN" sz="2400" b="1" dirty="0">
                  <a:latin typeface="Times New Roman" panose="02020603050405020304" pitchFamily="18" charset="0"/>
                  <a:ea typeface="楷体_GB2312" pitchFamily="49" charset="-122"/>
                </a:rPr>
                <a:t>(0)=</a:t>
              </a:r>
              <a:r>
                <a:rPr lang="en-US" altLang="zh-CN" sz="2400" b="1" i="1" dirty="0">
                  <a:latin typeface="Times New Roman" panose="02020603050405020304" pitchFamily="18" charset="0"/>
                  <a:ea typeface="楷体_GB2312" pitchFamily="49" charset="-122"/>
                </a:rPr>
                <a:t>x</a:t>
              </a:r>
              <a:r>
                <a:rPr lang="en-US" altLang="zh-CN" sz="2400" b="1" baseline="-30000" dirty="0">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的解为： </a:t>
              </a:r>
            </a:p>
          </p:txBody>
        </p:sp>
        <p:graphicFrame>
          <p:nvGraphicFramePr>
            <p:cNvPr id="7184" name="Object 16">
              <a:extLst>
                <a:ext uri="{FF2B5EF4-FFF2-40B4-BE49-F238E27FC236}">
                  <a16:creationId xmlns:a16="http://schemas.microsoft.com/office/drawing/2014/main" id="{A6B3DB11-C1E8-4E65-9DD3-BA53C2C03CFE}"/>
                </a:ext>
              </a:extLst>
            </p:cNvPr>
            <p:cNvGraphicFramePr>
              <a:graphicFrameLocks noChangeAspect="1"/>
            </p:cNvGraphicFramePr>
            <p:nvPr/>
          </p:nvGraphicFramePr>
          <p:xfrm>
            <a:off x="1973" y="2095"/>
            <a:ext cx="1428" cy="655"/>
          </p:xfrm>
          <a:graphic>
            <a:graphicData uri="http://schemas.openxmlformats.org/presentationml/2006/ole">
              <mc:AlternateContent xmlns:mc="http://schemas.openxmlformats.org/markup-compatibility/2006">
                <mc:Choice xmlns:v="urn:schemas-microsoft-com:vml" Requires="v">
                  <p:oleObj name="Equation" r:id="rId8" imgW="1384200" imgH="634680" progId="Equation.DSMT4">
                    <p:embed/>
                  </p:oleObj>
                </mc:Choice>
                <mc:Fallback>
                  <p:oleObj name="Equation" r:id="rId8" imgW="1384200" imgH="634680" progId="Equation.DSMT4">
                    <p:embed/>
                    <p:pic>
                      <p:nvPicPr>
                        <p:cNvPr id="7184" name="Object 16">
                          <a:extLst>
                            <a:ext uri="{FF2B5EF4-FFF2-40B4-BE49-F238E27FC236}">
                              <a16:creationId xmlns:a16="http://schemas.microsoft.com/office/drawing/2014/main" id="{A6B3DB11-C1E8-4E65-9DD3-BA53C2C03C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3" y="2095"/>
                          <a:ext cx="1428" cy="6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5" name="Rectangle 17">
              <a:extLst>
                <a:ext uri="{FF2B5EF4-FFF2-40B4-BE49-F238E27FC236}">
                  <a16:creationId xmlns:a16="http://schemas.microsoft.com/office/drawing/2014/main" id="{59DD18A4-B80B-4652-BECB-1FE59E40347D}"/>
                </a:ext>
              </a:extLst>
            </p:cNvPr>
            <p:cNvSpPr>
              <a:spLocks noChangeArrowheads="1"/>
            </p:cNvSpPr>
            <p:nvPr/>
          </p:nvSpPr>
          <p:spPr bwMode="auto">
            <a:xfrm>
              <a:off x="4396" y="2160"/>
              <a:ext cx="6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latin typeface="宋体" panose="02010600030101010101" pitchFamily="2" charset="-122"/>
                </a:rPr>
                <a:t>（</a:t>
              </a:r>
              <a:r>
                <a:rPr lang="en-US" altLang="zh-CN" sz="2400" dirty="0">
                  <a:latin typeface="Times New Roman" panose="02020603050405020304" pitchFamily="18" charset="0"/>
                  <a:cs typeface="Times New Roman" panose="02020603050405020304" pitchFamily="18" charset="0"/>
                </a:rPr>
                <a:t>7</a:t>
              </a:r>
              <a:r>
                <a:rPr lang="zh-CN" altLang="en-US" sz="2400" dirty="0">
                  <a:latin typeface="宋体" panose="02010600030101010101" pitchFamily="2" charset="-122"/>
                </a:rPr>
                <a:t>）</a:t>
              </a:r>
            </a:p>
          </p:txBody>
        </p:sp>
      </p:grpSp>
      <p:grpSp>
        <p:nvGrpSpPr>
          <p:cNvPr id="7196" name="Group 28">
            <a:extLst>
              <a:ext uri="{FF2B5EF4-FFF2-40B4-BE49-F238E27FC236}">
                <a16:creationId xmlns:a16="http://schemas.microsoft.com/office/drawing/2014/main" id="{EFB83532-BF7C-441B-809C-EF38A2FF8F05}"/>
              </a:ext>
            </a:extLst>
          </p:cNvPr>
          <p:cNvGrpSpPr>
            <a:grpSpLocks/>
          </p:cNvGrpSpPr>
          <p:nvPr/>
        </p:nvGrpSpPr>
        <p:grpSpPr bwMode="auto">
          <a:xfrm>
            <a:off x="609600" y="4525963"/>
            <a:ext cx="3025775" cy="558800"/>
            <a:chOff x="384" y="2851"/>
            <a:chExt cx="1906" cy="352"/>
          </a:xfrm>
        </p:grpSpPr>
        <p:sp>
          <p:nvSpPr>
            <p:cNvPr id="7187" name="Text Box 19">
              <a:extLst>
                <a:ext uri="{FF2B5EF4-FFF2-40B4-BE49-F238E27FC236}">
                  <a16:creationId xmlns:a16="http://schemas.microsoft.com/office/drawing/2014/main" id="{BC96FD32-B3B9-4966-AA39-775732391541}"/>
                </a:ext>
              </a:extLst>
            </p:cNvPr>
            <p:cNvSpPr txBox="1">
              <a:spLocks noChangeArrowheads="1"/>
            </p:cNvSpPr>
            <p:nvPr/>
          </p:nvSpPr>
          <p:spPr bwMode="auto">
            <a:xfrm>
              <a:off x="384" y="2870"/>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楷体_GB2312" pitchFamily="49" charset="-122"/>
                  <a:ea typeface="楷体_GB2312" pitchFamily="49" charset="-122"/>
                </a:rPr>
                <a:t>易见： </a:t>
              </a:r>
            </a:p>
          </p:txBody>
        </p:sp>
        <p:graphicFrame>
          <p:nvGraphicFramePr>
            <p:cNvPr id="7190" name="Object 22">
              <a:extLst>
                <a:ext uri="{FF2B5EF4-FFF2-40B4-BE49-F238E27FC236}">
                  <a16:creationId xmlns:a16="http://schemas.microsoft.com/office/drawing/2014/main" id="{5C556369-8BF3-454E-9D65-E25D81523B67}"/>
                </a:ext>
              </a:extLst>
            </p:cNvPr>
            <p:cNvGraphicFramePr>
              <a:graphicFrameLocks noChangeAspect="1"/>
            </p:cNvGraphicFramePr>
            <p:nvPr/>
          </p:nvGraphicFramePr>
          <p:xfrm>
            <a:off x="1156" y="2851"/>
            <a:ext cx="1134" cy="352"/>
          </p:xfrm>
          <a:graphic>
            <a:graphicData uri="http://schemas.openxmlformats.org/presentationml/2006/ole">
              <mc:AlternateContent xmlns:mc="http://schemas.openxmlformats.org/markup-compatibility/2006">
                <mc:Choice xmlns:v="urn:schemas-microsoft-com:vml" Requires="v">
                  <p:oleObj name="Equation" r:id="rId10" imgW="888840" imgH="279360" progId="Equation.DSMT4">
                    <p:embed/>
                  </p:oleObj>
                </mc:Choice>
                <mc:Fallback>
                  <p:oleObj name="Equation" r:id="rId10" imgW="888840" imgH="279360" progId="Equation.DSMT4">
                    <p:embed/>
                    <p:pic>
                      <p:nvPicPr>
                        <p:cNvPr id="7190" name="Object 22">
                          <a:extLst>
                            <a:ext uri="{FF2B5EF4-FFF2-40B4-BE49-F238E27FC236}">
                              <a16:creationId xmlns:a16="http://schemas.microsoft.com/office/drawing/2014/main" id="{5C556369-8BF3-454E-9D65-E25D81523B6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6" y="2851"/>
                          <a:ext cx="1134" cy="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灯片编号占位符 1">
            <a:extLst>
              <a:ext uri="{FF2B5EF4-FFF2-40B4-BE49-F238E27FC236}">
                <a16:creationId xmlns:a16="http://schemas.microsoft.com/office/drawing/2014/main" id="{B234D040-F351-28A7-7562-42F8DC8C8DFA}"/>
              </a:ext>
            </a:extLst>
          </p:cNvPr>
          <p:cNvSpPr>
            <a:spLocks noGrp="1"/>
          </p:cNvSpPr>
          <p:nvPr>
            <p:ph type="sldNum" sz="quarter" idx="12"/>
          </p:nvPr>
        </p:nvSpPr>
        <p:spPr/>
        <p:txBody>
          <a:bodyPr/>
          <a:lstStyle/>
          <a:p>
            <a:fld id="{0C913308-F349-4B6D-A68A-DD1791B4A57B}" type="slidenum">
              <a:rPr lang="zh-CN" altLang="en-US" smtClean="0"/>
              <a:t>12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94"/>
                                        </p:tgtEl>
                                        <p:attrNameLst>
                                          <p:attrName>style.visibility</p:attrName>
                                        </p:attrNameLst>
                                      </p:cBhvr>
                                      <p:to>
                                        <p:strVal val="visible"/>
                                      </p:to>
                                    </p:set>
                                    <p:anim calcmode="lin" valueType="num">
                                      <p:cBhvr additive="base">
                                        <p:cTn id="7" dur="500" fill="hold"/>
                                        <p:tgtEl>
                                          <p:spTgt spid="7194"/>
                                        </p:tgtEl>
                                        <p:attrNameLst>
                                          <p:attrName>ppt_x</p:attrName>
                                        </p:attrNameLst>
                                      </p:cBhvr>
                                      <p:tavLst>
                                        <p:tav tm="0">
                                          <p:val>
                                            <p:strVal val="#ppt_x"/>
                                          </p:val>
                                        </p:tav>
                                        <p:tav tm="100000">
                                          <p:val>
                                            <p:strVal val="#ppt_x"/>
                                          </p:val>
                                        </p:tav>
                                      </p:tavLst>
                                    </p:anim>
                                    <p:anim calcmode="lin" valueType="num">
                                      <p:cBhvr additive="base">
                                        <p:cTn id="8" dur="500" fill="hold"/>
                                        <p:tgtEl>
                                          <p:spTgt spid="71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92"/>
                                        </p:tgtEl>
                                        <p:attrNameLst>
                                          <p:attrName>style.visibility</p:attrName>
                                        </p:attrNameLst>
                                      </p:cBhvr>
                                      <p:to>
                                        <p:strVal val="visible"/>
                                      </p:to>
                                    </p:set>
                                    <p:anim calcmode="lin" valueType="num">
                                      <p:cBhvr additive="base">
                                        <p:cTn id="13" dur="500" fill="hold"/>
                                        <p:tgtEl>
                                          <p:spTgt spid="7192"/>
                                        </p:tgtEl>
                                        <p:attrNameLst>
                                          <p:attrName>ppt_x</p:attrName>
                                        </p:attrNameLst>
                                      </p:cBhvr>
                                      <p:tavLst>
                                        <p:tav tm="0">
                                          <p:val>
                                            <p:strVal val="#ppt_x"/>
                                          </p:val>
                                        </p:tav>
                                        <p:tav tm="100000">
                                          <p:val>
                                            <p:strVal val="#ppt_x"/>
                                          </p:val>
                                        </p:tav>
                                      </p:tavLst>
                                    </p:anim>
                                    <p:anim calcmode="lin" valueType="num">
                                      <p:cBhvr additive="base">
                                        <p:cTn id="14" dur="500" fill="hold"/>
                                        <p:tgtEl>
                                          <p:spTgt spid="719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195"/>
                                        </p:tgtEl>
                                        <p:attrNameLst>
                                          <p:attrName>style.visibility</p:attrName>
                                        </p:attrNameLst>
                                      </p:cBhvr>
                                      <p:to>
                                        <p:strVal val="visible"/>
                                      </p:to>
                                    </p:set>
                                    <p:anim calcmode="lin" valueType="num">
                                      <p:cBhvr additive="base">
                                        <p:cTn id="19" dur="500" fill="hold"/>
                                        <p:tgtEl>
                                          <p:spTgt spid="7195"/>
                                        </p:tgtEl>
                                        <p:attrNameLst>
                                          <p:attrName>ppt_x</p:attrName>
                                        </p:attrNameLst>
                                      </p:cBhvr>
                                      <p:tavLst>
                                        <p:tav tm="0">
                                          <p:val>
                                            <p:strVal val="#ppt_x"/>
                                          </p:val>
                                        </p:tav>
                                        <p:tav tm="100000">
                                          <p:val>
                                            <p:strVal val="#ppt_x"/>
                                          </p:val>
                                        </p:tav>
                                      </p:tavLst>
                                    </p:anim>
                                    <p:anim calcmode="lin" valueType="num">
                                      <p:cBhvr additive="base">
                                        <p:cTn id="20" dur="500" fill="hold"/>
                                        <p:tgtEl>
                                          <p:spTgt spid="719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96"/>
                                        </p:tgtEl>
                                        <p:attrNameLst>
                                          <p:attrName>style.visibility</p:attrName>
                                        </p:attrNameLst>
                                      </p:cBhvr>
                                      <p:to>
                                        <p:strVal val="visible"/>
                                      </p:to>
                                    </p:set>
                                    <p:anim calcmode="lin" valueType="num">
                                      <p:cBhvr additive="base">
                                        <p:cTn id="25" dur="500" fill="hold"/>
                                        <p:tgtEl>
                                          <p:spTgt spid="7196"/>
                                        </p:tgtEl>
                                        <p:attrNameLst>
                                          <p:attrName>ppt_x</p:attrName>
                                        </p:attrNameLst>
                                      </p:cBhvr>
                                      <p:tavLst>
                                        <p:tav tm="0">
                                          <p:val>
                                            <p:strVal val="#ppt_x"/>
                                          </p:val>
                                        </p:tav>
                                        <p:tav tm="100000">
                                          <p:val>
                                            <p:strVal val="#ppt_x"/>
                                          </p:val>
                                        </p:tav>
                                      </p:tavLst>
                                    </p:anim>
                                    <p:anim calcmode="lin" valueType="num">
                                      <p:cBhvr additive="base">
                                        <p:cTn id="26" dur="500" fill="hold"/>
                                        <p:tgtEl>
                                          <p:spTgt spid="7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a:extLst>
              <a:ext uri="{FF2B5EF4-FFF2-40B4-BE49-F238E27FC236}">
                <a16:creationId xmlns:a16="http://schemas.microsoft.com/office/drawing/2014/main" id="{63AE9085-22E7-4704-AF2D-47D4DAD57D0F}"/>
              </a:ext>
            </a:extLst>
          </p:cNvPr>
          <p:cNvSpPr txBox="1">
            <a:spLocks noChangeArrowheads="1"/>
          </p:cNvSpPr>
          <p:nvPr/>
        </p:nvSpPr>
        <p:spPr bwMode="auto">
          <a:xfrm>
            <a:off x="684213" y="2420938"/>
            <a:ext cx="81914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400" b="1" dirty="0">
                <a:latin typeface="Times New Roman" panose="02020603050405020304" pitchFamily="18" charset="0"/>
                <a:ea typeface="楷体_GB2312" pitchFamily="49" charset="-122"/>
              </a:rPr>
              <a:t>练习：</a:t>
            </a:r>
          </a:p>
          <a:p>
            <a:pPr algn="l"/>
            <a:r>
              <a:rPr lang="zh-CN" altLang="en-US" sz="2400" b="1" dirty="0">
                <a:latin typeface="Times New Roman" panose="02020603050405020304" pitchFamily="18" charset="0"/>
                <a:ea typeface="楷体_GB2312" pitchFamily="49" charset="-122"/>
              </a:rPr>
              <a:t>  </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）参照中国近</a:t>
            </a:r>
            <a:r>
              <a:rPr lang="en-US" altLang="zh-CN" sz="2400" b="1" dirty="0">
                <a:latin typeface="楷体_GB2312" pitchFamily="49" charset="-122"/>
                <a:ea typeface="楷体_GB2312" pitchFamily="49" charset="-122"/>
              </a:rPr>
              <a:t>20</a:t>
            </a:r>
            <a:r>
              <a:rPr lang="zh-CN" altLang="en-US" sz="2400" b="1" dirty="0">
                <a:latin typeface="楷体_GB2312" pitchFamily="49" charset="-122"/>
                <a:ea typeface="楷体_GB2312" pitchFamily="49" charset="-122"/>
              </a:rPr>
              <a:t>年期间人口数量，求出</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模型人口随时间变化的函数关系式，并估计出未来</a:t>
            </a:r>
            <a:r>
              <a:rPr lang="en-US" altLang="zh-CN" sz="2400" b="1" dirty="0">
                <a:latin typeface="楷体_GB2312" pitchFamily="49" charset="-122"/>
                <a:ea typeface="楷体_GB2312" pitchFamily="49" charset="-122"/>
              </a:rPr>
              <a:t>20</a:t>
            </a:r>
            <a:r>
              <a:rPr lang="zh-CN" altLang="en-US" sz="2400" b="1" dirty="0">
                <a:latin typeface="楷体_GB2312" pitchFamily="49" charset="-122"/>
                <a:ea typeface="楷体_GB2312" pitchFamily="49" charset="-122"/>
              </a:rPr>
              <a:t>年人口数量；</a:t>
            </a:r>
          </a:p>
          <a:p>
            <a:pPr algn="l"/>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）对计算出来的结果和原始数据进行比较（可通过画图等方式），并予以解释。</a:t>
            </a:r>
          </a:p>
        </p:txBody>
      </p:sp>
      <p:pic>
        <p:nvPicPr>
          <p:cNvPr id="39941" name="Picture 5">
            <a:extLst>
              <a:ext uri="{FF2B5EF4-FFF2-40B4-BE49-F238E27FC236}">
                <a16:creationId xmlns:a16="http://schemas.microsoft.com/office/drawing/2014/main" id="{F2ED6CCD-18F1-42B6-AF34-301DC7FC14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51275" y="476250"/>
            <a:ext cx="1965325"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Text Box 7">
            <a:extLst>
              <a:ext uri="{FF2B5EF4-FFF2-40B4-BE49-F238E27FC236}">
                <a16:creationId xmlns:a16="http://schemas.microsoft.com/office/drawing/2014/main" id="{36F638A8-EFEA-4F07-8C7D-14875AC2AAAE}"/>
              </a:ext>
            </a:extLst>
          </p:cNvPr>
          <p:cNvSpPr txBox="1">
            <a:spLocks noChangeArrowheads="1"/>
          </p:cNvSpPr>
          <p:nvPr/>
        </p:nvSpPr>
        <p:spPr bwMode="auto">
          <a:xfrm>
            <a:off x="237075" y="24765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模型检验</a:t>
            </a:r>
          </a:p>
        </p:txBody>
      </p:sp>
      <p:sp>
        <p:nvSpPr>
          <p:cNvPr id="2" name="灯片编号占位符 1">
            <a:extLst>
              <a:ext uri="{FF2B5EF4-FFF2-40B4-BE49-F238E27FC236}">
                <a16:creationId xmlns:a16="http://schemas.microsoft.com/office/drawing/2014/main" id="{20573324-6CA1-CE15-BBFE-E8D014375FF6}"/>
              </a:ext>
            </a:extLst>
          </p:cNvPr>
          <p:cNvSpPr>
            <a:spLocks noGrp="1"/>
          </p:cNvSpPr>
          <p:nvPr>
            <p:ph type="sldNum" sz="quarter" idx="12"/>
          </p:nvPr>
        </p:nvSpPr>
        <p:spPr/>
        <p:txBody>
          <a:bodyPr/>
          <a:lstStyle/>
          <a:p>
            <a:fld id="{BED608A8-1180-46F5-AAEE-042CDE89CDC1}" type="slidenum">
              <a:rPr lang="en-US" altLang="zh-CN" smtClean="0"/>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
            <a:extLst>
              <a:ext uri="{FF2B5EF4-FFF2-40B4-BE49-F238E27FC236}">
                <a16:creationId xmlns:a16="http://schemas.microsoft.com/office/drawing/2014/main" id="{6936D42E-C128-4C98-9693-1D525E259417}"/>
              </a:ext>
            </a:extLst>
          </p:cNvPr>
          <p:cNvGrpSpPr>
            <a:grpSpLocks/>
          </p:cNvGrpSpPr>
          <p:nvPr/>
        </p:nvGrpSpPr>
        <p:grpSpPr bwMode="auto">
          <a:xfrm>
            <a:off x="228600" y="228600"/>
            <a:ext cx="8534400" cy="2085975"/>
            <a:chOff x="144" y="144"/>
            <a:chExt cx="5376" cy="1314"/>
          </a:xfrm>
        </p:grpSpPr>
        <p:sp>
          <p:nvSpPr>
            <p:cNvPr id="8195" name="Text Box 3">
              <a:extLst>
                <a:ext uri="{FF2B5EF4-FFF2-40B4-BE49-F238E27FC236}">
                  <a16:creationId xmlns:a16="http://schemas.microsoft.com/office/drawing/2014/main" id="{E14C059C-76DE-4995-A0D7-A07E8910F81C}"/>
                </a:ext>
              </a:extLst>
            </p:cNvPr>
            <p:cNvSpPr txBox="1">
              <a:spLocks noChangeArrowheads="1"/>
            </p:cNvSpPr>
            <p:nvPr/>
          </p:nvSpPr>
          <p:spPr bwMode="auto">
            <a:xfrm>
              <a:off x="144" y="144"/>
              <a:ext cx="21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solidFill>
                    <a:srgbClr val="FF0000"/>
                  </a:solidFill>
                  <a:ea typeface="楷体_GB2312" pitchFamily="49" charset="-122"/>
                </a:rPr>
                <a:t>模型检验</a:t>
              </a:r>
            </a:p>
          </p:txBody>
        </p:sp>
        <p:sp>
          <p:nvSpPr>
            <p:cNvPr id="8196" name="Rectangle 4">
              <a:extLst>
                <a:ext uri="{FF2B5EF4-FFF2-40B4-BE49-F238E27FC236}">
                  <a16:creationId xmlns:a16="http://schemas.microsoft.com/office/drawing/2014/main" id="{DD52134D-8367-425D-A4A1-C3C143C9538A}"/>
                </a:ext>
              </a:extLst>
            </p:cNvPr>
            <p:cNvSpPr>
              <a:spLocks noChangeArrowheads="1"/>
            </p:cNvSpPr>
            <p:nvPr/>
          </p:nvSpPr>
          <p:spPr bwMode="auto">
            <a:xfrm>
              <a:off x="144" y="480"/>
              <a:ext cx="5376"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宋体" panose="02010600030101010101" pitchFamily="2" charset="-122"/>
                </a:rPr>
                <a:t>    </a:t>
              </a:r>
              <a:r>
                <a:rPr lang="zh-CN" altLang="en-US" sz="2400" b="1" dirty="0">
                  <a:latin typeface="楷体_GB2312" pitchFamily="49" charset="-122"/>
                  <a:ea typeface="楷体_GB2312" pitchFamily="49" charset="-122"/>
                </a:rPr>
                <a:t>用</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模型来描述种群增长的规律效果如何呢？</a:t>
              </a:r>
              <a:r>
                <a:rPr lang="en-US" altLang="zh-CN" sz="2400" b="1" dirty="0">
                  <a:latin typeface="楷体_GB2312" pitchFamily="49" charset="-122"/>
                  <a:ea typeface="楷体_GB2312" pitchFamily="49" charset="-122"/>
                </a:rPr>
                <a:t>1945</a:t>
              </a:r>
              <a:r>
                <a:rPr lang="zh-CN" altLang="en-US" sz="2400" b="1" dirty="0">
                  <a:latin typeface="楷体_GB2312" pitchFamily="49" charset="-122"/>
                  <a:ea typeface="楷体_GB2312" pitchFamily="49" charset="-122"/>
                </a:rPr>
                <a:t>年克朗皮克（</a:t>
              </a:r>
              <a:r>
                <a:rPr lang="en-US" altLang="zh-CN" sz="2400" b="1" dirty="0" err="1">
                  <a:latin typeface="楷体_GB2312" pitchFamily="49" charset="-122"/>
                  <a:ea typeface="楷体_GB2312" pitchFamily="49" charset="-122"/>
                </a:rPr>
                <a:t>Crombic</a:t>
              </a:r>
              <a:r>
                <a:rPr lang="zh-CN" altLang="en-US" sz="2400" b="1" dirty="0">
                  <a:latin typeface="楷体_GB2312" pitchFamily="49" charset="-122"/>
                  <a:ea typeface="楷体_GB2312" pitchFamily="49" charset="-122"/>
                </a:rPr>
                <a:t>）做了一个人工饲养小谷虫的实验，数学生物学家高斯（</a:t>
              </a:r>
              <a:r>
                <a:rPr lang="en-US" altLang="zh-CN" sz="2400" b="1" dirty="0" err="1">
                  <a:latin typeface="楷体_GB2312" pitchFamily="49" charset="-122"/>
                  <a:ea typeface="楷体_GB2312" pitchFamily="49" charset="-122"/>
                </a:rPr>
                <a:t>E</a:t>
              </a:r>
              <a:r>
                <a:rPr lang="en-US" altLang="zh-CN" sz="2400" b="1" dirty="0" err="1">
                  <a:latin typeface="Times New Roman" panose="02020603050405020304" pitchFamily="18" charset="0"/>
                  <a:ea typeface="楷体_GB2312" pitchFamily="49" charset="-122"/>
                </a:rPr>
                <a:t>·</a:t>
              </a:r>
              <a:r>
                <a:rPr lang="en-US" altLang="zh-CN" sz="2400" b="1" dirty="0" err="1">
                  <a:latin typeface="楷体_GB2312" pitchFamily="49" charset="-122"/>
                  <a:ea typeface="楷体_GB2312" pitchFamily="49" charset="-122"/>
                </a:rPr>
                <a:t>F</a:t>
              </a:r>
              <a:r>
                <a:rPr lang="en-US" altLang="zh-CN" sz="2400" b="1" dirty="0" err="1">
                  <a:latin typeface="Times New Roman" panose="02020603050405020304" pitchFamily="18" charset="0"/>
                  <a:ea typeface="楷体_GB2312" pitchFamily="49" charset="-122"/>
                </a:rPr>
                <a:t>·</a:t>
              </a:r>
              <a:r>
                <a:rPr lang="en-US" altLang="zh-CN" sz="2400" b="1" dirty="0" err="1">
                  <a:latin typeface="楷体_GB2312" pitchFamily="49" charset="-122"/>
                  <a:ea typeface="楷体_GB2312" pitchFamily="49" charset="-122"/>
                </a:rPr>
                <a:t>Gauss</a:t>
              </a:r>
              <a:r>
                <a:rPr lang="zh-CN" altLang="en-US" sz="2400" b="1" dirty="0">
                  <a:latin typeface="楷体_GB2312" pitchFamily="49" charset="-122"/>
                  <a:ea typeface="楷体_GB2312" pitchFamily="49" charset="-122"/>
                </a:rPr>
                <a:t>）也做了一个原生物草履虫实验，实验结果都和</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曲线十分吻合。 </a:t>
              </a:r>
            </a:p>
          </p:txBody>
        </p:sp>
      </p:grpSp>
      <p:grpSp>
        <p:nvGrpSpPr>
          <p:cNvPr id="8197" name="Group 5">
            <a:extLst>
              <a:ext uri="{FF2B5EF4-FFF2-40B4-BE49-F238E27FC236}">
                <a16:creationId xmlns:a16="http://schemas.microsoft.com/office/drawing/2014/main" id="{06EE9352-FBC9-422C-A493-D4DA6DEE1238}"/>
              </a:ext>
            </a:extLst>
          </p:cNvPr>
          <p:cNvGrpSpPr>
            <a:grpSpLocks/>
          </p:cNvGrpSpPr>
          <p:nvPr/>
        </p:nvGrpSpPr>
        <p:grpSpPr bwMode="auto">
          <a:xfrm>
            <a:off x="228600" y="2349500"/>
            <a:ext cx="8534400" cy="2779713"/>
            <a:chOff x="144" y="1480"/>
            <a:chExt cx="5376" cy="1751"/>
          </a:xfrm>
        </p:grpSpPr>
        <p:sp>
          <p:nvSpPr>
            <p:cNvPr id="8198" name="Rectangle 6">
              <a:extLst>
                <a:ext uri="{FF2B5EF4-FFF2-40B4-BE49-F238E27FC236}">
                  <a16:creationId xmlns:a16="http://schemas.microsoft.com/office/drawing/2014/main" id="{F8CD0B44-D0C0-4215-81E0-AF2945D9B283}"/>
                </a:ext>
              </a:extLst>
            </p:cNvPr>
            <p:cNvSpPr>
              <a:spLocks noChangeArrowheads="1"/>
            </p:cNvSpPr>
            <p:nvPr/>
          </p:nvSpPr>
          <p:spPr bwMode="auto">
            <a:xfrm>
              <a:off x="144" y="1480"/>
              <a:ext cx="5376" cy="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宋体" panose="02010600030101010101" pitchFamily="2" charset="-122"/>
                </a:rPr>
                <a:t>    </a:t>
              </a:r>
              <a:r>
                <a:rPr lang="zh-CN" altLang="en-US" sz="2400" b="1" dirty="0">
                  <a:latin typeface="楷体_GB2312" pitchFamily="49" charset="-122"/>
                  <a:ea typeface="楷体_GB2312" pitchFamily="49" charset="-122"/>
                </a:rPr>
                <a:t>大量实验资料表明用</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模型来描述种群的增长，效果还是相当不错的。例如，高斯</a:t>
              </a:r>
              <a:r>
                <a:rPr lang="zh-CN" altLang="en-US" sz="2400" b="1" dirty="0">
                  <a:latin typeface="Times New Roman" panose="02020603050405020304" pitchFamily="18" charset="0"/>
                  <a:ea typeface="楷体_GB2312" pitchFamily="49" charset="-122"/>
                </a:rPr>
                <a:t>把</a:t>
              </a:r>
              <a:r>
                <a:rPr lang="en-US" altLang="zh-CN" sz="2400" b="1" dirty="0">
                  <a:latin typeface="Times New Roman" panose="02020603050405020304" pitchFamily="18" charset="0"/>
                  <a:ea typeface="楷体_GB2312" pitchFamily="49" charset="-122"/>
                </a:rPr>
                <a:t>5</a:t>
              </a:r>
              <a:r>
                <a:rPr lang="zh-CN" altLang="en-US" sz="2400" b="1" dirty="0">
                  <a:latin typeface="Times New Roman" panose="02020603050405020304" pitchFamily="18" charset="0"/>
                  <a:ea typeface="楷体_GB2312" pitchFamily="49" charset="-122"/>
                </a:rPr>
                <a:t>只草履虫放进一个盛有</a:t>
              </a:r>
              <a:r>
                <a:rPr lang="en-US" altLang="zh-CN" sz="2400" b="1" dirty="0">
                  <a:latin typeface="Times New Roman" panose="02020603050405020304" pitchFamily="18" charset="0"/>
                  <a:ea typeface="楷体_GB2312" pitchFamily="49" charset="-122"/>
                </a:rPr>
                <a:t>0.5cm</a:t>
              </a:r>
              <a:r>
                <a:rPr lang="en-US" altLang="zh-CN" sz="2400" b="1" baseline="30000" dirty="0">
                  <a:latin typeface="Times New Roman" panose="02020603050405020304" pitchFamily="18" charset="0"/>
                  <a:ea typeface="楷体_GB2312" pitchFamily="49" charset="-122"/>
                </a:rPr>
                <a:t>3</a:t>
              </a:r>
              <a:r>
                <a:rPr lang="zh-CN" altLang="en-US" sz="2400" b="1" dirty="0">
                  <a:latin typeface="Times New Roman" panose="02020603050405020304" pitchFamily="18" charset="0"/>
                  <a:ea typeface="楷体_GB2312" pitchFamily="49" charset="-122"/>
                </a:rPr>
                <a:t>营养液的小试管，他发现，开始时草履虫以每天</a:t>
              </a:r>
              <a:r>
                <a:rPr lang="en-US" altLang="zh-CN" sz="2400" b="1" dirty="0">
                  <a:latin typeface="Times New Roman" panose="02020603050405020304" pitchFamily="18" charset="0"/>
                  <a:ea typeface="楷体_GB2312" pitchFamily="49" charset="-122"/>
                </a:rPr>
                <a:t>230.9%</a:t>
              </a:r>
              <a:r>
                <a:rPr lang="zh-CN" altLang="en-US" sz="2400" b="1" dirty="0">
                  <a:latin typeface="Times New Roman" panose="02020603050405020304" pitchFamily="18" charset="0"/>
                  <a:ea typeface="楷体_GB2312" pitchFamily="49" charset="-122"/>
                </a:rPr>
                <a:t>的速率增长，此后增长速度不断减慢，到第五天达到最大量</a:t>
              </a:r>
              <a:r>
                <a:rPr lang="en-US" altLang="zh-CN" sz="2400" b="1" dirty="0">
                  <a:latin typeface="Times New Roman" panose="02020603050405020304" pitchFamily="18" charset="0"/>
                  <a:ea typeface="楷体_GB2312" pitchFamily="49" charset="-122"/>
                </a:rPr>
                <a:t>375</a:t>
              </a:r>
              <a:r>
                <a:rPr lang="zh-CN" altLang="en-US" sz="2400" b="1" dirty="0">
                  <a:latin typeface="Times New Roman" panose="02020603050405020304" pitchFamily="18" charset="0"/>
                  <a:ea typeface="楷体_GB2312" pitchFamily="49" charset="-122"/>
                </a:rPr>
                <a:t>个，实验数据与</a:t>
              </a:r>
              <a:r>
                <a:rPr lang="en-US" altLang="zh-CN" sz="2400" b="1" i="1" dirty="0">
                  <a:latin typeface="Times New Roman" panose="02020603050405020304" pitchFamily="18" charset="0"/>
                  <a:ea typeface="楷体_GB2312" pitchFamily="49" charset="-122"/>
                </a:rPr>
                <a:t>r</a:t>
              </a:r>
              <a:r>
                <a:rPr lang="en-US" altLang="zh-CN" sz="2400" b="1" dirty="0">
                  <a:latin typeface="Times New Roman" panose="02020603050405020304" pitchFamily="18" charset="0"/>
                  <a:ea typeface="楷体_GB2312" pitchFamily="49" charset="-122"/>
                </a:rPr>
                <a:t>=2.309</a:t>
              </a:r>
              <a:r>
                <a:rPr lang="zh-CN" altLang="en-US" sz="2400" b="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a</a:t>
              </a:r>
              <a:r>
                <a:rPr lang="en-US" altLang="zh-CN" sz="2400" b="1" dirty="0">
                  <a:latin typeface="Times New Roman" panose="02020603050405020304" pitchFamily="18" charset="0"/>
                  <a:ea typeface="楷体_GB2312" pitchFamily="49" charset="-122"/>
                </a:rPr>
                <a:t>=0.006157</a:t>
              </a:r>
              <a:r>
                <a:rPr lang="zh-CN" altLang="en-US" sz="2400" b="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x</a:t>
              </a:r>
              <a:r>
                <a:rPr lang="en-US" altLang="zh-CN" sz="2400" b="1" dirty="0">
                  <a:latin typeface="Times New Roman" panose="02020603050405020304" pitchFamily="18" charset="0"/>
                  <a:ea typeface="楷体_GB2312" pitchFamily="49" charset="-122"/>
                </a:rPr>
                <a:t>(0)=5</a:t>
              </a:r>
              <a:r>
                <a:rPr lang="zh-CN" altLang="en-US" sz="2400" b="1" dirty="0">
                  <a:latin typeface="楷体_GB2312" pitchFamily="49" charset="-122"/>
                  <a:ea typeface="楷体_GB2312" pitchFamily="49" charset="-122"/>
                </a:rPr>
                <a:t>的</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曲线：</a:t>
              </a:r>
            </a:p>
            <a:p>
              <a:pPr algn="l"/>
              <a:r>
                <a:rPr lang="zh-CN" altLang="en-US" sz="2400" b="1" dirty="0">
                  <a:latin typeface="宋体" panose="02010600030101010101" pitchFamily="2" charset="-122"/>
                </a:rPr>
                <a:t>                   </a:t>
              </a:r>
              <a:r>
                <a:rPr lang="zh-CN" altLang="en-US" sz="2400" b="1" dirty="0">
                  <a:latin typeface="Times New Roman" panose="02020603050405020304" pitchFamily="18" charset="0"/>
                  <a:ea typeface="楷体_GB2312" pitchFamily="49" charset="-122"/>
                </a:rPr>
                <a:t> 几乎完全吻合，见图。</a:t>
              </a:r>
              <a:r>
                <a:rPr lang="zh-CN" altLang="en-US" sz="2400" b="1" dirty="0">
                  <a:latin typeface="楷体_GB2312" pitchFamily="49" charset="-122"/>
                  <a:ea typeface="楷体_GB2312" pitchFamily="49" charset="-122"/>
                </a:rPr>
                <a:t>  </a:t>
              </a:r>
            </a:p>
          </p:txBody>
        </p:sp>
        <p:graphicFrame>
          <p:nvGraphicFramePr>
            <p:cNvPr id="8199" name="Object 7">
              <a:extLst>
                <a:ext uri="{FF2B5EF4-FFF2-40B4-BE49-F238E27FC236}">
                  <a16:creationId xmlns:a16="http://schemas.microsoft.com/office/drawing/2014/main" id="{4043316B-1CFB-40BE-B201-9DEE04D77840}"/>
                </a:ext>
              </a:extLst>
            </p:cNvPr>
            <p:cNvGraphicFramePr>
              <a:graphicFrameLocks noChangeAspect="1"/>
            </p:cNvGraphicFramePr>
            <p:nvPr/>
          </p:nvGraphicFramePr>
          <p:xfrm>
            <a:off x="608" y="2736"/>
            <a:ext cx="1471" cy="495"/>
          </p:xfrm>
          <a:graphic>
            <a:graphicData uri="http://schemas.openxmlformats.org/presentationml/2006/ole">
              <mc:AlternateContent xmlns:mc="http://schemas.openxmlformats.org/markup-compatibility/2006">
                <mc:Choice xmlns:v="urn:schemas-microsoft-com:vml" Requires="v">
                  <p:oleObj name="Equation" r:id="rId2" imgW="1155600" imgH="393480" progId="Equation.DSMT4">
                    <p:embed/>
                  </p:oleObj>
                </mc:Choice>
                <mc:Fallback>
                  <p:oleObj name="Equation" r:id="rId2" imgW="1155600" imgH="393480" progId="Equation.DSMT4">
                    <p:embed/>
                    <p:pic>
                      <p:nvPicPr>
                        <p:cNvPr id="8199" name="Object 7">
                          <a:extLst>
                            <a:ext uri="{FF2B5EF4-FFF2-40B4-BE49-F238E27FC236}">
                              <a16:creationId xmlns:a16="http://schemas.microsoft.com/office/drawing/2014/main" id="{4043316B-1CFB-40BE-B201-9DEE04D77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 y="2736"/>
                          <a:ext cx="1471" cy="4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8201" name="Picture 9">
            <a:extLst>
              <a:ext uri="{FF2B5EF4-FFF2-40B4-BE49-F238E27FC236}">
                <a16:creationId xmlns:a16="http://schemas.microsoft.com/office/drawing/2014/main" id="{9099DEAE-7B17-43E0-8452-ADC391EAE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6364" y="4437112"/>
            <a:ext cx="260032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a:extLst>
              <a:ext uri="{FF2B5EF4-FFF2-40B4-BE49-F238E27FC236}">
                <a16:creationId xmlns:a16="http://schemas.microsoft.com/office/drawing/2014/main" id="{72041FF8-CE3D-F5CB-30A5-0DFB915C61E4}"/>
              </a:ext>
            </a:extLst>
          </p:cNvPr>
          <p:cNvSpPr>
            <a:spLocks noGrp="1"/>
          </p:cNvSpPr>
          <p:nvPr>
            <p:ph type="sldNum" sz="quarter" idx="12"/>
          </p:nvPr>
        </p:nvSpPr>
        <p:spPr/>
        <p:txBody>
          <a:bodyPr/>
          <a:lstStyle/>
          <a:p>
            <a:fld id="{0C913308-F349-4B6D-A68A-DD1791B4A57B}"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9264D3A-1BB2-4518-A0B8-8454929A40B8}"/>
              </a:ext>
            </a:extLst>
          </p:cNvPr>
          <p:cNvSpPr>
            <a:spLocks noChangeArrowheads="1"/>
          </p:cNvSpPr>
          <p:nvPr/>
        </p:nvSpPr>
        <p:spPr bwMode="auto">
          <a:xfrm>
            <a:off x="241300" y="304800"/>
            <a:ext cx="5267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a:solidFill>
                  <a:srgbClr val="FF0000"/>
                </a:solidFill>
                <a:latin typeface="楷体_GB2312" pitchFamily="49" charset="-122"/>
                <a:ea typeface="楷体_GB2312" pitchFamily="49" charset="-122"/>
              </a:rPr>
              <a:t>Malthus</a:t>
            </a:r>
            <a:r>
              <a:rPr lang="zh-CN" altLang="en-US" sz="2400" b="1">
                <a:solidFill>
                  <a:srgbClr val="FF0000"/>
                </a:solidFill>
                <a:latin typeface="楷体_GB2312" pitchFamily="49" charset="-122"/>
                <a:ea typeface="楷体_GB2312" pitchFamily="49" charset="-122"/>
              </a:rPr>
              <a:t>模型和</a:t>
            </a:r>
            <a:r>
              <a:rPr lang="en-US" altLang="zh-CN" sz="2400" b="1">
                <a:solidFill>
                  <a:srgbClr val="FF0000"/>
                </a:solidFill>
                <a:latin typeface="楷体_GB2312" pitchFamily="49" charset="-122"/>
                <a:ea typeface="楷体_GB2312" pitchFamily="49" charset="-122"/>
              </a:rPr>
              <a:t>Logistic</a:t>
            </a:r>
            <a:r>
              <a:rPr lang="zh-CN" altLang="en-US" sz="2400" b="1">
                <a:solidFill>
                  <a:srgbClr val="FF0000"/>
                </a:solidFill>
                <a:latin typeface="楷体_GB2312" pitchFamily="49" charset="-122"/>
                <a:ea typeface="楷体_GB2312" pitchFamily="49" charset="-122"/>
              </a:rPr>
              <a:t>模型的总结</a:t>
            </a:r>
          </a:p>
        </p:txBody>
      </p:sp>
      <p:grpSp>
        <p:nvGrpSpPr>
          <p:cNvPr id="9219" name="Group 3">
            <a:extLst>
              <a:ext uri="{FF2B5EF4-FFF2-40B4-BE49-F238E27FC236}">
                <a16:creationId xmlns:a16="http://schemas.microsoft.com/office/drawing/2014/main" id="{0405D9FE-873D-43A2-8AA1-6F2D7AD8551C}"/>
              </a:ext>
            </a:extLst>
          </p:cNvPr>
          <p:cNvGrpSpPr>
            <a:grpSpLocks/>
          </p:cNvGrpSpPr>
          <p:nvPr/>
        </p:nvGrpSpPr>
        <p:grpSpPr bwMode="auto">
          <a:xfrm>
            <a:off x="762000" y="914400"/>
            <a:ext cx="8001000" cy="1570038"/>
            <a:chOff x="480" y="576"/>
            <a:chExt cx="5040" cy="989"/>
          </a:xfrm>
        </p:grpSpPr>
        <p:sp>
          <p:nvSpPr>
            <p:cNvPr id="9220" name="Rectangle 4">
              <a:extLst>
                <a:ext uri="{FF2B5EF4-FFF2-40B4-BE49-F238E27FC236}">
                  <a16:creationId xmlns:a16="http://schemas.microsoft.com/office/drawing/2014/main" id="{79F23C01-790D-4A82-88F4-83820BA3B0E5}"/>
                </a:ext>
              </a:extLst>
            </p:cNvPr>
            <p:cNvSpPr>
              <a:spLocks noChangeArrowheads="1"/>
            </p:cNvSpPr>
            <p:nvPr/>
          </p:nvSpPr>
          <p:spPr bwMode="auto">
            <a:xfrm>
              <a:off x="480" y="576"/>
              <a:ext cx="5040"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latin typeface="Times New Roman" panose="02020603050405020304" pitchFamily="18" charset="0"/>
                  <a:cs typeface="Times New Roman" panose="02020603050405020304" pitchFamily="18" charset="0"/>
                </a:rPr>
                <a:t>      </a:t>
              </a:r>
              <a:r>
                <a:rPr lang="en-US" altLang="zh-CN" sz="2400" b="1" dirty="0">
                  <a:latin typeface="楷体_GB2312" pitchFamily="49" charset="-122"/>
                  <a:ea typeface="楷体_GB2312" pitchFamily="49" charset="-122"/>
                </a:rPr>
                <a:t>Malthus</a:t>
              </a:r>
              <a:r>
                <a:rPr lang="zh-CN" altLang="en-US" sz="2400" b="1" dirty="0">
                  <a:latin typeface="楷体_GB2312" pitchFamily="49" charset="-122"/>
                  <a:ea typeface="楷体_GB2312" pitchFamily="49" charset="-122"/>
                </a:rPr>
                <a:t>模型和</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模型</a:t>
              </a:r>
              <a:r>
                <a:rPr lang="zh-CN" altLang="en-US" sz="2400" b="1" dirty="0">
                  <a:latin typeface="Times New Roman" panose="02020603050405020304" pitchFamily="18" charset="0"/>
                  <a:ea typeface="楷体_GB2312" pitchFamily="49" charset="-122"/>
                </a:rPr>
                <a:t>均为对微分方程所作的模拟近似方程。前一模型假设了种群增长率</a:t>
              </a:r>
              <a:r>
                <a:rPr lang="en-US" altLang="zh-CN" sz="2400" b="1" i="1" dirty="0">
                  <a:latin typeface="Times New Roman" panose="02020603050405020304" pitchFamily="18" charset="0"/>
                  <a:ea typeface="楷体_GB2312" pitchFamily="49" charset="-122"/>
                </a:rPr>
                <a:t>r</a:t>
              </a:r>
              <a:r>
                <a:rPr lang="zh-CN" altLang="en-US" sz="2400" b="1" dirty="0">
                  <a:latin typeface="Times New Roman" panose="02020603050405020304" pitchFamily="18" charset="0"/>
                  <a:ea typeface="楷体_GB2312" pitchFamily="49" charset="-122"/>
                </a:rPr>
                <a:t>为一常数，（</a:t>
              </a:r>
              <a:r>
                <a:rPr lang="en-US" altLang="zh-CN" sz="2400" b="1" i="1" dirty="0">
                  <a:latin typeface="Times New Roman" panose="02020603050405020304" pitchFamily="18" charset="0"/>
                  <a:ea typeface="楷体_GB2312" pitchFamily="49" charset="-122"/>
                </a:rPr>
                <a:t>r</a:t>
              </a:r>
              <a:r>
                <a:rPr lang="zh-CN" altLang="en-US" sz="2400" b="1" dirty="0">
                  <a:latin typeface="Times New Roman" panose="02020603050405020304" pitchFamily="18" charset="0"/>
                  <a:ea typeface="楷体_GB2312" pitchFamily="49" charset="-122"/>
                </a:rPr>
                <a:t>被称为该种群的内禀增长率）。后一模型则假设环境只能供养一定数量的种群，从而引入了一个竞争项。 </a:t>
              </a:r>
            </a:p>
          </p:txBody>
        </p:sp>
        <p:pic>
          <p:nvPicPr>
            <p:cNvPr id="9221" name="Picture 5">
              <a:extLst>
                <a:ext uri="{FF2B5EF4-FFF2-40B4-BE49-F238E27FC236}">
                  <a16:creationId xmlns:a16="http://schemas.microsoft.com/office/drawing/2014/main" id="{597065A0-CFE3-4E5A-AB74-5A108334A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 y="678"/>
              <a:ext cx="90"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9222" name="Group 6">
            <a:extLst>
              <a:ext uri="{FF2B5EF4-FFF2-40B4-BE49-F238E27FC236}">
                <a16:creationId xmlns:a16="http://schemas.microsoft.com/office/drawing/2014/main" id="{3EE640F4-A4D9-4A44-8B8E-291B50A38010}"/>
              </a:ext>
            </a:extLst>
          </p:cNvPr>
          <p:cNvGrpSpPr>
            <a:grpSpLocks/>
          </p:cNvGrpSpPr>
          <p:nvPr/>
        </p:nvGrpSpPr>
        <p:grpSpPr bwMode="auto">
          <a:xfrm>
            <a:off x="762000" y="2514601"/>
            <a:ext cx="8001000" cy="1570038"/>
            <a:chOff x="480" y="1614"/>
            <a:chExt cx="5040" cy="989"/>
          </a:xfrm>
        </p:grpSpPr>
        <p:sp>
          <p:nvSpPr>
            <p:cNvPr id="9223" name="Rectangle 7">
              <a:extLst>
                <a:ext uri="{FF2B5EF4-FFF2-40B4-BE49-F238E27FC236}">
                  <a16:creationId xmlns:a16="http://schemas.microsoft.com/office/drawing/2014/main" id="{E0569A55-A5CE-46AF-865B-ED416043D1DF}"/>
                </a:ext>
              </a:extLst>
            </p:cNvPr>
            <p:cNvSpPr>
              <a:spLocks noChangeArrowheads="1"/>
            </p:cNvSpPr>
            <p:nvPr/>
          </p:nvSpPr>
          <p:spPr bwMode="auto">
            <a:xfrm>
              <a:off x="480" y="1614"/>
              <a:ext cx="5040"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latin typeface="Times New Roman" panose="02020603050405020304" pitchFamily="18" charset="0"/>
                  <a:cs typeface="Times New Roman" panose="02020603050405020304" pitchFamily="18" charset="0"/>
                </a:rPr>
                <a:t>        </a:t>
              </a:r>
              <a:r>
                <a:rPr lang="zh-CN" altLang="en-US" sz="2400" b="1" dirty="0">
                  <a:latin typeface="楷体_GB2312" pitchFamily="49" charset="-122"/>
                  <a:ea typeface="楷体_GB2312" pitchFamily="49" charset="-122"/>
                </a:rPr>
                <a:t>用模拟近似法建立微分方程来研究实际问题时必须对求得的解进行检验，看其是否与实际情况相符或基本相符。相符性越好则模拟得越好，否则就得找出不相符的主要原因，对模型进行修改。 </a:t>
              </a:r>
            </a:p>
          </p:txBody>
        </p:sp>
        <p:pic>
          <p:nvPicPr>
            <p:cNvPr id="9224" name="Picture 8">
              <a:extLst>
                <a:ext uri="{FF2B5EF4-FFF2-40B4-BE49-F238E27FC236}">
                  <a16:creationId xmlns:a16="http://schemas.microsoft.com/office/drawing/2014/main" id="{4E72120E-BC6A-4C47-825C-ABBC9EA10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 y="1728"/>
              <a:ext cx="90"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225" name="Rectangle 9">
            <a:extLst>
              <a:ext uri="{FF2B5EF4-FFF2-40B4-BE49-F238E27FC236}">
                <a16:creationId xmlns:a16="http://schemas.microsoft.com/office/drawing/2014/main" id="{1B3F558B-3257-4436-8E2E-B5711742F995}"/>
              </a:ext>
            </a:extLst>
          </p:cNvPr>
          <p:cNvSpPr>
            <a:spLocks noChangeArrowheads="1"/>
          </p:cNvSpPr>
          <p:nvPr/>
        </p:nvSpPr>
        <p:spPr bwMode="auto">
          <a:xfrm>
            <a:off x="152400" y="4343400"/>
            <a:ext cx="8763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楷体_GB2312" pitchFamily="49" charset="-122"/>
                <a:ea typeface="楷体_GB2312" pitchFamily="49" charset="-122"/>
              </a:rPr>
              <a:t>    Malthus</a:t>
            </a:r>
            <a:r>
              <a:rPr lang="zh-CN" altLang="en-US" sz="2400" b="1" dirty="0">
                <a:latin typeface="楷体_GB2312" pitchFamily="49" charset="-122"/>
                <a:ea typeface="楷体_GB2312" pitchFamily="49" charset="-122"/>
              </a:rPr>
              <a:t>模型与</a:t>
            </a:r>
            <a:r>
              <a:rPr lang="en-US" altLang="zh-CN" sz="2400" b="1" dirty="0">
                <a:latin typeface="楷体_GB2312" pitchFamily="49" charset="-122"/>
                <a:ea typeface="楷体_GB2312" pitchFamily="49" charset="-122"/>
              </a:rPr>
              <a:t>Logistic</a:t>
            </a:r>
            <a:r>
              <a:rPr lang="zh-CN" altLang="en-US" sz="2400" b="1" dirty="0">
                <a:latin typeface="楷体_GB2312" pitchFamily="49" charset="-122"/>
                <a:ea typeface="楷体_GB2312" pitchFamily="49" charset="-122"/>
              </a:rPr>
              <a:t>模型虽然都是为了研究种群数量的增长情况而建立的，但它们也可用来研究其他实际问题，只要这些实际问题的数学模型有相同的微分方程即可。 </a:t>
            </a:r>
          </a:p>
        </p:txBody>
      </p:sp>
      <p:sp>
        <p:nvSpPr>
          <p:cNvPr id="2" name="灯片编号占位符 1">
            <a:extLst>
              <a:ext uri="{FF2B5EF4-FFF2-40B4-BE49-F238E27FC236}">
                <a16:creationId xmlns:a16="http://schemas.microsoft.com/office/drawing/2014/main" id="{5625DEA1-0DA4-13F1-9524-CE96B2BC0FC6}"/>
              </a:ext>
            </a:extLst>
          </p:cNvPr>
          <p:cNvSpPr>
            <a:spLocks noGrp="1"/>
          </p:cNvSpPr>
          <p:nvPr>
            <p:ph type="sldNum" sz="quarter" idx="12"/>
          </p:nvPr>
        </p:nvSpPr>
        <p:spPr/>
        <p:txBody>
          <a:bodyPr/>
          <a:lstStyle/>
          <a:p>
            <a:fld id="{0C913308-F349-4B6D-A68A-DD1791B4A57B}" type="slidenum">
              <a:rPr lang="zh-CN" altLang="en-US" smtClean="0"/>
              <a:t>15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5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transition="in" filter="wipe(up)">
                                      <p:cBhvr>
                                        <p:cTn id="12" dur="500"/>
                                        <p:tgtEl>
                                          <p:spTgt spid="92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wipe(left)">
                                      <p:cBhvr>
                                        <p:cTn id="17" dur="500"/>
                                        <p:tgtEl>
                                          <p:spTgt spid="92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225"/>
                                        </p:tgtEl>
                                        <p:attrNameLst>
                                          <p:attrName>style.visibility</p:attrName>
                                        </p:attrNameLst>
                                      </p:cBhvr>
                                      <p:to>
                                        <p:strVal val="visible"/>
                                      </p:to>
                                    </p:set>
                                    <p:animEffect transition="in" filter="wipe(up)">
                                      <p:cBhvr>
                                        <p:cTn id="22" dur="500"/>
                                        <p:tgtEl>
                                          <p:spTgt spid="9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2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F4812BA-B33B-491B-B1C4-FF0B06E49CF2}"/>
              </a:ext>
            </a:extLst>
          </p:cNvPr>
          <p:cNvSpPr>
            <a:spLocks noGrp="1" noChangeArrowheads="1"/>
          </p:cNvSpPr>
          <p:nvPr>
            <p:ph type="title"/>
          </p:nvPr>
        </p:nvSpPr>
        <p:spPr>
          <a:xfrm>
            <a:off x="76200" y="228600"/>
            <a:ext cx="7772400" cy="685800"/>
          </a:xfrm>
          <a:noFill/>
          <a:ln/>
        </p:spPr>
        <p:txBody>
          <a:bodyPr/>
          <a:lstStyle/>
          <a:p>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新产品的推广</a:t>
            </a:r>
            <a:endParaRPr lang="zh-CN" altLang="en-US"/>
          </a:p>
        </p:txBody>
      </p:sp>
      <p:grpSp>
        <p:nvGrpSpPr>
          <p:cNvPr id="18435" name="Group 3">
            <a:extLst>
              <a:ext uri="{FF2B5EF4-FFF2-40B4-BE49-F238E27FC236}">
                <a16:creationId xmlns:a16="http://schemas.microsoft.com/office/drawing/2014/main" id="{C9C47107-F7F7-4B89-9D94-491D0ABEB90D}"/>
              </a:ext>
            </a:extLst>
          </p:cNvPr>
          <p:cNvGrpSpPr>
            <a:grpSpLocks/>
          </p:cNvGrpSpPr>
          <p:nvPr/>
        </p:nvGrpSpPr>
        <p:grpSpPr bwMode="auto">
          <a:xfrm>
            <a:off x="304800" y="914400"/>
            <a:ext cx="8458200" cy="1570038"/>
            <a:chOff x="240" y="606"/>
            <a:chExt cx="5328" cy="989"/>
          </a:xfrm>
        </p:grpSpPr>
        <p:sp>
          <p:nvSpPr>
            <p:cNvPr id="18436" name="Rectangle 4">
              <a:extLst>
                <a:ext uri="{FF2B5EF4-FFF2-40B4-BE49-F238E27FC236}">
                  <a16:creationId xmlns:a16="http://schemas.microsoft.com/office/drawing/2014/main" id="{8D693501-44A3-4598-BC3A-89ECF782A63C}"/>
                </a:ext>
              </a:extLst>
            </p:cNvPr>
            <p:cNvSpPr>
              <a:spLocks noChangeArrowheads="1"/>
            </p:cNvSpPr>
            <p:nvPr/>
          </p:nvSpPr>
          <p:spPr bwMode="auto">
            <a:xfrm>
              <a:off x="1008" y="606"/>
              <a:ext cx="4560"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en-US" altLang="zh-CN" sz="2400" b="1" dirty="0">
                  <a:latin typeface="宋体" panose="02010600030101010101" pitchFamily="2" charset="-122"/>
                </a:rPr>
                <a:t>    </a:t>
              </a:r>
              <a:r>
                <a:rPr lang="zh-CN" altLang="en-US" sz="2400" b="1" dirty="0">
                  <a:latin typeface="楷体_GB2312" pitchFamily="49" charset="-122"/>
                  <a:ea typeface="楷体_GB2312" pitchFamily="49" charset="-122"/>
                </a:rPr>
                <a:t>经济学家和社会学家一直很关心新产品的推销速度问题。怎样建立一个数学模型来描述它，并由此分析出一些有用的结果以指导生产呢？以下是第二次世界大战后日本家电业界建立的电饭煲销售模型。 </a:t>
              </a:r>
            </a:p>
          </p:txBody>
        </p:sp>
        <p:pic>
          <p:nvPicPr>
            <p:cNvPr id="18437" name="Picture 5">
              <a:extLst>
                <a:ext uri="{FF2B5EF4-FFF2-40B4-BE49-F238E27FC236}">
                  <a16:creationId xmlns:a16="http://schemas.microsoft.com/office/drawing/2014/main" id="{FB4686D7-8980-4F6E-914F-D57C94B7F85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40" y="606"/>
              <a:ext cx="744" cy="9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38" name="Group 6">
            <a:extLst>
              <a:ext uri="{FF2B5EF4-FFF2-40B4-BE49-F238E27FC236}">
                <a16:creationId xmlns:a16="http://schemas.microsoft.com/office/drawing/2014/main" id="{C50AE81D-24E0-49BE-8D4A-16A0813B2C41}"/>
              </a:ext>
            </a:extLst>
          </p:cNvPr>
          <p:cNvGrpSpPr>
            <a:grpSpLocks/>
          </p:cNvGrpSpPr>
          <p:nvPr/>
        </p:nvGrpSpPr>
        <p:grpSpPr bwMode="auto">
          <a:xfrm>
            <a:off x="152400" y="2590800"/>
            <a:ext cx="8839200" cy="1438275"/>
            <a:chOff x="96" y="1652"/>
            <a:chExt cx="5568" cy="906"/>
          </a:xfrm>
        </p:grpSpPr>
        <p:sp>
          <p:nvSpPr>
            <p:cNvPr id="18439" name="Rectangle 7">
              <a:extLst>
                <a:ext uri="{FF2B5EF4-FFF2-40B4-BE49-F238E27FC236}">
                  <a16:creationId xmlns:a16="http://schemas.microsoft.com/office/drawing/2014/main" id="{777A6B1B-4D9D-4743-9053-E79D24F22B5F}"/>
                </a:ext>
              </a:extLst>
            </p:cNvPr>
            <p:cNvSpPr>
              <a:spLocks noChangeArrowheads="1"/>
            </p:cNvSpPr>
            <p:nvPr/>
          </p:nvSpPr>
          <p:spPr bwMode="auto">
            <a:xfrm>
              <a:off x="96" y="1652"/>
              <a:ext cx="556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400" b="1" dirty="0">
                  <a:latin typeface="楷体_GB2312" pitchFamily="49" charset="-122"/>
                  <a:ea typeface="楷体_GB2312" pitchFamily="49" charset="-122"/>
                </a:rPr>
                <a:t>    </a:t>
              </a:r>
              <a:r>
                <a:rPr lang="zh-CN" altLang="en-US" sz="2400" b="1" dirty="0">
                  <a:latin typeface="Times New Roman" panose="02020603050405020304" pitchFamily="18" charset="0"/>
                  <a:ea typeface="楷体_GB2312" pitchFamily="49" charset="-122"/>
                </a:rPr>
                <a:t>设需求量有一个上界，并记此上界为</a:t>
              </a:r>
              <a:r>
                <a:rPr lang="en-US" altLang="zh-CN" sz="2400" b="1" i="1" dirty="0">
                  <a:latin typeface="Times New Roman" panose="02020603050405020304" pitchFamily="18" charset="0"/>
                  <a:ea typeface="楷体_GB2312" pitchFamily="49" charset="-122"/>
                </a:rPr>
                <a:t>K</a:t>
              </a:r>
              <a:r>
                <a:rPr lang="zh-CN" altLang="en-US" sz="2400" b="1" dirty="0">
                  <a:latin typeface="Times New Roman" panose="02020603050405020304" pitchFamily="18" charset="0"/>
                  <a:ea typeface="楷体_GB2312" pitchFamily="49" charset="-122"/>
                </a:rPr>
                <a:t>，记</a:t>
              </a:r>
              <a:r>
                <a:rPr lang="en-US" altLang="zh-CN" sz="2400" b="1" i="1" dirty="0">
                  <a:latin typeface="Times New Roman" panose="02020603050405020304" pitchFamily="18" charset="0"/>
                  <a:ea typeface="楷体_GB2312" pitchFamily="49" charset="-122"/>
                </a:rPr>
                <a:t>t</a:t>
              </a:r>
              <a:r>
                <a:rPr lang="zh-CN" altLang="en-US" sz="2400" b="1" dirty="0">
                  <a:latin typeface="Times New Roman" panose="02020603050405020304" pitchFamily="18" charset="0"/>
                  <a:ea typeface="楷体_GB2312" pitchFamily="49" charset="-122"/>
                </a:rPr>
                <a:t>时刻已销售出的电饭煲数量为</a:t>
              </a:r>
              <a:r>
                <a:rPr lang="en-US" altLang="zh-CN" sz="2400" b="1" dirty="0">
                  <a:latin typeface="Times New Roman" panose="02020603050405020304" pitchFamily="18" charset="0"/>
                  <a:ea typeface="楷体_GB2312" pitchFamily="49" charset="-122"/>
                </a:rPr>
                <a:t>x(t)</a:t>
              </a:r>
              <a:r>
                <a:rPr lang="zh-CN" altLang="en-US" sz="2400" b="1" dirty="0">
                  <a:latin typeface="Times New Roman" panose="02020603050405020304" pitchFamily="18" charset="0"/>
                  <a:ea typeface="楷体_GB2312" pitchFamily="49" charset="-122"/>
                </a:rPr>
                <a:t>，则尚未使用的人数大致为</a:t>
              </a:r>
              <a:r>
                <a:rPr lang="en-US" altLang="zh-CN" sz="2400" b="1" dirty="0">
                  <a:latin typeface="Times New Roman" panose="02020603050405020304" pitchFamily="18" charset="0"/>
                  <a:ea typeface="楷体_GB2312" pitchFamily="49" charset="-122"/>
                </a:rPr>
                <a:t>K</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x(t)</a:t>
              </a:r>
              <a:r>
                <a:rPr lang="zh-CN" altLang="en-US" sz="2400" b="1" dirty="0">
                  <a:latin typeface="Times New Roman" panose="02020603050405020304" pitchFamily="18" charset="0"/>
                  <a:ea typeface="楷体_GB2312" pitchFamily="49" charset="-122"/>
                </a:rPr>
                <a:t>，于是由统计筹算律： </a:t>
              </a:r>
            </a:p>
          </p:txBody>
        </p:sp>
        <p:graphicFrame>
          <p:nvGraphicFramePr>
            <p:cNvPr id="18440" name="Object 8">
              <a:extLst>
                <a:ext uri="{FF2B5EF4-FFF2-40B4-BE49-F238E27FC236}">
                  <a16:creationId xmlns:a16="http://schemas.microsoft.com/office/drawing/2014/main" id="{EFBF2911-5D9C-4E31-987E-0D5B27E3E9EA}"/>
                </a:ext>
              </a:extLst>
            </p:cNvPr>
            <p:cNvGraphicFramePr>
              <a:graphicFrameLocks noChangeAspect="1"/>
            </p:cNvGraphicFramePr>
            <p:nvPr/>
          </p:nvGraphicFramePr>
          <p:xfrm>
            <a:off x="1214" y="2112"/>
            <a:ext cx="1042" cy="446"/>
          </p:xfrm>
          <a:graphic>
            <a:graphicData uri="http://schemas.openxmlformats.org/presentationml/2006/ole">
              <mc:AlternateContent xmlns:mc="http://schemas.openxmlformats.org/markup-compatibility/2006">
                <mc:Choice xmlns:v="urn:schemas-microsoft-com:vml" Requires="v">
                  <p:oleObj name="Equation" r:id="rId3" imgW="914400" imgH="393480" progId="Equation.DSMT4">
                    <p:embed/>
                  </p:oleObj>
                </mc:Choice>
                <mc:Fallback>
                  <p:oleObj name="Equation" r:id="rId3" imgW="914400" imgH="393480" progId="Equation.DSMT4">
                    <p:embed/>
                    <p:pic>
                      <p:nvPicPr>
                        <p:cNvPr id="18440" name="Object 8">
                          <a:extLst>
                            <a:ext uri="{FF2B5EF4-FFF2-40B4-BE49-F238E27FC236}">
                              <a16:creationId xmlns:a16="http://schemas.microsoft.com/office/drawing/2014/main" id="{EFBF2911-5D9C-4E31-987E-0D5B27E3E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 y="2112"/>
                          <a:ext cx="1042" cy="44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441" name="Group 9">
            <a:extLst>
              <a:ext uri="{FF2B5EF4-FFF2-40B4-BE49-F238E27FC236}">
                <a16:creationId xmlns:a16="http://schemas.microsoft.com/office/drawing/2014/main" id="{2E4EA392-3C4E-43D0-9272-21B732C3664D}"/>
              </a:ext>
            </a:extLst>
          </p:cNvPr>
          <p:cNvGrpSpPr>
            <a:grpSpLocks/>
          </p:cNvGrpSpPr>
          <p:nvPr/>
        </p:nvGrpSpPr>
        <p:grpSpPr bwMode="auto">
          <a:xfrm>
            <a:off x="730250" y="3962400"/>
            <a:ext cx="5822950" cy="696913"/>
            <a:chOff x="480" y="2544"/>
            <a:chExt cx="3668" cy="439"/>
          </a:xfrm>
        </p:grpSpPr>
        <p:sp>
          <p:nvSpPr>
            <p:cNvPr id="18442" name="Text Box 10">
              <a:extLst>
                <a:ext uri="{FF2B5EF4-FFF2-40B4-BE49-F238E27FC236}">
                  <a16:creationId xmlns:a16="http://schemas.microsoft.com/office/drawing/2014/main" id="{F419C0C9-C274-4159-8C18-FC3DCBF12958}"/>
                </a:ext>
              </a:extLst>
            </p:cNvPr>
            <p:cNvSpPr txBox="1">
              <a:spLocks noChangeArrowheads="1"/>
            </p:cNvSpPr>
            <p:nvPr/>
          </p:nvSpPr>
          <p:spPr bwMode="auto">
            <a:xfrm>
              <a:off x="480" y="2544"/>
              <a:ext cx="32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楷体_GB2312" pitchFamily="49" charset="-122"/>
                  <a:ea typeface="楷体_GB2312" pitchFamily="49" charset="-122"/>
                </a:rPr>
                <a:t>记比例系数为</a:t>
              </a:r>
              <a:r>
                <a:rPr lang="en-US" altLang="zh-CN" sz="2400" b="1" i="1">
                  <a:latin typeface="楷体_GB2312" pitchFamily="49" charset="-122"/>
                  <a:ea typeface="楷体_GB2312" pitchFamily="49" charset="-122"/>
                </a:rPr>
                <a:t>k</a:t>
              </a:r>
              <a:r>
                <a:rPr lang="zh-CN" altLang="en-US" sz="2400" b="1">
                  <a:latin typeface="楷体_GB2312" pitchFamily="49" charset="-122"/>
                  <a:ea typeface="楷体_GB2312" pitchFamily="49" charset="-122"/>
                </a:rPr>
                <a:t>，</a:t>
              </a:r>
              <a:r>
                <a:rPr lang="zh-CN" altLang="en-US" sz="2400" b="1">
                  <a:latin typeface="Times New Roman" panose="02020603050405020304" pitchFamily="18" charset="0"/>
                  <a:ea typeface="楷体_GB2312" pitchFamily="49" charset="-122"/>
                </a:rPr>
                <a:t>则</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满足：</a:t>
              </a:r>
              <a:r>
                <a:rPr lang="zh-CN" altLang="en-US" sz="2400" b="1">
                  <a:latin typeface="楷体_GB2312" pitchFamily="49" charset="-122"/>
                  <a:ea typeface="楷体_GB2312" pitchFamily="49" charset="-122"/>
                </a:rPr>
                <a:t> </a:t>
              </a:r>
            </a:p>
          </p:txBody>
        </p:sp>
        <p:graphicFrame>
          <p:nvGraphicFramePr>
            <p:cNvPr id="18443" name="Object 11">
              <a:extLst>
                <a:ext uri="{FF2B5EF4-FFF2-40B4-BE49-F238E27FC236}">
                  <a16:creationId xmlns:a16="http://schemas.microsoft.com/office/drawing/2014/main" id="{647AB72A-CF71-4F25-A253-46DF46F61819}"/>
                </a:ext>
              </a:extLst>
            </p:cNvPr>
            <p:cNvGraphicFramePr>
              <a:graphicFrameLocks noChangeAspect="1"/>
            </p:cNvGraphicFramePr>
            <p:nvPr/>
          </p:nvGraphicFramePr>
          <p:xfrm>
            <a:off x="3072" y="2544"/>
            <a:ext cx="1076" cy="439"/>
          </p:xfrm>
          <a:graphic>
            <a:graphicData uri="http://schemas.openxmlformats.org/presentationml/2006/ole">
              <mc:AlternateContent xmlns:mc="http://schemas.openxmlformats.org/markup-compatibility/2006">
                <mc:Choice xmlns:v="urn:schemas-microsoft-com:vml" Requires="v">
                  <p:oleObj name="Equation" r:id="rId5" imgW="952200" imgH="393480" progId="Equation.DSMT4">
                    <p:embed/>
                  </p:oleObj>
                </mc:Choice>
                <mc:Fallback>
                  <p:oleObj name="Equation" r:id="rId5" imgW="952200" imgH="393480" progId="Equation.DSMT4">
                    <p:embed/>
                    <p:pic>
                      <p:nvPicPr>
                        <p:cNvPr id="18443" name="Object 11">
                          <a:extLst>
                            <a:ext uri="{FF2B5EF4-FFF2-40B4-BE49-F238E27FC236}">
                              <a16:creationId xmlns:a16="http://schemas.microsoft.com/office/drawing/2014/main" id="{647AB72A-CF71-4F25-A253-46DF46F618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2" y="2544"/>
                          <a:ext cx="1076" cy="43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444" name="Group 12">
            <a:extLst>
              <a:ext uri="{FF2B5EF4-FFF2-40B4-BE49-F238E27FC236}">
                <a16:creationId xmlns:a16="http://schemas.microsoft.com/office/drawing/2014/main" id="{BF4DFA1E-778C-4132-B6B2-F44921B95E57}"/>
              </a:ext>
            </a:extLst>
          </p:cNvPr>
          <p:cNvGrpSpPr>
            <a:grpSpLocks/>
          </p:cNvGrpSpPr>
          <p:nvPr/>
        </p:nvGrpSpPr>
        <p:grpSpPr bwMode="auto">
          <a:xfrm>
            <a:off x="762000" y="4648200"/>
            <a:ext cx="6934200" cy="762000"/>
            <a:chOff x="480" y="2976"/>
            <a:chExt cx="4368" cy="480"/>
          </a:xfrm>
        </p:grpSpPr>
        <p:sp>
          <p:nvSpPr>
            <p:cNvPr id="18445" name="Text Box 13">
              <a:extLst>
                <a:ext uri="{FF2B5EF4-FFF2-40B4-BE49-F238E27FC236}">
                  <a16:creationId xmlns:a16="http://schemas.microsoft.com/office/drawing/2014/main" id="{92C8C754-E9D2-4ABD-BECD-467D58BA6A1E}"/>
                </a:ext>
              </a:extLst>
            </p:cNvPr>
            <p:cNvSpPr txBox="1">
              <a:spLocks noChangeArrowheads="1"/>
            </p:cNvSpPr>
            <p:nvPr/>
          </p:nvSpPr>
          <p:spPr bwMode="auto">
            <a:xfrm>
              <a:off x="480" y="2976"/>
              <a:ext cx="43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楷体_GB2312" pitchFamily="49" charset="-122"/>
                  <a:ea typeface="楷体_GB2312" pitchFamily="49" charset="-122"/>
                </a:rPr>
                <a:t>此方程即</a:t>
              </a:r>
              <a:r>
                <a:rPr lang="en-US" altLang="zh-CN" sz="2400" b="1">
                  <a:latin typeface="楷体_GB2312" pitchFamily="49" charset="-122"/>
                  <a:ea typeface="楷体_GB2312" pitchFamily="49" charset="-122"/>
                </a:rPr>
                <a:t>Logistic</a:t>
              </a:r>
              <a:r>
                <a:rPr lang="zh-CN" altLang="en-US" sz="2400" b="1">
                  <a:latin typeface="楷体_GB2312" pitchFamily="49" charset="-122"/>
                  <a:ea typeface="楷体_GB2312" pitchFamily="49" charset="-122"/>
                </a:rPr>
                <a:t>模型，解为： </a:t>
              </a:r>
            </a:p>
          </p:txBody>
        </p:sp>
        <p:graphicFrame>
          <p:nvGraphicFramePr>
            <p:cNvPr id="18446" name="Object 14">
              <a:extLst>
                <a:ext uri="{FF2B5EF4-FFF2-40B4-BE49-F238E27FC236}">
                  <a16:creationId xmlns:a16="http://schemas.microsoft.com/office/drawing/2014/main" id="{988EC5E4-7E0D-4BF8-8E70-1EFA389B6406}"/>
                </a:ext>
              </a:extLst>
            </p:cNvPr>
            <p:cNvGraphicFramePr>
              <a:graphicFrameLocks noChangeAspect="1"/>
            </p:cNvGraphicFramePr>
            <p:nvPr/>
          </p:nvGraphicFramePr>
          <p:xfrm>
            <a:off x="3264" y="3027"/>
            <a:ext cx="1114" cy="429"/>
          </p:xfrm>
          <a:graphic>
            <a:graphicData uri="http://schemas.openxmlformats.org/presentationml/2006/ole">
              <mc:AlternateContent xmlns:mc="http://schemas.openxmlformats.org/markup-compatibility/2006">
                <mc:Choice xmlns:v="urn:schemas-microsoft-com:vml" Requires="v">
                  <p:oleObj name="Equation" r:id="rId7" imgW="1015920" imgH="393480" progId="Equation.DSMT4">
                    <p:embed/>
                  </p:oleObj>
                </mc:Choice>
                <mc:Fallback>
                  <p:oleObj name="Equation" r:id="rId7" imgW="1015920" imgH="393480" progId="Equation.DSMT4">
                    <p:embed/>
                    <p:pic>
                      <p:nvPicPr>
                        <p:cNvPr id="18446" name="Object 14">
                          <a:extLst>
                            <a:ext uri="{FF2B5EF4-FFF2-40B4-BE49-F238E27FC236}">
                              <a16:creationId xmlns:a16="http://schemas.microsoft.com/office/drawing/2014/main" id="{988EC5E4-7E0D-4BF8-8E70-1EFA389B64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4" y="3027"/>
                          <a:ext cx="1114" cy="4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447" name="Group 15">
            <a:extLst>
              <a:ext uri="{FF2B5EF4-FFF2-40B4-BE49-F238E27FC236}">
                <a16:creationId xmlns:a16="http://schemas.microsoft.com/office/drawing/2014/main" id="{31A38EF1-F5A3-4348-9C9D-E5CE4C79536A}"/>
              </a:ext>
            </a:extLst>
          </p:cNvPr>
          <p:cNvGrpSpPr>
            <a:grpSpLocks/>
          </p:cNvGrpSpPr>
          <p:nvPr/>
        </p:nvGrpSpPr>
        <p:grpSpPr bwMode="auto">
          <a:xfrm>
            <a:off x="6781800" y="3962400"/>
            <a:ext cx="2057400" cy="1066800"/>
            <a:chOff x="4272" y="2544"/>
            <a:chExt cx="1296" cy="672"/>
          </a:xfrm>
        </p:grpSpPr>
        <p:sp>
          <p:nvSpPr>
            <p:cNvPr id="18448" name="Text Box 16">
              <a:extLst>
                <a:ext uri="{FF2B5EF4-FFF2-40B4-BE49-F238E27FC236}">
                  <a16:creationId xmlns:a16="http://schemas.microsoft.com/office/drawing/2014/main" id="{7314F227-4F9B-4182-AB78-1C7A895A0203}"/>
                </a:ext>
              </a:extLst>
            </p:cNvPr>
            <p:cNvSpPr txBox="1">
              <a:spLocks noChangeArrowheads="1"/>
            </p:cNvSpPr>
            <p:nvPr/>
          </p:nvSpPr>
          <p:spPr bwMode="auto">
            <a:xfrm>
              <a:off x="4512" y="2544"/>
              <a:ext cx="1056" cy="404"/>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dirty="0">
                  <a:solidFill>
                    <a:srgbClr val="CC0000"/>
                  </a:solidFill>
                  <a:latin typeface="Times New Roman" panose="02020603050405020304" pitchFamily="18" charset="0"/>
                  <a:ea typeface="楷体_GB2312" pitchFamily="49" charset="-122"/>
                </a:rPr>
                <a:t>还有两个奇解</a:t>
              </a:r>
              <a:r>
                <a:rPr lang="en-US" altLang="zh-CN" b="1" dirty="0">
                  <a:solidFill>
                    <a:srgbClr val="CC0000"/>
                  </a:solidFill>
                  <a:latin typeface="Times New Roman" panose="02020603050405020304" pitchFamily="18" charset="0"/>
                  <a:ea typeface="楷体_GB2312" pitchFamily="49" charset="-122"/>
                </a:rPr>
                <a:t>:   </a:t>
              </a:r>
              <a:r>
                <a:rPr lang="en-US" altLang="zh-CN" b="1" i="1" dirty="0">
                  <a:solidFill>
                    <a:srgbClr val="CC0000"/>
                  </a:solidFill>
                  <a:latin typeface="Times New Roman" panose="02020603050405020304" pitchFamily="18" charset="0"/>
                </a:rPr>
                <a:t>x</a:t>
              </a:r>
              <a:r>
                <a:rPr lang="en-US" altLang="zh-CN" b="1" dirty="0">
                  <a:solidFill>
                    <a:srgbClr val="CC0000"/>
                  </a:solidFill>
                  <a:latin typeface="Times New Roman" panose="02020603050405020304" pitchFamily="18" charset="0"/>
                </a:rPr>
                <a:t>=0</a:t>
              </a:r>
              <a:r>
                <a:rPr lang="zh-CN" altLang="en-US" b="1" dirty="0">
                  <a:solidFill>
                    <a:srgbClr val="CC0000"/>
                  </a:solidFill>
                  <a:latin typeface="宋体" panose="02010600030101010101" pitchFamily="2" charset="-122"/>
                </a:rPr>
                <a:t>和</a:t>
              </a:r>
              <a:r>
                <a:rPr lang="en-US" altLang="zh-CN" b="1" i="1" dirty="0">
                  <a:solidFill>
                    <a:srgbClr val="CC0000"/>
                  </a:solidFill>
                  <a:latin typeface="Times New Roman" panose="02020603050405020304" pitchFamily="18" charset="0"/>
                </a:rPr>
                <a:t>x</a:t>
              </a:r>
              <a:r>
                <a:rPr lang="en-US" altLang="zh-CN" b="1" dirty="0">
                  <a:solidFill>
                    <a:srgbClr val="CC0000"/>
                  </a:solidFill>
                  <a:latin typeface="Times New Roman" panose="02020603050405020304" pitchFamily="18" charset="0"/>
                </a:rPr>
                <a:t>=</a:t>
              </a:r>
              <a:r>
                <a:rPr lang="en-US" altLang="zh-CN" b="1" i="1" dirty="0">
                  <a:solidFill>
                    <a:srgbClr val="CC0000"/>
                  </a:solidFill>
                  <a:latin typeface="Times New Roman" panose="02020603050405020304" pitchFamily="18" charset="0"/>
                </a:rPr>
                <a:t>K</a:t>
              </a:r>
              <a:r>
                <a:rPr lang="en-US" altLang="zh-CN" b="1" dirty="0">
                  <a:solidFill>
                    <a:srgbClr val="CC0000"/>
                  </a:solidFill>
                  <a:latin typeface="Times New Roman" panose="02020603050405020304" pitchFamily="18" charset="0"/>
                  <a:ea typeface="楷体_GB2312" pitchFamily="49" charset="-122"/>
                </a:rPr>
                <a:t> </a:t>
              </a:r>
            </a:p>
          </p:txBody>
        </p:sp>
        <p:sp>
          <p:nvSpPr>
            <p:cNvPr id="18449" name="Line 17">
              <a:extLst>
                <a:ext uri="{FF2B5EF4-FFF2-40B4-BE49-F238E27FC236}">
                  <a16:creationId xmlns:a16="http://schemas.microsoft.com/office/drawing/2014/main" id="{275797F2-68C5-4CA9-9A62-D6EDB7EED745}"/>
                </a:ext>
              </a:extLst>
            </p:cNvPr>
            <p:cNvSpPr>
              <a:spLocks noChangeShapeType="1"/>
            </p:cNvSpPr>
            <p:nvPr/>
          </p:nvSpPr>
          <p:spPr bwMode="auto">
            <a:xfrm flipH="1">
              <a:off x="4272" y="2976"/>
              <a:ext cx="288"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50" name="Group 18">
            <a:extLst>
              <a:ext uri="{FF2B5EF4-FFF2-40B4-BE49-F238E27FC236}">
                <a16:creationId xmlns:a16="http://schemas.microsoft.com/office/drawing/2014/main" id="{93E5B09F-7D20-4656-8F25-F74CB1F933A9}"/>
              </a:ext>
            </a:extLst>
          </p:cNvPr>
          <p:cNvGrpSpPr>
            <a:grpSpLocks/>
          </p:cNvGrpSpPr>
          <p:nvPr/>
        </p:nvGrpSpPr>
        <p:grpSpPr bwMode="auto">
          <a:xfrm>
            <a:off x="762000" y="5257800"/>
            <a:ext cx="7391400" cy="1219200"/>
            <a:chOff x="480" y="3312"/>
            <a:chExt cx="4656" cy="768"/>
          </a:xfrm>
        </p:grpSpPr>
        <p:sp>
          <p:nvSpPr>
            <p:cNvPr id="18451" name="Text Box 19">
              <a:extLst>
                <a:ext uri="{FF2B5EF4-FFF2-40B4-BE49-F238E27FC236}">
                  <a16:creationId xmlns:a16="http://schemas.microsoft.com/office/drawing/2014/main" id="{EFC48758-5383-462B-8440-6E42A61B2999}"/>
                </a:ext>
              </a:extLst>
            </p:cNvPr>
            <p:cNvSpPr txBox="1">
              <a:spLocks noChangeArrowheads="1"/>
            </p:cNvSpPr>
            <p:nvPr/>
          </p:nvSpPr>
          <p:spPr bwMode="auto">
            <a:xfrm>
              <a:off x="480" y="3312"/>
              <a:ext cx="28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a:latin typeface="Times New Roman" panose="02020603050405020304" pitchFamily="18" charset="0"/>
                  <a:ea typeface="楷体_GB2312" pitchFamily="49" charset="-122"/>
                </a:rPr>
                <a:t>对</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求一阶、两阶导数： </a:t>
              </a:r>
            </a:p>
          </p:txBody>
        </p:sp>
        <p:grpSp>
          <p:nvGrpSpPr>
            <p:cNvPr id="18452" name="Group 20">
              <a:extLst>
                <a:ext uri="{FF2B5EF4-FFF2-40B4-BE49-F238E27FC236}">
                  <a16:creationId xmlns:a16="http://schemas.microsoft.com/office/drawing/2014/main" id="{974BC402-7824-4384-8DCC-61494EC1A66B}"/>
                </a:ext>
              </a:extLst>
            </p:cNvPr>
            <p:cNvGrpSpPr>
              <a:grpSpLocks/>
            </p:cNvGrpSpPr>
            <p:nvPr/>
          </p:nvGrpSpPr>
          <p:grpSpPr bwMode="auto">
            <a:xfrm>
              <a:off x="1402" y="3574"/>
              <a:ext cx="3734" cy="506"/>
              <a:chOff x="1210" y="3600"/>
              <a:chExt cx="3734" cy="506"/>
            </a:xfrm>
          </p:grpSpPr>
          <p:graphicFrame>
            <p:nvGraphicFramePr>
              <p:cNvPr id="18453" name="Object 21">
                <a:extLst>
                  <a:ext uri="{FF2B5EF4-FFF2-40B4-BE49-F238E27FC236}">
                    <a16:creationId xmlns:a16="http://schemas.microsoft.com/office/drawing/2014/main" id="{562D3972-C053-4942-B20E-BBBF567127E0}"/>
                  </a:ext>
                </a:extLst>
              </p:cNvPr>
              <p:cNvGraphicFramePr>
                <a:graphicFrameLocks noChangeAspect="1"/>
              </p:cNvGraphicFramePr>
              <p:nvPr/>
            </p:nvGraphicFramePr>
            <p:xfrm>
              <a:off x="1210" y="3600"/>
              <a:ext cx="1382" cy="506"/>
            </p:xfrm>
            <a:graphic>
              <a:graphicData uri="http://schemas.openxmlformats.org/presentationml/2006/ole">
                <mc:AlternateContent xmlns:mc="http://schemas.openxmlformats.org/markup-compatibility/2006">
                  <mc:Choice xmlns:v="urn:schemas-microsoft-com:vml" Requires="v">
                    <p:oleObj name="Equation" r:id="rId9" imgW="1218960" imgH="444240" progId="Equation.DSMT4">
                      <p:embed/>
                    </p:oleObj>
                  </mc:Choice>
                  <mc:Fallback>
                    <p:oleObj name="Equation" r:id="rId9" imgW="1218960" imgH="444240" progId="Equation.DSMT4">
                      <p:embed/>
                      <p:pic>
                        <p:nvPicPr>
                          <p:cNvPr id="18453" name="Object 21">
                            <a:extLst>
                              <a:ext uri="{FF2B5EF4-FFF2-40B4-BE49-F238E27FC236}">
                                <a16:creationId xmlns:a16="http://schemas.microsoft.com/office/drawing/2014/main" id="{562D3972-C053-4942-B20E-BBBF567127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0" y="3600"/>
                            <a:ext cx="1382" cy="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54" name="Object 22">
                <a:extLst>
                  <a:ext uri="{FF2B5EF4-FFF2-40B4-BE49-F238E27FC236}">
                    <a16:creationId xmlns:a16="http://schemas.microsoft.com/office/drawing/2014/main" id="{0A069AAF-5CAE-4A76-BC33-291BC5C06D94}"/>
                  </a:ext>
                </a:extLst>
              </p:cNvPr>
              <p:cNvGraphicFramePr>
                <a:graphicFrameLocks noChangeAspect="1"/>
              </p:cNvGraphicFramePr>
              <p:nvPr/>
            </p:nvGraphicFramePr>
            <p:xfrm>
              <a:off x="2870" y="3600"/>
              <a:ext cx="2074" cy="502"/>
            </p:xfrm>
            <a:graphic>
              <a:graphicData uri="http://schemas.openxmlformats.org/presentationml/2006/ole">
                <mc:AlternateContent xmlns:mc="http://schemas.openxmlformats.org/markup-compatibility/2006">
                  <mc:Choice xmlns:v="urn:schemas-microsoft-com:vml" Requires="v">
                    <p:oleObj name="Equation" r:id="rId11" imgW="1841400" imgH="444240" progId="Equation.DSMT4">
                      <p:embed/>
                    </p:oleObj>
                  </mc:Choice>
                  <mc:Fallback>
                    <p:oleObj name="Equation" r:id="rId11" imgW="1841400" imgH="444240" progId="Equation.DSMT4">
                      <p:embed/>
                      <p:pic>
                        <p:nvPicPr>
                          <p:cNvPr id="18454" name="Object 22">
                            <a:extLst>
                              <a:ext uri="{FF2B5EF4-FFF2-40B4-BE49-F238E27FC236}">
                                <a16:creationId xmlns:a16="http://schemas.microsoft.com/office/drawing/2014/main" id="{0A069AAF-5CAE-4A76-BC33-291BC5C06D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70" y="3600"/>
                            <a:ext cx="2074" cy="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2" name="灯片编号占位符 1">
            <a:extLst>
              <a:ext uri="{FF2B5EF4-FFF2-40B4-BE49-F238E27FC236}">
                <a16:creationId xmlns:a16="http://schemas.microsoft.com/office/drawing/2014/main" id="{155D9D9A-22DF-0360-B2A2-38550F620BA2}"/>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53DFBF6-2D83-48C1-9F24-CA03F49353F6}"/>
              </a:ext>
            </a:extLst>
          </p:cNvPr>
          <p:cNvSpPr>
            <a:spLocks noChangeArrowheads="1"/>
          </p:cNvSpPr>
          <p:nvPr/>
        </p:nvSpPr>
        <p:spPr bwMode="auto">
          <a:xfrm>
            <a:off x="304800" y="5334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latin typeface="Times New Roman" panose="02020603050405020304" pitchFamily="18" charset="0"/>
                <a:ea typeface="楷体_GB2312" pitchFamily="49" charset="-122"/>
              </a:rPr>
              <a:t>容易看出，</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)&gt;0</a:t>
            </a:r>
            <a:r>
              <a:rPr lang="zh-CN" altLang="en-US" sz="2400" b="1">
                <a:latin typeface="Times New Roman" panose="02020603050405020304" pitchFamily="18" charset="0"/>
                <a:ea typeface="楷体_GB2312" pitchFamily="49" charset="-122"/>
              </a:rPr>
              <a:t>，即</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单调增加。</a:t>
            </a:r>
          </a:p>
        </p:txBody>
      </p:sp>
      <p:grpSp>
        <p:nvGrpSpPr>
          <p:cNvPr id="19459" name="Group 3">
            <a:extLst>
              <a:ext uri="{FF2B5EF4-FFF2-40B4-BE49-F238E27FC236}">
                <a16:creationId xmlns:a16="http://schemas.microsoft.com/office/drawing/2014/main" id="{E8A521AC-9817-4C1E-9D12-76DBB11A5CBA}"/>
              </a:ext>
            </a:extLst>
          </p:cNvPr>
          <p:cNvGrpSpPr>
            <a:grpSpLocks/>
          </p:cNvGrpSpPr>
          <p:nvPr/>
        </p:nvGrpSpPr>
        <p:grpSpPr bwMode="auto">
          <a:xfrm>
            <a:off x="6553200" y="3581400"/>
            <a:ext cx="2438400" cy="2971800"/>
            <a:chOff x="4128" y="2304"/>
            <a:chExt cx="1536" cy="1872"/>
          </a:xfrm>
        </p:grpSpPr>
        <p:pic>
          <p:nvPicPr>
            <p:cNvPr id="19460" name="Picture 4">
              <a:extLst>
                <a:ext uri="{FF2B5EF4-FFF2-40B4-BE49-F238E27FC236}">
                  <a16:creationId xmlns:a16="http://schemas.microsoft.com/office/drawing/2014/main" id="{7EB721EA-A02B-4B2F-B3C0-AB2D9E9A9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8" y="3228"/>
              <a:ext cx="1536" cy="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1" name="Picture 5">
              <a:extLst>
                <a:ext uri="{FF2B5EF4-FFF2-40B4-BE49-F238E27FC236}">
                  <a16:creationId xmlns:a16="http://schemas.microsoft.com/office/drawing/2014/main" id="{08DA1982-7B24-4270-B32D-E7C08219E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 y="2304"/>
              <a:ext cx="1536"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9462" name="Group 6">
            <a:extLst>
              <a:ext uri="{FF2B5EF4-FFF2-40B4-BE49-F238E27FC236}">
                <a16:creationId xmlns:a16="http://schemas.microsoft.com/office/drawing/2014/main" id="{33012A7F-BCC9-45DB-8FD8-E28FE9803325}"/>
              </a:ext>
            </a:extLst>
          </p:cNvPr>
          <p:cNvGrpSpPr>
            <a:grpSpLocks/>
          </p:cNvGrpSpPr>
          <p:nvPr/>
        </p:nvGrpSpPr>
        <p:grpSpPr bwMode="auto">
          <a:xfrm>
            <a:off x="304800" y="1022350"/>
            <a:ext cx="7772400" cy="1797050"/>
            <a:chOff x="192" y="336"/>
            <a:chExt cx="4896" cy="1132"/>
          </a:xfrm>
        </p:grpSpPr>
        <p:grpSp>
          <p:nvGrpSpPr>
            <p:cNvPr id="19463" name="Group 7">
              <a:extLst>
                <a:ext uri="{FF2B5EF4-FFF2-40B4-BE49-F238E27FC236}">
                  <a16:creationId xmlns:a16="http://schemas.microsoft.com/office/drawing/2014/main" id="{5139E416-CE02-44E0-8324-35ED54FE2067}"/>
                </a:ext>
              </a:extLst>
            </p:cNvPr>
            <p:cNvGrpSpPr>
              <a:grpSpLocks/>
            </p:cNvGrpSpPr>
            <p:nvPr/>
          </p:nvGrpSpPr>
          <p:grpSpPr bwMode="auto">
            <a:xfrm>
              <a:off x="194" y="336"/>
              <a:ext cx="4431" cy="457"/>
              <a:chOff x="745" y="1920"/>
              <a:chExt cx="4431" cy="457"/>
            </a:xfrm>
          </p:grpSpPr>
          <p:sp>
            <p:nvSpPr>
              <p:cNvPr id="19464" name="Rectangle 8">
                <a:extLst>
                  <a:ext uri="{FF2B5EF4-FFF2-40B4-BE49-F238E27FC236}">
                    <a16:creationId xmlns:a16="http://schemas.microsoft.com/office/drawing/2014/main" id="{4845D7F2-BC75-412A-9BE0-6EE307BAC405}"/>
                  </a:ext>
                </a:extLst>
              </p:cNvPr>
              <p:cNvSpPr>
                <a:spLocks noChangeArrowheads="1"/>
              </p:cNvSpPr>
              <p:nvPr/>
            </p:nvSpPr>
            <p:spPr bwMode="auto">
              <a:xfrm>
                <a:off x="745" y="2016"/>
                <a:ext cx="44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b="1" dirty="0">
                    <a:latin typeface="Times New Roman" panose="02020603050405020304" pitchFamily="18" charset="0"/>
                    <a:ea typeface="楷体_GB2312" pitchFamily="49" charset="-122"/>
                  </a:rPr>
                  <a:t>由</a:t>
                </a:r>
                <a:r>
                  <a:rPr lang="en-US" altLang="zh-CN" sz="2400" b="1" i="1" dirty="0">
                    <a:latin typeface="Times New Roman" panose="02020603050405020304" pitchFamily="18" charset="0"/>
                    <a:ea typeface="楷体_GB2312" pitchFamily="49" charset="-122"/>
                  </a:rPr>
                  <a:t>x’’</a:t>
                </a:r>
                <a:r>
                  <a:rPr lang="en-US" altLang="zh-CN" sz="2400" b="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t</a:t>
                </a:r>
                <a:r>
                  <a:rPr lang="en-US" altLang="zh-CN" sz="2400" b="1" baseline="-30000" dirty="0">
                    <a:latin typeface="Times New Roman" panose="02020603050405020304" pitchFamily="18" charset="0"/>
                    <a:ea typeface="楷体_GB2312" pitchFamily="49" charset="-122"/>
                  </a:rPr>
                  <a:t>0</a:t>
                </a:r>
                <a:r>
                  <a:rPr lang="en-US" altLang="zh-CN" sz="2400" b="1" dirty="0">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，可以得出             </a:t>
                </a:r>
                <a:r>
                  <a:rPr lang="en-US" altLang="zh-CN" sz="2400" b="1" dirty="0">
                    <a:latin typeface="Times New Roman" panose="02020603050405020304" pitchFamily="18" charset="0"/>
                    <a:ea typeface="楷体_GB2312" pitchFamily="49" charset="-122"/>
                  </a:rPr>
                  <a:t>=1</a:t>
                </a:r>
                <a:r>
                  <a:rPr lang="zh-CN" altLang="en-US" sz="2400" b="1" dirty="0">
                    <a:latin typeface="Times New Roman" panose="02020603050405020304" pitchFamily="18" charset="0"/>
                    <a:ea typeface="楷体_GB2312" pitchFamily="49" charset="-122"/>
                  </a:rPr>
                  <a:t>，此时，              。</a:t>
                </a:r>
              </a:p>
            </p:txBody>
          </p:sp>
          <p:graphicFrame>
            <p:nvGraphicFramePr>
              <p:cNvPr id="19465" name="Object 9">
                <a:extLst>
                  <a:ext uri="{FF2B5EF4-FFF2-40B4-BE49-F238E27FC236}">
                    <a16:creationId xmlns:a16="http://schemas.microsoft.com/office/drawing/2014/main" id="{4E1650AF-7ECD-48B8-8F10-5CA559B67C84}"/>
                  </a:ext>
                </a:extLst>
              </p:cNvPr>
              <p:cNvGraphicFramePr>
                <a:graphicFrameLocks noChangeAspect="1"/>
              </p:cNvGraphicFramePr>
              <p:nvPr/>
            </p:nvGraphicFramePr>
            <p:xfrm>
              <a:off x="2688" y="2057"/>
              <a:ext cx="576" cy="247"/>
            </p:xfrm>
            <a:graphic>
              <a:graphicData uri="http://schemas.openxmlformats.org/presentationml/2006/ole">
                <mc:AlternateContent xmlns:mc="http://schemas.openxmlformats.org/markup-compatibility/2006">
                  <mc:Choice xmlns:v="urn:schemas-microsoft-com:vml" Requires="v">
                    <p:oleObj name="Equation" r:id="rId4" imgW="469696" imgH="203112" progId="Equation.DSMT4">
                      <p:embed/>
                    </p:oleObj>
                  </mc:Choice>
                  <mc:Fallback>
                    <p:oleObj name="Equation" r:id="rId4" imgW="469696" imgH="203112" progId="Equation.DSMT4">
                      <p:embed/>
                      <p:pic>
                        <p:nvPicPr>
                          <p:cNvPr id="19465" name="Object 9">
                            <a:extLst>
                              <a:ext uri="{FF2B5EF4-FFF2-40B4-BE49-F238E27FC236}">
                                <a16:creationId xmlns:a16="http://schemas.microsoft.com/office/drawing/2014/main" id="{4E1650AF-7ECD-48B8-8F10-5CA559B67C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8" y="2057"/>
                            <a:ext cx="576" cy="2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6" name="Object 10">
                <a:extLst>
                  <a:ext uri="{FF2B5EF4-FFF2-40B4-BE49-F238E27FC236}">
                    <a16:creationId xmlns:a16="http://schemas.microsoft.com/office/drawing/2014/main" id="{62858B6A-7412-4C11-B925-12A4FA0B8B75}"/>
                  </a:ext>
                </a:extLst>
              </p:cNvPr>
              <p:cNvGraphicFramePr>
                <a:graphicFrameLocks noChangeAspect="1"/>
              </p:cNvGraphicFramePr>
              <p:nvPr/>
            </p:nvGraphicFramePr>
            <p:xfrm>
              <a:off x="4128" y="1920"/>
              <a:ext cx="768" cy="457"/>
            </p:xfrm>
            <a:graphic>
              <a:graphicData uri="http://schemas.openxmlformats.org/presentationml/2006/ole">
                <mc:AlternateContent xmlns:mc="http://schemas.openxmlformats.org/markup-compatibility/2006">
                  <mc:Choice xmlns:v="urn:schemas-microsoft-com:vml" Requires="v">
                    <p:oleObj r:id="rId6" imgW="660113" imgH="393529" progId="Equation.3">
                      <p:embed/>
                    </p:oleObj>
                  </mc:Choice>
                  <mc:Fallback>
                    <p:oleObj r:id="rId6" imgW="660113" imgH="393529" progId="Equation.3">
                      <p:embed/>
                      <p:pic>
                        <p:nvPicPr>
                          <p:cNvPr id="19466" name="Object 10">
                            <a:extLst>
                              <a:ext uri="{FF2B5EF4-FFF2-40B4-BE49-F238E27FC236}">
                                <a16:creationId xmlns:a16="http://schemas.microsoft.com/office/drawing/2014/main" id="{62858B6A-7412-4C11-B925-12A4FA0B8B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28" y="1920"/>
                            <a:ext cx="768" cy="4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9467" name="Rectangle 11">
              <a:extLst>
                <a:ext uri="{FF2B5EF4-FFF2-40B4-BE49-F238E27FC236}">
                  <a16:creationId xmlns:a16="http://schemas.microsoft.com/office/drawing/2014/main" id="{E85357BE-EBE8-48B2-9D5D-04F60A8BCCBE}"/>
                </a:ext>
              </a:extLst>
            </p:cNvPr>
            <p:cNvSpPr>
              <a:spLocks noChangeArrowheads="1"/>
            </p:cNvSpPr>
            <p:nvPr/>
          </p:nvSpPr>
          <p:spPr bwMode="auto">
            <a:xfrm>
              <a:off x="192" y="720"/>
              <a:ext cx="4896"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latin typeface="Times New Roman" panose="02020603050405020304" pitchFamily="18" charset="0"/>
                  <a:ea typeface="楷体_GB2312" pitchFamily="49" charset="-122"/>
                </a:rPr>
                <a:t>当</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&lt;</a:t>
              </a:r>
              <a:r>
                <a:rPr lang="en-US" altLang="zh-CN" sz="2400" b="1" i="1">
                  <a:latin typeface="Times New Roman" panose="02020603050405020304" pitchFamily="18" charset="0"/>
                  <a:ea typeface="楷体_GB2312" pitchFamily="49" charset="-122"/>
                </a:rPr>
                <a:t>t</a:t>
              </a:r>
              <a:r>
                <a:rPr lang="en-US" altLang="zh-CN" sz="2400" b="1" baseline="-30000">
                  <a:latin typeface="Times New Roman" panose="02020603050405020304" pitchFamily="18" charset="0"/>
                  <a:ea typeface="楷体_GB2312" pitchFamily="49" charset="-122"/>
                </a:rPr>
                <a:t>0</a:t>
              </a:r>
              <a:r>
                <a:rPr lang="zh-CN" altLang="en-US" sz="2400" b="1">
                  <a:latin typeface="Times New Roman" panose="02020603050405020304" pitchFamily="18" charset="0"/>
                  <a:ea typeface="楷体_GB2312" pitchFamily="49" charset="-122"/>
                </a:rPr>
                <a:t>时，</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)&gt;0</a:t>
              </a:r>
              <a:r>
                <a:rPr lang="zh-CN" altLang="en-US"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单调增加，而当</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&gt;</a:t>
              </a:r>
              <a:r>
                <a:rPr lang="en-US" altLang="zh-CN" sz="2400" b="1" i="1">
                  <a:latin typeface="Times New Roman" panose="02020603050405020304" pitchFamily="18" charset="0"/>
                  <a:ea typeface="楷体_GB2312" pitchFamily="49" charset="-122"/>
                </a:rPr>
                <a:t>t</a:t>
              </a:r>
              <a:r>
                <a:rPr lang="en-US" altLang="zh-CN" sz="2400" b="1" baseline="-30000">
                  <a:latin typeface="Times New Roman" panose="02020603050405020304" pitchFamily="18" charset="0"/>
                  <a:ea typeface="楷体_GB2312" pitchFamily="49" charset="-122"/>
                </a:rPr>
                <a:t>0</a:t>
              </a:r>
              <a:r>
                <a:rPr lang="zh-CN" altLang="en-US" sz="2400" b="1">
                  <a:latin typeface="Times New Roman" panose="02020603050405020304" pitchFamily="18" charset="0"/>
                  <a:ea typeface="楷体_GB2312" pitchFamily="49" charset="-122"/>
                </a:rPr>
                <a:t>时，</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)&lt;0</a:t>
              </a:r>
              <a:r>
                <a:rPr lang="zh-CN" altLang="en-US"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x’</a:t>
              </a:r>
              <a:r>
                <a:rPr lang="en-US" altLang="zh-CN" sz="2400" b="1">
                  <a:latin typeface="Times New Roman" panose="02020603050405020304" pitchFamily="18" charset="0"/>
                  <a:ea typeface="楷体_GB2312" pitchFamily="49" charset="-122"/>
                </a:rPr>
                <a:t>(</a:t>
              </a:r>
              <a:r>
                <a:rPr lang="en-US" altLang="zh-CN" sz="2400" b="1" i="1">
                  <a:latin typeface="Times New Roman" panose="02020603050405020304" pitchFamily="18" charset="0"/>
                  <a:ea typeface="楷体_GB2312" pitchFamily="49" charset="-122"/>
                </a:rPr>
                <a:t>t</a:t>
              </a:r>
              <a:r>
                <a:rPr lang="en-US" altLang="zh-CN" sz="2400" b="1">
                  <a:latin typeface="Times New Roman" panose="02020603050405020304" pitchFamily="18" charset="0"/>
                  <a:ea typeface="楷体_GB2312" pitchFamily="49" charset="-122"/>
                </a:rPr>
                <a:t>)</a:t>
              </a:r>
              <a:r>
                <a:rPr lang="zh-CN" altLang="en-US" sz="2400" b="1">
                  <a:latin typeface="Times New Roman" panose="02020603050405020304" pitchFamily="18" charset="0"/>
                  <a:ea typeface="楷体_GB2312" pitchFamily="49" charset="-122"/>
                </a:rPr>
                <a:t>单调减小。</a:t>
              </a:r>
              <a:r>
                <a:rPr lang="zh-CN" altLang="en-US" sz="2400" b="1">
                  <a:latin typeface="楷体_GB2312" pitchFamily="49" charset="-122"/>
                  <a:ea typeface="楷体_GB2312" pitchFamily="49" charset="-122"/>
                </a:rPr>
                <a:t>实际调查表明，销售曲线与</a:t>
              </a:r>
              <a:r>
                <a:rPr lang="en-US" altLang="zh-CN" sz="2400" b="1">
                  <a:latin typeface="楷体_GB2312" pitchFamily="49" charset="-122"/>
                  <a:ea typeface="楷体_GB2312" pitchFamily="49" charset="-122"/>
                </a:rPr>
                <a:t>Logistic</a:t>
              </a:r>
              <a:r>
                <a:rPr lang="zh-CN" altLang="en-US" sz="2400" b="1">
                  <a:latin typeface="楷体_GB2312" pitchFamily="49" charset="-122"/>
                  <a:ea typeface="楷体_GB2312" pitchFamily="49" charset="-122"/>
                </a:rPr>
                <a:t>曲线十分接近，尤其是在销售后期，两者几乎完全吻合。 </a:t>
              </a:r>
            </a:p>
          </p:txBody>
        </p:sp>
      </p:grpSp>
      <p:pic>
        <p:nvPicPr>
          <p:cNvPr id="19468" name="Picture 12">
            <a:extLst>
              <a:ext uri="{FF2B5EF4-FFF2-40B4-BE49-F238E27FC236}">
                <a16:creationId xmlns:a16="http://schemas.microsoft.com/office/drawing/2014/main" id="{9C253971-7D7D-421C-9553-7C2468F273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956548"/>
            <a:ext cx="1720850" cy="1712913"/>
          </a:xfrm>
          <a:prstGeom prst="rect">
            <a:avLst/>
          </a:prstGeom>
          <a:noFill/>
          <a:extLst>
            <a:ext uri="{909E8E84-426E-40DD-AFC4-6F175D3DCCD1}">
              <a14:hiddenFill xmlns:a14="http://schemas.microsoft.com/office/drawing/2010/main">
                <a:solidFill>
                  <a:srgbClr val="FFFFFF"/>
                </a:solidFill>
              </a14:hiddenFill>
            </a:ext>
          </a:extLst>
        </p:spPr>
      </p:pic>
      <p:sp>
        <p:nvSpPr>
          <p:cNvPr id="19469" name="AutoShape 13">
            <a:extLst>
              <a:ext uri="{FF2B5EF4-FFF2-40B4-BE49-F238E27FC236}">
                <a16:creationId xmlns:a16="http://schemas.microsoft.com/office/drawing/2014/main" id="{19D5B2B4-0774-4C85-BA02-B65DF4D311ED}"/>
              </a:ext>
            </a:extLst>
          </p:cNvPr>
          <p:cNvSpPr>
            <a:spLocks noChangeArrowheads="1"/>
          </p:cNvSpPr>
          <p:nvPr/>
        </p:nvSpPr>
        <p:spPr bwMode="auto">
          <a:xfrm>
            <a:off x="903784" y="2929136"/>
            <a:ext cx="5486400" cy="2209800"/>
          </a:xfrm>
          <a:prstGeom prst="cloudCallout">
            <a:avLst>
              <a:gd name="adj1" fmla="val -46324"/>
              <a:gd name="adj2" fmla="val 66884"/>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latin typeface="Times New Roman" panose="02020603050405020304" pitchFamily="18" charset="0"/>
                <a:ea typeface="楷体_GB2312" pitchFamily="49" charset="-122"/>
              </a:rPr>
              <a:t>在销出量小于最大需求量的一半时，销售速度是不断增大的，销出量达到最大需求量的一半时，该产品最为畅销，接着销售速度将开始下降。</a:t>
            </a:r>
          </a:p>
        </p:txBody>
      </p:sp>
      <p:sp>
        <p:nvSpPr>
          <p:cNvPr id="19470" name="AutoShape 14">
            <a:extLst>
              <a:ext uri="{FF2B5EF4-FFF2-40B4-BE49-F238E27FC236}">
                <a16:creationId xmlns:a16="http://schemas.microsoft.com/office/drawing/2014/main" id="{814B914E-8B3F-4CB7-BEEB-023E2D3A1F56}"/>
              </a:ext>
            </a:extLst>
          </p:cNvPr>
          <p:cNvSpPr>
            <a:spLocks noChangeArrowheads="1"/>
          </p:cNvSpPr>
          <p:nvPr/>
        </p:nvSpPr>
        <p:spPr bwMode="auto">
          <a:xfrm>
            <a:off x="827584" y="2852936"/>
            <a:ext cx="5867400" cy="2438400"/>
          </a:xfrm>
          <a:prstGeom prst="cloudCallout">
            <a:avLst>
              <a:gd name="adj1" fmla="val -44319"/>
              <a:gd name="adj2" fmla="val 58722"/>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latin typeface="楷体_GB2312" pitchFamily="49" charset="-122"/>
                <a:ea typeface="楷体_GB2312" pitchFamily="49" charset="-122"/>
              </a:rPr>
              <a:t>所以初期应采取小批量生产并加以广告宣传；从有</a:t>
            </a:r>
            <a:r>
              <a:rPr lang="en-US" altLang="zh-CN" sz="2000" b="1" dirty="0">
                <a:latin typeface="楷体_GB2312" pitchFamily="49" charset="-122"/>
                <a:ea typeface="楷体_GB2312" pitchFamily="49" charset="-122"/>
              </a:rPr>
              <a:t>20%</a:t>
            </a:r>
            <a:r>
              <a:rPr lang="zh-CN" altLang="en-US" sz="2000" b="1" dirty="0">
                <a:latin typeface="楷体_GB2312" pitchFamily="49" charset="-122"/>
                <a:ea typeface="楷体_GB2312" pitchFamily="49" charset="-122"/>
              </a:rPr>
              <a:t>用户到有</a:t>
            </a:r>
            <a:r>
              <a:rPr lang="en-US" altLang="zh-CN" sz="2000" b="1" dirty="0">
                <a:latin typeface="楷体_GB2312" pitchFamily="49" charset="-122"/>
                <a:ea typeface="楷体_GB2312" pitchFamily="49" charset="-122"/>
              </a:rPr>
              <a:t>80%</a:t>
            </a:r>
            <a:r>
              <a:rPr lang="zh-CN" altLang="en-US" sz="2000" b="1" dirty="0">
                <a:latin typeface="楷体_GB2312" pitchFamily="49" charset="-122"/>
                <a:ea typeface="楷体_GB2312" pitchFamily="49" charset="-122"/>
              </a:rPr>
              <a:t>用户这段时期，应该大批量生产；后期则应适时转产，这样做可以取得较高的经济效果。 </a:t>
            </a:r>
          </a:p>
        </p:txBody>
      </p:sp>
      <p:sp>
        <p:nvSpPr>
          <p:cNvPr id="2" name="灯片编号占位符 1">
            <a:extLst>
              <a:ext uri="{FF2B5EF4-FFF2-40B4-BE49-F238E27FC236}">
                <a16:creationId xmlns:a16="http://schemas.microsoft.com/office/drawing/2014/main" id="{376D0003-BB16-6D73-A044-E5F791C1B85D}"/>
              </a:ext>
            </a:extLst>
          </p:cNvPr>
          <p:cNvSpPr>
            <a:spLocks noGrp="1"/>
          </p:cNvSpPr>
          <p:nvPr>
            <p:ph type="sldNum" sz="quarter" idx="12"/>
          </p:nvPr>
        </p:nvSpPr>
        <p:spPr/>
        <p:txBody>
          <a:bodyPr/>
          <a:lstStyle/>
          <a:p>
            <a:fld id="{0C913308-F349-4B6D-A68A-DD1791B4A57B}" type="slidenum">
              <a:rPr lang="zh-CN" altLang="en-US" smtClean="0"/>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linds(horizontal)">
                                      <p:cBhvr>
                                        <p:cTn id="7" dur="500"/>
                                        <p:tgtEl>
                                          <p:spTgt spid="1945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9458"/>
                                        </p:tgtEl>
                                        <p:attrNameLst>
                                          <p:attrName>style.visibility</p:attrName>
                                        </p:attrNameLst>
                                      </p:cBhvr>
                                      <p:to>
                                        <p:strVal val="visible"/>
                                      </p:to>
                                    </p:set>
                                    <p:animEffect transition="in" filter="wipe(left)">
                                      <p:cBhvr>
                                        <p:cTn id="11" dur="500"/>
                                        <p:tgtEl>
                                          <p:spTgt spid="194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9462"/>
                                        </p:tgtEl>
                                        <p:attrNameLst>
                                          <p:attrName>style.visibility</p:attrName>
                                        </p:attrNameLst>
                                      </p:cBhvr>
                                      <p:to>
                                        <p:strVal val="visible"/>
                                      </p:to>
                                    </p:set>
                                    <p:animEffect transition="in" filter="wipe(up)">
                                      <p:cBhvr>
                                        <p:cTn id="16" dur="500"/>
                                        <p:tgtEl>
                                          <p:spTgt spid="1946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9468"/>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9469"/>
                                        </p:tgtEl>
                                        <p:attrNameLst>
                                          <p:attrName>style.visibility</p:attrName>
                                        </p:attrNameLst>
                                      </p:cBhvr>
                                      <p:to>
                                        <p:strVal val="visible"/>
                                      </p:to>
                                    </p:set>
                                    <p:animEffect transition="in" filter="wipe(left)">
                                      <p:cBhvr>
                                        <p:cTn id="24" dur="500"/>
                                        <p:tgtEl>
                                          <p:spTgt spid="19469"/>
                                        </p:tgtEl>
                                      </p:cBhvr>
                                    </p:animEffect>
                                  </p:childTnLst>
                                  <p:subTnLst>
                                    <p:set>
                                      <p:cBhvr override="childStyle">
                                        <p:cTn dur="1" fill="hold" display="0" masterRel="nextClick" afterEffect="1"/>
                                        <p:tgtEl>
                                          <p:spTgt spid="19469"/>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9470"/>
                                        </p:tgtEl>
                                        <p:attrNameLst>
                                          <p:attrName>style.visibility</p:attrName>
                                        </p:attrNameLst>
                                      </p:cBhvr>
                                      <p:to>
                                        <p:strVal val="visible"/>
                                      </p:to>
                                    </p:set>
                                    <p:animEffect transition="in" filter="wipe(left)">
                                      <p:cBhvr>
                                        <p:cTn id="29" dur="500"/>
                                        <p:tgtEl>
                                          <p:spTgt spid="19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P spid="19469" grpId="0" animBg="1" autoUpdateAnimBg="0"/>
      <p:bldP spid="19470"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A4867E3-E94A-464B-848B-A0369FE9D5BD}"/>
              </a:ext>
            </a:extLst>
          </p:cNvPr>
          <p:cNvSpPr>
            <a:spLocks noChangeArrowheads="1"/>
          </p:cNvSpPr>
          <p:nvPr/>
        </p:nvSpPr>
        <p:spPr bwMode="auto">
          <a:xfrm>
            <a:off x="2133600" y="2514600"/>
            <a:ext cx="480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kumimoji="1" lang="zh-CN" altLang="zh-CN" sz="2800"/>
          </a:p>
        </p:txBody>
      </p:sp>
      <p:sp>
        <p:nvSpPr>
          <p:cNvPr id="2051" name="Rectangle 3">
            <a:extLst>
              <a:ext uri="{FF2B5EF4-FFF2-40B4-BE49-F238E27FC236}">
                <a16:creationId xmlns:a16="http://schemas.microsoft.com/office/drawing/2014/main" id="{B143202B-230E-4C1B-89F6-238F4BEF9F88}"/>
              </a:ext>
            </a:extLst>
          </p:cNvPr>
          <p:cNvSpPr>
            <a:spLocks noChangeArrowheads="1"/>
          </p:cNvSpPr>
          <p:nvPr/>
        </p:nvSpPr>
        <p:spPr bwMode="auto">
          <a:xfrm>
            <a:off x="1408112" y="405705"/>
            <a:ext cx="55260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5400" b="1" dirty="0">
                <a:solidFill>
                  <a:schemeClr val="accent2"/>
                </a:solidFill>
                <a:latin typeface="Times New Roman" panose="02020603050405020304" pitchFamily="18" charset="0"/>
                <a:ea typeface="楷体_GB2312" pitchFamily="49" charset="-122"/>
              </a:rPr>
              <a:t>差分方程建模</a:t>
            </a:r>
          </a:p>
        </p:txBody>
      </p:sp>
      <p:pic>
        <p:nvPicPr>
          <p:cNvPr id="2052" name="Picture 4">
            <a:extLst>
              <a:ext uri="{FF2B5EF4-FFF2-40B4-BE49-F238E27FC236}">
                <a16:creationId xmlns:a16="http://schemas.microsoft.com/office/drawing/2014/main" id="{3BFBE235-5019-4932-B7A4-DC2ABDC9240F}"/>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6825" y="620713"/>
            <a:ext cx="987425"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3" name="Rectangle 5">
            <a:extLst>
              <a:ext uri="{FF2B5EF4-FFF2-40B4-BE49-F238E27FC236}">
                <a16:creationId xmlns:a16="http://schemas.microsoft.com/office/drawing/2014/main" id="{EF7A3211-30F7-4388-93FD-3C6DB5E526E6}"/>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54" name="Rectangle 6">
            <a:extLst>
              <a:ext uri="{FF2B5EF4-FFF2-40B4-BE49-F238E27FC236}">
                <a16:creationId xmlns:a16="http://schemas.microsoft.com/office/drawing/2014/main" id="{FFA85259-8AF2-4C05-8A32-413A08BA0EBE}"/>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55" name="Rectangle 7">
            <a:extLst>
              <a:ext uri="{FF2B5EF4-FFF2-40B4-BE49-F238E27FC236}">
                <a16:creationId xmlns:a16="http://schemas.microsoft.com/office/drawing/2014/main" id="{DAB3CF13-20AD-4D15-8C4C-B75BF4FD2D62}"/>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56" name="Rectangle 8">
            <a:extLst>
              <a:ext uri="{FF2B5EF4-FFF2-40B4-BE49-F238E27FC236}">
                <a16:creationId xmlns:a16="http://schemas.microsoft.com/office/drawing/2014/main" id="{E8A18861-FE4F-492C-A3FB-BA86D3F37DA0}"/>
              </a:ext>
            </a:extLst>
          </p:cNvPr>
          <p:cNvSpPr>
            <a:spLocks noChangeArrowheads="1"/>
          </p:cNvSpPr>
          <p:nvPr/>
        </p:nvSpPr>
        <p:spPr bwMode="auto">
          <a:xfrm>
            <a:off x="990600" y="1828800"/>
            <a:ext cx="571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dirty="0">
                <a:latin typeface="宋体" panose="02010600030101010101" pitchFamily="2" charset="-122"/>
              </a:rPr>
              <a:t>•</a:t>
            </a:r>
            <a:r>
              <a:rPr kumimoji="1" lang="zh-CN" altLang="ru-RU" sz="2800" b="1" dirty="0">
                <a:latin typeface="宋体" panose="02010600030101010101" pitchFamily="2" charset="-122"/>
              </a:rPr>
              <a:t>处理动态的离散型的问题</a:t>
            </a:r>
          </a:p>
        </p:txBody>
      </p:sp>
      <p:sp>
        <p:nvSpPr>
          <p:cNvPr id="2057" name="Rectangle 9">
            <a:extLst>
              <a:ext uri="{FF2B5EF4-FFF2-40B4-BE49-F238E27FC236}">
                <a16:creationId xmlns:a16="http://schemas.microsoft.com/office/drawing/2014/main" id="{08452DF9-A2B4-47FA-9F67-111CE0CD3B7F}"/>
              </a:ext>
            </a:extLst>
          </p:cNvPr>
          <p:cNvSpPr>
            <a:spLocks noChangeArrowheads="1"/>
          </p:cNvSpPr>
          <p:nvPr/>
        </p:nvSpPr>
        <p:spPr bwMode="auto">
          <a:xfrm>
            <a:off x="990600" y="2590800"/>
            <a:ext cx="7391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dirty="0">
                <a:cs typeface="Times New Roman" panose="02020603050405020304" pitchFamily="18" charset="0"/>
              </a:rPr>
              <a:t>•</a:t>
            </a:r>
            <a:r>
              <a:rPr kumimoji="1" lang="zh-CN" altLang="ru-RU" sz="2800" b="1" dirty="0"/>
              <a:t>处理</a:t>
            </a:r>
            <a:r>
              <a:rPr kumimoji="1" lang="zh-CN" altLang="ru-RU" sz="2800" b="1" dirty="0">
                <a:latin typeface="宋体" panose="02010600030101010101" pitchFamily="2" charset="-122"/>
              </a:rPr>
              <a:t>对象虽然涉及的变量</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如时间</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是连续的，但是从建模的目的考虑，把连续变量离散化更为合适，将连续变量作离散化处理，从而将连续模型</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微分方程</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化为离散型</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差分方程</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问题</a:t>
            </a:r>
            <a:r>
              <a:rPr kumimoji="1" lang="zh-CN" altLang="ru-RU" sz="2800" b="1" dirty="0">
                <a:cs typeface="Times New Roman" panose="02020603050405020304" pitchFamily="18" charset="0"/>
              </a:rPr>
              <a:t> </a:t>
            </a:r>
          </a:p>
        </p:txBody>
      </p:sp>
      <p:sp>
        <p:nvSpPr>
          <p:cNvPr id="2" name="灯片编号占位符 1">
            <a:extLst>
              <a:ext uri="{FF2B5EF4-FFF2-40B4-BE49-F238E27FC236}">
                <a16:creationId xmlns:a16="http://schemas.microsoft.com/office/drawing/2014/main" id="{D8DEA922-89DA-D8E5-8E1E-14BF5425ABC4}"/>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Tree>
    <p:extLst>
      <p:ext uri="{BB962C8B-B14F-4D97-AF65-F5344CB8AC3E}">
        <p14:creationId xmlns:p14="http://schemas.microsoft.com/office/powerpoint/2010/main" val="1827672239"/>
      </p:ext>
    </p:extLst>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 name="Rectangle 12">
            <a:extLst>
              <a:ext uri="{FF2B5EF4-FFF2-40B4-BE49-F238E27FC236}">
                <a16:creationId xmlns:a16="http://schemas.microsoft.com/office/drawing/2014/main" id="{494BD829-FDA4-4568-8946-09D436B48977}"/>
              </a:ext>
            </a:extLst>
          </p:cNvPr>
          <p:cNvSpPr>
            <a:spLocks noChangeArrowheads="1"/>
          </p:cNvSpPr>
          <p:nvPr/>
        </p:nvSpPr>
        <p:spPr bwMode="auto">
          <a:xfrm>
            <a:off x="2133600" y="2514600"/>
            <a:ext cx="480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kumimoji="1" lang="zh-CN" altLang="zh-CN" sz="2800"/>
          </a:p>
        </p:txBody>
      </p:sp>
      <p:sp>
        <p:nvSpPr>
          <p:cNvPr id="2061" name="Rectangle 13">
            <a:extLst>
              <a:ext uri="{FF2B5EF4-FFF2-40B4-BE49-F238E27FC236}">
                <a16:creationId xmlns:a16="http://schemas.microsoft.com/office/drawing/2014/main" id="{4E12C207-362C-4EF0-8A3B-D629D82AFF32}"/>
              </a:ext>
            </a:extLst>
          </p:cNvPr>
          <p:cNvSpPr>
            <a:spLocks noChangeArrowheads="1"/>
          </p:cNvSpPr>
          <p:nvPr/>
        </p:nvSpPr>
        <p:spPr bwMode="auto">
          <a:xfrm>
            <a:off x="1524000" y="1219200"/>
            <a:ext cx="5688013" cy="1323439"/>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dirty="0">
                <a:ea typeface="楷体_GB2312" pitchFamily="49" charset="-122"/>
              </a:rPr>
              <a:t>银行复利问题</a:t>
            </a:r>
          </a:p>
          <a:p>
            <a:pPr>
              <a:spcBef>
                <a:spcPct val="50000"/>
              </a:spcBef>
            </a:pPr>
            <a:r>
              <a:rPr kumimoji="1" lang="zh-CN" altLang="ru-RU" sz="3200" b="1" dirty="0">
                <a:ea typeface="楷体_GB2312" pitchFamily="49" charset="-122"/>
              </a:rPr>
              <a:t>抵押贷款买房问题 </a:t>
            </a:r>
          </a:p>
        </p:txBody>
      </p:sp>
      <p:pic>
        <p:nvPicPr>
          <p:cNvPr id="2062" name="Picture 14">
            <a:extLst>
              <a:ext uri="{FF2B5EF4-FFF2-40B4-BE49-F238E27FC236}">
                <a16:creationId xmlns:a16="http://schemas.microsoft.com/office/drawing/2014/main" id="{1EB030A1-692C-436D-8D8B-66F3D862127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6825" y="620713"/>
            <a:ext cx="987425"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63" name="Rectangle 15">
            <a:extLst>
              <a:ext uri="{FF2B5EF4-FFF2-40B4-BE49-F238E27FC236}">
                <a16:creationId xmlns:a16="http://schemas.microsoft.com/office/drawing/2014/main" id="{373FDCFF-CD2E-48B8-83F7-C14DF9959F13}"/>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64" name="Rectangle 16">
            <a:extLst>
              <a:ext uri="{FF2B5EF4-FFF2-40B4-BE49-F238E27FC236}">
                <a16:creationId xmlns:a16="http://schemas.microsoft.com/office/drawing/2014/main" id="{28CE7335-C1E8-429D-9FFC-A2FC560AF67F}"/>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65" name="Rectangle 17">
            <a:extLst>
              <a:ext uri="{FF2B5EF4-FFF2-40B4-BE49-F238E27FC236}">
                <a16:creationId xmlns:a16="http://schemas.microsoft.com/office/drawing/2014/main" id="{0415A460-895A-4E55-BB2A-34FAF95A4622}"/>
              </a:ext>
            </a:extLst>
          </p:cNvPr>
          <p:cNvSpPr>
            <a:spLocks noChangeArrowheads="1"/>
          </p:cNvSpPr>
          <p:nvPr/>
        </p:nvSpPr>
        <p:spPr bwMode="auto">
          <a:xfrm>
            <a:off x="8534400" y="6400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 name="灯片编号占位符 1">
            <a:extLst>
              <a:ext uri="{FF2B5EF4-FFF2-40B4-BE49-F238E27FC236}">
                <a16:creationId xmlns:a16="http://schemas.microsoft.com/office/drawing/2014/main" id="{8738025D-D531-24D5-CC8A-FD3D8CF1C301}"/>
              </a:ext>
            </a:extLst>
          </p:cNvPr>
          <p:cNvSpPr>
            <a:spLocks noGrp="1"/>
          </p:cNvSpPr>
          <p:nvPr>
            <p:ph type="sldNum" sz="quarter" idx="12"/>
          </p:nvPr>
        </p:nvSpPr>
        <p:spPr/>
        <p:txBody>
          <a:bodyPr/>
          <a:lstStyle/>
          <a:p>
            <a:fld id="{0C913308-F349-4B6D-A68A-DD1791B4A57B}" type="slidenum">
              <a:rPr lang="zh-CN" altLang="en-US" smtClean="0"/>
              <a:t>19</a:t>
            </a:fld>
            <a:endParaRPr lang="zh-CN" altLang="en-US"/>
          </a:p>
        </p:txBody>
      </p:sp>
    </p:spTree>
    <p:extLst>
      <p:ext uri="{BB962C8B-B14F-4D97-AF65-F5344CB8AC3E}">
        <p14:creationId xmlns:p14="http://schemas.microsoft.com/office/powerpoint/2010/main" val="4060875073"/>
      </p:ext>
    </p:extLst>
  </p:cSld>
  <p:clrMapOvr>
    <a:masterClrMapping/>
  </p:clrMapOvr>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 name="Rectangle 20">
            <a:extLst>
              <a:ext uri="{FF2B5EF4-FFF2-40B4-BE49-F238E27FC236}">
                <a16:creationId xmlns:a16="http://schemas.microsoft.com/office/drawing/2014/main" id="{7A06BA26-7E47-49D4-B58E-BA8DA3081C7A}"/>
              </a:ext>
            </a:extLst>
          </p:cNvPr>
          <p:cNvSpPr>
            <a:spLocks noChangeArrowheads="1"/>
          </p:cNvSpPr>
          <p:nvPr/>
        </p:nvSpPr>
        <p:spPr bwMode="auto">
          <a:xfrm>
            <a:off x="2057400" y="381000"/>
            <a:ext cx="4724400" cy="579438"/>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ru-RU" sz="3200" b="1" dirty="0">
                <a:latin typeface="楷体_GB2312" pitchFamily="49" charset="-122"/>
                <a:ea typeface="楷体_GB2312" pitchFamily="49" charset="-122"/>
              </a:rPr>
              <a:t>银行复利问题</a:t>
            </a:r>
            <a:r>
              <a:rPr kumimoji="1" lang="zh-CN" altLang="ru-RU" sz="3200" b="1" dirty="0">
                <a:ea typeface="楷体_GB2312" pitchFamily="49" charset="-122"/>
              </a:rPr>
              <a:t> </a:t>
            </a:r>
          </a:p>
        </p:txBody>
      </p:sp>
      <p:sp>
        <p:nvSpPr>
          <p:cNvPr id="2069" name="Rectangle 21">
            <a:extLst>
              <a:ext uri="{FF2B5EF4-FFF2-40B4-BE49-F238E27FC236}">
                <a16:creationId xmlns:a16="http://schemas.microsoft.com/office/drawing/2014/main" id="{5ADDDF1F-4C2A-49CA-B10E-51C98EF8D4D8}"/>
              </a:ext>
            </a:extLst>
          </p:cNvPr>
          <p:cNvSpPr>
            <a:spLocks noChangeArrowheads="1"/>
          </p:cNvSpPr>
          <p:nvPr/>
        </p:nvSpPr>
        <p:spPr bwMode="auto">
          <a:xfrm>
            <a:off x="457200" y="12954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背景</a:t>
            </a:r>
          </a:p>
        </p:txBody>
      </p:sp>
      <p:sp>
        <p:nvSpPr>
          <p:cNvPr id="2070" name="Rectangle 22">
            <a:extLst>
              <a:ext uri="{FF2B5EF4-FFF2-40B4-BE49-F238E27FC236}">
                <a16:creationId xmlns:a16="http://schemas.microsoft.com/office/drawing/2014/main" id="{EBA23B3B-20B9-4488-9883-DF166B419704}"/>
              </a:ext>
            </a:extLst>
          </p:cNvPr>
          <p:cNvSpPr>
            <a:spLocks noChangeArrowheads="1"/>
          </p:cNvSpPr>
          <p:nvPr/>
        </p:nvSpPr>
        <p:spPr bwMode="auto">
          <a:xfrm>
            <a:off x="1371600" y="1828800"/>
            <a:ext cx="7239000" cy="1384995"/>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kumimoji="1" lang="zh-CN" altLang="ru-RU" sz="2800" b="1" dirty="0">
                <a:latin typeface="宋体" panose="02010600030101010101" pitchFamily="2" charset="-122"/>
              </a:rPr>
              <a:t>所付利息一年内复合</a:t>
            </a:r>
            <a:r>
              <a:rPr kumimoji="1" lang="ru-RU" altLang="zh-CN" sz="2800" b="1" i="1" dirty="0">
                <a:latin typeface="宋体" panose="02010600030101010101" pitchFamily="2" charset="-122"/>
              </a:rPr>
              <a:t>n</a:t>
            </a:r>
            <a:r>
              <a:rPr kumimoji="1" lang="zh-CN" altLang="ru-RU" sz="2800" b="1" dirty="0">
                <a:latin typeface="宋体" panose="02010600030101010101" pitchFamily="2" charset="-122"/>
              </a:rPr>
              <a:t>次，即把一年分</a:t>
            </a:r>
            <a:r>
              <a:rPr kumimoji="1" lang="ru-RU" altLang="zh-CN" sz="2800" b="1" i="1" dirty="0">
                <a:latin typeface="宋体" panose="02010600030101010101" pitchFamily="2" charset="-122"/>
              </a:rPr>
              <a:t>n</a:t>
            </a:r>
            <a:r>
              <a:rPr kumimoji="1" lang="zh-CN" altLang="ru-RU" sz="2800" b="1" dirty="0">
                <a:latin typeface="宋体" panose="02010600030101010101" pitchFamily="2" charset="-122"/>
              </a:rPr>
              <a:t>个相等的时间段，而所付利息为每一时间段的</a:t>
            </a:r>
            <a:r>
              <a:rPr kumimoji="1" lang="zh-CN" altLang="en-US" sz="2800" b="1" dirty="0">
                <a:latin typeface="宋体" panose="02010600030101010101" pitchFamily="2" charset="-122"/>
              </a:rPr>
              <a:t>末尾</a:t>
            </a:r>
            <a:r>
              <a:rPr kumimoji="1" lang="zh-CN" altLang="ru-RU" sz="2800" b="1" dirty="0"/>
              <a:t> </a:t>
            </a:r>
            <a:r>
              <a:rPr kumimoji="1" lang="ru-RU" altLang="zh-CN" sz="2800" b="1" dirty="0"/>
              <a:t>.</a:t>
            </a:r>
          </a:p>
        </p:txBody>
      </p:sp>
      <p:sp>
        <p:nvSpPr>
          <p:cNvPr id="2071" name="Rectangle 23">
            <a:extLst>
              <a:ext uri="{FF2B5EF4-FFF2-40B4-BE49-F238E27FC236}">
                <a16:creationId xmlns:a16="http://schemas.microsoft.com/office/drawing/2014/main" id="{691A87B6-55DF-4F57-ACBA-014F8950FC67}"/>
              </a:ext>
            </a:extLst>
          </p:cNvPr>
          <p:cNvSpPr>
            <a:spLocks noChangeArrowheads="1"/>
          </p:cNvSpPr>
          <p:nvPr/>
        </p:nvSpPr>
        <p:spPr bwMode="auto">
          <a:xfrm>
            <a:off x="1371600" y="3352800"/>
            <a:ext cx="7543800" cy="604838"/>
          </a:xfrm>
          <a:prstGeom prst="rect">
            <a:avLst/>
          </a:prstGeom>
          <a:solidFill>
            <a:srgbClr val="FFFF00"/>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Char char="•"/>
            </a:pPr>
            <a:r>
              <a:rPr kumimoji="1" lang="zh-CN" altLang="ru-RU" sz="2800" b="1" dirty="0">
                <a:latin typeface="宋体" panose="02010600030101010101" pitchFamily="2" charset="-122"/>
              </a:rPr>
              <a:t>给出一个可以预测在任意给定时间的帐目余额</a:t>
            </a:r>
            <a:r>
              <a:rPr kumimoji="1" lang="zh-CN" altLang="ru-RU" sz="2800" b="1" dirty="0"/>
              <a:t> </a:t>
            </a:r>
          </a:p>
        </p:txBody>
      </p:sp>
      <p:sp>
        <p:nvSpPr>
          <p:cNvPr id="2072" name="Rectangle 24">
            <a:extLst>
              <a:ext uri="{FF2B5EF4-FFF2-40B4-BE49-F238E27FC236}">
                <a16:creationId xmlns:a16="http://schemas.microsoft.com/office/drawing/2014/main" id="{CE952315-7FBE-4693-8739-FBEEEE53EACB}"/>
              </a:ext>
            </a:extLst>
          </p:cNvPr>
          <p:cNvSpPr>
            <a:spLocks noChangeArrowheads="1"/>
          </p:cNvSpPr>
          <p:nvPr/>
        </p:nvSpPr>
        <p:spPr bwMode="auto">
          <a:xfrm>
            <a:off x="457200" y="41910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分析</a:t>
            </a:r>
          </a:p>
        </p:txBody>
      </p:sp>
      <p:sp>
        <p:nvSpPr>
          <p:cNvPr id="2073" name="Rectangle 25">
            <a:extLst>
              <a:ext uri="{FF2B5EF4-FFF2-40B4-BE49-F238E27FC236}">
                <a16:creationId xmlns:a16="http://schemas.microsoft.com/office/drawing/2014/main" id="{CB64E9C1-83C4-4A83-9D6E-7312DCDDE0A0}"/>
              </a:ext>
            </a:extLst>
          </p:cNvPr>
          <p:cNvSpPr>
            <a:spLocks noChangeArrowheads="1"/>
          </p:cNvSpPr>
          <p:nvPr/>
        </p:nvSpPr>
        <p:spPr bwMode="auto">
          <a:xfrm>
            <a:off x="1371600" y="4114800"/>
            <a:ext cx="7315200" cy="5191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kumimoji="1" lang="zh-CN" altLang="ru-RU" sz="2800" b="1" dirty="0">
                <a:latin typeface="宋体" panose="02010600030101010101" pitchFamily="2" charset="-122"/>
              </a:rPr>
              <a:t>帐目余额与时间直接相关，而时间是离散的</a:t>
            </a:r>
          </a:p>
        </p:txBody>
      </p:sp>
      <p:sp>
        <p:nvSpPr>
          <p:cNvPr id="2074" name="Rectangle 26">
            <a:extLst>
              <a:ext uri="{FF2B5EF4-FFF2-40B4-BE49-F238E27FC236}">
                <a16:creationId xmlns:a16="http://schemas.microsoft.com/office/drawing/2014/main" id="{75B4F26C-4F28-4368-8B5F-2E51F2A7BC75}"/>
              </a:ext>
            </a:extLst>
          </p:cNvPr>
          <p:cNvSpPr>
            <a:spLocks noChangeArrowheads="1"/>
          </p:cNvSpPr>
          <p:nvPr/>
        </p:nvSpPr>
        <p:spPr bwMode="auto">
          <a:xfrm>
            <a:off x="1371600" y="4724400"/>
            <a:ext cx="7467600" cy="1373188"/>
          </a:xfrm>
          <a:prstGeom prst="rect">
            <a:avLst/>
          </a:prstGeom>
          <a:noFill/>
          <a:ln>
            <a:noFill/>
          </a:ln>
          <a:effectLst/>
          <a:extLst>
            <a:ext uri="{909E8E84-426E-40DD-AFC4-6F175D3DCCD1}">
              <a14:hiddenFill xmlns:a14="http://schemas.microsoft.com/office/drawing/2010/main">
                <a:solidFill>
                  <a:srgbClr val="CCFF66"/>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kumimoji="1" lang="zh-CN" altLang="ru-RU" sz="2800" b="1" dirty="0">
                <a:latin typeface="宋体" panose="02010600030101010101" pitchFamily="2" charset="-122"/>
              </a:rPr>
              <a:t>本期结束时的总存款等于前一时期余下的本利，及本利得到的利息与本期内新存入的存款之和</a:t>
            </a:r>
            <a:r>
              <a:rPr kumimoji="1" lang="zh-CN" altLang="ru-RU" sz="2800" b="1" dirty="0"/>
              <a:t> </a:t>
            </a:r>
          </a:p>
        </p:txBody>
      </p:sp>
      <p:sp>
        <p:nvSpPr>
          <p:cNvPr id="2075" name="Rectangle 27">
            <a:extLst>
              <a:ext uri="{FF2B5EF4-FFF2-40B4-BE49-F238E27FC236}">
                <a16:creationId xmlns:a16="http://schemas.microsoft.com/office/drawing/2014/main" id="{11605443-0C02-4EFB-AAA6-42F2A2C1F388}"/>
              </a:ext>
            </a:extLst>
          </p:cNvPr>
          <p:cNvSpPr>
            <a:spLocks noChangeArrowheads="1"/>
          </p:cNvSpPr>
          <p:nvPr/>
        </p:nvSpPr>
        <p:spPr bwMode="auto">
          <a:xfrm>
            <a:off x="1371600" y="1143000"/>
            <a:ext cx="7543800" cy="6048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Tx/>
              <a:buChar char="•"/>
            </a:pPr>
            <a:r>
              <a:rPr kumimoji="1" lang="zh-CN" altLang="ru-RU" sz="2800" b="1">
                <a:latin typeface="宋体" panose="02010600030101010101" pitchFamily="2" charset="-122"/>
              </a:rPr>
              <a:t>任何时候都可以存款</a:t>
            </a:r>
          </a:p>
        </p:txBody>
      </p:sp>
      <p:sp>
        <p:nvSpPr>
          <p:cNvPr id="2" name="灯片编号占位符 1">
            <a:extLst>
              <a:ext uri="{FF2B5EF4-FFF2-40B4-BE49-F238E27FC236}">
                <a16:creationId xmlns:a16="http://schemas.microsoft.com/office/drawing/2014/main" id="{EF5E8032-EF98-4AE4-DFB5-6B5CFE38493F}"/>
              </a:ext>
            </a:extLst>
          </p:cNvPr>
          <p:cNvSpPr>
            <a:spLocks noGrp="1"/>
          </p:cNvSpPr>
          <p:nvPr>
            <p:ph type="sldNum" sz="quarter" idx="12"/>
          </p:nvPr>
        </p:nvSpPr>
        <p:spPr/>
        <p:txBody>
          <a:bodyPr/>
          <a:lstStyle/>
          <a:p>
            <a:fld id="{0C913308-F349-4B6D-A68A-DD1791B4A57B}" type="slidenum">
              <a:rPr lang="zh-CN" altLang="en-US" smtClean="0"/>
              <a:t>20</a:t>
            </a:fld>
            <a:endParaRPr lang="zh-CN" altLang="en-US"/>
          </a:p>
        </p:txBody>
      </p:sp>
    </p:spTree>
    <p:extLst>
      <p:ext uri="{BB962C8B-B14F-4D97-AF65-F5344CB8AC3E}">
        <p14:creationId xmlns:p14="http://schemas.microsoft.com/office/powerpoint/2010/main" val="1414290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childTnLst>
                                    <p:set>
                                      <p:cBhvr additive="base">
                                        <p:cTn id="6" dur="1" fill="hold">
                                          <p:stCondLst>
                                            <p:cond delay="499"/>
                                          </p:stCondLst>
                                        </p:cTn>
                                        <p:tgtEl>
                                          <p:spTgt spid="20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indefinite"/>
                            </p:stCondLst>
                          </p:cTn>
                        </p:par>
                        <p:par>
                          <p:cTn id="9" fill="hold" nodeType="afterGroup">
                            <p:stCondLst>
                              <p:cond delay="0"/>
                            </p:stCondLst>
                            <p:childTnLst>
                              <p:par>
                                <p:cTn id="10" presetID="4" presetClass="entr" presetSubtype="16" fill="hold" grpId="0" nodeType="clickEffect">
                                  <p:childTnLst>
                                    <p:set>
                                      <p:cBhvr additive="base">
                                        <p:cTn id="11" dur="1" fill="hold">
                                          <p:stCondLst>
                                            <p:cond delay="0"/>
                                          </p:stCondLst>
                                        </p:cTn>
                                        <p:tgtEl>
                                          <p:spTgt spid="2075"/>
                                        </p:tgtEl>
                                        <p:attrNameLst>
                                          <p:attrName>style.visibility</p:attrName>
                                        </p:attrNameLst>
                                      </p:cBhvr>
                                      <p:to>
                                        <p:strVal val="visible"/>
                                      </p:to>
                                    </p:set>
                                    <p:animEffect transition="in" filter="box(in)">
                                      <p:cBhvr additive="base">
                                        <p:cTn id="12" dur="500"/>
                                        <p:tgtEl>
                                          <p:spTgt spid="2075"/>
                                        </p:tgtEl>
                                      </p:cBhvr>
                                    </p:animEffect>
                                  </p:childTnLst>
                                </p:cTn>
                              </p:par>
                            </p:childTnLst>
                          </p:cTn>
                        </p:par>
                      </p:childTnLst>
                    </p:cTn>
                  </p:par>
                  <p:par>
                    <p:cTn id="13" fill="hold" nodeType="clickPar">
                      <p:stCondLst>
                        <p:cond delay="indefinite"/>
                      </p:stCondLst>
                      <p:childTnLst>
                        <p:par>
                          <p:cTn id="14" fill="hold" nodeType="withGroup">
                            <p:stCondLst>
                              <p:cond delay="indefinite"/>
                            </p:stCondLst>
                          </p:cTn>
                        </p:par>
                        <p:par>
                          <p:cTn id="15" fill="hold" nodeType="afterGroup">
                            <p:stCondLst>
                              <p:cond delay="0"/>
                            </p:stCondLst>
                            <p:childTnLst>
                              <p:par>
                                <p:cTn id="16" presetID="4" presetClass="entr" presetSubtype="16" fill="hold" grpId="0" nodeType="clickEffect">
                                  <p:childTnLst>
                                    <p:set>
                                      <p:cBhvr additive="base">
                                        <p:cTn id="17" dur="1" fill="hold">
                                          <p:stCondLst>
                                            <p:cond delay="0"/>
                                          </p:stCondLst>
                                        </p:cTn>
                                        <p:tgtEl>
                                          <p:spTgt spid="2070"/>
                                        </p:tgtEl>
                                        <p:attrNameLst>
                                          <p:attrName>style.visibility</p:attrName>
                                        </p:attrNameLst>
                                      </p:cBhvr>
                                      <p:to>
                                        <p:strVal val="visible"/>
                                      </p:to>
                                    </p:set>
                                    <p:animEffect transition="in" filter="box(in)">
                                      <p:cBhvr additive="base">
                                        <p:cTn id="18" dur="500"/>
                                        <p:tgtEl>
                                          <p:spTgt spid="2070"/>
                                        </p:tgtEl>
                                      </p:cBhvr>
                                    </p:animEffect>
                                  </p:childTnLst>
                                </p:cTn>
                              </p:par>
                            </p:childTnLst>
                          </p:cTn>
                        </p:par>
                      </p:childTnLst>
                    </p:cTn>
                  </p:par>
                  <p:par>
                    <p:cTn id="19" fill="hold" nodeType="clickPar">
                      <p:stCondLst>
                        <p:cond delay="indefinite"/>
                      </p:stCondLst>
                      <p:childTnLst>
                        <p:par>
                          <p:cTn id="20" fill="hold" nodeType="withGroup">
                            <p:stCondLst>
                              <p:cond delay="indefinite"/>
                            </p:stCondLst>
                          </p:cTn>
                        </p:par>
                        <p:par>
                          <p:cTn id="21" fill="hold" nodeType="afterGroup">
                            <p:stCondLst>
                              <p:cond delay="0"/>
                            </p:stCondLst>
                            <p:childTnLst>
                              <p:par>
                                <p:cTn id="22" presetID="4" presetClass="entr" presetSubtype="16" fill="hold" grpId="0" nodeType="clickEffect">
                                  <p:childTnLst>
                                    <p:set>
                                      <p:cBhvr additive="base">
                                        <p:cTn id="23" dur="1" fill="hold">
                                          <p:stCondLst>
                                            <p:cond delay="0"/>
                                          </p:stCondLst>
                                        </p:cTn>
                                        <p:tgtEl>
                                          <p:spTgt spid="2071"/>
                                        </p:tgtEl>
                                        <p:attrNameLst>
                                          <p:attrName>style.visibility</p:attrName>
                                        </p:attrNameLst>
                                      </p:cBhvr>
                                      <p:to>
                                        <p:strVal val="visible"/>
                                      </p:to>
                                    </p:set>
                                    <p:animEffect transition="in" filter="box(in)">
                                      <p:cBhvr additive="base">
                                        <p:cTn id="24" dur="500"/>
                                        <p:tgtEl>
                                          <p:spTgt spid="2071"/>
                                        </p:tgtEl>
                                      </p:cBhvr>
                                    </p:animEffect>
                                  </p:childTnLst>
                                </p:cTn>
                              </p:par>
                            </p:childTnLst>
                          </p:cTn>
                        </p:par>
                      </p:childTnLst>
                    </p:cTn>
                  </p:par>
                  <p:par>
                    <p:cTn id="25" fill="hold" nodeType="clickPar">
                      <p:stCondLst>
                        <p:cond delay="indefinite"/>
                      </p:stCondLst>
                      <p:childTnLst>
                        <p:par>
                          <p:cTn id="26" fill="hold" nodeType="withGroup">
                            <p:stCondLst>
                              <p:cond delay="indefinite"/>
                            </p:stCondLst>
                          </p:cTn>
                        </p:par>
                        <p:par>
                          <p:cTn id="27" fill="hold" nodeType="afterGroup">
                            <p:stCondLst>
                              <p:cond delay="0"/>
                            </p:stCondLst>
                            <p:childTnLst>
                              <p:par>
                                <p:cTn id="28" presetID="1" presetClass="entr" presetSubtype="0" fill="hold" grpId="0" nodeType="clickEffect">
                                  <p:childTnLst>
                                    <p:set>
                                      <p:cBhvr additive="base">
                                        <p:cTn id="29" dur="1" fill="hold">
                                          <p:stCondLst>
                                            <p:cond delay="499"/>
                                          </p:stCondLst>
                                        </p:cTn>
                                        <p:tgtEl>
                                          <p:spTgt spid="207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indefinite"/>
                            </p:stCondLst>
                          </p:cTn>
                        </p:par>
                        <p:par>
                          <p:cTn id="32" fill="hold" nodeType="afterGroup">
                            <p:stCondLst>
                              <p:cond delay="0"/>
                            </p:stCondLst>
                            <p:childTnLst>
                              <p:par>
                                <p:cTn id="33" presetID="5" presetClass="entr" presetSubtype="5" fill="hold" grpId="0" nodeType="clickEffect">
                                  <p:childTnLst>
                                    <p:set>
                                      <p:cBhvr additive="base">
                                        <p:cTn id="34" dur="1" fill="hold">
                                          <p:stCondLst>
                                            <p:cond delay="0"/>
                                          </p:stCondLst>
                                        </p:cTn>
                                        <p:tgtEl>
                                          <p:spTgt spid="2073"/>
                                        </p:tgtEl>
                                        <p:attrNameLst>
                                          <p:attrName>style.visibility</p:attrName>
                                        </p:attrNameLst>
                                      </p:cBhvr>
                                      <p:to>
                                        <p:strVal val="visible"/>
                                      </p:to>
                                    </p:set>
                                    <p:animEffect transition="in" filter="checkerboard(down)">
                                      <p:cBhvr additive="base">
                                        <p:cTn id="35" dur="500"/>
                                        <p:tgtEl>
                                          <p:spTgt spid="2073"/>
                                        </p:tgtEl>
                                      </p:cBhvr>
                                    </p:animEffect>
                                  </p:childTnLst>
                                </p:cTn>
                              </p:par>
                            </p:childTnLst>
                          </p:cTn>
                        </p:par>
                      </p:childTnLst>
                    </p:cTn>
                  </p:par>
                  <p:par>
                    <p:cTn id="36" fill="hold" nodeType="clickPar">
                      <p:stCondLst>
                        <p:cond delay="indefinite"/>
                      </p:stCondLst>
                      <p:childTnLst>
                        <p:par>
                          <p:cTn id="37" fill="hold" nodeType="withGroup">
                            <p:stCondLst>
                              <p:cond delay="indefinite"/>
                            </p:stCondLst>
                          </p:cTn>
                        </p:par>
                        <p:par>
                          <p:cTn id="38" fill="hold" nodeType="afterGroup">
                            <p:stCondLst>
                              <p:cond delay="0"/>
                            </p:stCondLst>
                            <p:childTnLst>
                              <p:par>
                                <p:cTn id="39" presetID="5" presetClass="entr" presetSubtype="5" fill="hold" grpId="0" nodeType="clickEffect">
                                  <p:childTnLst>
                                    <p:set>
                                      <p:cBhvr additive="base">
                                        <p:cTn id="40" dur="1" fill="hold">
                                          <p:stCondLst>
                                            <p:cond delay="0"/>
                                          </p:stCondLst>
                                        </p:cTn>
                                        <p:tgtEl>
                                          <p:spTgt spid="2074"/>
                                        </p:tgtEl>
                                        <p:attrNameLst>
                                          <p:attrName>style.visibility</p:attrName>
                                        </p:attrNameLst>
                                      </p:cBhvr>
                                      <p:to>
                                        <p:strVal val="visible"/>
                                      </p:to>
                                    </p:set>
                                    <p:animEffect transition="in" filter="checkerboard(down)">
                                      <p:cBhvr additive="base">
                                        <p:cTn id="41" dur="500"/>
                                        <p:tgtEl>
                                          <p:spTgt spid="2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 grpId="0" animBg="1"/>
      <p:bldP spid="2070" grpId="0" animBg="1"/>
      <p:bldP spid="2071" grpId="0" animBg="1"/>
      <p:bldP spid="2072" grpId="0" animBg="1"/>
      <p:bldP spid="2073" grpId="0" animBg="1"/>
      <p:bldP spid="2074" grpId="0" animBg="1"/>
      <p:bldP spid="207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 name="Rectangle 30">
            <a:extLst>
              <a:ext uri="{FF2B5EF4-FFF2-40B4-BE49-F238E27FC236}">
                <a16:creationId xmlns:a16="http://schemas.microsoft.com/office/drawing/2014/main" id="{4AD49843-3FB5-49DC-AD1A-FE5D03ACFD3D}"/>
              </a:ext>
            </a:extLst>
          </p:cNvPr>
          <p:cNvSpPr>
            <a:spLocks noChangeArrowheads="1"/>
          </p:cNvSpPr>
          <p:nvPr/>
        </p:nvSpPr>
        <p:spPr bwMode="auto">
          <a:xfrm>
            <a:off x="533400" y="533400"/>
            <a:ext cx="609600" cy="2041525"/>
          </a:xfrm>
          <a:prstGeom prst="rect">
            <a:avLst/>
          </a:prstGeom>
          <a:solidFill>
            <a:srgbClr val="FF9933"/>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模型假设</a:t>
            </a:r>
          </a:p>
        </p:txBody>
      </p:sp>
      <p:sp>
        <p:nvSpPr>
          <p:cNvPr id="2079" name="Rectangle 31">
            <a:extLst>
              <a:ext uri="{FF2B5EF4-FFF2-40B4-BE49-F238E27FC236}">
                <a16:creationId xmlns:a16="http://schemas.microsoft.com/office/drawing/2014/main" id="{E39CA661-2B0B-4B12-A1FA-B8147300C564}"/>
              </a:ext>
            </a:extLst>
          </p:cNvPr>
          <p:cNvSpPr>
            <a:spLocks noChangeArrowheads="1"/>
          </p:cNvSpPr>
          <p:nvPr/>
        </p:nvSpPr>
        <p:spPr bwMode="auto">
          <a:xfrm>
            <a:off x="1524000" y="685800"/>
            <a:ext cx="510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dirty="0"/>
              <a:t>1. </a:t>
            </a:r>
            <a:r>
              <a:rPr kumimoji="1" lang="zh-CN" altLang="ru-RU" sz="2800" b="1" dirty="0">
                <a:latin typeface="宋体" panose="02010600030101010101" pitchFamily="2" charset="-122"/>
              </a:rPr>
              <a:t>储蓄的年利率为</a:t>
            </a:r>
            <a:r>
              <a:rPr kumimoji="1" lang="zh-CN" altLang="ru-RU" dirty="0"/>
              <a:t> </a:t>
            </a:r>
            <a:r>
              <a:rPr kumimoji="1" lang="ru-RU" altLang="zh-CN" sz="2800" dirty="0"/>
              <a:t>r</a:t>
            </a:r>
          </a:p>
        </p:txBody>
      </p:sp>
      <p:sp>
        <p:nvSpPr>
          <p:cNvPr id="2080" name="Rectangle 32">
            <a:extLst>
              <a:ext uri="{FF2B5EF4-FFF2-40B4-BE49-F238E27FC236}">
                <a16:creationId xmlns:a16="http://schemas.microsoft.com/office/drawing/2014/main" id="{1B509E28-D832-4D04-B07A-6286EED64706}"/>
              </a:ext>
            </a:extLst>
          </p:cNvPr>
          <p:cNvSpPr>
            <a:spLocks noChangeArrowheads="1"/>
          </p:cNvSpPr>
          <p:nvPr/>
        </p:nvSpPr>
        <p:spPr bwMode="auto">
          <a:xfrm>
            <a:off x="1524000" y="1295400"/>
            <a:ext cx="6477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dirty="0"/>
              <a:t>2. </a:t>
            </a:r>
            <a:r>
              <a:rPr kumimoji="1" lang="zh-CN" altLang="ru-RU" sz="2800" b="1" dirty="0">
                <a:latin typeface="宋体" panose="02010600030101010101" pitchFamily="2" charset="-122"/>
              </a:rPr>
              <a:t>任何时候都可以存款，但存款利息只从下一时期开始计算，如时间段开始第一天的存款即开始计算利息</a:t>
            </a:r>
            <a:r>
              <a:rPr kumimoji="1" lang="zh-CN" altLang="ru-RU" sz="2800" b="1" dirty="0"/>
              <a:t> </a:t>
            </a:r>
          </a:p>
        </p:txBody>
      </p:sp>
      <p:sp>
        <p:nvSpPr>
          <p:cNvPr id="2081" name="Rectangle 33">
            <a:extLst>
              <a:ext uri="{FF2B5EF4-FFF2-40B4-BE49-F238E27FC236}">
                <a16:creationId xmlns:a16="http://schemas.microsoft.com/office/drawing/2014/main" id="{F8B5C181-667C-436A-9D79-6AB7990DF41E}"/>
              </a:ext>
            </a:extLst>
          </p:cNvPr>
          <p:cNvSpPr>
            <a:spLocks noChangeArrowheads="1"/>
          </p:cNvSpPr>
          <p:nvPr/>
        </p:nvSpPr>
        <p:spPr bwMode="auto">
          <a:xfrm>
            <a:off x="442436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082" name="Object 34">
            <a:extLst>
              <a:ext uri="{FF2B5EF4-FFF2-40B4-BE49-F238E27FC236}">
                <a16:creationId xmlns:a16="http://schemas.microsoft.com/office/drawing/2014/main" id="{958015C1-88B0-4D6D-B8A4-C72598780CC1}"/>
              </a:ext>
            </a:extLst>
          </p:cNvPr>
          <p:cNvGraphicFramePr>
            <a:graphicFrameLocks noChangeAspect="1"/>
          </p:cNvGraphicFramePr>
          <p:nvPr/>
        </p:nvGraphicFramePr>
        <p:xfrm>
          <a:off x="1600200" y="3276600"/>
          <a:ext cx="990600" cy="533400"/>
        </p:xfrm>
        <a:graphic>
          <a:graphicData uri="http://schemas.openxmlformats.org/presentationml/2006/ole">
            <mc:AlternateContent xmlns:mc="http://schemas.openxmlformats.org/markup-compatibility/2006">
              <mc:Choice xmlns:v="urn:schemas-microsoft-com:vml" Requires="v">
                <p:oleObj name="Equation" r:id="rId2" imgW="368280" imgH="203040" progId="Equation.3">
                  <p:embed/>
                </p:oleObj>
              </mc:Choice>
              <mc:Fallback>
                <p:oleObj name="Equation" r:id="rId2" imgW="368280" imgH="203040" progId="Equation.3">
                  <p:embed/>
                  <p:pic>
                    <p:nvPicPr>
                      <p:cNvPr id="2082" name="Object 34">
                        <a:extLst>
                          <a:ext uri="{FF2B5EF4-FFF2-40B4-BE49-F238E27FC236}">
                            <a16:creationId xmlns:a16="http://schemas.microsoft.com/office/drawing/2014/main" id="{958015C1-88B0-4D6D-B8A4-C72598780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276600"/>
                        <a:ext cx="990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083" name="Rectangle 35">
            <a:extLst>
              <a:ext uri="{FF2B5EF4-FFF2-40B4-BE49-F238E27FC236}">
                <a16:creationId xmlns:a16="http://schemas.microsoft.com/office/drawing/2014/main" id="{F3887FA7-D830-46F2-BB4D-DD5A0FEA2650}"/>
              </a:ext>
            </a:extLst>
          </p:cNvPr>
          <p:cNvSpPr>
            <a:spLocks noChangeArrowheads="1"/>
          </p:cNvSpPr>
          <p:nvPr/>
        </p:nvSpPr>
        <p:spPr bwMode="auto">
          <a:xfrm>
            <a:off x="2667000" y="32766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dirty="0"/>
              <a:t>t</a:t>
            </a:r>
            <a:r>
              <a:rPr kumimoji="1" lang="zh-CN" altLang="ru-RU" sz="2800" b="1" dirty="0">
                <a:latin typeface="宋体" panose="02010600030101010101" pitchFamily="2" charset="-122"/>
              </a:rPr>
              <a:t>期结束时的总存款</a:t>
            </a:r>
            <a:r>
              <a:rPr kumimoji="1" lang="zh-CN" altLang="ru-RU" b="1" i="1" dirty="0"/>
              <a:t> </a:t>
            </a:r>
          </a:p>
        </p:txBody>
      </p:sp>
      <p:sp>
        <p:nvSpPr>
          <p:cNvPr id="2084" name="Rectangle 36">
            <a:extLst>
              <a:ext uri="{FF2B5EF4-FFF2-40B4-BE49-F238E27FC236}">
                <a16:creationId xmlns:a16="http://schemas.microsoft.com/office/drawing/2014/main" id="{88F41547-AE64-4149-A9B2-5BC7F5823DA1}"/>
              </a:ext>
            </a:extLst>
          </p:cNvPr>
          <p:cNvSpPr>
            <a:spLocks noChangeArrowheads="1"/>
          </p:cNvSpPr>
          <p:nvPr/>
        </p:nvSpPr>
        <p:spPr bwMode="auto">
          <a:xfrm>
            <a:off x="381000" y="3276600"/>
            <a:ext cx="990600" cy="519113"/>
          </a:xfrm>
          <a:prstGeom prst="rect">
            <a:avLst/>
          </a:prstGeom>
          <a:solidFill>
            <a:srgbClr val="FFFF00"/>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a:t>记号</a:t>
            </a:r>
          </a:p>
        </p:txBody>
      </p:sp>
      <p:sp>
        <p:nvSpPr>
          <p:cNvPr id="2085" name="Rectangle 37">
            <a:extLst>
              <a:ext uri="{FF2B5EF4-FFF2-40B4-BE49-F238E27FC236}">
                <a16:creationId xmlns:a16="http://schemas.microsoft.com/office/drawing/2014/main" id="{74E06A26-9178-4C16-ACEA-1F47931565D2}"/>
              </a:ext>
            </a:extLst>
          </p:cNvPr>
          <p:cNvSpPr>
            <a:spLocks noChangeArrowheads="1"/>
          </p:cNvSpPr>
          <p:nvPr/>
        </p:nvSpPr>
        <p:spPr bwMode="auto">
          <a:xfrm>
            <a:off x="443388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086" name="Object 38">
            <a:extLst>
              <a:ext uri="{FF2B5EF4-FFF2-40B4-BE49-F238E27FC236}">
                <a16:creationId xmlns:a16="http://schemas.microsoft.com/office/drawing/2014/main" id="{A2BAD869-5D0D-4319-B117-77F146C2A8A7}"/>
              </a:ext>
            </a:extLst>
          </p:cNvPr>
          <p:cNvGraphicFramePr>
            <a:graphicFrameLocks noChangeAspect="1"/>
          </p:cNvGraphicFramePr>
          <p:nvPr/>
        </p:nvGraphicFramePr>
        <p:xfrm>
          <a:off x="1568450" y="4003675"/>
          <a:ext cx="903288" cy="492125"/>
        </p:xfrm>
        <a:graphic>
          <a:graphicData uri="http://schemas.openxmlformats.org/presentationml/2006/ole">
            <mc:AlternateContent xmlns:mc="http://schemas.openxmlformats.org/markup-compatibility/2006">
              <mc:Choice xmlns:v="urn:schemas-microsoft-com:vml" Requires="v">
                <p:oleObj name="Equation" r:id="rId4" imgW="368280" imgH="203040" progId="Equation.3">
                  <p:embed/>
                </p:oleObj>
              </mc:Choice>
              <mc:Fallback>
                <p:oleObj name="Equation" r:id="rId4" imgW="368280" imgH="203040" progId="Equation.3">
                  <p:embed/>
                  <p:pic>
                    <p:nvPicPr>
                      <p:cNvPr id="2086" name="Object 38">
                        <a:extLst>
                          <a:ext uri="{FF2B5EF4-FFF2-40B4-BE49-F238E27FC236}">
                            <a16:creationId xmlns:a16="http://schemas.microsoft.com/office/drawing/2014/main" id="{A2BAD869-5D0D-4319-B117-77F146C2A8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8450" y="4003675"/>
                        <a:ext cx="9032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087" name="Rectangle 39">
            <a:extLst>
              <a:ext uri="{FF2B5EF4-FFF2-40B4-BE49-F238E27FC236}">
                <a16:creationId xmlns:a16="http://schemas.microsoft.com/office/drawing/2014/main" id="{80F23F20-B95C-4E54-948E-713BD6445226}"/>
              </a:ext>
            </a:extLst>
          </p:cNvPr>
          <p:cNvSpPr>
            <a:spLocks noChangeArrowheads="1"/>
          </p:cNvSpPr>
          <p:nvPr/>
        </p:nvSpPr>
        <p:spPr bwMode="auto">
          <a:xfrm>
            <a:off x="2667000" y="39624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latin typeface="宋体" panose="02010600030101010101" pitchFamily="2" charset="-122"/>
              </a:rPr>
              <a:t>第</a:t>
            </a:r>
            <a:r>
              <a:rPr kumimoji="1" lang="ru-RU" altLang="zh-CN" sz="2800" b="1" i="1" dirty="0">
                <a:latin typeface="宋体" panose="02010600030101010101" pitchFamily="2" charset="-122"/>
              </a:rPr>
              <a:t>t</a:t>
            </a:r>
            <a:r>
              <a:rPr kumimoji="1" lang="zh-CN" altLang="ru-RU" sz="2800" b="1" dirty="0">
                <a:latin typeface="宋体" panose="02010600030101010101" pitchFamily="2" charset="-122"/>
              </a:rPr>
              <a:t>期内的新存款</a:t>
            </a:r>
            <a:r>
              <a:rPr kumimoji="1" lang="zh-CN" altLang="ru-RU" dirty="0"/>
              <a:t> </a:t>
            </a:r>
          </a:p>
        </p:txBody>
      </p:sp>
      <p:sp>
        <p:nvSpPr>
          <p:cNvPr id="2" name="灯片编号占位符 1">
            <a:extLst>
              <a:ext uri="{FF2B5EF4-FFF2-40B4-BE49-F238E27FC236}">
                <a16:creationId xmlns:a16="http://schemas.microsoft.com/office/drawing/2014/main" id="{9F6F2BFC-B103-F0AA-213C-1FAE4D2AFDD8}"/>
              </a:ext>
            </a:extLst>
          </p:cNvPr>
          <p:cNvSpPr>
            <a:spLocks noGrp="1"/>
          </p:cNvSpPr>
          <p:nvPr>
            <p:ph type="sldNum" sz="quarter" idx="12"/>
          </p:nvPr>
        </p:nvSpPr>
        <p:spPr/>
        <p:txBody>
          <a:bodyPr/>
          <a:lstStyle/>
          <a:p>
            <a:fld id="{0C913308-F349-4B6D-A68A-DD1791B4A57B}" type="slidenum">
              <a:rPr lang="zh-CN" altLang="en-US" smtClean="0"/>
              <a:t>21</a:t>
            </a:fld>
            <a:endParaRPr lang="zh-CN" altLang="en-US"/>
          </a:p>
        </p:txBody>
      </p:sp>
    </p:spTree>
    <p:extLst>
      <p:ext uri="{BB962C8B-B14F-4D97-AF65-F5344CB8AC3E}">
        <p14:creationId xmlns:p14="http://schemas.microsoft.com/office/powerpoint/2010/main" val="754898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0" name="Rectangle 42">
            <a:extLst>
              <a:ext uri="{FF2B5EF4-FFF2-40B4-BE49-F238E27FC236}">
                <a16:creationId xmlns:a16="http://schemas.microsoft.com/office/drawing/2014/main" id="{B07284A8-1084-4F57-A79A-23EB9D6A553D}"/>
              </a:ext>
            </a:extLst>
          </p:cNvPr>
          <p:cNvSpPr>
            <a:spLocks noChangeArrowheads="1"/>
          </p:cNvSpPr>
          <p:nvPr/>
        </p:nvSpPr>
        <p:spPr bwMode="auto">
          <a:xfrm>
            <a:off x="457200" y="762000"/>
            <a:ext cx="1295400" cy="579438"/>
          </a:xfrm>
          <a:prstGeom prst="rect">
            <a:avLst/>
          </a:prstGeom>
          <a:solidFill>
            <a:srgbClr val="FF9933"/>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a:t>模 型</a:t>
            </a:r>
          </a:p>
        </p:txBody>
      </p:sp>
      <p:graphicFrame>
        <p:nvGraphicFramePr>
          <p:cNvPr id="2091" name="Object 43">
            <a:extLst>
              <a:ext uri="{FF2B5EF4-FFF2-40B4-BE49-F238E27FC236}">
                <a16:creationId xmlns:a16="http://schemas.microsoft.com/office/drawing/2014/main" id="{9146C9A2-32B8-4152-B9AD-4A63BE316582}"/>
              </a:ext>
            </a:extLst>
          </p:cNvPr>
          <p:cNvGraphicFramePr>
            <a:graphicFrameLocks noChangeAspect="1"/>
          </p:cNvGraphicFramePr>
          <p:nvPr/>
        </p:nvGraphicFramePr>
        <p:xfrm>
          <a:off x="2209800" y="1524000"/>
          <a:ext cx="4343400" cy="646113"/>
        </p:xfrm>
        <a:graphic>
          <a:graphicData uri="http://schemas.openxmlformats.org/presentationml/2006/ole">
            <mc:AlternateContent xmlns:mc="http://schemas.openxmlformats.org/markup-compatibility/2006">
              <mc:Choice xmlns:v="urn:schemas-microsoft-com:vml" Requires="v">
                <p:oleObj name="Equation" r:id="rId2" imgW="1739880" imgH="228600" progId="Equation.3">
                  <p:embed/>
                </p:oleObj>
              </mc:Choice>
              <mc:Fallback>
                <p:oleObj name="Equation" r:id="rId2" imgW="1739880" imgH="228600" progId="Equation.3">
                  <p:embed/>
                  <p:pic>
                    <p:nvPicPr>
                      <p:cNvPr id="2091" name="Object 43">
                        <a:extLst>
                          <a:ext uri="{FF2B5EF4-FFF2-40B4-BE49-F238E27FC236}">
                            <a16:creationId xmlns:a16="http://schemas.microsoft.com/office/drawing/2014/main" id="{9146C9A2-32B8-4152-B9AD-4A63BE316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524000"/>
                        <a:ext cx="434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092" name="Rectangle 44">
            <a:extLst>
              <a:ext uri="{FF2B5EF4-FFF2-40B4-BE49-F238E27FC236}">
                <a16:creationId xmlns:a16="http://schemas.microsoft.com/office/drawing/2014/main" id="{84506A0A-A760-4BEE-9931-E0CFA82E98DD}"/>
              </a:ext>
            </a:extLst>
          </p:cNvPr>
          <p:cNvSpPr>
            <a:spLocks noChangeArrowheads="1"/>
          </p:cNvSpPr>
          <p:nvPr/>
        </p:nvSpPr>
        <p:spPr bwMode="auto">
          <a:xfrm>
            <a:off x="365760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093" name="Object 45">
            <a:extLst>
              <a:ext uri="{FF2B5EF4-FFF2-40B4-BE49-F238E27FC236}">
                <a16:creationId xmlns:a16="http://schemas.microsoft.com/office/drawing/2014/main" id="{DA5BD0D6-67D7-400B-A199-062F202ADF5D}"/>
              </a:ext>
            </a:extLst>
          </p:cNvPr>
          <p:cNvGraphicFramePr>
            <a:graphicFrameLocks noChangeAspect="1"/>
          </p:cNvGraphicFramePr>
          <p:nvPr/>
        </p:nvGraphicFramePr>
        <p:xfrm>
          <a:off x="1295400" y="2590800"/>
          <a:ext cx="4495800" cy="685800"/>
        </p:xfrm>
        <a:graphic>
          <a:graphicData uri="http://schemas.openxmlformats.org/presentationml/2006/ole">
            <mc:AlternateContent xmlns:mc="http://schemas.openxmlformats.org/markup-compatibility/2006">
              <mc:Choice xmlns:v="urn:schemas-microsoft-com:vml" Requires="v">
                <p:oleObj name="Equation" r:id="rId4" imgW="1371600" imgH="241200" progId="Equation.3">
                  <p:embed/>
                </p:oleObj>
              </mc:Choice>
              <mc:Fallback>
                <p:oleObj name="Equation" r:id="rId4" imgW="1371600" imgH="241200" progId="Equation.3">
                  <p:embed/>
                  <p:pic>
                    <p:nvPicPr>
                      <p:cNvPr id="2093" name="Object 45">
                        <a:extLst>
                          <a:ext uri="{FF2B5EF4-FFF2-40B4-BE49-F238E27FC236}">
                            <a16:creationId xmlns:a16="http://schemas.microsoft.com/office/drawing/2014/main" id="{DA5BD0D6-67D7-400B-A199-062F202ADF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590800"/>
                        <a:ext cx="4495800" cy="685800"/>
                      </a:xfrm>
                      <a:prstGeom prst="rect">
                        <a:avLst/>
                      </a:prstGeom>
                      <a:noFill/>
                      <a:ln>
                        <a:noFill/>
                      </a:ln>
                      <a:extLst>
                        <a:ext uri="{909E8E84-426E-40DD-AFC4-6F175D3DCCD1}">
                          <a14:hiddenFill xmlns:a14="http://schemas.microsoft.com/office/drawing/2010/main">
                            <a:solidFill>
                              <a:srgbClr val="CCFF66"/>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094" name="Rectangle 46">
            <a:extLst>
              <a:ext uri="{FF2B5EF4-FFF2-40B4-BE49-F238E27FC236}">
                <a16:creationId xmlns:a16="http://schemas.microsoft.com/office/drawing/2014/main" id="{B69E2015-5A67-4AFD-912D-F085B4A5F676}"/>
              </a:ext>
            </a:extLst>
          </p:cNvPr>
          <p:cNvSpPr>
            <a:spLocks noChangeArrowheads="1"/>
          </p:cNvSpPr>
          <p:nvPr/>
        </p:nvSpPr>
        <p:spPr bwMode="auto">
          <a:xfrm>
            <a:off x="609600" y="3733800"/>
            <a:ext cx="7924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t>注：</a:t>
            </a:r>
            <a:r>
              <a:rPr kumimoji="1" lang="zh-CN" altLang="ru-RU" sz="2800" b="1" dirty="0">
                <a:latin typeface="宋体" panose="02010600030101010101" pitchFamily="2" charset="-122"/>
              </a:rPr>
              <a:t>上式中</a:t>
            </a:r>
            <a:r>
              <a:rPr kumimoji="1" lang="ru-RU" altLang="zh-CN" sz="2800" b="1" i="1" dirty="0">
                <a:latin typeface="宋体" panose="02010600030101010101" pitchFamily="2" charset="-122"/>
              </a:rPr>
              <a:t>n</a:t>
            </a:r>
            <a:r>
              <a:rPr kumimoji="1" lang="ru-RU" altLang="zh-CN" sz="2800" b="1" dirty="0">
                <a:latin typeface="宋体" panose="02010600030101010101" pitchFamily="2" charset="-122"/>
              </a:rPr>
              <a:t>=2</a:t>
            </a:r>
            <a:r>
              <a:rPr kumimoji="1" lang="zh-CN" altLang="ru-RU" sz="2800" b="1" dirty="0">
                <a:latin typeface="宋体" panose="02010600030101010101" pitchFamily="2" charset="-122"/>
              </a:rPr>
              <a:t>时，相应于半年的复利，而</a:t>
            </a:r>
            <a:r>
              <a:rPr kumimoji="1" lang="ru-RU" altLang="zh-CN" sz="2800" b="1" i="1" dirty="0">
                <a:latin typeface="宋体" panose="02010600030101010101" pitchFamily="2" charset="-122"/>
              </a:rPr>
              <a:t>n=365</a:t>
            </a:r>
            <a:r>
              <a:rPr kumimoji="1" lang="zh-CN" altLang="ru-RU" sz="2800" b="1" dirty="0">
                <a:latin typeface="宋体" panose="02010600030101010101" pitchFamily="2" charset="-122"/>
              </a:rPr>
              <a:t>则是相应于逐日计算的复利</a:t>
            </a:r>
          </a:p>
        </p:txBody>
      </p:sp>
      <p:sp>
        <p:nvSpPr>
          <p:cNvPr id="2" name="灯片编号占位符 1">
            <a:extLst>
              <a:ext uri="{FF2B5EF4-FFF2-40B4-BE49-F238E27FC236}">
                <a16:creationId xmlns:a16="http://schemas.microsoft.com/office/drawing/2014/main" id="{B2F99763-71A1-1710-29A6-2C2D4C09A34D}"/>
              </a:ext>
            </a:extLst>
          </p:cNvPr>
          <p:cNvSpPr>
            <a:spLocks noGrp="1"/>
          </p:cNvSpPr>
          <p:nvPr>
            <p:ph type="sldNum" sz="quarter" idx="12"/>
          </p:nvPr>
        </p:nvSpPr>
        <p:spPr/>
        <p:txBody>
          <a:bodyPr/>
          <a:lstStyle/>
          <a:p>
            <a:fld id="{0C913308-F349-4B6D-A68A-DD1791B4A57B}" type="slidenum">
              <a:rPr lang="zh-CN" altLang="en-US" smtClean="0"/>
              <a:t>22</a:t>
            </a:fld>
            <a:endParaRPr lang="zh-CN" altLang="en-US"/>
          </a:p>
        </p:txBody>
      </p:sp>
    </p:spTree>
    <p:extLst>
      <p:ext uri="{BB962C8B-B14F-4D97-AF65-F5344CB8AC3E}">
        <p14:creationId xmlns:p14="http://schemas.microsoft.com/office/powerpoint/2010/main" val="3828436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 name="Rectangle 49">
            <a:extLst>
              <a:ext uri="{FF2B5EF4-FFF2-40B4-BE49-F238E27FC236}">
                <a16:creationId xmlns:a16="http://schemas.microsoft.com/office/drawing/2014/main" id="{A99F4444-9585-4B55-8F91-E788595615A1}"/>
              </a:ext>
            </a:extLst>
          </p:cNvPr>
          <p:cNvSpPr>
            <a:spLocks noChangeArrowheads="1"/>
          </p:cNvSpPr>
          <p:nvPr/>
        </p:nvSpPr>
        <p:spPr bwMode="auto">
          <a:xfrm>
            <a:off x="1447800" y="381000"/>
            <a:ext cx="5257800" cy="650875"/>
          </a:xfrm>
          <a:prstGeom prst="rect">
            <a:avLst/>
          </a:prstGeom>
          <a:solidFill>
            <a:srgbClr val="FF99FF"/>
          </a:solidFill>
          <a:ln w="9525" cap="flat" algn="ctr">
            <a:solidFill>
              <a:srgbClr val="FF0000"/>
            </a:solidFill>
            <a:prstDash val="solid"/>
            <a:miter lim="800000"/>
            <a:headEnd type="none" w="med" len="med"/>
            <a:tailEnd type="none" w="med" len="med"/>
          </a:ln>
        </p:spPr>
        <p:txBody>
          <a:bodyPr>
            <a:spAutoFit/>
          </a:bodyPr>
          <a:lstStyle/>
          <a:p>
            <a:pPr algn="ctr">
              <a:spcBef>
                <a:spcPct val="50000"/>
              </a:spcBef>
            </a:pPr>
            <a:r>
              <a:rPr kumimoji="1" lang="zh-CN" altLang="ru-RU" sz="3600" b="1" dirty="0">
                <a:ea typeface="楷体_GB2312" pitchFamily="49" charset="-122"/>
              </a:rPr>
              <a:t>抵押贷款买房问题</a:t>
            </a:r>
            <a:r>
              <a:rPr kumimoji="1" lang="zh-CN" altLang="ru-RU" sz="3600" dirty="0"/>
              <a:t> </a:t>
            </a:r>
          </a:p>
        </p:txBody>
      </p:sp>
      <p:sp>
        <p:nvSpPr>
          <p:cNvPr id="2098" name="Rectangle 50">
            <a:extLst>
              <a:ext uri="{FF2B5EF4-FFF2-40B4-BE49-F238E27FC236}">
                <a16:creationId xmlns:a16="http://schemas.microsoft.com/office/drawing/2014/main" id="{8C9C2673-405A-47A7-891F-EB2811303DB3}"/>
              </a:ext>
            </a:extLst>
          </p:cNvPr>
          <p:cNvSpPr>
            <a:spLocks noChangeArrowheads="1"/>
          </p:cNvSpPr>
          <p:nvPr/>
        </p:nvSpPr>
        <p:spPr bwMode="auto">
          <a:xfrm>
            <a:off x="228600" y="24384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背景</a:t>
            </a:r>
          </a:p>
        </p:txBody>
      </p:sp>
      <p:sp>
        <p:nvSpPr>
          <p:cNvPr id="2099" name="Rectangle 51">
            <a:extLst>
              <a:ext uri="{FF2B5EF4-FFF2-40B4-BE49-F238E27FC236}">
                <a16:creationId xmlns:a16="http://schemas.microsoft.com/office/drawing/2014/main" id="{27DBD290-BD99-4E4B-80EF-670477D9B7D8}"/>
              </a:ext>
            </a:extLst>
          </p:cNvPr>
          <p:cNvSpPr>
            <a:spLocks noChangeArrowheads="1"/>
          </p:cNvSpPr>
          <p:nvPr/>
        </p:nvSpPr>
        <p:spPr bwMode="auto">
          <a:xfrm>
            <a:off x="1143000" y="1295400"/>
            <a:ext cx="75438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dirty="0">
                <a:latin typeface="宋体" panose="02010600030101010101" pitchFamily="2" charset="-122"/>
              </a:rPr>
              <a:t>  </a:t>
            </a:r>
            <a:r>
              <a:rPr kumimoji="1" lang="zh-CN" altLang="ru-RU" sz="2800" b="1" dirty="0">
                <a:latin typeface="宋体" panose="02010600030101010101" pitchFamily="2" charset="-122"/>
              </a:rPr>
              <a:t>每户人家都希望有一套属于自己的住房，但又没有足够的资金一次买下。这就产生了贷款买房问题。某新婚夫妇急需一套属于自己的住房。他们看到一则理想的房产广告：</a:t>
            </a:r>
            <a:r>
              <a:rPr kumimoji="1" lang="zh-CN" altLang="ru-RU" sz="2800" b="1" dirty="0">
                <a:latin typeface="Arial" panose="020B0604020202020204" pitchFamily="34" charset="0"/>
              </a:rPr>
              <a:t>“</a:t>
            </a:r>
            <a:r>
              <a:rPr kumimoji="1" lang="en-US" altLang="zh-CN" sz="2800" b="1" dirty="0">
                <a:latin typeface="宋体" panose="02010600030101010101" pitchFamily="2" charset="-122"/>
              </a:rPr>
              <a:t>***</a:t>
            </a:r>
            <a:r>
              <a:rPr kumimoji="1" lang="zh-CN" altLang="ru-RU" sz="2800" b="1" dirty="0">
                <a:latin typeface="宋体" panose="02010600030101010101" pitchFamily="2" charset="-122"/>
              </a:rPr>
              <a:t>住宅公寓，供工薪阶层选择。一次性付款优惠价</a:t>
            </a:r>
            <a:r>
              <a:rPr kumimoji="1" lang="ru-RU" altLang="zh-CN" sz="2800" b="1" dirty="0">
                <a:latin typeface="宋体" panose="02010600030101010101" pitchFamily="2" charset="-122"/>
              </a:rPr>
              <a:t>40.2</a:t>
            </a:r>
            <a:r>
              <a:rPr kumimoji="1" lang="zh-CN" altLang="ru-RU" sz="2800" b="1" dirty="0">
                <a:latin typeface="宋体" panose="02010600030101010101" pitchFamily="2" charset="-122"/>
              </a:rPr>
              <a:t>万元。若不能一次性付款也没关系，只付首期款为</a:t>
            </a:r>
            <a:r>
              <a:rPr kumimoji="1" lang="ru-RU" altLang="zh-CN" sz="2800" b="1" dirty="0">
                <a:latin typeface="宋体" panose="02010600030101010101" pitchFamily="2" charset="-122"/>
              </a:rPr>
              <a:t>15</a:t>
            </a:r>
            <a:r>
              <a:rPr kumimoji="1" lang="zh-CN" altLang="ru-RU" sz="2800" b="1" dirty="0">
                <a:latin typeface="宋体" panose="02010600030101010101" pitchFamily="2" charset="-122"/>
              </a:rPr>
              <a:t>万元，其余每月</a:t>
            </a:r>
            <a:r>
              <a:rPr kumimoji="1" lang="ru-RU" altLang="zh-CN" sz="2800" b="1" dirty="0">
                <a:latin typeface="宋体" panose="02010600030101010101" pitchFamily="2" charset="-122"/>
              </a:rPr>
              <a:t>1977.04</a:t>
            </a:r>
            <a:r>
              <a:rPr kumimoji="1" lang="zh-CN" altLang="ru-RU" sz="2800" b="1" dirty="0">
                <a:latin typeface="宋体" panose="02010600030101010101" pitchFamily="2" charset="-122"/>
              </a:rPr>
              <a:t>元等额偿还，</a:t>
            </a:r>
            <a:r>
              <a:rPr kumimoji="1" lang="ru-RU" altLang="zh-CN" sz="2800" b="1" dirty="0">
                <a:latin typeface="宋体" panose="02010600030101010101" pitchFamily="2" charset="-122"/>
              </a:rPr>
              <a:t>15</a:t>
            </a:r>
            <a:r>
              <a:rPr kumimoji="1" lang="zh-CN" altLang="ru-RU" sz="2800" b="1" dirty="0">
                <a:latin typeface="宋体" panose="02010600030101010101" pitchFamily="2" charset="-122"/>
              </a:rPr>
              <a:t>年还清。</a:t>
            </a:r>
            <a:r>
              <a:rPr kumimoji="1" lang="ru-RU" altLang="zh-CN" sz="2800" b="1" dirty="0">
                <a:latin typeface="宋体" panose="02010600030101010101" pitchFamily="2" charset="-122"/>
              </a:rPr>
              <a:t>(</a:t>
            </a:r>
            <a:r>
              <a:rPr kumimoji="1" lang="zh-CN" altLang="ru-RU" sz="2800" b="1" dirty="0">
                <a:latin typeface="宋体" panose="02010600030101010101" pitchFamily="2" charset="-122"/>
              </a:rPr>
              <a:t>公积金贷款月利息为</a:t>
            </a:r>
            <a:r>
              <a:rPr kumimoji="1" lang="ru-RU" altLang="zh-CN" sz="2800" b="1" dirty="0">
                <a:latin typeface="宋体" panose="02010600030101010101" pitchFamily="2" charset="-122"/>
              </a:rPr>
              <a:t>3.675‰</a:t>
            </a:r>
            <a:r>
              <a:rPr kumimoji="1" lang="zh-CN" altLang="ru-RU" sz="2800" b="1" dirty="0">
                <a:latin typeface="宋体" panose="02010600030101010101" pitchFamily="2" charset="-122"/>
              </a:rPr>
              <a:t>）。</a:t>
            </a:r>
          </a:p>
        </p:txBody>
      </p:sp>
      <p:sp>
        <p:nvSpPr>
          <p:cNvPr id="2100" name="Rectangle 52">
            <a:extLst>
              <a:ext uri="{FF2B5EF4-FFF2-40B4-BE49-F238E27FC236}">
                <a16:creationId xmlns:a16="http://schemas.microsoft.com/office/drawing/2014/main" id="{45F0E3CB-54FF-4AA7-8847-1D2030DFB901}"/>
              </a:ext>
            </a:extLst>
          </p:cNvPr>
          <p:cNvSpPr>
            <a:spLocks noChangeArrowheads="1"/>
          </p:cNvSpPr>
          <p:nvPr/>
        </p:nvSpPr>
        <p:spPr bwMode="auto">
          <a:xfrm>
            <a:off x="228600" y="5410200"/>
            <a:ext cx="6858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问题</a:t>
            </a:r>
          </a:p>
        </p:txBody>
      </p:sp>
      <p:sp>
        <p:nvSpPr>
          <p:cNvPr id="2101" name="Rectangle 53">
            <a:extLst>
              <a:ext uri="{FF2B5EF4-FFF2-40B4-BE49-F238E27FC236}">
                <a16:creationId xmlns:a16="http://schemas.microsoft.com/office/drawing/2014/main" id="{44802790-CB5D-4B53-BD55-CA96C2FAB0CF}"/>
              </a:ext>
            </a:extLst>
          </p:cNvPr>
          <p:cNvSpPr>
            <a:spLocks noChangeArrowheads="1"/>
          </p:cNvSpPr>
          <p:nvPr/>
        </p:nvSpPr>
        <p:spPr bwMode="auto">
          <a:xfrm>
            <a:off x="1371600" y="5715000"/>
            <a:ext cx="7162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latin typeface="宋体" panose="02010600030101010101" pitchFamily="2" charset="-122"/>
              </a:rPr>
              <a:t>公寓原来价多少？每月等额付款如何算出来？</a:t>
            </a:r>
          </a:p>
        </p:txBody>
      </p:sp>
      <p:sp>
        <p:nvSpPr>
          <p:cNvPr id="2" name="灯片编号占位符 1">
            <a:extLst>
              <a:ext uri="{FF2B5EF4-FFF2-40B4-BE49-F238E27FC236}">
                <a16:creationId xmlns:a16="http://schemas.microsoft.com/office/drawing/2014/main" id="{3770E5D3-6243-198E-7063-902FC68D4E0B}"/>
              </a:ext>
            </a:extLst>
          </p:cNvPr>
          <p:cNvSpPr>
            <a:spLocks noGrp="1"/>
          </p:cNvSpPr>
          <p:nvPr>
            <p:ph type="sldNum" sz="quarter" idx="12"/>
          </p:nvPr>
        </p:nvSpPr>
        <p:spPr/>
        <p:txBody>
          <a:bodyPr/>
          <a:lstStyle/>
          <a:p>
            <a:fld id="{0C913308-F349-4B6D-A68A-DD1791B4A57B}" type="slidenum">
              <a:rPr lang="zh-CN" altLang="en-US" smtClean="0"/>
              <a:t>23</a:t>
            </a:fld>
            <a:endParaRPr lang="zh-CN" altLang="en-US"/>
          </a:p>
        </p:txBody>
      </p:sp>
    </p:spTree>
    <p:extLst>
      <p:ext uri="{BB962C8B-B14F-4D97-AF65-F5344CB8AC3E}">
        <p14:creationId xmlns:p14="http://schemas.microsoft.com/office/powerpoint/2010/main" val="3526180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4" name="Rectangle 56">
            <a:extLst>
              <a:ext uri="{FF2B5EF4-FFF2-40B4-BE49-F238E27FC236}">
                <a16:creationId xmlns:a16="http://schemas.microsoft.com/office/drawing/2014/main" id="{B137DF31-DA15-4D38-B660-510C42DACAA4}"/>
              </a:ext>
            </a:extLst>
          </p:cNvPr>
          <p:cNvSpPr>
            <a:spLocks noChangeArrowheads="1"/>
          </p:cNvSpPr>
          <p:nvPr/>
        </p:nvSpPr>
        <p:spPr bwMode="auto">
          <a:xfrm>
            <a:off x="457200" y="6096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假设</a:t>
            </a:r>
          </a:p>
        </p:txBody>
      </p:sp>
      <p:sp>
        <p:nvSpPr>
          <p:cNvPr id="2105" name="Rectangle 57">
            <a:extLst>
              <a:ext uri="{FF2B5EF4-FFF2-40B4-BE49-F238E27FC236}">
                <a16:creationId xmlns:a16="http://schemas.microsoft.com/office/drawing/2014/main" id="{076031A9-7DF7-4A09-9D6B-37C15E070E96}"/>
              </a:ext>
            </a:extLst>
          </p:cNvPr>
          <p:cNvSpPr>
            <a:spLocks noChangeArrowheads="1"/>
          </p:cNvSpPr>
          <p:nvPr/>
        </p:nvSpPr>
        <p:spPr bwMode="auto">
          <a:xfrm>
            <a:off x="1524000" y="457200"/>
            <a:ext cx="396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solidFill>
                  <a:srgbClr val="000000"/>
                </a:solidFill>
              </a:rPr>
              <a:t>贷款期限内利率不变</a:t>
            </a:r>
            <a:r>
              <a:rPr kumimoji="1" lang="zh-CN" altLang="ru-RU" sz="2800" b="1" dirty="0"/>
              <a:t> </a:t>
            </a:r>
          </a:p>
        </p:txBody>
      </p:sp>
      <p:sp>
        <p:nvSpPr>
          <p:cNvPr id="2106" name="Rectangle 58">
            <a:extLst>
              <a:ext uri="{FF2B5EF4-FFF2-40B4-BE49-F238E27FC236}">
                <a16:creationId xmlns:a16="http://schemas.microsoft.com/office/drawing/2014/main" id="{14918025-F45E-41C6-8611-3429A8FAF8D2}"/>
              </a:ext>
            </a:extLst>
          </p:cNvPr>
          <p:cNvSpPr>
            <a:spLocks noChangeArrowheads="1"/>
          </p:cNvSpPr>
          <p:nvPr/>
        </p:nvSpPr>
        <p:spPr bwMode="auto">
          <a:xfrm>
            <a:off x="1524000" y="1143000"/>
            <a:ext cx="403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a:solidFill>
                  <a:srgbClr val="000000"/>
                </a:solidFill>
              </a:rPr>
              <a:t>银行利息按复利计算</a:t>
            </a:r>
            <a:r>
              <a:rPr kumimoji="1" lang="zh-CN" altLang="ru-RU"/>
              <a:t> </a:t>
            </a:r>
          </a:p>
        </p:txBody>
      </p:sp>
      <p:sp>
        <p:nvSpPr>
          <p:cNvPr id="2107" name="Rectangle 59">
            <a:extLst>
              <a:ext uri="{FF2B5EF4-FFF2-40B4-BE49-F238E27FC236}">
                <a16:creationId xmlns:a16="http://schemas.microsoft.com/office/drawing/2014/main" id="{E30AB5D9-2C05-4654-8E8A-CDC0F5BC4624}"/>
              </a:ext>
            </a:extLst>
          </p:cNvPr>
          <p:cNvSpPr>
            <a:spLocks noChangeArrowheads="1"/>
          </p:cNvSpPr>
          <p:nvPr/>
        </p:nvSpPr>
        <p:spPr bwMode="auto">
          <a:xfrm>
            <a:off x="457200" y="29718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记号</a:t>
            </a:r>
          </a:p>
        </p:txBody>
      </p:sp>
      <p:sp>
        <p:nvSpPr>
          <p:cNvPr id="2108" name="Rectangle 60">
            <a:extLst>
              <a:ext uri="{FF2B5EF4-FFF2-40B4-BE49-F238E27FC236}">
                <a16:creationId xmlns:a16="http://schemas.microsoft.com/office/drawing/2014/main" id="{BF1196B5-3D25-4654-946B-8B350CD99D1B}"/>
              </a:ext>
            </a:extLst>
          </p:cNvPr>
          <p:cNvSpPr>
            <a:spLocks noChangeArrowheads="1"/>
          </p:cNvSpPr>
          <p:nvPr/>
        </p:nvSpPr>
        <p:spPr bwMode="auto">
          <a:xfrm>
            <a:off x="1524000" y="2667000"/>
            <a:ext cx="480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dirty="0"/>
              <a:t>A</a:t>
            </a:r>
            <a:r>
              <a:rPr kumimoji="1" lang="zh-CN" altLang="ru-RU" sz="2800" b="1" dirty="0">
                <a:latin typeface="宋体" panose="02010600030101010101" pitchFamily="2" charset="-122"/>
              </a:rPr>
              <a:t>（元）：贷款额（本金）</a:t>
            </a:r>
            <a:r>
              <a:rPr kumimoji="1" lang="zh-CN" altLang="ru-RU" dirty="0"/>
              <a:t> </a:t>
            </a:r>
          </a:p>
        </p:txBody>
      </p:sp>
      <p:sp>
        <p:nvSpPr>
          <p:cNvPr id="2109" name="Rectangle 61">
            <a:extLst>
              <a:ext uri="{FF2B5EF4-FFF2-40B4-BE49-F238E27FC236}">
                <a16:creationId xmlns:a16="http://schemas.microsoft.com/office/drawing/2014/main" id="{4DE756D6-DED5-49E0-BDDB-4A442B488E43}"/>
              </a:ext>
            </a:extLst>
          </p:cNvPr>
          <p:cNvSpPr>
            <a:spLocks noChangeArrowheads="1"/>
          </p:cNvSpPr>
          <p:nvPr/>
        </p:nvSpPr>
        <p:spPr bwMode="auto">
          <a:xfrm>
            <a:off x="1524000" y="3429000"/>
            <a:ext cx="647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dirty="0"/>
              <a:t>n</a:t>
            </a:r>
            <a:r>
              <a:rPr kumimoji="1" lang="zh-CN" altLang="ru-RU" sz="2800" b="1" dirty="0">
                <a:latin typeface="宋体" panose="02010600030101010101" pitchFamily="2" charset="-122"/>
              </a:rPr>
              <a:t>（月）：货款期限</a:t>
            </a:r>
          </a:p>
        </p:txBody>
      </p:sp>
      <p:sp>
        <p:nvSpPr>
          <p:cNvPr id="2110" name="Rectangle 62">
            <a:extLst>
              <a:ext uri="{FF2B5EF4-FFF2-40B4-BE49-F238E27FC236}">
                <a16:creationId xmlns:a16="http://schemas.microsoft.com/office/drawing/2014/main" id="{87F31292-C084-42CD-95C1-5ECEEB9757B9}"/>
              </a:ext>
            </a:extLst>
          </p:cNvPr>
          <p:cNvSpPr>
            <a:spLocks noChangeArrowheads="1"/>
          </p:cNvSpPr>
          <p:nvPr/>
        </p:nvSpPr>
        <p:spPr bwMode="auto">
          <a:xfrm>
            <a:off x="1524000" y="42672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a:t>r</a:t>
            </a:r>
            <a:r>
              <a:rPr kumimoji="1" lang="ru-RU" altLang="zh-CN" sz="2800" b="1" i="1" baseline="-25000"/>
              <a:t> </a:t>
            </a:r>
            <a:r>
              <a:rPr kumimoji="1" lang="zh-CN" altLang="ru-RU" sz="2800" b="1">
                <a:latin typeface="宋体" panose="02010600030101010101" pitchFamily="2" charset="-122"/>
              </a:rPr>
              <a:t>：月利率</a:t>
            </a:r>
          </a:p>
        </p:txBody>
      </p:sp>
      <p:sp>
        <p:nvSpPr>
          <p:cNvPr id="2111" name="Rectangle 63">
            <a:extLst>
              <a:ext uri="{FF2B5EF4-FFF2-40B4-BE49-F238E27FC236}">
                <a16:creationId xmlns:a16="http://schemas.microsoft.com/office/drawing/2014/main" id="{73F16C74-E0DD-44EC-B304-C44935ADC71B}"/>
              </a:ext>
            </a:extLst>
          </p:cNvPr>
          <p:cNvSpPr>
            <a:spLocks noChangeArrowheads="1"/>
          </p:cNvSpPr>
          <p:nvPr/>
        </p:nvSpPr>
        <p:spPr bwMode="auto">
          <a:xfrm>
            <a:off x="3962400" y="4267200"/>
            <a:ext cx="3886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dirty="0"/>
              <a:t>B</a:t>
            </a:r>
            <a:r>
              <a:rPr kumimoji="1" lang="ru-RU" altLang="zh-CN" sz="2800" b="1" dirty="0"/>
              <a:t>(</a:t>
            </a:r>
            <a:r>
              <a:rPr kumimoji="1" lang="zh-CN" altLang="ru-RU" sz="2800" b="1" dirty="0">
                <a:latin typeface="宋体" panose="02010600030101010101" pitchFamily="2" charset="-122"/>
              </a:rPr>
              <a:t>元</a:t>
            </a:r>
            <a:r>
              <a:rPr kumimoji="1" lang="ru-RU" altLang="zh-CN" sz="2800" b="1" dirty="0"/>
              <a:t>) :</a:t>
            </a:r>
            <a:r>
              <a:rPr kumimoji="1" lang="zh-CN" altLang="ru-RU" sz="2800" b="1" dirty="0">
                <a:latin typeface="宋体" panose="02010600030101010101" pitchFamily="2" charset="-122"/>
              </a:rPr>
              <a:t>月均还款额</a:t>
            </a:r>
            <a:r>
              <a:rPr kumimoji="1" lang="zh-CN" altLang="ru-RU" sz="2800" b="1" dirty="0"/>
              <a:t> </a:t>
            </a:r>
          </a:p>
        </p:txBody>
      </p:sp>
      <p:sp>
        <p:nvSpPr>
          <p:cNvPr id="2112" name="Rectangle 64">
            <a:extLst>
              <a:ext uri="{FF2B5EF4-FFF2-40B4-BE49-F238E27FC236}">
                <a16:creationId xmlns:a16="http://schemas.microsoft.com/office/drawing/2014/main" id="{30409BF8-B473-41C1-93ED-4ABCF279710C}"/>
              </a:ext>
            </a:extLst>
          </p:cNvPr>
          <p:cNvSpPr>
            <a:spLocks noChangeArrowheads="1"/>
          </p:cNvSpPr>
          <p:nvPr/>
        </p:nvSpPr>
        <p:spPr bwMode="auto">
          <a:xfrm>
            <a:off x="1371600" y="5105400"/>
            <a:ext cx="586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ru-RU" altLang="zh-CN" sz="2800" b="1" i="1" dirty="0">
                <a:latin typeface="宋体" panose="02010600030101010101" pitchFamily="2" charset="-122"/>
              </a:rPr>
              <a:t>C</a:t>
            </a:r>
            <a:r>
              <a:rPr kumimoji="1" lang="ru-RU" altLang="zh-CN" sz="2800" b="1" i="1" baseline="-25000" dirty="0">
                <a:latin typeface="宋体" panose="02010600030101010101" pitchFamily="2" charset="-122"/>
              </a:rPr>
              <a:t>k</a:t>
            </a:r>
            <a:r>
              <a:rPr kumimoji="1" lang="zh-CN" altLang="ru-RU" sz="2800" b="1" dirty="0">
                <a:latin typeface="宋体" panose="02010600030101010101" pitchFamily="2" charset="-122"/>
              </a:rPr>
              <a:t>：第</a:t>
            </a:r>
            <a:r>
              <a:rPr kumimoji="1" lang="ru-RU" altLang="zh-CN" sz="2800" b="1" i="1" dirty="0"/>
              <a:t>k</a:t>
            </a:r>
            <a:r>
              <a:rPr kumimoji="1" lang="zh-CN" altLang="ru-RU" sz="2800" b="1" dirty="0">
                <a:latin typeface="宋体" panose="02010600030101010101" pitchFamily="2" charset="-122"/>
              </a:rPr>
              <a:t>个月还款后的欠款</a:t>
            </a:r>
          </a:p>
        </p:txBody>
      </p:sp>
      <p:sp>
        <p:nvSpPr>
          <p:cNvPr id="2" name="灯片编号占位符 1">
            <a:extLst>
              <a:ext uri="{FF2B5EF4-FFF2-40B4-BE49-F238E27FC236}">
                <a16:creationId xmlns:a16="http://schemas.microsoft.com/office/drawing/2014/main" id="{2009634E-1BE9-48CF-793C-AC6CABFE6123}"/>
              </a:ext>
            </a:extLst>
          </p:cNvPr>
          <p:cNvSpPr>
            <a:spLocks noGrp="1"/>
          </p:cNvSpPr>
          <p:nvPr>
            <p:ph type="sldNum" sz="quarter" idx="12"/>
          </p:nvPr>
        </p:nvSpPr>
        <p:spPr/>
        <p:txBody>
          <a:bodyPr/>
          <a:lstStyle/>
          <a:p>
            <a:fld id="{0C913308-F349-4B6D-A68A-DD1791B4A57B}" type="slidenum">
              <a:rPr lang="zh-CN" altLang="en-US" smtClean="0"/>
              <a:t>24</a:t>
            </a:fld>
            <a:endParaRPr lang="zh-CN" altLang="en-US"/>
          </a:p>
        </p:txBody>
      </p:sp>
    </p:spTree>
    <p:extLst>
      <p:ext uri="{BB962C8B-B14F-4D97-AF65-F5344CB8AC3E}">
        <p14:creationId xmlns:p14="http://schemas.microsoft.com/office/powerpoint/2010/main" val="65789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5" name="Rectangle 67">
            <a:extLst>
              <a:ext uri="{FF2B5EF4-FFF2-40B4-BE49-F238E27FC236}">
                <a16:creationId xmlns:a16="http://schemas.microsoft.com/office/drawing/2014/main" id="{5D6CED3D-B0F4-464D-BEDA-C13CAF1D42C7}"/>
              </a:ext>
            </a:extLst>
          </p:cNvPr>
          <p:cNvSpPr>
            <a:spLocks noChangeArrowheads="1"/>
          </p:cNvSpPr>
          <p:nvPr/>
        </p:nvSpPr>
        <p:spPr bwMode="auto">
          <a:xfrm>
            <a:off x="457200" y="6096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模型</a:t>
            </a:r>
          </a:p>
        </p:txBody>
      </p:sp>
      <p:sp>
        <p:nvSpPr>
          <p:cNvPr id="2116" name="Rectangle 68">
            <a:extLst>
              <a:ext uri="{FF2B5EF4-FFF2-40B4-BE49-F238E27FC236}">
                <a16:creationId xmlns:a16="http://schemas.microsoft.com/office/drawing/2014/main" id="{2703F769-657D-4DA5-857A-6E8AB5CE9713}"/>
              </a:ext>
            </a:extLst>
          </p:cNvPr>
          <p:cNvSpPr>
            <a:spLocks noChangeArrowheads="1"/>
          </p:cNvSpPr>
          <p:nvPr/>
        </p:nvSpPr>
        <p:spPr bwMode="auto">
          <a:xfrm>
            <a:off x="394335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117" name="Object 69">
            <a:extLst>
              <a:ext uri="{FF2B5EF4-FFF2-40B4-BE49-F238E27FC236}">
                <a16:creationId xmlns:a16="http://schemas.microsoft.com/office/drawing/2014/main" id="{1A799B24-BB7D-4519-935A-5B0D7A62CD02}"/>
              </a:ext>
            </a:extLst>
          </p:cNvPr>
          <p:cNvGraphicFramePr>
            <a:graphicFrameLocks noChangeAspect="1"/>
          </p:cNvGraphicFramePr>
          <p:nvPr/>
        </p:nvGraphicFramePr>
        <p:xfrm>
          <a:off x="2514600" y="531813"/>
          <a:ext cx="3962400" cy="534987"/>
        </p:xfrm>
        <a:graphic>
          <a:graphicData uri="http://schemas.openxmlformats.org/presentationml/2006/ole">
            <mc:AlternateContent xmlns:mc="http://schemas.openxmlformats.org/markup-compatibility/2006">
              <mc:Choice xmlns:v="urn:schemas-microsoft-com:vml" Requires="v">
                <p:oleObj r:id="rId2" imgW="1257300" imgH="228600" progId="Equation.3">
                  <p:embed/>
                </p:oleObj>
              </mc:Choice>
              <mc:Fallback>
                <p:oleObj r:id="rId2" imgW="1257300" imgH="228600" progId="Equation.3">
                  <p:embed/>
                  <p:pic>
                    <p:nvPicPr>
                      <p:cNvPr id="2117" name="Object 69">
                        <a:extLst>
                          <a:ext uri="{FF2B5EF4-FFF2-40B4-BE49-F238E27FC236}">
                            <a16:creationId xmlns:a16="http://schemas.microsoft.com/office/drawing/2014/main" id="{1A799B24-BB7D-4519-935A-5B0D7A62C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531813"/>
                        <a:ext cx="39624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118" name="Rectangle 70">
            <a:extLst>
              <a:ext uri="{FF2B5EF4-FFF2-40B4-BE49-F238E27FC236}">
                <a16:creationId xmlns:a16="http://schemas.microsoft.com/office/drawing/2014/main" id="{EDE06FB3-A688-4E6F-9C21-49C08FA0482B}"/>
              </a:ext>
            </a:extLst>
          </p:cNvPr>
          <p:cNvSpPr>
            <a:spLocks noChangeArrowheads="1"/>
          </p:cNvSpPr>
          <p:nvPr/>
        </p:nvSpPr>
        <p:spPr bwMode="auto">
          <a:xfrm>
            <a:off x="43291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119" name="Object 71">
            <a:extLst>
              <a:ext uri="{FF2B5EF4-FFF2-40B4-BE49-F238E27FC236}">
                <a16:creationId xmlns:a16="http://schemas.microsoft.com/office/drawing/2014/main" id="{D96A273F-4039-4636-A568-3473597F25B2}"/>
              </a:ext>
            </a:extLst>
          </p:cNvPr>
          <p:cNvGraphicFramePr>
            <a:graphicFrameLocks noChangeAspect="1"/>
          </p:cNvGraphicFramePr>
          <p:nvPr/>
        </p:nvGraphicFramePr>
        <p:xfrm>
          <a:off x="2590800" y="1344613"/>
          <a:ext cx="1447800" cy="501650"/>
        </p:xfrm>
        <a:graphic>
          <a:graphicData uri="http://schemas.openxmlformats.org/presentationml/2006/ole">
            <mc:AlternateContent xmlns:mc="http://schemas.openxmlformats.org/markup-compatibility/2006">
              <mc:Choice xmlns:v="urn:schemas-microsoft-com:vml" Requires="v">
                <p:oleObj r:id="rId4" imgW="482391" imgH="228501" progId="Equation.3">
                  <p:embed/>
                </p:oleObj>
              </mc:Choice>
              <mc:Fallback>
                <p:oleObj r:id="rId4" imgW="482391" imgH="228501" progId="Equation.3">
                  <p:embed/>
                  <p:pic>
                    <p:nvPicPr>
                      <p:cNvPr id="2119" name="Object 71">
                        <a:extLst>
                          <a:ext uri="{FF2B5EF4-FFF2-40B4-BE49-F238E27FC236}">
                            <a16:creationId xmlns:a16="http://schemas.microsoft.com/office/drawing/2014/main" id="{D96A273F-4039-4636-A568-3473597F2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1344613"/>
                        <a:ext cx="14478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120" name="Rectangle 72">
            <a:extLst>
              <a:ext uri="{FF2B5EF4-FFF2-40B4-BE49-F238E27FC236}">
                <a16:creationId xmlns:a16="http://schemas.microsoft.com/office/drawing/2014/main" id="{255544A5-1753-45EE-9658-A4505A43520E}"/>
              </a:ext>
            </a:extLst>
          </p:cNvPr>
          <p:cNvSpPr>
            <a:spLocks noChangeArrowheads="1"/>
          </p:cNvSpPr>
          <p:nvPr/>
        </p:nvSpPr>
        <p:spPr bwMode="auto">
          <a:xfrm>
            <a:off x="43434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2121" name="Object 73">
            <a:extLst>
              <a:ext uri="{FF2B5EF4-FFF2-40B4-BE49-F238E27FC236}">
                <a16:creationId xmlns:a16="http://schemas.microsoft.com/office/drawing/2014/main" id="{25D39DEC-8A1E-4C80-B490-0C01C049AF2F}"/>
              </a:ext>
            </a:extLst>
          </p:cNvPr>
          <p:cNvGraphicFramePr>
            <a:graphicFrameLocks noChangeAspect="1"/>
          </p:cNvGraphicFramePr>
          <p:nvPr/>
        </p:nvGraphicFramePr>
        <p:xfrm>
          <a:off x="4953000" y="1295400"/>
          <a:ext cx="1676400" cy="533400"/>
        </p:xfrm>
        <a:graphic>
          <a:graphicData uri="http://schemas.openxmlformats.org/presentationml/2006/ole">
            <mc:AlternateContent xmlns:mc="http://schemas.openxmlformats.org/markup-compatibility/2006">
              <mc:Choice xmlns:v="urn:schemas-microsoft-com:vml" Requires="v">
                <p:oleObj r:id="rId6" imgW="457200" imgH="228600" progId="Equation.3">
                  <p:embed/>
                </p:oleObj>
              </mc:Choice>
              <mc:Fallback>
                <p:oleObj r:id="rId6" imgW="457200" imgH="228600" progId="Equation.3">
                  <p:embed/>
                  <p:pic>
                    <p:nvPicPr>
                      <p:cNvPr id="2121" name="Object 73">
                        <a:extLst>
                          <a:ext uri="{FF2B5EF4-FFF2-40B4-BE49-F238E27FC236}">
                            <a16:creationId xmlns:a16="http://schemas.microsoft.com/office/drawing/2014/main" id="{25D39DEC-8A1E-4C80-B490-0C01C049AF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1295400"/>
                        <a:ext cx="1676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122" name="Rectangle 74">
            <a:extLst>
              <a:ext uri="{FF2B5EF4-FFF2-40B4-BE49-F238E27FC236}">
                <a16:creationId xmlns:a16="http://schemas.microsoft.com/office/drawing/2014/main" id="{54B45AD1-4665-4D6D-80C2-1A6B93542232}"/>
              </a:ext>
            </a:extLst>
          </p:cNvPr>
          <p:cNvSpPr>
            <a:spLocks noChangeArrowheads="1"/>
          </p:cNvSpPr>
          <p:nvPr/>
        </p:nvSpPr>
        <p:spPr bwMode="auto">
          <a:xfrm>
            <a:off x="457200" y="2514600"/>
            <a:ext cx="609600" cy="1066800"/>
          </a:xfrm>
          <a:prstGeom prst="rect">
            <a:avLst/>
          </a:prstGeom>
          <a:solidFill>
            <a:srgbClr val="FF99FF"/>
          </a:solidFill>
          <a:ln>
            <a:noFill/>
          </a:ln>
          <a:effectLst/>
          <a:extLs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3200" b="1">
                <a:ea typeface="楷体_GB2312" pitchFamily="49" charset="-122"/>
              </a:rPr>
              <a:t>求解</a:t>
            </a:r>
          </a:p>
        </p:txBody>
      </p:sp>
      <p:graphicFrame>
        <p:nvGraphicFramePr>
          <p:cNvPr id="2123" name="Object 75">
            <a:extLst>
              <a:ext uri="{FF2B5EF4-FFF2-40B4-BE49-F238E27FC236}">
                <a16:creationId xmlns:a16="http://schemas.microsoft.com/office/drawing/2014/main" id="{E3E77E38-4954-4D30-A401-AA1E2D7C1A16}"/>
              </a:ext>
            </a:extLst>
          </p:cNvPr>
          <p:cNvGraphicFramePr>
            <a:graphicFrameLocks noChangeAspect="1"/>
          </p:cNvGraphicFramePr>
          <p:nvPr/>
        </p:nvGraphicFramePr>
        <p:xfrm>
          <a:off x="2667000" y="2590800"/>
          <a:ext cx="3733800" cy="1143000"/>
        </p:xfrm>
        <a:graphic>
          <a:graphicData uri="http://schemas.openxmlformats.org/presentationml/2006/ole">
            <mc:AlternateContent xmlns:mc="http://schemas.openxmlformats.org/markup-compatibility/2006">
              <mc:Choice xmlns:v="urn:schemas-microsoft-com:vml" Requires="v">
                <p:oleObj r:id="rId8" imgW="1092200" imgH="457200" progId="Equation.3">
                  <p:embed/>
                </p:oleObj>
              </mc:Choice>
              <mc:Fallback>
                <p:oleObj r:id="rId8" imgW="1092200" imgH="457200" progId="Equation.3">
                  <p:embed/>
                  <p:pic>
                    <p:nvPicPr>
                      <p:cNvPr id="2123" name="Object 75">
                        <a:extLst>
                          <a:ext uri="{FF2B5EF4-FFF2-40B4-BE49-F238E27FC236}">
                            <a16:creationId xmlns:a16="http://schemas.microsoft.com/office/drawing/2014/main" id="{E3E77E38-4954-4D30-A401-AA1E2D7C1A1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7000" y="2590800"/>
                        <a:ext cx="3733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
        <p:nvSpPr>
          <p:cNvPr id="2124" name="Rectangle 76">
            <a:extLst>
              <a:ext uri="{FF2B5EF4-FFF2-40B4-BE49-F238E27FC236}">
                <a16:creationId xmlns:a16="http://schemas.microsoft.com/office/drawing/2014/main" id="{74D59633-999F-4909-A913-9A18A5DC3B5A}"/>
              </a:ext>
            </a:extLst>
          </p:cNvPr>
          <p:cNvSpPr>
            <a:spLocks noChangeArrowheads="1"/>
          </p:cNvSpPr>
          <p:nvPr/>
        </p:nvSpPr>
        <p:spPr bwMode="auto">
          <a:xfrm>
            <a:off x="1752600" y="4038600"/>
            <a:ext cx="647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t>代入</a:t>
            </a:r>
            <a:r>
              <a:rPr kumimoji="1" lang="ru-RU" altLang="zh-CN" sz="2800" b="1" i="1" dirty="0"/>
              <a:t>n</a:t>
            </a:r>
            <a:r>
              <a:rPr kumimoji="1" lang="ru-RU" altLang="zh-CN" sz="2800" b="1" dirty="0"/>
              <a:t>=180</a:t>
            </a:r>
            <a:r>
              <a:rPr kumimoji="1" lang="zh-CN" altLang="ru-RU" sz="2800" b="1" dirty="0"/>
              <a:t>、</a:t>
            </a:r>
            <a:r>
              <a:rPr kumimoji="1" lang="zh-CN" altLang="ru-RU" sz="2800" b="1" i="1" dirty="0"/>
              <a:t> </a:t>
            </a:r>
            <a:r>
              <a:rPr kumimoji="1" lang="ru-RU" altLang="zh-CN" sz="2800" b="1" i="1" dirty="0"/>
              <a:t>r</a:t>
            </a:r>
            <a:r>
              <a:rPr kumimoji="1" lang="ru-RU" altLang="zh-CN" sz="2800" b="1" dirty="0"/>
              <a:t>=0.003675</a:t>
            </a:r>
            <a:r>
              <a:rPr kumimoji="1" lang="zh-CN" altLang="ru-RU" sz="2800" b="1" dirty="0"/>
              <a:t>、</a:t>
            </a:r>
            <a:r>
              <a:rPr kumimoji="1" lang="zh-CN" altLang="ru-RU" sz="2800" b="1" i="1" dirty="0"/>
              <a:t> </a:t>
            </a:r>
            <a:r>
              <a:rPr kumimoji="1" lang="ru-RU" altLang="zh-CN" sz="2800" b="1" i="1" dirty="0"/>
              <a:t>B</a:t>
            </a:r>
            <a:r>
              <a:rPr kumimoji="1" lang="ru-RU" altLang="zh-CN" sz="2800" b="1" dirty="0"/>
              <a:t>=1977.04</a:t>
            </a:r>
          </a:p>
        </p:txBody>
      </p:sp>
      <p:sp>
        <p:nvSpPr>
          <p:cNvPr id="2125" name="Rectangle 77">
            <a:extLst>
              <a:ext uri="{FF2B5EF4-FFF2-40B4-BE49-F238E27FC236}">
                <a16:creationId xmlns:a16="http://schemas.microsoft.com/office/drawing/2014/main" id="{43D73ACE-3843-4591-AC24-9BD00236FA55}"/>
              </a:ext>
            </a:extLst>
          </p:cNvPr>
          <p:cNvSpPr>
            <a:spLocks noChangeArrowheads="1"/>
          </p:cNvSpPr>
          <p:nvPr/>
        </p:nvSpPr>
        <p:spPr bwMode="auto">
          <a:xfrm>
            <a:off x="838200" y="4876800"/>
            <a:ext cx="381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t>结果： </a:t>
            </a:r>
            <a:r>
              <a:rPr kumimoji="1" lang="ru-RU" altLang="zh-CN" sz="2800" b="1" i="1" dirty="0"/>
              <a:t>A</a:t>
            </a:r>
            <a:r>
              <a:rPr kumimoji="1" lang="ru-RU" altLang="zh-CN" sz="2800" b="1" dirty="0"/>
              <a:t>=260000</a:t>
            </a:r>
            <a:r>
              <a:rPr kumimoji="1" lang="zh-CN" altLang="ru-RU" sz="2800" b="1" dirty="0"/>
              <a:t>（元）</a:t>
            </a:r>
          </a:p>
        </p:txBody>
      </p:sp>
      <p:sp>
        <p:nvSpPr>
          <p:cNvPr id="2126" name="Rectangle 78">
            <a:extLst>
              <a:ext uri="{FF2B5EF4-FFF2-40B4-BE49-F238E27FC236}">
                <a16:creationId xmlns:a16="http://schemas.microsoft.com/office/drawing/2014/main" id="{20149A34-08FA-4EAE-9A45-D6ABBF8CC2FE}"/>
              </a:ext>
            </a:extLst>
          </p:cNvPr>
          <p:cNvSpPr>
            <a:spLocks noChangeArrowheads="1"/>
          </p:cNvSpPr>
          <p:nvPr/>
        </p:nvSpPr>
        <p:spPr bwMode="auto">
          <a:xfrm>
            <a:off x="838200" y="58674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kumimoji="1" lang="zh-CN" altLang="zh-CN"/>
          </a:p>
        </p:txBody>
      </p:sp>
      <p:sp>
        <p:nvSpPr>
          <p:cNvPr id="2127" name="Rectangle 79">
            <a:extLst>
              <a:ext uri="{FF2B5EF4-FFF2-40B4-BE49-F238E27FC236}">
                <a16:creationId xmlns:a16="http://schemas.microsoft.com/office/drawing/2014/main" id="{5291F7D1-DE53-414D-847B-897A8480E0C5}"/>
              </a:ext>
            </a:extLst>
          </p:cNvPr>
          <p:cNvSpPr>
            <a:spLocks noChangeArrowheads="1"/>
          </p:cNvSpPr>
          <p:nvPr/>
        </p:nvSpPr>
        <p:spPr bwMode="auto">
          <a:xfrm>
            <a:off x="4724400" y="48768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ru-RU" sz="2800" b="1" dirty="0">
                <a:latin typeface="宋体" panose="02010600030101010101" pitchFamily="2" charset="-122"/>
              </a:rPr>
              <a:t>一次性优惠价</a:t>
            </a:r>
            <a:r>
              <a:rPr kumimoji="1" lang="ru-RU" altLang="zh-CN" sz="2800" b="1" dirty="0">
                <a:latin typeface="宋体" panose="02010600030101010101" pitchFamily="2" charset="-122"/>
              </a:rPr>
              <a:t>9.8</a:t>
            </a:r>
            <a:r>
              <a:rPr kumimoji="1" lang="zh-CN" altLang="ru-RU" sz="2800" b="1" dirty="0">
                <a:latin typeface="宋体" panose="02010600030101010101" pitchFamily="2" charset="-122"/>
              </a:rPr>
              <a:t>折</a:t>
            </a:r>
          </a:p>
        </p:txBody>
      </p:sp>
      <p:sp>
        <p:nvSpPr>
          <p:cNvPr id="2" name="灯片编号占位符 1">
            <a:extLst>
              <a:ext uri="{FF2B5EF4-FFF2-40B4-BE49-F238E27FC236}">
                <a16:creationId xmlns:a16="http://schemas.microsoft.com/office/drawing/2014/main" id="{0C1CD56C-44E8-09A4-3545-3A38ADFE280E}"/>
              </a:ext>
            </a:extLst>
          </p:cNvPr>
          <p:cNvSpPr>
            <a:spLocks noGrp="1"/>
          </p:cNvSpPr>
          <p:nvPr>
            <p:ph type="sldNum" sz="quarter" idx="12"/>
          </p:nvPr>
        </p:nvSpPr>
        <p:spPr/>
        <p:txBody>
          <a:bodyPr/>
          <a:lstStyle/>
          <a:p>
            <a:fld id="{0C913308-F349-4B6D-A68A-DD1791B4A57B}" type="slidenum">
              <a:rPr lang="zh-CN" altLang="en-US" smtClean="0"/>
              <a:t>25</a:t>
            </a:fld>
            <a:endParaRPr lang="zh-CN" altLang="en-US"/>
          </a:p>
        </p:txBody>
      </p:sp>
    </p:spTree>
    <p:extLst>
      <p:ext uri="{BB962C8B-B14F-4D97-AF65-F5344CB8AC3E}">
        <p14:creationId xmlns:p14="http://schemas.microsoft.com/office/powerpoint/2010/main" val="321148253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3246</TotalTime>
  <Words>2154</Words>
  <Application>Microsoft Office PowerPoint</Application>
  <PresentationFormat>全屏显示(4:3)</PresentationFormat>
  <Paragraphs>168</Paragraphs>
  <Slides>25</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25</vt:i4>
      </vt:variant>
    </vt:vector>
  </HeadingPairs>
  <TitlesOfParts>
    <vt:vector size="38" baseType="lpstr">
      <vt:lpstr>Arial Unicode MS</vt:lpstr>
      <vt:lpstr>等线</vt:lpstr>
      <vt:lpstr>楷体_GB2312</vt:lpstr>
      <vt:lpstr>宋体</vt:lpstr>
      <vt:lpstr>宋体-18030</vt:lpstr>
      <vt:lpstr>微软雅黑</vt:lpstr>
      <vt:lpstr>Arial</vt:lpstr>
      <vt:lpstr>Calibri</vt:lpstr>
      <vt:lpstr>Cambria Math</vt:lpstr>
      <vt:lpstr>Times New Roman</vt:lpstr>
      <vt:lpstr>Office 主题</vt:lpstr>
      <vt:lpstr>Equation</vt:lpstr>
      <vt:lpstr>Equation.3</vt:lpstr>
      <vt:lpstr>PowerPoint 演示文稿</vt:lpstr>
      <vt:lpstr>PowerPoint 演示文稿</vt:lpstr>
      <vt:lpstr>PowerPoint 演示文稿</vt:lpstr>
      <vt:lpstr>§ Malthus模型与Logistic模型</vt:lpstr>
      <vt:lpstr>§ 4.1  Malthus模型与Logistic模型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新产品的推广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xmwang</dc:creator>
  <cp:lastModifiedBy>WANG XM</cp:lastModifiedBy>
  <cp:revision>124</cp:revision>
  <cp:lastPrinted>2021-10-18T05:38:56Z</cp:lastPrinted>
  <dcterms:created xsi:type="dcterms:W3CDTF">2018-08-30T03:08:46Z</dcterms:created>
  <dcterms:modified xsi:type="dcterms:W3CDTF">2025-10-13T09:11:59Z</dcterms:modified>
</cp:coreProperties>
</file>