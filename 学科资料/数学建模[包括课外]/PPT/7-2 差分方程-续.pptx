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554" r:id="rId2"/>
    <p:sldId id="882" r:id="rId3"/>
    <p:sldId id="916" r:id="rId4"/>
    <p:sldId id="917" r:id="rId5"/>
    <p:sldId id="918" r:id="rId6"/>
    <p:sldId id="919" r:id="rId7"/>
    <p:sldId id="920" r:id="rId8"/>
    <p:sldId id="921" r:id="rId9"/>
    <p:sldId id="922" r:id="rId10"/>
    <p:sldId id="923" r:id="rId11"/>
    <p:sldId id="924" r:id="rId12"/>
    <p:sldId id="925" r:id="rId13"/>
    <p:sldId id="926" r:id="rId14"/>
    <p:sldId id="927" r:id="rId15"/>
    <p:sldId id="928" r:id="rId16"/>
    <p:sldId id="929" r:id="rId17"/>
    <p:sldId id="931" r:id="rId18"/>
    <p:sldId id="932" r:id="rId19"/>
    <p:sldId id="933" r:id="rId20"/>
    <p:sldId id="934" r:id="rId21"/>
    <p:sldId id="935" r:id="rId22"/>
    <p:sldId id="936" r:id="rId23"/>
    <p:sldId id="937" r:id="rId24"/>
    <p:sldId id="939" r:id="rId25"/>
    <p:sldId id="938" r:id="rId26"/>
    <p:sldId id="940" r:id="rId27"/>
    <p:sldId id="941" r:id="rId28"/>
    <p:sldId id="942" r:id="rId29"/>
    <p:sldId id="944" r:id="rId30"/>
    <p:sldId id="945" r:id="rId31"/>
  </p:sldIdLst>
  <p:sldSz cx="9144000" cy="6858000" type="screen4x3"/>
  <p:notesSz cx="6797675" cy="9928225"/>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31855CD-6145-4892-B30A-BF14E4D1735B}">
          <p14:sldIdLst>
            <p14:sldId id="554"/>
            <p14:sldId id="882"/>
            <p14:sldId id="916"/>
            <p14:sldId id="917"/>
            <p14:sldId id="918"/>
            <p14:sldId id="919"/>
            <p14:sldId id="920"/>
            <p14:sldId id="921"/>
            <p14:sldId id="922"/>
            <p14:sldId id="923"/>
            <p14:sldId id="924"/>
            <p14:sldId id="925"/>
            <p14:sldId id="926"/>
            <p14:sldId id="927"/>
            <p14:sldId id="928"/>
            <p14:sldId id="929"/>
            <p14:sldId id="931"/>
            <p14:sldId id="932"/>
            <p14:sldId id="933"/>
            <p14:sldId id="934"/>
            <p14:sldId id="935"/>
            <p14:sldId id="936"/>
            <p14:sldId id="937"/>
            <p14:sldId id="939"/>
            <p14:sldId id="938"/>
            <p14:sldId id="940"/>
            <p14:sldId id="941"/>
            <p14:sldId id="942"/>
            <p14:sldId id="944"/>
            <p14:sldId id="945"/>
          </p14:sldIdLst>
        </p14:section>
        <p14:section name="无标题节" id="{2F436345-8B10-4AD5-A8D6-B366B5BF43CC}">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245" autoAdjust="0"/>
  </p:normalViewPr>
  <p:slideViewPr>
    <p:cSldViewPr>
      <p:cViewPr varScale="1">
        <p:scale>
          <a:sx n="109" d="100"/>
          <a:sy n="109" d="100"/>
        </p:scale>
        <p:origin x="831" y="13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C6F1D4EA-8FF2-43E4-BBB1-02CA7EC93BB8}" type="datetimeFigureOut">
              <a:rPr lang="zh-CN" altLang="en-US" smtClean="0"/>
              <a:t>2025/10/13</a:t>
            </a:fld>
            <a:endParaRPr lang="zh-CN" altLang="en-US"/>
          </a:p>
        </p:txBody>
      </p:sp>
      <p:sp>
        <p:nvSpPr>
          <p:cNvPr id="4" name="幻灯片图像占位符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15CCA116-1A87-469E-B49F-416127A651D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26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27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28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29</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30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2025/10/13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2025/10/13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2025/10/13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2025/10/13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jpeg"/><Relationship Id="rId7"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24" name="Picture 2" descr="http://www.scut.edu.cn/publish2/news/intro/logo/resource/1smevus1otq84b.jpg"/>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t>1</a:t>
            </a:fld>
            <a:endParaRPr lang="zh-CN" altLang="en-US" b="1" dirty="0">
              <a:solidFill>
                <a:srgbClr val="FF0000"/>
              </a:solidFill>
            </a:endParaRPr>
          </a:p>
        </p:txBody>
      </p:sp>
      <p:sp>
        <p:nvSpPr>
          <p:cNvPr id="31" name="Text Box 11"/>
          <p:cNvSpPr txBox="1">
            <a:spLocks noChangeArrowheads="1"/>
          </p:cNvSpPr>
          <p:nvPr/>
        </p:nvSpPr>
        <p:spPr bwMode="auto">
          <a:xfrm>
            <a:off x="395536" y="1556792"/>
            <a:ext cx="8416409"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50000"/>
              </a:spcBef>
              <a:buClrTx/>
              <a:buSzTx/>
              <a:buFont typeface="Wingdings" panose="05000000000000000000" pitchFamily="2" charset="2"/>
              <a:buNone/>
              <a:defRPr sz="4000" b="1">
                <a:solidFill>
                  <a:srgbClr val="FF0000"/>
                </a:solidFill>
                <a:latin typeface="微软雅黑" panose="020B0503020204020204" pitchFamily="34" charset="-122"/>
                <a:ea typeface="微软雅黑" panose="020B0503020204020204" pitchFamily="34" charset="-122"/>
              </a:defRPr>
            </a:lvl1pPr>
            <a:lvl2pPr marL="742950" indent="-285750" eaLnBrk="0" hangingPunct="0">
              <a:spcBef>
                <a:spcPts val="250"/>
              </a:spcBef>
              <a:buClr>
                <a:srgbClr val="FF0000"/>
              </a:buClr>
              <a:buSzPct val="100000"/>
              <a:buFont typeface="Wingdings" panose="05000000000000000000" pitchFamily="2" charset="2"/>
              <a:buChar char="Ø"/>
              <a:defRPr sz="2000" b="1">
                <a:latin typeface="Times New Roman" panose="02020603050405020304" pitchFamily="18" charset="0"/>
                <a:ea typeface="宋体" panose="02010600030101010101" pitchFamily="2" charset="-122"/>
              </a:defRPr>
            </a:lvl2pPr>
            <a:lvl3pPr marL="1143000" indent="-228600" eaLnBrk="0" hangingPunct="0">
              <a:spcBef>
                <a:spcPts val="250"/>
              </a:spcBef>
              <a:buClr>
                <a:srgbClr val="ED3742"/>
              </a:buClr>
              <a:buSzPct val="100000"/>
              <a:buFont typeface="Wingdings 2" panose="05020102010507070707" pitchFamily="18" charset="2"/>
              <a:buChar char=""/>
              <a:defRPr sz="2400">
                <a:latin typeface="Arial Rounded MT Bold" panose="020F0704030504030204" pitchFamily="34" charset="0"/>
                <a:ea typeface="宋体" panose="02010600030101010101" pitchFamily="2" charset="-122"/>
              </a:defRPr>
            </a:lvl3pPr>
            <a:lvl4pPr marL="1600200" indent="-228600" eaLnBrk="0" hangingPunct="0">
              <a:spcBef>
                <a:spcPts val="225"/>
              </a:spcBef>
              <a:buClr>
                <a:srgbClr val="ED3742"/>
              </a:buClr>
              <a:buSzPct val="112000"/>
              <a:buFont typeface="Verdana" panose="020B0604030504040204" pitchFamily="34" charset="0"/>
              <a:buChar char="◦"/>
              <a:defRPr sz="1900">
                <a:latin typeface="Arial Rounded MT Bold" panose="020F0704030504030204" pitchFamily="34" charset="0"/>
                <a:ea typeface="宋体" panose="02010600030101010101" pitchFamily="2" charset="-122"/>
              </a:defRPr>
            </a:lvl4pPr>
            <a:lvl5pPr marL="2057400" indent="-228600" eaLnBrk="0" hangingPunct="0">
              <a:spcBef>
                <a:spcPts val="250"/>
              </a:spcBef>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9pPr>
          </a:lstStyle>
          <a:p>
            <a:pPr>
              <a:defRPr/>
            </a:pPr>
            <a:r>
              <a:rPr lang="zh-CN" altLang="en-US" sz="5400" dirty="0">
                <a:solidFill>
                  <a:srgbClr val="C00000"/>
                </a:solidFill>
                <a:latin typeface="Arial" panose="020B0604020202020204" pitchFamily="34" charset="0"/>
                <a:ea typeface="华文新魏" panose="02010800040101010101" pitchFamily="2" charset="-122"/>
              </a:rPr>
              <a:t>数学建模与实验</a:t>
            </a:r>
          </a:p>
        </p:txBody>
      </p:sp>
      <p:grpSp>
        <p:nvGrpSpPr>
          <p:cNvPr id="34" name="Group 3"/>
          <p:cNvGrpSpPr/>
          <p:nvPr/>
        </p:nvGrpSpPr>
        <p:grpSpPr bwMode="auto">
          <a:xfrm>
            <a:off x="1439467" y="5662615"/>
            <a:ext cx="6265069" cy="719137"/>
            <a:chOff x="249" y="3702"/>
            <a:chExt cx="5262" cy="453"/>
          </a:xfrm>
        </p:grpSpPr>
        <p:pic>
          <p:nvPicPr>
            <p:cNvPr id="35"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9"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6" name="Picture 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0"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7" name="Picture 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05"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8" name="Picture 9"/>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91"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9" name="Picture 1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562"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40" name="Picture 11"/>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34"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41" name="Picture 13"/>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76"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grpSp>
      <p:sp>
        <p:nvSpPr>
          <p:cNvPr id="15" name="矩形 14"/>
          <p:cNvSpPr/>
          <p:nvPr/>
        </p:nvSpPr>
        <p:spPr>
          <a:xfrm>
            <a:off x="2146297" y="3425275"/>
            <a:ext cx="4729959"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差分方程模型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对变化进行建模</a:t>
            </a:r>
            <a:endParaRPr lang="zh-CN" altLang="en-US" sz="3600" dirty="0">
              <a:effectLst/>
              <a:latin typeface="Times New Roman" panose="02020603050405020304" pitchFamily="18" charset="0"/>
              <a:ea typeface="文鼎大标宋简" charset="-122"/>
            </a:endParaRPr>
          </a:p>
        </p:txBody>
      </p:sp>
      <mc:AlternateContent xmlns:mc="http://schemas.openxmlformats.org/markup-compatibility/2006" xmlns:a14="http://schemas.microsoft.com/office/drawing/2010/main">
        <mc:Choice Requires="a14">
          <p:sp>
            <p:nvSpPr>
              <p:cNvPr id="100355" name="Rectangle 3"/>
              <p:cNvSpPr>
                <a:spLocks noGrp="1" noChangeArrowheads="1"/>
              </p:cNvSpPr>
              <p:nvPr>
                <p:ph type="body" idx="1"/>
              </p:nvPr>
            </p:nvSpPr>
            <p:spPr>
              <a:xfrm>
                <a:off x="251520" y="1916832"/>
                <a:ext cx="8424936" cy="3816424"/>
              </a:xfrm>
            </p:spPr>
            <p:txBody>
              <a:bodyPr>
                <a:normAutofit lnSpcReduction="10000"/>
              </a:bodyPr>
              <a:lstStyle/>
              <a:p>
                <a:pPr marL="0" indent="0">
                  <a:lnSpc>
                    <a:spcPct val="120000"/>
                  </a:lnSpc>
                  <a:spcBef>
                    <a:spcPct val="0"/>
                  </a:spcBef>
                  <a:buNone/>
                </a:pPr>
                <a:r>
                  <a:rPr lang="zh-CN" altLang="en-US" sz="2800" b="1" dirty="0">
                    <a:effectLst/>
                    <a:latin typeface="宋体" panose="02010600030101010101" pitchFamily="2" charset="-122"/>
                  </a:rPr>
                  <a:t>数列</a:t>
                </a:r>
                <a:r>
                  <a:rPr lang="en-US" altLang="zh-CN" sz="2800" b="1" dirty="0">
                    <a:effectLst/>
                    <a:latin typeface="宋体" panose="02010600030101010101" pitchFamily="2" charset="-122"/>
                  </a:rPr>
                  <a:t>A={a</a:t>
                </a:r>
                <a:r>
                  <a:rPr lang="en-US" altLang="zh-CN" sz="2800" b="1" baseline="-25000" dirty="0">
                    <a:effectLst/>
                    <a:latin typeface="宋体" panose="02010600030101010101" pitchFamily="2" charset="-122"/>
                  </a:rPr>
                  <a:t>0</a:t>
                </a:r>
                <a:r>
                  <a:rPr lang="en-US" altLang="zh-CN" sz="2800" b="1" dirty="0">
                    <a:latin typeface="宋体" panose="02010600030101010101" pitchFamily="2" charset="-122"/>
                  </a:rPr>
                  <a:t>,</a:t>
                </a:r>
                <a:r>
                  <a:rPr lang="zh-CN" altLang="en-US" sz="2800" b="1" dirty="0">
                    <a:latin typeface="宋体" panose="02010600030101010101" pitchFamily="2" charset="-122"/>
                  </a:rPr>
                  <a:t> </a:t>
                </a:r>
                <a:r>
                  <a:rPr lang="en-US" altLang="zh-CN" sz="2800" b="1" dirty="0">
                    <a:latin typeface="宋体" panose="02010600030101010101" pitchFamily="2" charset="-122"/>
                  </a:rPr>
                  <a:t>a</a:t>
                </a:r>
                <a:r>
                  <a:rPr lang="en-US" altLang="zh-CN" sz="2800" b="1" baseline="-25000" dirty="0">
                    <a:latin typeface="宋体" panose="02010600030101010101" pitchFamily="2" charset="-122"/>
                  </a:rPr>
                  <a:t>1</a:t>
                </a:r>
                <a:r>
                  <a:rPr lang="en-US" altLang="zh-CN" sz="2800" b="1" dirty="0">
                    <a:latin typeface="宋体" panose="02010600030101010101" pitchFamily="2" charset="-122"/>
                  </a:rPr>
                  <a:t>,</a:t>
                </a:r>
                <a:r>
                  <a:rPr lang="zh-CN" altLang="en-US" sz="2800" b="1" dirty="0">
                    <a:latin typeface="宋体" panose="02010600030101010101" pitchFamily="2" charset="-122"/>
                  </a:rPr>
                  <a:t> </a:t>
                </a:r>
                <a:r>
                  <a:rPr lang="en-US" altLang="zh-CN" sz="2800" b="1" dirty="0">
                    <a:latin typeface="宋体" panose="02010600030101010101" pitchFamily="2" charset="-122"/>
                  </a:rPr>
                  <a:t>a</a:t>
                </a:r>
                <a:r>
                  <a:rPr lang="en-US" altLang="zh-CN" sz="2800" b="1" baseline="-25000" dirty="0">
                    <a:latin typeface="宋体" panose="02010600030101010101" pitchFamily="2" charset="-122"/>
                  </a:rPr>
                  <a:t>2</a:t>
                </a:r>
                <a:r>
                  <a:rPr lang="en-US" altLang="zh-CN" sz="2800" b="1" dirty="0">
                    <a:latin typeface="宋体" panose="02010600030101010101" pitchFamily="2" charset="-122"/>
                  </a:rPr>
                  <a:t>,</a:t>
                </a:r>
                <a:r>
                  <a:rPr lang="zh-CN" altLang="en-US" sz="2800" b="1" dirty="0">
                    <a:latin typeface="宋体" panose="02010600030101010101" pitchFamily="2" charset="-122"/>
                  </a:rPr>
                  <a:t> </a:t>
                </a:r>
                <a:r>
                  <a:rPr lang="en-US" altLang="zh-CN" sz="2800" b="1" dirty="0">
                    <a:latin typeface="宋体" panose="02010600030101010101" pitchFamily="2" charset="-122"/>
                  </a:rPr>
                  <a:t>a</a:t>
                </a:r>
                <a:r>
                  <a:rPr lang="en-US" altLang="zh-CN" sz="2800" b="1" baseline="-25000" dirty="0">
                    <a:latin typeface="宋体" panose="02010600030101010101" pitchFamily="2" charset="-122"/>
                  </a:rPr>
                  <a:t>3</a:t>
                </a:r>
                <a:r>
                  <a:rPr lang="en-US" altLang="zh-CN" sz="2800" b="1" dirty="0">
                    <a:latin typeface="宋体" panose="02010600030101010101" pitchFamily="2" charset="-122"/>
                  </a:rPr>
                  <a:t>,</a:t>
                </a:r>
                <a:r>
                  <a:rPr lang="zh-CN" altLang="en-US" sz="2800" b="1" dirty="0">
                    <a:latin typeface="宋体" panose="02010600030101010101" pitchFamily="2" charset="-122"/>
                  </a:rPr>
                  <a:t> </a:t>
                </a:r>
                <a:r>
                  <a:rPr lang="en-US" altLang="zh-CN" sz="2800" b="1" dirty="0">
                    <a:latin typeface="宋体" panose="02010600030101010101" pitchFamily="2" charset="-122"/>
                  </a:rPr>
                  <a:t>…</a:t>
                </a:r>
                <a:r>
                  <a:rPr lang="en-US" altLang="zh-CN" sz="2800" b="1" dirty="0">
                    <a:effectLst/>
                    <a:latin typeface="宋体" panose="02010600030101010101" pitchFamily="2" charset="-122"/>
                  </a:rPr>
                  <a:t>}</a:t>
                </a:r>
                <a:r>
                  <a:rPr lang="zh-CN" altLang="en-US" sz="2800" b="1" dirty="0">
                    <a:effectLst/>
                    <a:latin typeface="宋体" panose="02010600030101010101" pitchFamily="2" charset="-122"/>
                  </a:rPr>
                  <a:t>的</a:t>
                </a:r>
                <a:r>
                  <a:rPr lang="zh-CN" altLang="en-US" sz="2800" b="1" dirty="0">
                    <a:solidFill>
                      <a:srgbClr val="FF0000"/>
                    </a:solidFill>
                    <a:effectLst/>
                    <a:latin typeface="宋体" panose="02010600030101010101" pitchFamily="2" charset="-122"/>
                  </a:rPr>
                  <a:t>一阶差分</a:t>
                </a:r>
                <a:r>
                  <a:rPr lang="zh-CN" altLang="en-US" sz="2800" b="1" dirty="0">
                    <a:solidFill>
                      <a:schemeClr val="tx1"/>
                    </a:solidFill>
                    <a:effectLst/>
                    <a:latin typeface="宋体" panose="02010600030101010101" pitchFamily="2" charset="-122"/>
                  </a:rPr>
                  <a:t>是</a:t>
                </a:r>
                <a:endParaRPr lang="en-US" altLang="zh-CN" sz="2800" b="1" dirty="0">
                  <a:solidFill>
                    <a:schemeClr val="tx1"/>
                  </a:solidFill>
                  <a:effectLst/>
                  <a:latin typeface="宋体" panose="02010600030101010101" pitchFamily="2" charset="-122"/>
                </a:endParaRPr>
              </a:p>
              <a:p>
                <a:pPr marL="0" indent="0">
                  <a:lnSpc>
                    <a:spcPct val="120000"/>
                  </a:lnSpc>
                  <a:spcBef>
                    <a:spcPct val="0"/>
                  </a:spcBef>
                  <a:buNone/>
                </a:pPr>
                <a:r>
                  <a:rPr lang="en-US" altLang="zh-CN" sz="2800" b="1" dirty="0">
                    <a:solidFill>
                      <a:schemeClr val="tx1"/>
                    </a:solidFill>
                    <a:latin typeface="宋体" panose="02010600030101010101" pitchFamily="2" charset="-122"/>
                  </a:rPr>
                  <a:t>                  </a:t>
                </a:r>
                <a14:m>
                  <m:oMath xmlns:m="http://schemas.openxmlformats.org/officeDocument/2006/math">
                    <m:r>
                      <a:rPr lang="en-US" altLang="zh-CN" sz="2800" b="1" i="1" smtClean="0">
                        <a:solidFill>
                          <a:schemeClr val="tx1"/>
                        </a:solidFill>
                        <a:latin typeface="Cambria Math" panose="02040503050406030204" pitchFamily="18" charset="0"/>
                        <a:ea typeface="Cambria Math" panose="02040503050406030204" pitchFamily="18" charset="0"/>
                      </a:rPr>
                      <m:t>∆</m:t>
                    </m:r>
                    <m:r>
                      <m:rPr>
                        <m:sty m:val="p"/>
                      </m:rPr>
                      <a:rPr lang="en-US" altLang="zh-CN" sz="2800" b="1" i="1">
                        <a:solidFill>
                          <a:schemeClr val="tx1"/>
                        </a:solidFill>
                        <a:latin typeface="Cambria Math" panose="02040503050406030204" pitchFamily="18" charset="0"/>
                        <a:ea typeface="Cambria Math" panose="02040503050406030204" pitchFamily="18" charset="0"/>
                      </a:rPr>
                      <m:t>a</m:t>
                    </m:r>
                  </m:oMath>
                </a14:m>
                <a:r>
                  <a:rPr lang="en-US" altLang="zh-CN" sz="2800" b="1" baseline="-25000" dirty="0">
                    <a:solidFill>
                      <a:schemeClr val="tx1"/>
                    </a:solidFill>
                    <a:effectLst/>
                    <a:latin typeface="宋体" panose="02010600030101010101" pitchFamily="2" charset="-122"/>
                  </a:rPr>
                  <a:t>0</a:t>
                </a:r>
                <a:r>
                  <a:rPr lang="en-US" altLang="zh-CN" sz="2800" b="1" dirty="0">
                    <a:solidFill>
                      <a:schemeClr val="tx1"/>
                    </a:solidFill>
                    <a:effectLst/>
                    <a:latin typeface="宋体" panose="02010600030101010101" pitchFamily="2" charset="-122"/>
                  </a:rPr>
                  <a:t>=a</a:t>
                </a:r>
                <a:r>
                  <a:rPr lang="en-US" altLang="zh-CN" sz="2800" b="1" baseline="-25000" dirty="0">
                    <a:solidFill>
                      <a:schemeClr val="tx1"/>
                    </a:solidFill>
                    <a:effectLst/>
                    <a:latin typeface="宋体" panose="02010600030101010101" pitchFamily="2" charset="-122"/>
                  </a:rPr>
                  <a:t>1</a:t>
                </a:r>
                <a:r>
                  <a:rPr lang="en-US" altLang="zh-CN" sz="2800" b="1" dirty="0">
                    <a:solidFill>
                      <a:schemeClr val="tx1"/>
                    </a:solidFill>
                    <a:effectLst/>
                    <a:latin typeface="宋体" panose="02010600030101010101" pitchFamily="2" charset="-122"/>
                  </a:rPr>
                  <a:t>-a</a:t>
                </a:r>
                <a:r>
                  <a:rPr lang="en-US" altLang="zh-CN" sz="2800" b="1" baseline="-25000" dirty="0">
                    <a:solidFill>
                      <a:schemeClr val="tx1"/>
                    </a:solidFill>
                    <a:effectLst/>
                    <a:latin typeface="宋体" panose="02010600030101010101" pitchFamily="2" charset="-122"/>
                  </a:rPr>
                  <a:t>0</a:t>
                </a:r>
              </a:p>
              <a:p>
                <a:pPr marL="0" indent="0">
                  <a:lnSpc>
                    <a:spcPct val="120000"/>
                  </a:lnSpc>
                  <a:spcBef>
                    <a:spcPct val="0"/>
                  </a:spcBef>
                  <a:buNone/>
                </a:pPr>
                <a:r>
                  <a:rPr lang="en-US" altLang="zh-CN" sz="2800" b="1" dirty="0">
                    <a:solidFill>
                      <a:schemeClr val="tx1"/>
                    </a:solidFill>
                    <a:latin typeface="宋体" panose="02010600030101010101" pitchFamily="2" charset="-122"/>
                    <a:ea typeface="Cambria Math" panose="02040503050406030204" pitchFamily="18" charset="0"/>
                  </a:rPr>
                  <a:t>                  </a:t>
                </a:r>
                <a14:m>
                  <m:oMath xmlns:m="http://schemas.openxmlformats.org/officeDocument/2006/math">
                    <m:r>
                      <a:rPr lang="en-US" altLang="zh-CN" sz="2800" b="1" i="1">
                        <a:solidFill>
                          <a:schemeClr val="tx1"/>
                        </a:solidFill>
                        <a:latin typeface="Cambria Math" panose="02040503050406030204" pitchFamily="18" charset="0"/>
                        <a:ea typeface="Cambria Math" panose="02040503050406030204" pitchFamily="18" charset="0"/>
                      </a:rPr>
                      <m:t>∆</m:t>
                    </m:r>
                    <m:r>
                      <m:rPr>
                        <m:sty m:val="p"/>
                      </m:rPr>
                      <a:rPr lang="en-US" altLang="zh-CN" sz="2800" b="1" i="1">
                        <a:solidFill>
                          <a:schemeClr val="tx1"/>
                        </a:solidFill>
                        <a:latin typeface="Cambria Math" panose="02040503050406030204" pitchFamily="18" charset="0"/>
                        <a:ea typeface="Cambria Math" panose="02040503050406030204" pitchFamily="18" charset="0"/>
                      </a:rPr>
                      <m:t>a</m:t>
                    </m:r>
                  </m:oMath>
                </a14:m>
                <a:r>
                  <a:rPr lang="en-US" altLang="zh-CN" sz="2800" b="1" baseline="-25000" dirty="0">
                    <a:solidFill>
                      <a:schemeClr val="tx1"/>
                    </a:solidFill>
                    <a:latin typeface="宋体" panose="02010600030101010101" pitchFamily="2" charset="-122"/>
                  </a:rPr>
                  <a:t>1</a:t>
                </a:r>
                <a:r>
                  <a:rPr lang="en-US" altLang="zh-CN" sz="2800" b="1" dirty="0">
                    <a:solidFill>
                      <a:schemeClr val="tx1"/>
                    </a:solidFill>
                    <a:latin typeface="宋体" panose="02010600030101010101" pitchFamily="2" charset="-122"/>
                  </a:rPr>
                  <a:t>=a</a:t>
                </a:r>
                <a:r>
                  <a:rPr lang="en-US" altLang="zh-CN" sz="2800" b="1" baseline="-25000" dirty="0">
                    <a:solidFill>
                      <a:schemeClr val="tx1"/>
                    </a:solidFill>
                    <a:latin typeface="宋体" panose="02010600030101010101" pitchFamily="2" charset="-122"/>
                  </a:rPr>
                  <a:t>2</a:t>
                </a:r>
                <a:r>
                  <a:rPr lang="en-US" altLang="zh-CN" sz="2800" b="1" dirty="0">
                    <a:solidFill>
                      <a:schemeClr val="tx1"/>
                    </a:solidFill>
                    <a:latin typeface="宋体" panose="02010600030101010101" pitchFamily="2" charset="-122"/>
                  </a:rPr>
                  <a:t>-a</a:t>
                </a:r>
                <a:r>
                  <a:rPr lang="en-US" altLang="zh-CN" sz="2800" b="1" baseline="-25000" dirty="0">
                    <a:solidFill>
                      <a:schemeClr val="tx1"/>
                    </a:solidFill>
                    <a:latin typeface="宋体" panose="02010600030101010101" pitchFamily="2" charset="-122"/>
                  </a:rPr>
                  <a:t>1</a:t>
                </a:r>
                <a:endParaRPr lang="en-US" altLang="zh-CN" sz="2800" b="1" baseline="-25000" dirty="0">
                  <a:solidFill>
                    <a:schemeClr val="tx1"/>
                  </a:solidFill>
                  <a:effectLst/>
                  <a:latin typeface="宋体" panose="02010600030101010101" pitchFamily="2" charset="-122"/>
                </a:endParaRPr>
              </a:p>
              <a:p>
                <a:pPr marL="0" indent="0">
                  <a:lnSpc>
                    <a:spcPct val="120000"/>
                  </a:lnSpc>
                  <a:spcBef>
                    <a:spcPct val="0"/>
                  </a:spcBef>
                  <a:buNone/>
                </a:pPr>
                <a14:m>
                  <m:oMath xmlns:m="http://schemas.openxmlformats.org/officeDocument/2006/math">
                    <m:r>
                      <a:rPr lang="en-US" altLang="zh-CN" sz="2800" b="1" i="1" smtClean="0">
                        <a:solidFill>
                          <a:schemeClr val="tx1"/>
                        </a:solidFill>
                        <a:latin typeface="Cambria Math" panose="02040503050406030204" pitchFamily="18" charset="0"/>
                        <a:ea typeface="Cambria Math" panose="02040503050406030204" pitchFamily="18" charset="0"/>
                      </a:rPr>
                      <m:t>                                          </m:t>
                    </m:r>
                    <m:r>
                      <a:rPr lang="en-US" altLang="zh-CN" sz="2800" b="1" i="1">
                        <a:solidFill>
                          <a:schemeClr val="tx1"/>
                        </a:solidFill>
                        <a:latin typeface="Cambria Math" panose="02040503050406030204" pitchFamily="18" charset="0"/>
                        <a:ea typeface="Cambria Math" panose="02040503050406030204" pitchFamily="18" charset="0"/>
                      </a:rPr>
                      <m:t>∆</m:t>
                    </m:r>
                    <m:r>
                      <m:rPr>
                        <m:sty m:val="p"/>
                      </m:rPr>
                      <a:rPr lang="en-US" altLang="zh-CN" sz="2800" b="1" i="1">
                        <a:solidFill>
                          <a:schemeClr val="tx1"/>
                        </a:solidFill>
                        <a:latin typeface="Cambria Math" panose="02040503050406030204" pitchFamily="18" charset="0"/>
                        <a:ea typeface="Cambria Math" panose="02040503050406030204" pitchFamily="18" charset="0"/>
                      </a:rPr>
                      <m:t>a</m:t>
                    </m:r>
                  </m:oMath>
                </a14:m>
                <a:r>
                  <a:rPr lang="en-US" altLang="zh-CN" sz="2800" b="1" baseline="-25000" dirty="0">
                    <a:solidFill>
                      <a:schemeClr val="tx1"/>
                    </a:solidFill>
                    <a:latin typeface="宋体" panose="02010600030101010101" pitchFamily="2" charset="-122"/>
                  </a:rPr>
                  <a:t>2</a:t>
                </a:r>
                <a:r>
                  <a:rPr lang="en-US" altLang="zh-CN" sz="2800" b="1" dirty="0">
                    <a:solidFill>
                      <a:schemeClr val="tx1"/>
                    </a:solidFill>
                    <a:latin typeface="宋体" panose="02010600030101010101" pitchFamily="2" charset="-122"/>
                  </a:rPr>
                  <a:t>=a</a:t>
                </a:r>
                <a:r>
                  <a:rPr lang="en-US" altLang="zh-CN" sz="2800" b="1" baseline="-25000" dirty="0">
                    <a:solidFill>
                      <a:schemeClr val="tx1"/>
                    </a:solidFill>
                    <a:latin typeface="宋体" panose="02010600030101010101" pitchFamily="2" charset="-122"/>
                  </a:rPr>
                  <a:t>3</a:t>
                </a:r>
                <a:r>
                  <a:rPr lang="en-US" altLang="zh-CN" sz="2800" b="1" dirty="0">
                    <a:solidFill>
                      <a:schemeClr val="tx1"/>
                    </a:solidFill>
                    <a:latin typeface="宋体" panose="02010600030101010101" pitchFamily="2" charset="-122"/>
                  </a:rPr>
                  <a:t>-a</a:t>
                </a:r>
                <a:r>
                  <a:rPr lang="en-US" altLang="zh-CN" sz="2800" b="1" baseline="-25000" dirty="0">
                    <a:solidFill>
                      <a:schemeClr val="tx1"/>
                    </a:solidFill>
                    <a:latin typeface="宋体" panose="02010600030101010101" pitchFamily="2" charset="-122"/>
                  </a:rPr>
                  <a:t>2</a:t>
                </a:r>
              </a:p>
              <a:p>
                <a:pPr marL="0" indent="0">
                  <a:lnSpc>
                    <a:spcPct val="120000"/>
                  </a:lnSpc>
                  <a:spcBef>
                    <a:spcPct val="0"/>
                  </a:spcBef>
                  <a:buNone/>
                </a:pPr>
                <a:r>
                  <a:rPr lang="en-US" altLang="zh-CN" sz="2800" b="1" dirty="0">
                    <a:solidFill>
                      <a:schemeClr val="tx1"/>
                    </a:solidFill>
                    <a:latin typeface="宋体" panose="02010600030101010101" pitchFamily="2" charset="-122"/>
                    <a:ea typeface="Cambria Math" panose="02040503050406030204" pitchFamily="18" charset="0"/>
                  </a:rPr>
                  <a:t>                  </a:t>
                </a:r>
                <a14:m>
                  <m:oMath xmlns:m="http://schemas.openxmlformats.org/officeDocument/2006/math">
                    <m:r>
                      <a:rPr lang="en-US" altLang="zh-CN" sz="2800" b="1" i="1">
                        <a:solidFill>
                          <a:schemeClr val="tx1"/>
                        </a:solidFill>
                        <a:latin typeface="Cambria Math" panose="02040503050406030204" pitchFamily="18" charset="0"/>
                        <a:ea typeface="Cambria Math" panose="02040503050406030204" pitchFamily="18" charset="0"/>
                      </a:rPr>
                      <m:t>∆</m:t>
                    </m:r>
                    <m:r>
                      <m:rPr>
                        <m:sty m:val="p"/>
                      </m:rPr>
                      <a:rPr lang="en-US" altLang="zh-CN" sz="2800" b="1" i="1">
                        <a:solidFill>
                          <a:schemeClr val="tx1"/>
                        </a:solidFill>
                        <a:latin typeface="Cambria Math" panose="02040503050406030204" pitchFamily="18" charset="0"/>
                        <a:ea typeface="Cambria Math" panose="02040503050406030204" pitchFamily="18" charset="0"/>
                      </a:rPr>
                      <m:t>a</m:t>
                    </m:r>
                  </m:oMath>
                </a14:m>
                <a:r>
                  <a:rPr lang="en-US" altLang="zh-CN" sz="2800" b="1" baseline="-25000" dirty="0">
                    <a:solidFill>
                      <a:schemeClr val="tx1"/>
                    </a:solidFill>
                    <a:latin typeface="宋体" panose="02010600030101010101" pitchFamily="2" charset="-122"/>
                  </a:rPr>
                  <a:t>3</a:t>
                </a:r>
                <a:r>
                  <a:rPr lang="en-US" altLang="zh-CN" sz="2800" b="1" dirty="0">
                    <a:solidFill>
                      <a:schemeClr val="tx1"/>
                    </a:solidFill>
                    <a:latin typeface="宋体" panose="02010600030101010101" pitchFamily="2" charset="-122"/>
                  </a:rPr>
                  <a:t>=a</a:t>
                </a:r>
                <a:r>
                  <a:rPr lang="en-US" altLang="zh-CN" sz="2800" b="1" baseline="-25000" dirty="0">
                    <a:solidFill>
                      <a:schemeClr val="tx1"/>
                    </a:solidFill>
                    <a:latin typeface="宋体" panose="02010600030101010101" pitchFamily="2" charset="-122"/>
                  </a:rPr>
                  <a:t>4</a:t>
                </a:r>
                <a:r>
                  <a:rPr lang="en-US" altLang="zh-CN" sz="2800" b="1" dirty="0">
                    <a:solidFill>
                      <a:schemeClr val="tx1"/>
                    </a:solidFill>
                    <a:latin typeface="宋体" panose="02010600030101010101" pitchFamily="2" charset="-122"/>
                  </a:rPr>
                  <a:t>-a</a:t>
                </a:r>
                <a:r>
                  <a:rPr lang="en-US" altLang="zh-CN" sz="2800" b="1" baseline="-25000" dirty="0">
                    <a:solidFill>
                      <a:schemeClr val="tx1"/>
                    </a:solidFill>
                    <a:latin typeface="宋体" panose="02010600030101010101" pitchFamily="2" charset="-122"/>
                  </a:rPr>
                  <a:t>3</a:t>
                </a:r>
              </a:p>
              <a:p>
                <a:pPr marL="0" indent="0">
                  <a:lnSpc>
                    <a:spcPct val="120000"/>
                  </a:lnSpc>
                  <a:spcBef>
                    <a:spcPct val="0"/>
                  </a:spcBef>
                  <a:buNone/>
                </a:pPr>
                <a:endParaRPr lang="en-US" altLang="zh-CN" sz="2800" b="1" dirty="0">
                  <a:solidFill>
                    <a:schemeClr val="tx1"/>
                  </a:solidFill>
                  <a:latin typeface="宋体" panose="02010600030101010101" pitchFamily="2" charset="-122"/>
                </a:endParaRPr>
              </a:p>
              <a:p>
                <a:pPr marL="0" indent="0">
                  <a:lnSpc>
                    <a:spcPct val="120000"/>
                  </a:lnSpc>
                  <a:spcBef>
                    <a:spcPct val="0"/>
                  </a:spcBef>
                  <a:buNone/>
                </a:pPr>
                <a:r>
                  <a:rPr lang="zh-CN" altLang="en-US" sz="2800" b="1" dirty="0">
                    <a:solidFill>
                      <a:schemeClr val="tx1"/>
                    </a:solidFill>
                    <a:latin typeface="宋体" panose="02010600030101010101" pitchFamily="2" charset="-122"/>
                  </a:rPr>
                  <a:t>对每一个正整数</a:t>
                </a:r>
                <a:r>
                  <a:rPr lang="en-US" altLang="zh-CN" sz="2800" b="1" dirty="0">
                    <a:solidFill>
                      <a:schemeClr val="tx1"/>
                    </a:solidFill>
                    <a:latin typeface="宋体" panose="02010600030101010101" pitchFamily="2" charset="-122"/>
                  </a:rPr>
                  <a:t>n</a:t>
                </a:r>
                <a:r>
                  <a:rPr lang="zh-CN" altLang="en-US" sz="2800" b="1" dirty="0">
                    <a:solidFill>
                      <a:schemeClr val="tx1"/>
                    </a:solidFill>
                    <a:latin typeface="宋体" panose="02010600030101010101" pitchFamily="2" charset="-122"/>
                  </a:rPr>
                  <a:t>，第</a:t>
                </a:r>
                <a:r>
                  <a:rPr lang="en-US" altLang="zh-CN" sz="2800" b="1" dirty="0">
                    <a:solidFill>
                      <a:schemeClr val="tx1"/>
                    </a:solidFill>
                    <a:latin typeface="宋体" panose="02010600030101010101" pitchFamily="2" charset="-122"/>
                  </a:rPr>
                  <a:t>n</a:t>
                </a:r>
                <a:r>
                  <a:rPr lang="zh-CN" altLang="en-US" sz="2800" b="1" dirty="0">
                    <a:solidFill>
                      <a:schemeClr val="tx1"/>
                    </a:solidFill>
                    <a:latin typeface="宋体" panose="02010600030101010101" pitchFamily="2" charset="-122"/>
                  </a:rPr>
                  <a:t>个一阶差分是</a:t>
                </a:r>
                <a:endParaRPr lang="en-US" altLang="zh-CN" sz="2800" b="1" dirty="0">
                  <a:solidFill>
                    <a:schemeClr val="tx1"/>
                  </a:solidFill>
                  <a:latin typeface="宋体" panose="02010600030101010101" pitchFamily="2" charset="-122"/>
                </a:endParaRPr>
              </a:p>
              <a:p>
                <a:pPr marL="0" indent="0">
                  <a:lnSpc>
                    <a:spcPct val="120000"/>
                  </a:lnSpc>
                  <a:spcBef>
                    <a:spcPct val="0"/>
                  </a:spcBef>
                  <a:buNone/>
                </a:pPr>
                <a:r>
                  <a:rPr lang="en-US" altLang="zh-CN" sz="2800" b="1" dirty="0">
                    <a:solidFill>
                      <a:schemeClr val="tx1"/>
                    </a:solidFill>
                    <a:ea typeface="Cambria Math" panose="02040503050406030204" pitchFamily="18" charset="0"/>
                  </a:rPr>
                  <a:t>                                        </a:t>
                </a:r>
                <a14:m>
                  <m:oMath xmlns:m="http://schemas.openxmlformats.org/officeDocument/2006/math">
                    <m:r>
                      <a:rPr lang="en-US" altLang="zh-CN" sz="2800" b="1" i="1">
                        <a:solidFill>
                          <a:schemeClr val="tx1"/>
                        </a:solidFill>
                        <a:latin typeface="Cambria Math" panose="02040503050406030204" pitchFamily="18" charset="0"/>
                        <a:ea typeface="Cambria Math" panose="02040503050406030204" pitchFamily="18" charset="0"/>
                      </a:rPr>
                      <m:t>∆</m:t>
                    </m:r>
                    <m:r>
                      <m:rPr>
                        <m:sty m:val="p"/>
                      </m:rPr>
                      <a:rPr lang="en-US" altLang="zh-CN" sz="2800" b="1" i="1">
                        <a:solidFill>
                          <a:schemeClr val="tx1"/>
                        </a:solidFill>
                        <a:latin typeface="Cambria Math" panose="02040503050406030204" pitchFamily="18" charset="0"/>
                        <a:ea typeface="Cambria Math" panose="02040503050406030204" pitchFamily="18" charset="0"/>
                      </a:rPr>
                      <m:t>a</m:t>
                    </m:r>
                  </m:oMath>
                </a14:m>
                <a:r>
                  <a:rPr lang="en-US" altLang="zh-CN" sz="2800" b="1" baseline="-25000" dirty="0">
                    <a:solidFill>
                      <a:schemeClr val="tx1"/>
                    </a:solidFill>
                    <a:latin typeface="宋体" panose="02010600030101010101" pitchFamily="2" charset="-122"/>
                  </a:rPr>
                  <a:t>n</a:t>
                </a:r>
                <a:r>
                  <a:rPr lang="en-US" altLang="zh-CN" sz="2800" b="1" dirty="0">
                    <a:solidFill>
                      <a:schemeClr val="tx1"/>
                    </a:solidFill>
                    <a:latin typeface="宋体" panose="02010600030101010101" pitchFamily="2" charset="-122"/>
                  </a:rPr>
                  <a:t>=a</a:t>
                </a:r>
                <a:r>
                  <a:rPr lang="en-US" altLang="zh-CN" sz="2800" b="1" baseline="-25000" dirty="0">
                    <a:solidFill>
                      <a:schemeClr val="tx1"/>
                    </a:solidFill>
                    <a:latin typeface="宋体" panose="02010600030101010101" pitchFamily="2" charset="-122"/>
                  </a:rPr>
                  <a:t>n+1</a:t>
                </a:r>
                <a:r>
                  <a:rPr lang="en-US" altLang="zh-CN" sz="2800" b="1" dirty="0">
                    <a:solidFill>
                      <a:schemeClr val="tx1"/>
                    </a:solidFill>
                    <a:latin typeface="宋体" panose="02010600030101010101" pitchFamily="2" charset="-122"/>
                  </a:rPr>
                  <a:t>-a</a:t>
                </a:r>
                <a:r>
                  <a:rPr lang="en-US" altLang="zh-CN" sz="2800" b="1" baseline="-25000" dirty="0">
                    <a:solidFill>
                      <a:schemeClr val="tx1"/>
                    </a:solidFill>
                    <a:latin typeface="宋体" panose="02010600030101010101" pitchFamily="2" charset="-122"/>
                  </a:rPr>
                  <a:t>n</a:t>
                </a:r>
                <a:endParaRPr lang="zh-CN" altLang="en-US" sz="2800" b="1" baseline="-25000" dirty="0">
                  <a:solidFill>
                    <a:schemeClr val="tx2"/>
                  </a:solidFill>
                  <a:effectLst/>
                  <a:latin typeface="宋体" panose="02010600030101010101" pitchFamily="2" charset="-122"/>
                </a:endParaRPr>
              </a:p>
            </p:txBody>
          </p:sp>
        </mc:Choice>
        <mc:Fallback xmlns="">
          <p:sp>
            <p:nvSpPr>
              <p:cNvPr id="100355" name="Rectangle 3"/>
              <p:cNvSpPr>
                <a:spLocks noRot="1" noChangeAspect="1" noMove="1" noResize="1" noEditPoints="1" noAdjustHandles="1" noChangeArrowheads="1" noChangeShapeType="1" noTextEdit="1"/>
              </p:cNvSpPr>
              <p:nvPr>
                <p:ph type="body" idx="1"/>
              </p:nvPr>
            </p:nvSpPr>
            <p:spPr>
              <a:xfrm>
                <a:off x="251520" y="1916832"/>
                <a:ext cx="8424936" cy="3816424"/>
              </a:xfrm>
              <a:blipFill rotWithShape="1">
                <a:blip r:embed="rId3"/>
                <a:stretch>
                  <a:fillRect l="-1" t="-11" r="5" b="-1418"/>
                </a:stretch>
              </a:blipFill>
            </p:spPr>
            <p:txBody>
              <a:bodyPr/>
              <a:lstStyle/>
              <a:p>
                <a:r>
                  <a:rPr lang="zh-CN" altLang="en-US">
                    <a:noFill/>
                  </a:rPr>
                  <a:t> </a:t>
                </a:r>
              </a:p>
            </p:txBody>
          </p:sp>
        </mc:Fallback>
      </mc:AlternateContent>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4" cstate="print"/>
          <a:srcRect/>
          <a:stretch>
            <a:fillRect/>
          </a:stretch>
        </p:blipFill>
        <p:spPr bwMode="auto">
          <a:xfrm>
            <a:off x="62880" y="44624"/>
            <a:ext cx="692696" cy="692696"/>
          </a:xfrm>
          <a:prstGeom prst="rect">
            <a:avLst/>
          </a:prstGeom>
          <a:noFill/>
        </p:spPr>
      </p:pic>
      <p:sp>
        <p:nvSpPr>
          <p:cNvPr id="2" name="矩形 1"/>
          <p:cNvSpPr/>
          <p:nvPr/>
        </p:nvSpPr>
        <p:spPr>
          <a:xfrm>
            <a:off x="225102" y="1232986"/>
            <a:ext cx="1010213" cy="523220"/>
          </a:xfrm>
          <a:prstGeom prst="rect">
            <a:avLst/>
          </a:prstGeom>
        </p:spPr>
        <p:txBody>
          <a:bodyPr wrap="none">
            <a:spAutoFit/>
          </a:bodyPr>
          <a:lstStyle/>
          <a:p>
            <a:r>
              <a:rPr lang="zh-CN" altLang="en-US" sz="2800" b="1" dirty="0">
                <a:latin typeface="楷体_GB2312" pitchFamily="49" charset="-122"/>
                <a:ea typeface="楷体_GB2312" pitchFamily="49" charset="-122"/>
              </a:rPr>
              <a:t> 定义</a:t>
            </a:r>
            <a:endParaRPr lang="zh-CN" alt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对变化进行建模</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9" name="矩形 1"/>
          <p:cNvSpPr>
            <a:spLocks noChangeArrowheads="1"/>
          </p:cNvSpPr>
          <p:nvPr/>
        </p:nvSpPr>
        <p:spPr bwMode="auto">
          <a:xfrm>
            <a:off x="179387" y="1223103"/>
            <a:ext cx="8785225" cy="1387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spcBef>
                <a:spcPct val="30000"/>
              </a:spcBef>
              <a:buClr>
                <a:schemeClr val="hlink"/>
              </a:buClr>
              <a:defRPr/>
            </a:pPr>
            <a:r>
              <a:rPr lang="zh-CN" altLang="en-US" sz="2400" b="1" dirty="0">
                <a:latin typeface="Arial" panose="020B0604020202020204" pitchFamily="34" charset="0"/>
                <a:ea typeface="宋体" panose="02010600030101010101" pitchFamily="2" charset="-122"/>
              </a:rPr>
              <a:t>例</a:t>
            </a:r>
            <a:r>
              <a:rPr lang="en-US" altLang="zh-CN" sz="2400" b="1" dirty="0">
                <a:latin typeface="Arial" panose="020B0604020202020204" pitchFamily="34" charset="0"/>
                <a:ea typeface="宋体" panose="02010600030101010101" pitchFamily="2" charset="-122"/>
              </a:rPr>
              <a:t> 1 (</a:t>
            </a:r>
            <a:r>
              <a:rPr lang="zh-CN" altLang="en-US" sz="2400" b="1" dirty="0">
                <a:latin typeface="Arial" panose="020B0604020202020204" pitchFamily="34" charset="0"/>
              </a:rPr>
              <a:t>储蓄存单</a:t>
            </a:r>
            <a:r>
              <a:rPr lang="en-US" altLang="zh-CN" sz="2400" b="1" dirty="0">
                <a:latin typeface="Arial" panose="020B0604020202020204" pitchFamily="34" charset="0"/>
              </a:rPr>
              <a:t>)</a:t>
            </a:r>
            <a:r>
              <a:rPr lang="en-US" altLang="zh-CN" sz="2400" b="1" dirty="0">
                <a:latin typeface="Arial" panose="020B0604020202020204" pitchFamily="34" charset="0"/>
                <a:ea typeface="宋体" panose="02010600030101010101" pitchFamily="2" charset="-122"/>
              </a:rPr>
              <a:t> </a:t>
            </a:r>
          </a:p>
          <a:p>
            <a:pPr marL="342900" indent="-342900">
              <a:lnSpc>
                <a:spcPct val="110000"/>
              </a:lnSpc>
              <a:spcBef>
                <a:spcPct val="30000"/>
              </a:spcBef>
              <a:buClr>
                <a:schemeClr val="hlink"/>
              </a:buClr>
              <a:buFont typeface="Wingdings" panose="05000000000000000000" pitchFamily="2" charset="2"/>
              <a:buChar char="v"/>
              <a:defRPr/>
            </a:pPr>
            <a:r>
              <a:rPr lang="zh-CN" altLang="en-US" sz="2400" b="1" dirty="0">
                <a:latin typeface="Arial" panose="020B0604020202020204" pitchFamily="34" charset="0"/>
                <a:ea typeface="宋体" panose="02010600030101010101" pitchFamily="2" charset="-122"/>
              </a:rPr>
              <a:t>考虑一开始价值为</a:t>
            </a:r>
            <a:r>
              <a:rPr lang="en-US" altLang="zh-CN" sz="2400" b="1" dirty="0">
                <a:latin typeface="Arial" panose="020B0604020202020204" pitchFamily="34" charset="0"/>
                <a:ea typeface="宋体" panose="02010600030101010101" pitchFamily="2" charset="-122"/>
              </a:rPr>
              <a:t>1000</a:t>
            </a:r>
            <a:r>
              <a:rPr lang="zh-CN" altLang="en-US" sz="2400" b="1" dirty="0">
                <a:latin typeface="Arial" panose="020B0604020202020204" pitchFamily="34" charset="0"/>
                <a:ea typeface="宋体" panose="02010600030101010101" pitchFamily="2" charset="-122"/>
              </a:rPr>
              <a:t>美元的储蓄存单在月利率为</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的条件下的累积价值，下面的数列表示该储蓄存单逐月的价值</a:t>
            </a:r>
          </a:p>
        </p:txBody>
      </p:sp>
      <p:pic>
        <p:nvPicPr>
          <p:cNvPr id="1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760" y="2787055"/>
            <a:ext cx="4608512" cy="41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矩形 2"/>
          <p:cNvSpPr>
            <a:spLocks noChangeArrowheads="1"/>
          </p:cNvSpPr>
          <p:nvPr/>
        </p:nvSpPr>
        <p:spPr bwMode="auto">
          <a:xfrm>
            <a:off x="179387" y="3651846"/>
            <a:ext cx="8640763" cy="463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ct val="30000"/>
              </a:spcBef>
              <a:buClr>
                <a:schemeClr val="hlink"/>
              </a:buClr>
              <a:buFont typeface="Wingdings" panose="05000000000000000000" pitchFamily="2" charset="2"/>
              <a:buChar char="v"/>
            </a:pPr>
            <a:r>
              <a:rPr lang="zh-CN" altLang="en-US" sz="2400" b="1" dirty="0">
                <a:ea typeface="宋体" panose="02010600030101010101" pitchFamily="2" charset="-122"/>
              </a:rPr>
              <a:t>分析存单价值的变化</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对变化进行建模</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752" y="1407127"/>
            <a:ext cx="4966158" cy="13221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矩形 11"/>
          <p:cNvSpPr>
            <a:spLocks noChangeArrowheads="1"/>
          </p:cNvSpPr>
          <p:nvPr/>
        </p:nvSpPr>
        <p:spPr bwMode="auto">
          <a:xfrm>
            <a:off x="216692" y="1010233"/>
            <a:ext cx="8639175" cy="463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ct val="30000"/>
              </a:spcBef>
              <a:buClr>
                <a:schemeClr val="hlink"/>
              </a:buClr>
              <a:buFont typeface="Wingdings" panose="05000000000000000000" pitchFamily="2" charset="2"/>
              <a:buChar char="v"/>
            </a:pPr>
            <a:r>
              <a:rPr lang="zh-CN" altLang="en-US" sz="2400" b="1" dirty="0">
                <a:ea typeface="宋体" panose="02010600030101010101" pitchFamily="2" charset="-122"/>
              </a:rPr>
              <a:t>一阶差分结果如下：</a:t>
            </a:r>
          </a:p>
        </p:txBody>
      </p:sp>
      <p:sp>
        <p:nvSpPr>
          <p:cNvPr id="13" name="矩形 12"/>
          <p:cNvSpPr>
            <a:spLocks noChangeArrowheads="1"/>
          </p:cNvSpPr>
          <p:nvPr/>
        </p:nvSpPr>
        <p:spPr bwMode="auto">
          <a:xfrm>
            <a:off x="252412" y="3009450"/>
            <a:ext cx="8567737" cy="870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ct val="30000"/>
              </a:spcBef>
              <a:buClr>
                <a:schemeClr val="hlink"/>
              </a:buClr>
              <a:buFont typeface="Wingdings" panose="05000000000000000000" pitchFamily="2" charset="2"/>
              <a:buChar char="v"/>
            </a:pPr>
            <a:r>
              <a:rPr lang="zh-CN" altLang="en-US" sz="2400" b="1" dirty="0">
                <a:ea typeface="宋体" panose="02010600030101010101" pitchFamily="2" charset="-122"/>
              </a:rPr>
              <a:t>若</a:t>
            </a:r>
            <a:r>
              <a:rPr lang="en-US" altLang="zh-CN" sz="2400" b="1" dirty="0">
                <a:ea typeface="宋体" panose="02010600030101010101" pitchFamily="2" charset="-122"/>
              </a:rPr>
              <a:t>n</a:t>
            </a:r>
            <a:r>
              <a:rPr lang="zh-CN" altLang="en-US" sz="2400" b="1" dirty="0">
                <a:ea typeface="宋体" panose="02010600030101010101" pitchFamily="2" charset="-122"/>
              </a:rPr>
              <a:t>是月数，而</a:t>
            </a:r>
            <a:r>
              <a:rPr lang="en-US" altLang="zh-CN" sz="2400" b="1" dirty="0">
                <a:ea typeface="宋体" panose="02010600030101010101" pitchFamily="2" charset="-122"/>
              </a:rPr>
              <a:t>a</a:t>
            </a:r>
            <a:r>
              <a:rPr lang="en-US" altLang="zh-CN" sz="2400" b="1" baseline="-25000" dirty="0">
                <a:ea typeface="宋体" panose="02010600030101010101" pitchFamily="2" charset="-122"/>
              </a:rPr>
              <a:t>n</a:t>
            </a:r>
            <a:r>
              <a:rPr lang="zh-CN" altLang="en-US" sz="2400" b="1" dirty="0">
                <a:ea typeface="宋体" panose="02010600030101010101" pitchFamily="2" charset="-122"/>
              </a:rPr>
              <a:t>是</a:t>
            </a:r>
            <a:r>
              <a:rPr lang="en-US" altLang="zh-CN" sz="2400" b="1" dirty="0">
                <a:ea typeface="宋体" panose="02010600030101010101" pitchFamily="2" charset="-122"/>
              </a:rPr>
              <a:t>n</a:t>
            </a:r>
            <a:r>
              <a:rPr lang="zh-CN" altLang="en-US" sz="2400" b="1" dirty="0">
                <a:ea typeface="宋体" panose="02010600030101010101" pitchFamily="2" charset="-122"/>
              </a:rPr>
              <a:t>个月后储蓄存单的价值，那么每个月价值的变化（或利息增长）由第</a:t>
            </a:r>
            <a:r>
              <a:rPr lang="en-US" altLang="zh-CN" sz="2400" b="1" dirty="0">
                <a:ea typeface="宋体" panose="02010600030101010101" pitchFamily="2" charset="-122"/>
              </a:rPr>
              <a:t>n</a:t>
            </a:r>
            <a:r>
              <a:rPr lang="zh-CN" altLang="en-US" sz="2400" b="1" dirty="0">
                <a:ea typeface="宋体" panose="02010600030101010101" pitchFamily="2" charset="-122"/>
              </a:rPr>
              <a:t>个差分来表示：</a:t>
            </a:r>
          </a:p>
        </p:txBody>
      </p:sp>
      <p:pic>
        <p:nvPicPr>
          <p:cNvPr id="14"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1840" y="3918955"/>
            <a:ext cx="3601121" cy="4357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矩形 14"/>
          <p:cNvSpPr>
            <a:spLocks noChangeArrowheads="1"/>
          </p:cNvSpPr>
          <p:nvPr/>
        </p:nvSpPr>
        <p:spPr bwMode="auto">
          <a:xfrm>
            <a:off x="292893" y="4604890"/>
            <a:ext cx="8208962" cy="463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ct val="30000"/>
              </a:spcBef>
              <a:buClr>
                <a:schemeClr val="hlink"/>
              </a:buClr>
              <a:buFont typeface="Wingdings" panose="05000000000000000000" pitchFamily="2" charset="2"/>
              <a:buChar char="v"/>
            </a:pPr>
            <a:r>
              <a:rPr lang="zh-CN" altLang="en-US" sz="2400" b="1" dirty="0">
                <a:ea typeface="宋体" panose="02010600030101010101" pitchFamily="2" charset="-122"/>
              </a:rPr>
              <a:t>该表达式也可以改写如下：</a:t>
            </a:r>
          </a:p>
        </p:txBody>
      </p:sp>
      <p:pic>
        <p:nvPicPr>
          <p:cNvPr id="1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30586" y="5174648"/>
            <a:ext cx="2581574" cy="3687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对变化进行建模</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pic>
        <p:nvPicPr>
          <p:cNvPr id="1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792" y="1012715"/>
            <a:ext cx="4327872" cy="8683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4813" y="5627114"/>
            <a:ext cx="8739187" cy="433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矩形 19"/>
          <p:cNvSpPr>
            <a:spLocks noChangeArrowheads="1"/>
          </p:cNvSpPr>
          <p:nvPr/>
        </p:nvSpPr>
        <p:spPr bwMode="auto">
          <a:xfrm>
            <a:off x="197581" y="1954048"/>
            <a:ext cx="8569325" cy="341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ct val="30000"/>
              </a:spcBef>
              <a:buClr>
                <a:schemeClr val="hlink"/>
              </a:buClr>
              <a:buFont typeface="Wingdings" panose="05000000000000000000" pitchFamily="2" charset="2"/>
              <a:buChar char="v"/>
            </a:pPr>
            <a:r>
              <a:rPr lang="en-US" altLang="zh-CN" sz="2400" b="1" dirty="0">
                <a:solidFill>
                  <a:srgbClr val="0000FF"/>
                </a:solidFill>
                <a:ea typeface="宋体" panose="02010600030101010101" pitchFamily="2" charset="-122"/>
              </a:rPr>
              <a:t>Dynamical systems</a:t>
            </a:r>
            <a:r>
              <a:rPr lang="zh-CN" altLang="en-US" sz="2400" b="1" dirty="0">
                <a:solidFill>
                  <a:srgbClr val="0000FF"/>
                </a:solidFill>
                <a:ea typeface="宋体" panose="02010600030101010101" pitchFamily="2" charset="-122"/>
              </a:rPr>
              <a:t>（动力系统）</a:t>
            </a:r>
            <a:r>
              <a:rPr lang="zh-CN" altLang="en-US" sz="2400" b="1" dirty="0">
                <a:ea typeface="宋体" panose="02010600030101010101" pitchFamily="2" charset="-122"/>
              </a:rPr>
              <a:t>能够描述从一个周期到下一个周期的变化。知道了该序列中的某一项就可以通过差分方程算出紧跟着它的下一项，但是不能直接算出任意特定项的值（如</a:t>
            </a:r>
            <a:r>
              <a:rPr lang="en-US" altLang="zh-CN" sz="2400" b="1" dirty="0">
                <a:ea typeface="宋体" panose="02010600030101010101" pitchFamily="2" charset="-122"/>
              </a:rPr>
              <a:t>100</a:t>
            </a:r>
            <a:r>
              <a:rPr lang="zh-CN" altLang="en-US" sz="2400" b="1" dirty="0">
                <a:ea typeface="宋体" panose="02010600030101010101" pitchFamily="2" charset="-122"/>
              </a:rPr>
              <a:t>个周期后的储蓄值），我们可以迭代这个序列到</a:t>
            </a:r>
            <a:r>
              <a:rPr lang="en-US" altLang="zh-CN" sz="2400" b="1" dirty="0">
                <a:ea typeface="宋体" panose="02010600030101010101" pitchFamily="2" charset="-122"/>
              </a:rPr>
              <a:t>a</a:t>
            </a:r>
            <a:r>
              <a:rPr lang="en-US" altLang="zh-CN" sz="2400" b="1" baseline="-25000" dirty="0">
                <a:ea typeface="宋体" panose="02010600030101010101" pitchFamily="2" charset="-122"/>
              </a:rPr>
              <a:t>100</a:t>
            </a:r>
            <a:r>
              <a:rPr lang="zh-CN" altLang="en-US" sz="2400" b="1" dirty="0">
                <a:ea typeface="宋体" panose="02010600030101010101" pitchFamily="2" charset="-122"/>
              </a:rPr>
              <a:t>来得到该项的值。</a:t>
            </a:r>
            <a:endParaRPr lang="en-US" altLang="zh-CN" sz="2400" b="1" dirty="0">
              <a:ea typeface="宋体" panose="02010600030101010101" pitchFamily="2" charset="-122"/>
            </a:endParaRPr>
          </a:p>
          <a:p>
            <a:pPr eaLnBrk="1" hangingPunct="1">
              <a:lnSpc>
                <a:spcPct val="110000"/>
              </a:lnSpc>
              <a:spcBef>
                <a:spcPct val="30000"/>
              </a:spcBef>
              <a:buClr>
                <a:schemeClr val="hlink"/>
              </a:buClr>
              <a:buFont typeface="Wingdings" panose="05000000000000000000" pitchFamily="2" charset="2"/>
              <a:buChar char="v"/>
            </a:pPr>
            <a:r>
              <a:rPr lang="zh-CN" altLang="en-US" sz="2400" b="1" dirty="0">
                <a:ea typeface="宋体" panose="02010600030101010101" pitchFamily="2" charset="-122"/>
              </a:rPr>
              <a:t>在大部分例子中，用数学方式描述变化不会像这里所说的那么精确，常常需要</a:t>
            </a:r>
            <a:r>
              <a:rPr lang="zh-CN" altLang="en-US" sz="2400" b="1" dirty="0">
                <a:solidFill>
                  <a:srgbClr val="FF0000"/>
                </a:solidFill>
                <a:ea typeface="宋体" panose="02010600030101010101" pitchFamily="2" charset="-122"/>
              </a:rPr>
              <a:t>画出变化</a:t>
            </a:r>
            <a:r>
              <a:rPr lang="zh-CN" altLang="en-US" sz="2400" b="1" dirty="0">
                <a:ea typeface="宋体" panose="02010600030101010101" pitchFamily="2" charset="-122"/>
              </a:rPr>
              <a:t>，</a:t>
            </a:r>
            <a:r>
              <a:rPr lang="zh-CN" altLang="en-US" sz="2400" b="1" dirty="0">
                <a:solidFill>
                  <a:srgbClr val="FF0000"/>
                </a:solidFill>
                <a:ea typeface="宋体" panose="02010600030101010101" pitchFamily="2" charset="-122"/>
              </a:rPr>
              <a:t>观察模式</a:t>
            </a:r>
            <a:r>
              <a:rPr lang="zh-CN" altLang="en-US" sz="2400" b="1" dirty="0">
                <a:ea typeface="宋体" panose="02010600030101010101" pitchFamily="2" charset="-122"/>
              </a:rPr>
              <a:t>，然后用</a:t>
            </a:r>
            <a:r>
              <a:rPr lang="zh-CN" altLang="en-US" sz="2400" b="1" dirty="0">
                <a:solidFill>
                  <a:srgbClr val="FF0000"/>
                </a:solidFill>
                <a:ea typeface="宋体" panose="02010600030101010101" pitchFamily="2" charset="-122"/>
              </a:rPr>
              <a:t>数学描述</a:t>
            </a:r>
            <a:r>
              <a:rPr lang="zh-CN" altLang="en-US" sz="2400" b="1" dirty="0">
                <a:ea typeface="宋体" panose="02010600030101010101" pitchFamily="2" charset="-122"/>
              </a:rPr>
              <a:t>变化，即，试图寻求函数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对变化进行建模</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8" name="矩形 1"/>
          <p:cNvSpPr>
            <a:spLocks noChangeArrowheads="1"/>
          </p:cNvSpPr>
          <p:nvPr/>
        </p:nvSpPr>
        <p:spPr bwMode="auto">
          <a:xfrm>
            <a:off x="269812" y="1030357"/>
            <a:ext cx="8424863" cy="190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spcBef>
                <a:spcPct val="30000"/>
              </a:spcBef>
              <a:buClr>
                <a:schemeClr val="hlink"/>
              </a:buClr>
              <a:defRPr/>
            </a:pPr>
            <a:r>
              <a:rPr lang="zh-CN" altLang="en-US" sz="2400" b="1" dirty="0">
                <a:latin typeface="Arial" panose="020B0604020202020204" pitchFamily="34" charset="0"/>
                <a:ea typeface="宋体" panose="02010600030101010101" pitchFamily="2" charset="-122"/>
              </a:rPr>
              <a:t>例</a:t>
            </a:r>
            <a:r>
              <a:rPr lang="en-US" altLang="zh-CN" sz="2400" b="1" dirty="0">
                <a:latin typeface="Arial" panose="020B0604020202020204" pitchFamily="34" charset="0"/>
                <a:ea typeface="宋体" panose="02010600030101010101" pitchFamily="2" charset="-122"/>
              </a:rPr>
              <a:t>2 (</a:t>
            </a:r>
            <a:r>
              <a:rPr lang="zh-CN" altLang="en-US" sz="2400" b="1" dirty="0">
                <a:latin typeface="Arial" panose="020B0604020202020204" pitchFamily="34" charset="0"/>
                <a:ea typeface="宋体" panose="02010600030101010101" pitchFamily="2" charset="-122"/>
              </a:rPr>
              <a:t>酵母培养物的增长</a:t>
            </a:r>
            <a:r>
              <a:rPr lang="en-US" altLang="zh-CN" sz="2400" b="1" i="1" dirty="0">
                <a:latin typeface="Arial" panose="020B0604020202020204" pitchFamily="34" charset="0"/>
              </a:rPr>
              <a:t>)</a:t>
            </a:r>
            <a:r>
              <a:rPr lang="en-US" altLang="zh-CN" sz="2400" b="1" dirty="0">
                <a:latin typeface="Arial" panose="020B0604020202020204" pitchFamily="34" charset="0"/>
                <a:ea typeface="宋体" panose="02010600030101010101" pitchFamily="2" charset="-122"/>
              </a:rPr>
              <a:t> </a:t>
            </a:r>
          </a:p>
          <a:p>
            <a:pPr marL="342900" indent="-342900">
              <a:lnSpc>
                <a:spcPct val="110000"/>
              </a:lnSpc>
              <a:spcBef>
                <a:spcPct val="30000"/>
              </a:spcBef>
              <a:buClr>
                <a:schemeClr val="hlink"/>
              </a:buClr>
              <a:buFont typeface="Wingdings" panose="05000000000000000000" pitchFamily="2" charset="2"/>
              <a:buChar char="v"/>
              <a:defRPr/>
            </a:pPr>
            <a:r>
              <a:rPr lang="zh-CN" altLang="en-US" sz="2400" b="1" dirty="0">
                <a:latin typeface="Arial" panose="020B0604020202020204" pitchFamily="34" charset="0"/>
                <a:ea typeface="宋体" panose="02010600030101010101" pitchFamily="2" charset="-122"/>
              </a:rPr>
              <a:t>图中数据是从测量酵母培养物增长的实验收集来的，可以假设种群的变化和当前种群量的大小成比例</a:t>
            </a:r>
            <a:endParaRPr lang="en-US" altLang="zh-CN" sz="2400" b="1" dirty="0">
              <a:latin typeface="Arial" panose="020B0604020202020204" pitchFamily="34" charset="0"/>
              <a:ea typeface="宋体" panose="02010600030101010101" pitchFamily="2" charset="-122"/>
            </a:endParaRPr>
          </a:p>
          <a:p>
            <a:pPr marL="342900" indent="-342900">
              <a:lnSpc>
                <a:spcPct val="110000"/>
              </a:lnSpc>
              <a:spcBef>
                <a:spcPct val="30000"/>
              </a:spcBef>
              <a:buClr>
                <a:schemeClr val="hlink"/>
              </a:buClr>
              <a:buFont typeface="Wingdings" panose="05000000000000000000" pitchFamily="2" charset="2"/>
              <a:buChar char="v"/>
              <a:defRPr/>
            </a:pPr>
            <a:r>
              <a:rPr lang="zh-CN" altLang="en-US" sz="2400" b="1" dirty="0">
                <a:latin typeface="Arial" panose="020B0604020202020204" pitchFamily="34" charset="0"/>
                <a:ea typeface="宋体" panose="02010600030101010101" pitchFamily="2" charset="-122"/>
              </a:rPr>
              <a:t>请分析酵母增长的规律</a:t>
            </a:r>
          </a:p>
        </p:txBody>
      </p:sp>
      <p:pic>
        <p:nvPicPr>
          <p:cNvPr id="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6183" y="3162471"/>
            <a:ext cx="7772400" cy="2571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1841" y="5834318"/>
            <a:ext cx="771525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对变化进行建模</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11" name="矩形 1"/>
          <p:cNvSpPr>
            <a:spLocks noChangeArrowheads="1"/>
          </p:cNvSpPr>
          <p:nvPr/>
        </p:nvSpPr>
        <p:spPr bwMode="auto">
          <a:xfrm>
            <a:off x="269812" y="2900880"/>
            <a:ext cx="8424863" cy="307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nSpc>
                <a:spcPct val="110000"/>
              </a:lnSpc>
              <a:spcBef>
                <a:spcPct val="30000"/>
              </a:spcBef>
              <a:buClr>
                <a:schemeClr val="hlink"/>
              </a:buClr>
              <a:buFont typeface="Wingdings" panose="05000000000000000000" pitchFamily="2" charset="2"/>
              <a:buChar char="v"/>
              <a:defRPr/>
            </a:pPr>
            <a:endParaRPr lang="en-US" altLang="zh-CN" sz="2000" b="1" dirty="0">
              <a:latin typeface="Arial" panose="020B0604020202020204" pitchFamily="34" charset="0"/>
              <a:ea typeface="宋体" panose="02010600030101010101" pitchFamily="2" charset="-122"/>
            </a:endParaRPr>
          </a:p>
          <a:p>
            <a:pPr marL="342900" indent="-342900">
              <a:lnSpc>
                <a:spcPct val="110000"/>
              </a:lnSpc>
              <a:spcBef>
                <a:spcPct val="30000"/>
              </a:spcBef>
              <a:buClr>
                <a:schemeClr val="hlink"/>
              </a:buClr>
              <a:buFont typeface="Wingdings" panose="05000000000000000000" pitchFamily="2" charset="2"/>
              <a:buChar char="v"/>
              <a:defRPr/>
            </a:pPr>
            <a:endParaRPr lang="en-US" altLang="zh-CN" sz="2000" b="1" dirty="0">
              <a:latin typeface="Arial" panose="020B0604020202020204" pitchFamily="34" charset="0"/>
              <a:ea typeface="宋体" panose="02010600030101010101" pitchFamily="2" charset="-122"/>
            </a:endParaRPr>
          </a:p>
          <a:p>
            <a:pPr marL="342900" indent="-342900">
              <a:lnSpc>
                <a:spcPct val="110000"/>
              </a:lnSpc>
              <a:spcBef>
                <a:spcPct val="30000"/>
              </a:spcBef>
              <a:buClr>
                <a:schemeClr val="hlink"/>
              </a:buClr>
              <a:buFont typeface="Wingdings" panose="05000000000000000000" pitchFamily="2" charset="2"/>
              <a:buChar char="v"/>
              <a:defRPr/>
            </a:pPr>
            <a:r>
              <a:rPr lang="zh-CN" altLang="en-US" sz="2000" b="1" dirty="0">
                <a:latin typeface="Arial" panose="020B0604020202020204" pitchFamily="34" charset="0"/>
                <a:ea typeface="宋体" panose="02010600030101010101" pitchFamily="2" charset="-122"/>
              </a:rPr>
              <a:t>上图假设酵母菌的增长是与当前值呈正比：</a:t>
            </a:r>
            <a:endParaRPr lang="en-US" altLang="zh-CN" sz="2000" b="1" dirty="0">
              <a:latin typeface="Arial" panose="020B0604020202020204" pitchFamily="34" charset="0"/>
              <a:ea typeface="宋体" panose="02010600030101010101" pitchFamily="2" charset="-122"/>
            </a:endParaRPr>
          </a:p>
          <a:p>
            <a:pPr marL="342900" indent="-342900">
              <a:lnSpc>
                <a:spcPct val="110000"/>
              </a:lnSpc>
              <a:spcBef>
                <a:spcPct val="30000"/>
              </a:spcBef>
              <a:buClr>
                <a:schemeClr val="hlink"/>
              </a:buClr>
              <a:buFont typeface="Wingdings" panose="05000000000000000000" pitchFamily="2" charset="2"/>
              <a:buChar char="v"/>
              <a:defRPr/>
            </a:pPr>
            <a:endParaRPr lang="en-US" altLang="zh-CN" sz="2000" b="1" i="1" dirty="0">
              <a:latin typeface="Arial" panose="020B0604020202020204" pitchFamily="34" charset="0"/>
              <a:ea typeface="宋体" panose="02010600030101010101" pitchFamily="2" charset="-122"/>
            </a:endParaRPr>
          </a:p>
          <a:p>
            <a:pPr marL="342900" indent="-342900">
              <a:lnSpc>
                <a:spcPct val="110000"/>
              </a:lnSpc>
              <a:spcBef>
                <a:spcPct val="30000"/>
              </a:spcBef>
              <a:buClr>
                <a:schemeClr val="hlink"/>
              </a:buClr>
              <a:buFont typeface="Wingdings" panose="05000000000000000000" pitchFamily="2" charset="2"/>
              <a:buChar char="v"/>
              <a:defRPr/>
            </a:pPr>
            <a:endParaRPr lang="en-US" altLang="zh-CN" sz="2000" b="1" dirty="0">
              <a:latin typeface="Arial" panose="020B0604020202020204" pitchFamily="34" charset="0"/>
              <a:ea typeface="宋体" panose="02010600030101010101" pitchFamily="2" charset="-122"/>
            </a:endParaRPr>
          </a:p>
          <a:p>
            <a:pPr marL="342900" indent="-342900">
              <a:lnSpc>
                <a:spcPct val="110000"/>
              </a:lnSpc>
              <a:spcBef>
                <a:spcPct val="30000"/>
              </a:spcBef>
              <a:buClr>
                <a:schemeClr val="hlink"/>
              </a:buClr>
              <a:buFont typeface="Wingdings" panose="05000000000000000000" pitchFamily="2" charset="2"/>
              <a:buChar char="v"/>
              <a:defRPr/>
            </a:pPr>
            <a:r>
              <a:rPr lang="zh-CN" altLang="en-US" sz="2400" b="1" dirty="0">
                <a:latin typeface="Arial" panose="020B0604020202020204" pitchFamily="34" charset="0"/>
                <a:ea typeface="宋体" panose="02010600030101010101" pitchFamily="2" charset="-122"/>
              </a:rPr>
              <a:t>估算该直线的斜率为</a:t>
            </a:r>
            <a:r>
              <a:rPr lang="en-US" altLang="zh-CN" sz="2400" b="1" i="1" dirty="0">
                <a:latin typeface="Arial" panose="020B0604020202020204" pitchFamily="34" charset="0"/>
                <a:ea typeface="宋体" panose="02010600030101010101" pitchFamily="2" charset="-122"/>
              </a:rPr>
              <a:t>k</a:t>
            </a:r>
            <a:r>
              <a:rPr lang="en-US" altLang="zh-CN" sz="2400" b="1" dirty="0">
                <a:latin typeface="Arial" panose="020B0604020202020204" pitchFamily="34" charset="0"/>
                <a:ea typeface="宋体" panose="02010600030101010101" pitchFamily="2" charset="-122"/>
              </a:rPr>
              <a:t>=0.5:</a:t>
            </a:r>
          </a:p>
          <a:p>
            <a:pPr>
              <a:lnSpc>
                <a:spcPct val="110000"/>
              </a:lnSpc>
              <a:spcBef>
                <a:spcPct val="30000"/>
              </a:spcBef>
              <a:buClr>
                <a:schemeClr val="hlink"/>
              </a:buClr>
              <a:defRPr/>
            </a:pPr>
            <a:r>
              <a:rPr lang="en-US" altLang="zh-CN" sz="2000" b="1" dirty="0">
                <a:latin typeface="Arial" panose="020B0604020202020204" pitchFamily="34" charset="0"/>
                <a:ea typeface="宋体" panose="02010600030101010101" pitchFamily="2" charset="-122"/>
              </a:rPr>
              <a:t> </a:t>
            </a:r>
          </a:p>
        </p:txBody>
      </p:sp>
      <p:pic>
        <p:nvPicPr>
          <p:cNvPr id="12" name="Picture 2"/>
          <p:cNvPicPr>
            <a:picLocks noChangeAspect="1" noChangeArrowheads="1"/>
          </p:cNvPicPr>
          <p:nvPr/>
        </p:nvPicPr>
        <p:blipFill>
          <a:blip r:embed="rId4">
            <a:extLst>
              <a:ext uri="{28A0092B-C50C-407E-A947-70E740481C1C}">
                <a14:useLocalDpi xmlns:a14="http://schemas.microsoft.com/office/drawing/2010/main" val="0"/>
              </a:ext>
            </a:extLst>
          </a:blip>
          <a:srcRect l="22215"/>
          <a:stretch>
            <a:fillRect/>
          </a:stretch>
        </p:blipFill>
        <p:spPr bwMode="auto">
          <a:xfrm>
            <a:off x="2933700" y="4266632"/>
            <a:ext cx="3276600" cy="322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656" y="5510571"/>
            <a:ext cx="3251868" cy="6797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4088" y="5577564"/>
            <a:ext cx="2012960" cy="5060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4"/>
          <p:cNvPicPr>
            <a:picLocks noChangeAspect="1" noChangeArrowheads="1"/>
          </p:cNvPicPr>
          <p:nvPr/>
        </p:nvPicPr>
        <p:blipFill>
          <a:blip r:embed="rId7">
            <a:extLst>
              <a:ext uri="{28A0092B-C50C-407E-A947-70E740481C1C}">
                <a14:useLocalDpi xmlns:a14="http://schemas.microsoft.com/office/drawing/2010/main" val="0"/>
              </a:ext>
            </a:extLst>
          </a:blip>
          <a:srcRect l="39130" t="1859" r="648" b="4652"/>
          <a:stretch>
            <a:fillRect/>
          </a:stretch>
        </p:blipFill>
        <p:spPr bwMode="auto">
          <a:xfrm>
            <a:off x="2102296" y="1196752"/>
            <a:ext cx="4681537" cy="240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7" name="直接连接符 16"/>
          <p:cNvCxnSpPr/>
          <p:nvPr/>
        </p:nvCxnSpPr>
        <p:spPr>
          <a:xfrm flipV="1">
            <a:off x="2749996" y="1844452"/>
            <a:ext cx="3313112" cy="121602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对话气泡: 椭圆形 1"/>
          <p:cNvSpPr/>
          <p:nvPr/>
        </p:nvSpPr>
        <p:spPr>
          <a:xfrm>
            <a:off x="6783832" y="4266632"/>
            <a:ext cx="2090355" cy="1034576"/>
          </a:xfrm>
          <a:prstGeom prst="wedgeEllipse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种群量总是增长！！！</a:t>
            </a:r>
            <a:r>
              <a:rPr lang="en-US" altLang="zh-CN" sz="2000" b="1" dirty="0">
                <a:solidFill>
                  <a:srgbClr val="FF0000"/>
                </a:solidFill>
              </a:rPr>
              <a:t> </a:t>
            </a:r>
            <a:endParaRPr lang="zh-CN" altLang="en-US" sz="20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对变化进行建模</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13" name="矩形 1"/>
          <p:cNvSpPr>
            <a:spLocks noChangeArrowheads="1"/>
          </p:cNvSpPr>
          <p:nvPr/>
        </p:nvSpPr>
        <p:spPr bwMode="auto">
          <a:xfrm>
            <a:off x="287337" y="1046438"/>
            <a:ext cx="8569325" cy="870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ct val="30000"/>
              </a:spcBef>
              <a:buClr>
                <a:schemeClr val="hlink"/>
              </a:buClr>
              <a:buFont typeface="Wingdings" panose="05000000000000000000" pitchFamily="2" charset="2"/>
              <a:buChar char="v"/>
            </a:pPr>
            <a:r>
              <a:rPr lang="zh-CN" altLang="en-US" sz="2400" b="1" dirty="0">
                <a:ea typeface="宋体" panose="02010600030101010101" pitchFamily="2" charset="-122"/>
              </a:rPr>
              <a:t>受限区域内（如某些资源只能支持最大限度的种群量而无法支持无限增长的种群量）酵母培养增长情况</a:t>
            </a:r>
          </a:p>
        </p:txBody>
      </p:sp>
      <p:pic>
        <p:nvPicPr>
          <p:cNvPr id="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9075" y="1988840"/>
            <a:ext cx="6476778" cy="39604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对变化进行建模</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7" name="矩形 1"/>
          <p:cNvSpPr>
            <a:spLocks noChangeArrowheads="1"/>
          </p:cNvSpPr>
          <p:nvPr/>
        </p:nvSpPr>
        <p:spPr bwMode="auto">
          <a:xfrm>
            <a:off x="287337" y="1344860"/>
            <a:ext cx="4284663" cy="1793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ct val="30000"/>
              </a:spcBef>
              <a:buClr>
                <a:schemeClr val="hlink"/>
              </a:buClr>
              <a:buFont typeface="Wingdings" panose="05000000000000000000" pitchFamily="2" charset="2"/>
              <a:buChar char="v"/>
            </a:pPr>
            <a:r>
              <a:rPr lang="zh-CN" altLang="en-US" sz="2400" b="1" dirty="0">
                <a:ea typeface="宋体" panose="02010600030101010101" pitchFamily="2" charset="-122"/>
              </a:rPr>
              <a:t>从种群量对时间的图形看，种群量趋于一个</a:t>
            </a:r>
            <a:r>
              <a:rPr lang="zh-CN" altLang="en-US" sz="2400" b="1" dirty="0">
                <a:solidFill>
                  <a:srgbClr val="0000FF"/>
                </a:solidFill>
                <a:ea typeface="宋体" panose="02010600030101010101" pitchFamily="2" charset="-122"/>
              </a:rPr>
              <a:t>极限值</a:t>
            </a:r>
            <a:r>
              <a:rPr lang="zh-CN" altLang="en-US" sz="2400" b="1" dirty="0">
                <a:ea typeface="宋体" panose="02010600030101010101" pitchFamily="2" charset="-122"/>
              </a:rPr>
              <a:t>或</a:t>
            </a:r>
            <a:r>
              <a:rPr lang="zh-CN" altLang="en-US" sz="2400" b="1" dirty="0">
                <a:solidFill>
                  <a:srgbClr val="0000FF"/>
                </a:solidFill>
                <a:ea typeface="宋体" panose="02010600030101010101" pitchFamily="2" charset="-122"/>
              </a:rPr>
              <a:t>容纳量</a:t>
            </a:r>
            <a:r>
              <a:rPr lang="en-US" altLang="zh-CN" sz="2400" b="1" dirty="0">
                <a:ea typeface="宋体" panose="02010600030101010101" pitchFamily="2" charset="-122"/>
              </a:rPr>
              <a:t>. </a:t>
            </a:r>
          </a:p>
          <a:p>
            <a:pPr eaLnBrk="1" hangingPunct="1">
              <a:lnSpc>
                <a:spcPct val="110000"/>
              </a:lnSpc>
              <a:spcBef>
                <a:spcPct val="30000"/>
              </a:spcBef>
              <a:buClr>
                <a:schemeClr val="hlink"/>
              </a:buClr>
              <a:buFont typeface="Wingdings" panose="05000000000000000000" pitchFamily="2" charset="2"/>
              <a:buChar char="v"/>
            </a:pPr>
            <a:r>
              <a:rPr lang="zh-CN" altLang="en-US" sz="2400" b="1" dirty="0">
                <a:ea typeface="宋体" panose="02010600030101010101" pitchFamily="2" charset="-122"/>
              </a:rPr>
              <a:t>估计</a:t>
            </a:r>
            <a:r>
              <a:rPr lang="zh-CN" altLang="en-US" sz="2400" b="1" dirty="0">
                <a:solidFill>
                  <a:srgbClr val="0000FF"/>
                </a:solidFill>
                <a:ea typeface="宋体" panose="02010600030101010101" pitchFamily="2" charset="-122"/>
              </a:rPr>
              <a:t>容纳量</a:t>
            </a:r>
            <a:r>
              <a:rPr lang="zh-CN" altLang="en-US" sz="2400" b="1" dirty="0">
                <a:ea typeface="宋体" panose="02010600030101010101" pitchFamily="2" charset="-122"/>
              </a:rPr>
              <a:t>为</a:t>
            </a:r>
            <a:r>
              <a:rPr lang="en-US" altLang="zh-CN" sz="2400" b="1" dirty="0">
                <a:ea typeface="宋体" panose="02010600030101010101" pitchFamily="2" charset="-122"/>
              </a:rPr>
              <a:t>665.</a:t>
            </a:r>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l="37747" t="13086" b="11938"/>
          <a:stretch>
            <a:fillRect/>
          </a:stretch>
        </p:blipFill>
        <p:spPr bwMode="auto">
          <a:xfrm>
            <a:off x="4641850" y="1261145"/>
            <a:ext cx="3838575" cy="2827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9" name="直接连接符 8"/>
          <p:cNvCxnSpPr/>
          <p:nvPr/>
        </p:nvCxnSpPr>
        <p:spPr>
          <a:xfrm>
            <a:off x="5194300" y="1842170"/>
            <a:ext cx="295275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287337" y="4436393"/>
            <a:ext cx="8193088" cy="463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ct val="30000"/>
              </a:spcBef>
              <a:buClr>
                <a:schemeClr val="hlink"/>
              </a:buClr>
              <a:buFont typeface="Wingdings" panose="05000000000000000000" pitchFamily="2" charset="2"/>
              <a:buChar char="v"/>
            </a:pPr>
            <a:r>
              <a:rPr lang="zh-CN" altLang="en-US" sz="2400" b="1" dirty="0">
                <a:ea typeface="宋体" panose="02010600030101010101" pitchFamily="2" charset="-122"/>
              </a:rPr>
              <a:t>基于容纳量，改进模型如下：</a:t>
            </a:r>
            <a:endParaRPr lang="en-US" altLang="zh-CN" sz="2400" b="1" dirty="0">
              <a:ea typeface="宋体" panose="02010600030101010101" pitchFamily="2" charset="-122"/>
            </a:endParaRPr>
          </a:p>
        </p:txBody>
      </p:sp>
      <p:pic>
        <p:nvPicPr>
          <p:cNvPr id="11"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6625" y="5188868"/>
            <a:ext cx="4033837" cy="407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矩形 11"/>
          <p:cNvSpPr>
            <a:spLocks noChangeArrowheads="1"/>
          </p:cNvSpPr>
          <p:nvPr/>
        </p:nvSpPr>
        <p:spPr bwMode="auto">
          <a:xfrm>
            <a:off x="1835696" y="5885549"/>
            <a:ext cx="42450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dirty="0">
                <a:ea typeface="宋体" panose="02010600030101010101" pitchFamily="2" charset="-122"/>
              </a:rPr>
              <a:t>注：当</a:t>
            </a:r>
            <a:r>
              <a:rPr lang="en-US" altLang="zh-CN" dirty="0" err="1">
                <a:ea typeface="宋体" panose="02010600030101010101" pitchFamily="2" charset="-122"/>
              </a:rPr>
              <a:t>p</a:t>
            </a:r>
            <a:r>
              <a:rPr lang="en-US" altLang="zh-CN" baseline="-25000" dirty="0" err="1">
                <a:ea typeface="宋体" panose="02010600030101010101" pitchFamily="2" charset="-122"/>
              </a:rPr>
              <a:t>n</a:t>
            </a:r>
            <a:r>
              <a:rPr lang="zh-CN" altLang="en-US" dirty="0">
                <a:ea typeface="宋体" panose="02010600030101010101" pitchFamily="2" charset="-122"/>
              </a:rPr>
              <a:t>趋近</a:t>
            </a:r>
            <a:r>
              <a:rPr lang="en-US" altLang="zh-CN" dirty="0">
                <a:ea typeface="宋体" panose="02010600030101010101" pitchFamily="2" charset="-122"/>
              </a:rPr>
              <a:t>665</a:t>
            </a:r>
            <a:r>
              <a:rPr lang="zh-CN" altLang="en-US" dirty="0">
                <a:ea typeface="宋体" panose="02010600030101010101" pitchFamily="2" charset="-122"/>
              </a:rPr>
              <a:t>时，变化变得越来越小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对变化进行建模</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pic>
        <p:nvPicPr>
          <p:cNvPr id="1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1196752"/>
            <a:ext cx="4032250" cy="407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矩形 8"/>
          <p:cNvSpPr>
            <a:spLocks noChangeArrowheads="1"/>
          </p:cNvSpPr>
          <p:nvPr/>
        </p:nvSpPr>
        <p:spPr bwMode="auto">
          <a:xfrm>
            <a:off x="250825" y="1638077"/>
            <a:ext cx="8785225" cy="463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ct val="30000"/>
              </a:spcBef>
              <a:buClr>
                <a:schemeClr val="hlink"/>
              </a:buClr>
              <a:buFont typeface="Wingdings" panose="05000000000000000000" pitchFamily="2" charset="2"/>
              <a:buChar char="v"/>
            </a:pPr>
            <a:r>
              <a:rPr lang="zh-CN" altLang="en-US" sz="2400" b="1" dirty="0">
                <a:ea typeface="宋体" panose="02010600030101010101" pitchFamily="2" charset="-122"/>
              </a:rPr>
              <a:t>画出</a:t>
            </a:r>
            <a:r>
              <a:rPr lang="en-US" altLang="zh-CN" sz="2400" b="1" dirty="0">
                <a:ea typeface="宋体" panose="02010600030101010101" pitchFamily="2" charset="-122"/>
              </a:rPr>
              <a:t>p</a:t>
            </a:r>
            <a:r>
              <a:rPr lang="en-US" altLang="zh-CN" sz="2400" b="1" baseline="-25000" dirty="0">
                <a:ea typeface="宋体" panose="02010600030101010101" pitchFamily="2" charset="-122"/>
              </a:rPr>
              <a:t>n+1</a:t>
            </a:r>
            <a:r>
              <a:rPr lang="en-US" altLang="zh-CN" sz="2400" b="1" dirty="0">
                <a:ea typeface="宋体" panose="02010600030101010101" pitchFamily="2" charset="-122"/>
              </a:rPr>
              <a:t>-p</a:t>
            </a:r>
            <a:r>
              <a:rPr lang="en-US" altLang="zh-CN" sz="2400" b="1" baseline="-25000" dirty="0">
                <a:ea typeface="宋体" panose="02010600030101010101" pitchFamily="2" charset="-122"/>
              </a:rPr>
              <a:t>n</a:t>
            </a:r>
            <a:r>
              <a:rPr lang="zh-CN" altLang="en-US" sz="2400" b="1" dirty="0">
                <a:ea typeface="宋体" panose="02010600030101010101" pitchFamily="2" charset="-122"/>
              </a:rPr>
              <a:t>对                  的图形</a:t>
            </a:r>
            <a:r>
              <a:rPr lang="en-US" altLang="zh-CN" sz="2400" b="1" dirty="0">
                <a:ea typeface="宋体" panose="02010600030101010101" pitchFamily="2" charset="-122"/>
              </a:rPr>
              <a:t>. </a:t>
            </a:r>
          </a:p>
        </p:txBody>
      </p:sp>
      <p:pic>
        <p:nvPicPr>
          <p:cNvPr id="15" name="Picture 2"/>
          <p:cNvPicPr>
            <a:picLocks noChangeAspect="1" noChangeArrowheads="1"/>
          </p:cNvPicPr>
          <p:nvPr/>
        </p:nvPicPr>
        <p:blipFill>
          <a:blip r:embed="rId5">
            <a:extLst>
              <a:ext uri="{28A0092B-C50C-407E-A947-70E740481C1C}">
                <a14:useLocalDpi xmlns:a14="http://schemas.microsoft.com/office/drawing/2010/main" val="0"/>
              </a:ext>
            </a:extLst>
          </a:blip>
          <a:srcRect t="6932" r="735"/>
          <a:stretch>
            <a:fillRect/>
          </a:stretch>
        </p:blipFill>
        <p:spPr bwMode="auto">
          <a:xfrm>
            <a:off x="1763713" y="2365152"/>
            <a:ext cx="5545137" cy="3078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752" y="5711421"/>
            <a:ext cx="4602760" cy="558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2"/>
          <p:cNvPicPr>
            <a:picLocks noChangeAspect="1" noChangeArrowheads="1"/>
          </p:cNvPicPr>
          <p:nvPr/>
        </p:nvPicPr>
        <p:blipFill>
          <a:blip r:embed="rId4">
            <a:extLst>
              <a:ext uri="{28A0092B-C50C-407E-A947-70E740481C1C}">
                <a14:useLocalDpi xmlns:a14="http://schemas.microsoft.com/office/drawing/2010/main" val="0"/>
              </a:ext>
            </a:extLst>
          </a:blip>
          <a:srcRect l="62741" t="11266" r="2"/>
          <a:stretch>
            <a:fillRect/>
          </a:stretch>
        </p:blipFill>
        <p:spPr bwMode="auto">
          <a:xfrm>
            <a:off x="2575232" y="1753789"/>
            <a:ext cx="1503363" cy="36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对变化进行建模</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10" name="矩形 8"/>
          <p:cNvSpPr>
            <a:spLocks noChangeArrowheads="1"/>
          </p:cNvSpPr>
          <p:nvPr/>
        </p:nvSpPr>
        <p:spPr bwMode="auto">
          <a:xfrm>
            <a:off x="183411" y="1619424"/>
            <a:ext cx="8785225" cy="980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ct val="30000"/>
              </a:spcBef>
              <a:buClr>
                <a:schemeClr val="hlink"/>
              </a:buClr>
              <a:buFont typeface="Wingdings" panose="05000000000000000000" pitchFamily="2" charset="2"/>
              <a:buChar char="v"/>
            </a:pPr>
            <a:r>
              <a:rPr lang="zh-CN" altLang="en-US" sz="2400" b="1" dirty="0">
                <a:ea typeface="宋体" panose="02010600030101010101" pitchFamily="2" charset="-122"/>
              </a:rPr>
              <a:t>上述方程是非线性，通常无法求，得用</a:t>
            </a:r>
            <a:r>
              <a:rPr lang="en-US" altLang="zh-CN" sz="2400" b="1" dirty="0">
                <a:ea typeface="宋体" panose="02010600030101010101" pitchFamily="2" charset="-122"/>
              </a:rPr>
              <a:t>n</a:t>
            </a:r>
            <a:r>
              <a:rPr lang="zh-CN" altLang="en-US" sz="2400" b="1" dirty="0">
                <a:ea typeface="宋体" panose="02010600030101010101" pitchFamily="2" charset="-122"/>
              </a:rPr>
              <a:t>来表示</a:t>
            </a:r>
            <a:r>
              <a:rPr lang="en-US" altLang="zh-CN" sz="2400" b="1" dirty="0" err="1">
                <a:ea typeface="宋体" panose="02010600030101010101" pitchFamily="2" charset="-122"/>
              </a:rPr>
              <a:t>p</a:t>
            </a:r>
            <a:r>
              <a:rPr lang="en-US" altLang="zh-CN" sz="2400" b="1" baseline="-25000" dirty="0" err="1">
                <a:ea typeface="宋体" panose="02010600030101010101" pitchFamily="2" charset="-122"/>
              </a:rPr>
              <a:t>n</a:t>
            </a:r>
            <a:r>
              <a:rPr lang="zh-CN" altLang="en-US" sz="2400" b="1" dirty="0">
                <a:ea typeface="宋体" panose="02010600030101010101" pitchFamily="2" charset="-122"/>
              </a:rPr>
              <a:t>的公式解。</a:t>
            </a:r>
            <a:endParaRPr lang="en-US" altLang="zh-CN" sz="2400" b="1" dirty="0">
              <a:ea typeface="宋体" panose="02010600030101010101" pitchFamily="2" charset="-122"/>
            </a:endParaRPr>
          </a:p>
          <a:p>
            <a:pPr eaLnBrk="1" hangingPunct="1">
              <a:lnSpc>
                <a:spcPct val="110000"/>
              </a:lnSpc>
              <a:spcBef>
                <a:spcPct val="30000"/>
              </a:spcBef>
              <a:buClr>
                <a:schemeClr val="hlink"/>
              </a:buClr>
              <a:buFont typeface="Wingdings" panose="05000000000000000000" pitchFamily="2" charset="2"/>
              <a:buChar char="v"/>
            </a:pPr>
            <a:r>
              <a:rPr lang="zh-CN" altLang="en-US" sz="2400" b="1" dirty="0">
                <a:ea typeface="宋体" panose="02010600030101010101" pitchFamily="2" charset="-122"/>
              </a:rPr>
              <a:t>但是可以通过迭代的方式给出</a:t>
            </a:r>
            <a:r>
              <a:rPr lang="en-US" altLang="zh-CN" sz="2400" b="1" dirty="0">
                <a:ea typeface="宋体" panose="02010600030101010101" pitchFamily="2" charset="-122"/>
              </a:rPr>
              <a:t>p</a:t>
            </a:r>
            <a:r>
              <a:rPr lang="en-US" altLang="zh-CN" sz="2400" b="1" baseline="-25000" dirty="0">
                <a:ea typeface="宋体" panose="02010600030101010101" pitchFamily="2" charset="-122"/>
              </a:rPr>
              <a:t>1</a:t>
            </a:r>
            <a:r>
              <a:rPr lang="en-US" altLang="zh-CN" sz="2400" b="1" dirty="0">
                <a:ea typeface="宋体" panose="02010600030101010101" pitchFamily="2" charset="-122"/>
              </a:rPr>
              <a:t>, p</a:t>
            </a:r>
            <a:r>
              <a:rPr lang="en-US" altLang="zh-CN" sz="2400" b="1" baseline="-25000" dirty="0">
                <a:ea typeface="宋体" panose="02010600030101010101" pitchFamily="2" charset="-122"/>
              </a:rPr>
              <a:t>2</a:t>
            </a:r>
            <a:r>
              <a:rPr lang="en-US" altLang="zh-CN" sz="2400" b="1" dirty="0">
                <a:ea typeface="宋体" panose="02010600030101010101" pitchFamily="2" charset="-122"/>
              </a:rPr>
              <a:t>, …, </a:t>
            </a:r>
            <a:r>
              <a:rPr lang="en-US" altLang="zh-CN" sz="2400" b="1" dirty="0" err="1">
                <a:ea typeface="宋体" panose="02010600030101010101" pitchFamily="2" charset="-122"/>
              </a:rPr>
              <a:t>p</a:t>
            </a:r>
            <a:r>
              <a:rPr lang="en-US" altLang="zh-CN" sz="2400" b="1" baseline="-25000" dirty="0" err="1">
                <a:ea typeface="宋体" panose="02010600030101010101" pitchFamily="2" charset="-122"/>
              </a:rPr>
              <a:t>n</a:t>
            </a:r>
            <a:r>
              <a:rPr lang="zh-CN" altLang="en-US" sz="2400" b="1" dirty="0">
                <a:ea typeface="宋体" panose="02010600030101010101" pitchFamily="2" charset="-122"/>
              </a:rPr>
              <a:t>。</a:t>
            </a:r>
            <a:endParaRPr lang="en-US" altLang="zh-CN" sz="2400" b="1" dirty="0">
              <a:ea typeface="宋体" panose="02010600030101010101" pitchFamily="2" charset="-122"/>
            </a:endParaRPr>
          </a:p>
        </p:txBody>
      </p:sp>
      <p:pic>
        <p:nvPicPr>
          <p:cNvPr id="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792" y="1054787"/>
            <a:ext cx="4032990" cy="4884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0480" y="2996952"/>
            <a:ext cx="6551613" cy="32972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线性动力系统</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pic>
        <p:nvPicPr>
          <p:cNvPr id="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2510" y="1827428"/>
            <a:ext cx="3457104" cy="1721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ectangle 3"/>
          <p:cNvSpPr txBox="1">
            <a:spLocks noChangeArrowheads="1"/>
          </p:cNvSpPr>
          <p:nvPr/>
        </p:nvSpPr>
        <p:spPr>
          <a:xfrm>
            <a:off x="254860" y="1050623"/>
            <a:ext cx="8424936" cy="72313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anose="020B0604020202020204" pitchFamily="34" charset="0"/>
              <a:buNone/>
            </a:pPr>
            <a:r>
              <a:rPr lang="zh-CN" altLang="en-US" sz="2800" b="1" dirty="0">
                <a:solidFill>
                  <a:srgbClr val="FF0000"/>
                </a:solidFill>
                <a:latin typeface="宋体" panose="02010600030101010101" pitchFamily="2" charset="-122"/>
              </a:rPr>
              <a:t>线性动力系统</a:t>
            </a:r>
            <a:r>
              <a:rPr lang="zh-CN" altLang="en-US" sz="2800" b="1" dirty="0">
                <a:latin typeface="宋体" panose="02010600030101010101" pitchFamily="2" charset="-122"/>
              </a:rPr>
              <a:t>：</a:t>
            </a:r>
            <a:r>
              <a:rPr lang="en-US" altLang="zh-CN" sz="2800" b="1" dirty="0">
                <a:latin typeface="宋体" panose="02010600030101010101" pitchFamily="2" charset="-122"/>
              </a:rPr>
              <a:t>a</a:t>
            </a:r>
            <a:r>
              <a:rPr lang="en-US" altLang="zh-CN" sz="2800" b="1" baseline="-25000" dirty="0">
                <a:latin typeface="宋体" panose="02010600030101010101" pitchFamily="2" charset="-122"/>
              </a:rPr>
              <a:t>n+1</a:t>
            </a:r>
            <a:r>
              <a:rPr lang="en-US" altLang="zh-CN" sz="2800" b="1" dirty="0">
                <a:latin typeface="宋体" panose="02010600030101010101" pitchFamily="2" charset="-122"/>
              </a:rPr>
              <a:t>=ra</a:t>
            </a:r>
            <a:r>
              <a:rPr lang="en-US" altLang="zh-CN" sz="2800" b="1" baseline="-25000" dirty="0">
                <a:latin typeface="宋体" panose="02010600030101010101" pitchFamily="2" charset="-122"/>
              </a:rPr>
              <a:t>n</a:t>
            </a:r>
            <a:r>
              <a:rPr lang="zh-CN" altLang="en-US" sz="2800" b="1" dirty="0">
                <a:latin typeface="宋体" panose="02010600030101010101" pitchFamily="2" charset="-122"/>
              </a:rPr>
              <a:t>，其中</a:t>
            </a:r>
            <a:r>
              <a:rPr lang="en-US" altLang="zh-CN" sz="2800" b="1" dirty="0">
                <a:latin typeface="宋体" panose="02010600030101010101" pitchFamily="2" charset="-122"/>
              </a:rPr>
              <a:t>r</a:t>
            </a:r>
            <a:r>
              <a:rPr lang="zh-CN" altLang="en-US" sz="2800" b="1" dirty="0">
                <a:latin typeface="宋体" panose="02010600030101010101" pitchFamily="2" charset="-122"/>
              </a:rPr>
              <a:t>为任意非零常数</a:t>
            </a:r>
            <a:endParaRPr lang="en-US" altLang="zh-CN" sz="2800" b="1" dirty="0">
              <a:latin typeface="宋体" panose="02010600030101010101" pitchFamily="2" charset="-122"/>
            </a:endParaRPr>
          </a:p>
        </p:txBody>
      </p:sp>
      <p:sp>
        <p:nvSpPr>
          <p:cNvPr id="16" name="Rectangle 3"/>
          <p:cNvSpPr txBox="1">
            <a:spLocks noChangeArrowheads="1"/>
          </p:cNvSpPr>
          <p:nvPr/>
        </p:nvSpPr>
        <p:spPr>
          <a:xfrm>
            <a:off x="-41692" y="4115266"/>
            <a:ext cx="8721488" cy="11430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20000"/>
              </a:lnSpc>
              <a:spcBef>
                <a:spcPct val="0"/>
              </a:spcBef>
              <a:buFont typeface="Arial" panose="020B0604020202020204" pitchFamily="34" charset="0"/>
              <a:buNone/>
            </a:pPr>
            <a:r>
              <a:rPr lang="en-US" altLang="zh-CN" sz="2800" b="1" dirty="0" err="1">
                <a:latin typeface="宋体" panose="02010600030101010101" pitchFamily="2" charset="-122"/>
              </a:rPr>
              <a:t>a</a:t>
            </a:r>
            <a:r>
              <a:rPr lang="en-US" altLang="zh-CN" sz="2800" b="1" baseline="-25000" dirty="0" err="1">
                <a:latin typeface="宋体" panose="02010600030101010101" pitchFamily="2" charset="-122"/>
              </a:rPr>
              <a:t>k</a:t>
            </a:r>
            <a:r>
              <a:rPr lang="en-US" altLang="zh-CN" sz="2800" b="1" dirty="0">
                <a:latin typeface="宋体" panose="02010600030101010101" pitchFamily="2" charset="-122"/>
              </a:rPr>
              <a:t>=r</a:t>
            </a:r>
            <a:r>
              <a:rPr lang="en-US" altLang="zh-CN" sz="2800" b="1" baseline="30000" dirty="0">
                <a:latin typeface="宋体" panose="02010600030101010101" pitchFamily="2" charset="-122"/>
              </a:rPr>
              <a:t>k</a:t>
            </a:r>
            <a:r>
              <a:rPr lang="en-US" altLang="zh-CN" sz="2800" b="1" dirty="0">
                <a:latin typeface="宋体" panose="02010600030101010101" pitchFamily="2" charset="-122"/>
              </a:rPr>
              <a:t>a</a:t>
            </a:r>
            <a:r>
              <a:rPr lang="en-US" altLang="zh-CN" sz="2800" b="1" baseline="-25000" dirty="0">
                <a:latin typeface="宋体" panose="02010600030101010101" pitchFamily="2" charset="-122"/>
              </a:rPr>
              <a:t>0</a:t>
            </a:r>
          </a:p>
        </p:txBody>
      </p:sp>
      <p:sp>
        <p:nvSpPr>
          <p:cNvPr id="2" name="矩形 1"/>
          <p:cNvSpPr/>
          <p:nvPr/>
        </p:nvSpPr>
        <p:spPr>
          <a:xfrm>
            <a:off x="2973170" y="5052309"/>
            <a:ext cx="2691764" cy="444674"/>
          </a:xfrm>
          <a:prstGeom prst="rect">
            <a:avLst/>
          </a:prstGeom>
        </p:spPr>
        <p:txBody>
          <a:bodyPr wrap="none">
            <a:spAutoFit/>
          </a:bodyPr>
          <a:lstStyle/>
          <a:p>
            <a:pPr algn="ctr">
              <a:lnSpc>
                <a:spcPct val="120000"/>
              </a:lnSpc>
              <a:spcBef>
                <a:spcPct val="0"/>
              </a:spcBef>
            </a:pPr>
            <a:r>
              <a:rPr lang="zh-CN" altLang="en-US" sz="2200" b="1" dirty="0">
                <a:latin typeface="宋体" panose="02010600030101010101" pitchFamily="2" charset="-122"/>
              </a:rPr>
              <a:t>其中</a:t>
            </a:r>
            <a:r>
              <a:rPr lang="en-US" altLang="zh-CN" sz="2200" b="1" dirty="0">
                <a:latin typeface="宋体" panose="02010600030101010101" pitchFamily="2" charset="-122"/>
              </a:rPr>
              <a:t>a</a:t>
            </a:r>
            <a:r>
              <a:rPr lang="en-US" altLang="zh-CN" sz="2200" b="1" baseline="-25000" dirty="0">
                <a:latin typeface="宋体" panose="02010600030101010101" pitchFamily="2" charset="-122"/>
              </a:rPr>
              <a:t>0</a:t>
            </a:r>
            <a:r>
              <a:rPr lang="zh-CN" altLang="en-US" sz="2200" b="1" dirty="0">
                <a:latin typeface="宋体" panose="02010600030101010101" pitchFamily="2" charset="-122"/>
              </a:rPr>
              <a:t>为给定的初值</a:t>
            </a:r>
            <a:endParaRPr lang="en-US" altLang="zh-CN" sz="2200" b="1" dirty="0">
              <a:latin typeface="宋体" panose="02010600030101010101" pitchFamily="2" charset="-122"/>
            </a:endParaRPr>
          </a:p>
        </p:txBody>
      </p:sp>
      <p:sp>
        <p:nvSpPr>
          <p:cNvPr id="3" name="箭头: 右 2"/>
          <p:cNvSpPr/>
          <p:nvPr/>
        </p:nvSpPr>
        <p:spPr>
          <a:xfrm>
            <a:off x="1422171" y="4275504"/>
            <a:ext cx="1008112"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线性动力系统</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pic>
        <p:nvPicPr>
          <p:cNvPr id="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8791" y="2415105"/>
            <a:ext cx="5715000" cy="2676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矩形 1"/>
          <p:cNvSpPr>
            <a:spLocks noChangeArrowheads="1"/>
          </p:cNvSpPr>
          <p:nvPr/>
        </p:nvSpPr>
        <p:spPr bwMode="auto">
          <a:xfrm>
            <a:off x="1158553" y="3135830"/>
            <a:ext cx="717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b="1" i="1">
                <a:ea typeface="宋体" panose="02010600030101010101" pitchFamily="2" charset="-122"/>
              </a:rPr>
              <a:t>r </a:t>
            </a:r>
            <a:r>
              <a:rPr lang="en-US" altLang="zh-CN" sz="2000" b="1">
                <a:ea typeface="宋体" panose="02010600030101010101" pitchFamily="2" charset="-122"/>
              </a:rPr>
              <a:t>= 1</a:t>
            </a:r>
            <a:endParaRPr lang="zh-CN" altLang="en-US" sz="2000">
              <a:ea typeface="宋体" panose="02010600030101010101" pitchFamily="2" charset="-122"/>
            </a:endParaRPr>
          </a:p>
        </p:txBody>
      </p:sp>
      <p:sp>
        <p:nvSpPr>
          <p:cNvPr id="15" name="Rectangle 3"/>
          <p:cNvSpPr txBox="1">
            <a:spLocks noChangeArrowheads="1"/>
          </p:cNvSpPr>
          <p:nvPr/>
        </p:nvSpPr>
        <p:spPr>
          <a:xfrm>
            <a:off x="254860" y="1050623"/>
            <a:ext cx="8424936" cy="72313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anose="020B0604020202020204" pitchFamily="34" charset="0"/>
              <a:buNone/>
            </a:pPr>
            <a:r>
              <a:rPr lang="en-US" altLang="zh-CN" sz="2800" b="1" dirty="0">
                <a:latin typeface="宋体" panose="02010600030101010101" pitchFamily="2" charset="-122"/>
              </a:rPr>
              <a:t>a</a:t>
            </a:r>
            <a:r>
              <a:rPr lang="en-US" altLang="zh-CN" sz="2800" b="1" baseline="-25000" dirty="0">
                <a:latin typeface="宋体" panose="02010600030101010101" pitchFamily="2" charset="-122"/>
              </a:rPr>
              <a:t>n+1</a:t>
            </a:r>
            <a:r>
              <a:rPr lang="en-US" altLang="zh-CN" sz="2800" b="1" dirty="0">
                <a:latin typeface="宋体" panose="02010600030101010101" pitchFamily="2" charset="-122"/>
              </a:rPr>
              <a:t>=ra</a:t>
            </a:r>
            <a:r>
              <a:rPr lang="en-US" altLang="zh-CN" sz="2800" b="1" baseline="-25000" dirty="0">
                <a:latin typeface="宋体" panose="02010600030101010101" pitchFamily="2" charset="-122"/>
              </a:rPr>
              <a:t>n</a:t>
            </a:r>
            <a:r>
              <a:rPr lang="zh-CN" altLang="en-US" sz="2800" b="1" dirty="0">
                <a:latin typeface="宋体" panose="02010600030101010101" pitchFamily="2" charset="-122"/>
              </a:rPr>
              <a:t>（</a:t>
            </a:r>
            <a:r>
              <a:rPr lang="en-US" altLang="zh-CN" sz="2800" b="1" dirty="0">
                <a:latin typeface="宋体" panose="02010600030101010101" pitchFamily="2" charset="-122"/>
              </a:rPr>
              <a:t>r</a:t>
            </a:r>
            <a:r>
              <a:rPr lang="zh-CN" altLang="en-US" sz="2800" b="1" dirty="0">
                <a:latin typeface="宋体" panose="02010600030101010101" pitchFamily="2" charset="-122"/>
              </a:rPr>
              <a:t>为常数）时的长期行为</a:t>
            </a:r>
            <a:endParaRPr lang="en-US" altLang="zh-CN" sz="2800" b="1" dirty="0">
              <a:latin typeface="宋体" panose="02010600030101010101" pitchFamily="2" charset="-122"/>
            </a:endParaRPr>
          </a:p>
        </p:txBody>
      </p:sp>
      <p:sp>
        <p:nvSpPr>
          <p:cNvPr id="4" name="矩形 3"/>
          <p:cNvSpPr/>
          <p:nvPr/>
        </p:nvSpPr>
        <p:spPr>
          <a:xfrm>
            <a:off x="1048011" y="3753367"/>
            <a:ext cx="1656184" cy="461665"/>
          </a:xfrm>
          <a:prstGeom prst="rect">
            <a:avLst/>
          </a:prstGeom>
        </p:spPr>
        <p:txBody>
          <a:bodyPr wrap="square">
            <a:spAutoFit/>
          </a:bodyPr>
          <a:lstStyle/>
          <a:p>
            <a:r>
              <a:rPr lang="en-US" altLang="zh-CN" sz="2400" b="1" dirty="0">
                <a:latin typeface="宋体" panose="02010600030101010101" pitchFamily="2" charset="-122"/>
              </a:rPr>
              <a:t>a</a:t>
            </a:r>
            <a:r>
              <a:rPr lang="en-US" altLang="zh-CN" sz="2400" b="1" baseline="-25000" dirty="0">
                <a:latin typeface="宋体" panose="02010600030101010101" pitchFamily="2" charset="-122"/>
              </a:rPr>
              <a:t>n+1</a:t>
            </a:r>
            <a:r>
              <a:rPr lang="en-US" altLang="zh-CN" sz="2400" b="1" dirty="0">
                <a:latin typeface="宋体" panose="02010600030101010101" pitchFamily="2" charset="-122"/>
              </a:rPr>
              <a:t>=a</a:t>
            </a:r>
            <a:r>
              <a:rPr lang="en-US" altLang="zh-CN" sz="2400" b="1" baseline="-25000" dirty="0">
                <a:latin typeface="宋体" panose="02010600030101010101" pitchFamily="2" charset="-122"/>
              </a:rPr>
              <a:t>n</a:t>
            </a:r>
            <a:endParaRPr lang="zh-CN" alt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线性动力系统</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15" name="Rectangle 3"/>
          <p:cNvSpPr txBox="1">
            <a:spLocks noChangeArrowheads="1"/>
          </p:cNvSpPr>
          <p:nvPr/>
        </p:nvSpPr>
        <p:spPr>
          <a:xfrm>
            <a:off x="254860" y="1050623"/>
            <a:ext cx="8424936" cy="72313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anose="020B0604020202020204" pitchFamily="34" charset="0"/>
              <a:buNone/>
            </a:pPr>
            <a:r>
              <a:rPr lang="en-US" altLang="zh-CN" sz="2800" b="1" dirty="0">
                <a:latin typeface="宋体" panose="02010600030101010101" pitchFamily="2" charset="-122"/>
              </a:rPr>
              <a:t>a</a:t>
            </a:r>
            <a:r>
              <a:rPr lang="en-US" altLang="zh-CN" sz="2800" b="1" baseline="-25000" dirty="0">
                <a:latin typeface="宋体" panose="02010600030101010101" pitchFamily="2" charset="-122"/>
              </a:rPr>
              <a:t>n+1</a:t>
            </a:r>
            <a:r>
              <a:rPr lang="en-US" altLang="zh-CN" sz="2800" b="1" dirty="0">
                <a:latin typeface="宋体" panose="02010600030101010101" pitchFamily="2" charset="-122"/>
              </a:rPr>
              <a:t>=ra</a:t>
            </a:r>
            <a:r>
              <a:rPr lang="en-US" altLang="zh-CN" sz="2800" b="1" baseline="-25000" dirty="0">
                <a:latin typeface="宋体" panose="02010600030101010101" pitchFamily="2" charset="-122"/>
              </a:rPr>
              <a:t>n</a:t>
            </a:r>
            <a:r>
              <a:rPr lang="zh-CN" altLang="en-US" sz="2800" b="1" dirty="0">
                <a:latin typeface="宋体" panose="02010600030101010101" pitchFamily="2" charset="-122"/>
              </a:rPr>
              <a:t>（</a:t>
            </a:r>
            <a:r>
              <a:rPr lang="en-US" altLang="zh-CN" sz="2800" b="1" dirty="0">
                <a:latin typeface="宋体" panose="02010600030101010101" pitchFamily="2" charset="-122"/>
              </a:rPr>
              <a:t>r</a:t>
            </a:r>
            <a:r>
              <a:rPr lang="zh-CN" altLang="en-US" sz="2800" b="1" dirty="0">
                <a:latin typeface="宋体" panose="02010600030101010101" pitchFamily="2" charset="-122"/>
              </a:rPr>
              <a:t>为常数）时的长期行为</a:t>
            </a:r>
            <a:endParaRPr lang="en-US" altLang="zh-CN" sz="2800" b="1" dirty="0">
              <a:latin typeface="宋体" panose="02010600030101010101" pitchFamily="2" charset="-122"/>
            </a:endParaRPr>
          </a:p>
        </p:txBody>
      </p:sp>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2830" y="1929246"/>
            <a:ext cx="5314950"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矩形 7"/>
          <p:cNvSpPr>
            <a:spLocks noChangeArrowheads="1"/>
          </p:cNvSpPr>
          <p:nvPr/>
        </p:nvSpPr>
        <p:spPr bwMode="auto">
          <a:xfrm>
            <a:off x="1619672" y="3375498"/>
            <a:ext cx="13869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b="1" dirty="0">
                <a:ea typeface="宋体" panose="02010600030101010101" pitchFamily="2" charset="-122"/>
              </a:rPr>
              <a:t>r</a:t>
            </a:r>
            <a:r>
              <a:rPr lang="zh-CN" altLang="en-US" sz="2000" b="1" dirty="0">
                <a:ea typeface="宋体" panose="02010600030101010101" pitchFamily="2" charset="-122"/>
              </a:rPr>
              <a:t>为负数时</a:t>
            </a:r>
            <a:r>
              <a:rPr lang="en-US" altLang="zh-CN" sz="2000" b="1" i="1" dirty="0">
                <a:ea typeface="宋体" panose="02010600030101010101" pitchFamily="2" charset="-122"/>
              </a:rPr>
              <a:t> </a:t>
            </a:r>
            <a:endParaRPr lang="zh-CN" altLang="en-US" sz="2000" dirty="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线性动力系统</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15" name="Rectangle 3"/>
          <p:cNvSpPr txBox="1">
            <a:spLocks noChangeArrowheads="1"/>
          </p:cNvSpPr>
          <p:nvPr/>
        </p:nvSpPr>
        <p:spPr>
          <a:xfrm>
            <a:off x="254860" y="1050623"/>
            <a:ext cx="8424936" cy="72313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spcBef>
                <a:spcPct val="0"/>
              </a:spcBef>
              <a:buFont typeface="Arial" panose="020B0604020202020204" pitchFamily="34" charset="0"/>
              <a:buNone/>
            </a:pPr>
            <a:r>
              <a:rPr lang="en-US" altLang="zh-CN" sz="2800" b="1" dirty="0">
                <a:latin typeface="宋体" panose="02010600030101010101" pitchFamily="2" charset="-122"/>
              </a:rPr>
              <a:t>a</a:t>
            </a:r>
            <a:r>
              <a:rPr lang="en-US" altLang="zh-CN" sz="2800" b="1" baseline="-25000" dirty="0">
                <a:latin typeface="宋体" panose="02010600030101010101" pitchFamily="2" charset="-122"/>
              </a:rPr>
              <a:t>n+1</a:t>
            </a:r>
            <a:r>
              <a:rPr lang="en-US" altLang="zh-CN" sz="2800" b="1" dirty="0">
                <a:latin typeface="宋体" panose="02010600030101010101" pitchFamily="2" charset="-122"/>
              </a:rPr>
              <a:t>=ra</a:t>
            </a:r>
            <a:r>
              <a:rPr lang="en-US" altLang="zh-CN" sz="2800" b="1" baseline="-25000" dirty="0">
                <a:latin typeface="宋体" panose="02010600030101010101" pitchFamily="2" charset="-122"/>
              </a:rPr>
              <a:t>n</a:t>
            </a:r>
            <a:r>
              <a:rPr lang="zh-CN" altLang="en-US" sz="2800" b="1" dirty="0">
                <a:latin typeface="宋体" panose="02010600030101010101" pitchFamily="2" charset="-122"/>
              </a:rPr>
              <a:t>（</a:t>
            </a:r>
            <a:r>
              <a:rPr lang="en-US" altLang="zh-CN" sz="2800" b="1" dirty="0">
                <a:latin typeface="宋体" panose="02010600030101010101" pitchFamily="2" charset="-122"/>
              </a:rPr>
              <a:t>r</a:t>
            </a:r>
            <a:r>
              <a:rPr lang="zh-CN" altLang="en-US" sz="2800" b="1" dirty="0">
                <a:latin typeface="宋体" panose="02010600030101010101" pitchFamily="2" charset="-122"/>
              </a:rPr>
              <a:t>为常数）时的长期行为</a:t>
            </a:r>
            <a:endParaRPr lang="en-US" altLang="zh-CN" sz="2800" b="1" dirty="0">
              <a:latin typeface="宋体" panose="02010600030101010101" pitchFamily="2" charset="-122"/>
            </a:endParaRPr>
          </a:p>
        </p:txBody>
      </p:sp>
      <p:sp>
        <p:nvSpPr>
          <p:cNvPr id="8" name="矩形 7"/>
          <p:cNvSpPr>
            <a:spLocks noChangeArrowheads="1"/>
          </p:cNvSpPr>
          <p:nvPr/>
        </p:nvSpPr>
        <p:spPr bwMode="auto">
          <a:xfrm>
            <a:off x="1763688" y="2684432"/>
            <a:ext cx="11496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b="1" dirty="0">
                <a:ea typeface="宋体" panose="02010600030101010101" pitchFamily="2" charset="-122"/>
              </a:rPr>
              <a:t>0 &lt; </a:t>
            </a:r>
            <a:r>
              <a:rPr lang="en-US" altLang="zh-CN" sz="2000" b="1" i="1" dirty="0">
                <a:ea typeface="宋体" panose="02010600030101010101" pitchFamily="2" charset="-122"/>
              </a:rPr>
              <a:t>r </a:t>
            </a:r>
            <a:r>
              <a:rPr lang="en-US" altLang="zh-CN" sz="2000" b="1" dirty="0">
                <a:ea typeface="宋体" panose="02010600030101010101" pitchFamily="2" charset="-122"/>
              </a:rPr>
              <a:t>&lt; 1</a:t>
            </a:r>
            <a:endParaRPr lang="zh-CN" altLang="en-US" sz="2000" dirty="0">
              <a:ea typeface="宋体" panose="02010600030101010101" pitchFamily="2" charset="-122"/>
            </a:endParaRPr>
          </a:p>
        </p:txBody>
      </p:sp>
      <p:pic>
        <p:nvPicPr>
          <p:cNvPr id="1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838" y="1692275"/>
            <a:ext cx="4895850" cy="2384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67138" y="4221163"/>
            <a:ext cx="4908550" cy="2554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矩形 9"/>
          <p:cNvSpPr>
            <a:spLocks noChangeArrowheads="1"/>
          </p:cNvSpPr>
          <p:nvPr/>
        </p:nvSpPr>
        <p:spPr bwMode="auto">
          <a:xfrm>
            <a:off x="1763688" y="4933470"/>
            <a:ext cx="12346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b="1" dirty="0">
                <a:ea typeface="宋体" panose="02010600030101010101" pitchFamily="2" charset="-122"/>
              </a:rPr>
              <a:t>-1 &lt; </a:t>
            </a:r>
            <a:r>
              <a:rPr lang="en-US" altLang="zh-CN" sz="2000" b="1" i="1" dirty="0">
                <a:ea typeface="宋体" panose="02010600030101010101" pitchFamily="2" charset="-122"/>
              </a:rPr>
              <a:t>r</a:t>
            </a:r>
            <a:r>
              <a:rPr lang="en-US" altLang="zh-CN" sz="2000" b="1" dirty="0">
                <a:ea typeface="宋体" panose="02010600030101010101" pitchFamily="2" charset="-122"/>
              </a:rPr>
              <a:t> &lt; 0</a:t>
            </a:r>
            <a:endParaRPr lang="zh-CN" altLang="en-US" sz="2000" dirty="0">
              <a:ea typeface="宋体" panose="02010600030101010101" pitchFamily="2" charset="-122"/>
            </a:endParaRPr>
          </a:p>
        </p:txBody>
      </p:sp>
      <p:sp>
        <p:nvSpPr>
          <p:cNvPr id="16" name="矩形 10"/>
          <p:cNvSpPr>
            <a:spLocks noChangeArrowheads="1"/>
          </p:cNvSpPr>
          <p:nvPr/>
        </p:nvSpPr>
        <p:spPr bwMode="auto">
          <a:xfrm>
            <a:off x="1763688" y="5333580"/>
            <a:ext cx="165630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b="1" dirty="0">
                <a:solidFill>
                  <a:srgbClr val="0000FF"/>
                </a:solidFill>
                <a:ea typeface="宋体" panose="02010600030101010101" pitchFamily="2" charset="-122"/>
              </a:rPr>
              <a:t>0</a:t>
            </a:r>
            <a:r>
              <a:rPr lang="zh-CN" altLang="en-US" sz="2000" b="1" dirty="0">
                <a:solidFill>
                  <a:srgbClr val="0000FF"/>
                </a:solidFill>
                <a:ea typeface="宋体" panose="02010600030101010101" pitchFamily="2" charset="-122"/>
              </a:rPr>
              <a:t>附近振荡</a:t>
            </a:r>
            <a:endParaRPr lang="zh-CN" altLang="en-US" sz="2000" dirty="0">
              <a:solidFill>
                <a:srgbClr val="0000FF"/>
              </a:solidFill>
              <a:ea typeface="宋体" panose="02010600030101010101" pitchFamily="2" charset="-122"/>
            </a:endParaRPr>
          </a:p>
        </p:txBody>
      </p:sp>
      <p:sp>
        <p:nvSpPr>
          <p:cNvPr id="17" name="矩形 10"/>
          <p:cNvSpPr>
            <a:spLocks noChangeArrowheads="1"/>
          </p:cNvSpPr>
          <p:nvPr/>
        </p:nvSpPr>
        <p:spPr bwMode="auto">
          <a:xfrm>
            <a:off x="1763688" y="3219884"/>
            <a:ext cx="1149674"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dirty="0">
                <a:solidFill>
                  <a:srgbClr val="0000FF"/>
                </a:solidFill>
                <a:ea typeface="宋体" panose="02010600030101010101" pitchFamily="2" charset="-122"/>
              </a:rPr>
              <a:t>衰减至</a:t>
            </a:r>
            <a:r>
              <a:rPr lang="en-US" altLang="zh-CN" sz="2000" b="1" dirty="0">
                <a:solidFill>
                  <a:srgbClr val="0000FF"/>
                </a:solidFill>
                <a:ea typeface="宋体" panose="02010600030101010101" pitchFamily="2" charset="-122"/>
              </a:rPr>
              <a:t>0</a:t>
            </a:r>
            <a:endParaRPr lang="zh-CN" altLang="en-US" sz="2000" dirty="0">
              <a:solidFill>
                <a:srgbClr val="0000FF"/>
              </a:solidFill>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线性动力系统</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14" name="Rectangle 3"/>
          <p:cNvSpPr txBox="1">
            <a:spLocks noChangeArrowheads="1"/>
          </p:cNvSpPr>
          <p:nvPr/>
        </p:nvSpPr>
        <p:spPr>
          <a:xfrm>
            <a:off x="199438" y="1050623"/>
            <a:ext cx="8565612" cy="540271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20000"/>
              </a:lnSpc>
              <a:spcBef>
                <a:spcPct val="0"/>
              </a:spcBef>
              <a:buFont typeface="Arial" panose="020B0604020202020204" pitchFamily="34" charset="0"/>
              <a:buNone/>
            </a:pPr>
            <a:r>
              <a:rPr lang="zh-CN" altLang="en-US" sz="2400" b="1" dirty="0">
                <a:solidFill>
                  <a:srgbClr val="FF0000"/>
                </a:solidFill>
                <a:latin typeface="宋体" panose="02010600030101010101" pitchFamily="2" charset="-122"/>
              </a:rPr>
              <a:t>线性动力系统</a:t>
            </a:r>
            <a:r>
              <a:rPr lang="zh-CN" altLang="en-US" sz="2400" b="1" dirty="0">
                <a:latin typeface="宋体" panose="02010600030101010101" pitchFamily="2" charset="-122"/>
              </a:rPr>
              <a:t>：</a:t>
            </a:r>
            <a:r>
              <a:rPr lang="en-US" altLang="zh-CN" sz="2400" b="1" dirty="0">
                <a:latin typeface="宋体" panose="02010600030101010101" pitchFamily="2" charset="-122"/>
              </a:rPr>
              <a:t>a</a:t>
            </a:r>
            <a:r>
              <a:rPr lang="en-US" altLang="zh-CN" sz="2400" b="1" baseline="-25000" dirty="0">
                <a:latin typeface="宋体" panose="02010600030101010101" pitchFamily="2" charset="-122"/>
              </a:rPr>
              <a:t>n+1</a:t>
            </a:r>
            <a:r>
              <a:rPr lang="en-US" altLang="zh-CN" sz="2400" b="1" dirty="0">
                <a:latin typeface="宋体" panose="02010600030101010101" pitchFamily="2" charset="-122"/>
              </a:rPr>
              <a:t>=</a:t>
            </a:r>
            <a:r>
              <a:rPr lang="en-US" altLang="zh-CN" sz="2400" b="1" dirty="0" err="1">
                <a:latin typeface="宋体" panose="02010600030101010101" pitchFamily="2" charset="-122"/>
              </a:rPr>
              <a:t>ra</a:t>
            </a:r>
            <a:r>
              <a:rPr lang="en-US" altLang="zh-CN" sz="2400" b="1" baseline="-25000" dirty="0" err="1">
                <a:latin typeface="宋体" panose="02010600030101010101" pitchFamily="2" charset="-122"/>
              </a:rPr>
              <a:t>n</a:t>
            </a:r>
            <a:r>
              <a:rPr lang="en-US" altLang="zh-CN" sz="2400" b="1" dirty="0" err="1">
                <a:latin typeface="宋体" panose="02010600030101010101" pitchFamily="2" charset="-122"/>
              </a:rPr>
              <a:t>+b</a:t>
            </a:r>
            <a:r>
              <a:rPr lang="zh-CN" altLang="en-US" sz="2400" b="1" dirty="0">
                <a:latin typeface="宋体" panose="02010600030101010101" pitchFamily="2" charset="-122"/>
              </a:rPr>
              <a:t>，其中</a:t>
            </a:r>
            <a:r>
              <a:rPr lang="en-US" altLang="zh-CN" sz="2400" b="1" dirty="0">
                <a:latin typeface="宋体" panose="02010600030101010101" pitchFamily="2" charset="-122"/>
              </a:rPr>
              <a:t>r</a:t>
            </a:r>
            <a:r>
              <a:rPr lang="zh-CN" altLang="en-US" sz="2400" b="1" dirty="0">
                <a:latin typeface="宋体" panose="02010600030101010101" pitchFamily="2" charset="-122"/>
              </a:rPr>
              <a:t>和</a:t>
            </a:r>
            <a:r>
              <a:rPr lang="en-US" altLang="zh-CN" sz="2400" b="1" dirty="0">
                <a:latin typeface="宋体" panose="02010600030101010101" pitchFamily="2" charset="-122"/>
              </a:rPr>
              <a:t>b</a:t>
            </a:r>
            <a:r>
              <a:rPr lang="zh-CN" altLang="en-US" sz="2400" b="1" dirty="0">
                <a:latin typeface="宋体" panose="02010600030101010101" pitchFamily="2" charset="-122"/>
              </a:rPr>
              <a:t>均为常数</a:t>
            </a:r>
            <a:endParaRPr lang="en-US" altLang="zh-CN" sz="2400" b="1" dirty="0">
              <a:latin typeface="宋体" panose="02010600030101010101" pitchFamily="2" charset="-122"/>
            </a:endParaRPr>
          </a:p>
          <a:p>
            <a:pPr marL="0" indent="0" algn="just">
              <a:lnSpc>
                <a:spcPct val="120000"/>
              </a:lnSpc>
              <a:spcBef>
                <a:spcPct val="0"/>
              </a:spcBef>
              <a:buFont typeface="Arial" panose="020B0604020202020204" pitchFamily="34" charset="0"/>
              <a:buNone/>
            </a:pPr>
            <a:endParaRPr lang="en-US" altLang="zh-CN" sz="2800" b="1" dirty="0">
              <a:latin typeface="宋体" panose="02010600030101010101" pitchFamily="2" charset="-122"/>
            </a:endParaRPr>
          </a:p>
          <a:p>
            <a:pPr marL="0" indent="0" algn="just">
              <a:lnSpc>
                <a:spcPct val="120000"/>
              </a:lnSpc>
              <a:spcBef>
                <a:spcPct val="0"/>
              </a:spcBef>
              <a:buFont typeface="Arial" panose="020B0604020202020204" pitchFamily="34" charset="0"/>
              <a:buNone/>
            </a:pPr>
            <a:r>
              <a:rPr lang="zh-CN" altLang="en-US" sz="2400" b="1" dirty="0">
                <a:solidFill>
                  <a:srgbClr val="FF0000"/>
                </a:solidFill>
                <a:latin typeface="宋体" panose="02010600030101010101" pitchFamily="2" charset="-122"/>
              </a:rPr>
              <a:t>定义</a:t>
            </a:r>
            <a:r>
              <a:rPr lang="zh-CN" altLang="en-US" sz="2400" b="1" dirty="0">
                <a:latin typeface="宋体" panose="02010600030101010101" pitchFamily="2" charset="-122"/>
              </a:rPr>
              <a:t> 当</a:t>
            </a:r>
            <a:r>
              <a:rPr lang="en-US" altLang="zh-CN" sz="2400" b="1" dirty="0">
                <a:latin typeface="宋体" panose="02010600030101010101" pitchFamily="2" charset="-122"/>
              </a:rPr>
              <a:t>a</a:t>
            </a:r>
            <a:r>
              <a:rPr lang="en-US" altLang="zh-CN" sz="2400" b="1" baseline="-25000" dirty="0">
                <a:latin typeface="宋体" panose="02010600030101010101" pitchFamily="2" charset="-122"/>
              </a:rPr>
              <a:t>0</a:t>
            </a:r>
            <a:r>
              <a:rPr lang="en-US" altLang="zh-CN" sz="2400" b="1" dirty="0">
                <a:latin typeface="宋体" panose="02010600030101010101" pitchFamily="2" charset="-122"/>
              </a:rPr>
              <a:t>=a</a:t>
            </a:r>
            <a:r>
              <a:rPr lang="zh-CN" altLang="en-US" sz="2400" b="1" dirty="0">
                <a:latin typeface="宋体" panose="02010600030101010101" pitchFamily="2" charset="-122"/>
              </a:rPr>
              <a:t>时，如果对所有的</a:t>
            </a:r>
            <a:r>
              <a:rPr lang="en-US" altLang="zh-CN" sz="2400" b="1" dirty="0">
                <a:latin typeface="宋体" panose="02010600030101010101" pitchFamily="2" charset="-122"/>
              </a:rPr>
              <a:t>k=1,</a:t>
            </a:r>
            <a:r>
              <a:rPr lang="zh-CN" altLang="en-US" sz="2400" b="1" dirty="0">
                <a:latin typeface="宋体" panose="02010600030101010101" pitchFamily="2" charset="-122"/>
              </a:rPr>
              <a:t> </a:t>
            </a:r>
            <a:r>
              <a:rPr lang="en-US" altLang="zh-CN" sz="2400" b="1" dirty="0">
                <a:latin typeface="宋体" panose="02010600030101010101" pitchFamily="2" charset="-122"/>
              </a:rPr>
              <a:t>2,</a:t>
            </a:r>
            <a:r>
              <a:rPr lang="zh-CN" altLang="en-US" sz="2400" b="1" dirty="0">
                <a:latin typeface="宋体" panose="02010600030101010101" pitchFamily="2" charset="-122"/>
              </a:rPr>
              <a:t> </a:t>
            </a:r>
            <a:r>
              <a:rPr lang="en-US" altLang="zh-CN" sz="2400" b="1" dirty="0">
                <a:latin typeface="宋体" panose="02010600030101010101" pitchFamily="2" charset="-122"/>
              </a:rPr>
              <a:t>…</a:t>
            </a:r>
            <a:r>
              <a:rPr lang="zh-CN" altLang="en-US" sz="2400" b="1" dirty="0">
                <a:latin typeface="宋体" panose="02010600030101010101" pitchFamily="2" charset="-122"/>
              </a:rPr>
              <a:t>，均有</a:t>
            </a:r>
            <a:r>
              <a:rPr lang="en-US" altLang="zh-CN" sz="2400" b="1" dirty="0" err="1">
                <a:latin typeface="宋体" panose="02010600030101010101" pitchFamily="2" charset="-122"/>
              </a:rPr>
              <a:t>a</a:t>
            </a:r>
            <a:r>
              <a:rPr lang="en-US" altLang="zh-CN" sz="2400" b="1" baseline="-25000" dirty="0" err="1">
                <a:latin typeface="宋体" panose="02010600030101010101" pitchFamily="2" charset="-122"/>
              </a:rPr>
              <a:t>k</a:t>
            </a:r>
            <a:r>
              <a:rPr lang="en-US" altLang="zh-CN" sz="2400" b="1" dirty="0">
                <a:latin typeface="宋体" panose="02010600030101010101" pitchFamily="2" charset="-122"/>
              </a:rPr>
              <a:t>=a</a:t>
            </a:r>
            <a:r>
              <a:rPr lang="zh-CN" altLang="en-US" sz="2400" b="1" dirty="0">
                <a:latin typeface="宋体" panose="02010600030101010101" pitchFamily="2" charset="-122"/>
              </a:rPr>
              <a:t>，则将数</a:t>
            </a:r>
            <a:r>
              <a:rPr lang="en-US" altLang="zh-CN" sz="2400" b="1" dirty="0">
                <a:latin typeface="宋体" panose="02010600030101010101" pitchFamily="2" charset="-122"/>
              </a:rPr>
              <a:t>a</a:t>
            </a:r>
            <a:r>
              <a:rPr lang="zh-CN" altLang="en-US" sz="2400" b="1" dirty="0">
                <a:latin typeface="宋体" panose="02010600030101010101" pitchFamily="2" charset="-122"/>
              </a:rPr>
              <a:t>称为动力系统</a:t>
            </a:r>
            <a:r>
              <a:rPr lang="en-US" altLang="zh-CN" sz="2400" b="1" dirty="0">
                <a:latin typeface="宋体" panose="02010600030101010101" pitchFamily="2" charset="-122"/>
              </a:rPr>
              <a:t>a</a:t>
            </a:r>
            <a:r>
              <a:rPr lang="en-US" altLang="zh-CN" sz="2400" b="1" baseline="-25000" dirty="0">
                <a:latin typeface="宋体" panose="02010600030101010101" pitchFamily="2" charset="-122"/>
              </a:rPr>
              <a:t>n+1</a:t>
            </a:r>
            <a:r>
              <a:rPr lang="en-US" altLang="zh-CN" sz="2400" b="1" dirty="0">
                <a:latin typeface="宋体" panose="02010600030101010101" pitchFamily="2" charset="-122"/>
              </a:rPr>
              <a:t>=f(a</a:t>
            </a:r>
            <a:r>
              <a:rPr lang="en-US" altLang="zh-CN" sz="2400" b="1" baseline="-25000" dirty="0">
                <a:latin typeface="宋体" panose="02010600030101010101" pitchFamily="2" charset="-122"/>
              </a:rPr>
              <a:t>n</a:t>
            </a:r>
            <a:r>
              <a:rPr lang="en-US" altLang="zh-CN" sz="2400" b="1" dirty="0">
                <a:latin typeface="宋体" panose="02010600030101010101" pitchFamily="2" charset="-122"/>
              </a:rPr>
              <a:t>)</a:t>
            </a:r>
            <a:r>
              <a:rPr lang="zh-CN" altLang="en-US" sz="2400" b="1" dirty="0">
                <a:latin typeface="宋体" panose="02010600030101010101" pitchFamily="2" charset="-122"/>
              </a:rPr>
              <a:t>的</a:t>
            </a:r>
            <a:r>
              <a:rPr lang="zh-CN" altLang="en-US" sz="2400" b="1" dirty="0">
                <a:solidFill>
                  <a:srgbClr val="0000FF"/>
                </a:solidFill>
                <a:latin typeface="Arial" panose="020B0604020202020204" pitchFamily="34" charset="0"/>
                <a:ea typeface="宋体" panose="02010600030101010101" pitchFamily="2" charset="-122"/>
              </a:rPr>
              <a:t>平衡点</a:t>
            </a:r>
            <a:r>
              <a:rPr lang="zh-CN" altLang="en-US" sz="2400" b="1" dirty="0">
                <a:latin typeface="宋体" panose="02010600030101010101" pitchFamily="2" charset="-122"/>
              </a:rPr>
              <a:t>或</a:t>
            </a:r>
            <a:r>
              <a:rPr lang="zh-CN" altLang="en-US" sz="2400" b="1" dirty="0">
                <a:solidFill>
                  <a:srgbClr val="0000FF"/>
                </a:solidFill>
                <a:latin typeface="Arial" panose="020B0604020202020204" pitchFamily="34" charset="0"/>
                <a:ea typeface="宋体" panose="02010600030101010101" pitchFamily="2" charset="-122"/>
              </a:rPr>
              <a:t>不动点</a:t>
            </a:r>
            <a:r>
              <a:rPr lang="zh-CN" altLang="en-US" sz="2400" b="1" dirty="0">
                <a:latin typeface="宋体" panose="02010600030101010101" pitchFamily="2" charset="-122"/>
              </a:rPr>
              <a:t>，即</a:t>
            </a:r>
            <a:r>
              <a:rPr lang="en-US" altLang="zh-CN" sz="2400" b="1" dirty="0" err="1">
                <a:latin typeface="宋体" panose="02010600030101010101" pitchFamily="2" charset="-122"/>
              </a:rPr>
              <a:t>a</a:t>
            </a:r>
            <a:r>
              <a:rPr lang="en-US" altLang="zh-CN" sz="2400" b="1" baseline="-25000" dirty="0" err="1">
                <a:latin typeface="宋体" panose="02010600030101010101" pitchFamily="2" charset="-122"/>
              </a:rPr>
              <a:t>k</a:t>
            </a:r>
            <a:r>
              <a:rPr lang="en-US" altLang="zh-CN" sz="2400" b="1" dirty="0">
                <a:latin typeface="宋体" panose="02010600030101010101" pitchFamily="2" charset="-122"/>
              </a:rPr>
              <a:t>=a</a:t>
            </a:r>
            <a:r>
              <a:rPr lang="zh-CN" altLang="en-US" sz="2400" b="1" dirty="0">
                <a:latin typeface="宋体" panose="02010600030101010101" pitchFamily="2" charset="-122"/>
              </a:rPr>
              <a:t>是该动力系统的常数解。</a:t>
            </a:r>
            <a:endParaRPr lang="en-US" altLang="zh-CN" sz="2400" b="1" dirty="0">
              <a:latin typeface="宋体" panose="02010600030101010101" pitchFamily="2" charset="-122"/>
            </a:endParaRPr>
          </a:p>
          <a:p>
            <a:pPr marL="0" indent="0" algn="just">
              <a:lnSpc>
                <a:spcPct val="120000"/>
              </a:lnSpc>
              <a:spcBef>
                <a:spcPct val="0"/>
              </a:spcBef>
              <a:buFont typeface="Arial" panose="020B0604020202020204" pitchFamily="34" charset="0"/>
              <a:buNone/>
            </a:pPr>
            <a:endParaRPr lang="en-US" altLang="zh-CN" sz="2800" b="1" dirty="0">
              <a:latin typeface="宋体" panose="02010600030101010101" pitchFamily="2" charset="-122"/>
            </a:endParaRPr>
          </a:p>
          <a:p>
            <a:pPr marL="0" indent="0" algn="just">
              <a:lnSpc>
                <a:spcPct val="120000"/>
              </a:lnSpc>
              <a:spcBef>
                <a:spcPct val="0"/>
              </a:spcBef>
              <a:buFont typeface="Arial" panose="020B0604020202020204" pitchFamily="34" charset="0"/>
              <a:buNone/>
            </a:pPr>
            <a:endParaRPr lang="en-US" altLang="zh-CN" sz="2800" b="1" dirty="0">
              <a:latin typeface="宋体" panose="02010600030101010101" pitchFamily="2" charset="-122"/>
            </a:endParaRPr>
          </a:p>
          <a:p>
            <a:pPr marL="0" indent="0" algn="just">
              <a:lnSpc>
                <a:spcPct val="120000"/>
              </a:lnSpc>
              <a:spcBef>
                <a:spcPct val="0"/>
              </a:spcBef>
              <a:buNone/>
            </a:pPr>
            <a:r>
              <a:rPr lang="zh-CN" altLang="en-US" sz="2400" b="1" dirty="0">
                <a:latin typeface="宋体" panose="02010600030101010101" pitchFamily="2" charset="-122"/>
              </a:rPr>
              <a:t>在了解诸如</a:t>
            </a:r>
            <a:r>
              <a:rPr lang="en-US" altLang="zh-CN" sz="2400" b="1" dirty="0">
                <a:latin typeface="宋体" panose="02010600030101010101" pitchFamily="2" charset="-122"/>
              </a:rPr>
              <a:t>a</a:t>
            </a:r>
            <a:r>
              <a:rPr lang="en-US" altLang="zh-CN" sz="2400" b="1" baseline="-25000" dirty="0">
                <a:latin typeface="宋体" panose="02010600030101010101" pitchFamily="2" charset="-122"/>
              </a:rPr>
              <a:t>n+1</a:t>
            </a:r>
            <a:r>
              <a:rPr lang="en-US" altLang="zh-CN" sz="2400" b="1" dirty="0">
                <a:latin typeface="宋体" panose="02010600030101010101" pitchFamily="2" charset="-122"/>
              </a:rPr>
              <a:t>=</a:t>
            </a:r>
            <a:r>
              <a:rPr lang="en-US" altLang="zh-CN" sz="2400" b="1" dirty="0" err="1">
                <a:latin typeface="宋体" panose="02010600030101010101" pitchFamily="2" charset="-122"/>
              </a:rPr>
              <a:t>ra</a:t>
            </a:r>
            <a:r>
              <a:rPr lang="en-US" altLang="zh-CN" sz="2400" b="1" baseline="-25000" dirty="0" err="1">
                <a:latin typeface="宋体" panose="02010600030101010101" pitchFamily="2" charset="-122"/>
              </a:rPr>
              <a:t>n</a:t>
            </a:r>
            <a:r>
              <a:rPr lang="en-US" altLang="zh-CN" sz="2400" b="1" dirty="0" err="1">
                <a:latin typeface="宋体" panose="02010600030101010101" pitchFamily="2" charset="-122"/>
              </a:rPr>
              <a:t>+b</a:t>
            </a:r>
            <a:r>
              <a:rPr lang="zh-CN" altLang="en-US" sz="2400" b="1" dirty="0">
                <a:latin typeface="宋体" panose="02010600030101010101" pitchFamily="2" charset="-122"/>
              </a:rPr>
              <a:t>动力系统的长期行为时，上述平衡点是有作用的。</a:t>
            </a:r>
            <a:endParaRPr lang="en-US" altLang="zh-CN" sz="2400" b="1" dirty="0">
              <a:latin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线性动力系统</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9" name="矩形 1"/>
          <p:cNvSpPr>
            <a:spLocks noChangeArrowheads="1"/>
          </p:cNvSpPr>
          <p:nvPr/>
        </p:nvSpPr>
        <p:spPr bwMode="auto">
          <a:xfrm>
            <a:off x="179387" y="1223103"/>
            <a:ext cx="8785225" cy="2716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spcBef>
                <a:spcPct val="30000"/>
              </a:spcBef>
              <a:buClr>
                <a:schemeClr val="hlink"/>
              </a:buClr>
              <a:defRPr/>
            </a:pPr>
            <a:r>
              <a:rPr lang="zh-CN" altLang="en-US" sz="2400" b="1" dirty="0">
                <a:latin typeface="Arial" panose="020B0604020202020204" pitchFamily="34" charset="0"/>
                <a:ea typeface="宋体" panose="02010600030101010101" pitchFamily="2" charset="-122"/>
              </a:rPr>
              <a:t>例</a:t>
            </a:r>
            <a:r>
              <a:rPr lang="en-US" altLang="zh-CN" sz="2400" b="1" dirty="0">
                <a:latin typeface="Arial" panose="020B0604020202020204" pitchFamily="34" charset="0"/>
                <a:ea typeface="宋体" panose="02010600030101010101" pitchFamily="2" charset="-122"/>
              </a:rPr>
              <a:t> 3 (</a:t>
            </a:r>
            <a:r>
              <a:rPr lang="zh-CN" altLang="en-US" sz="2400" b="1" dirty="0">
                <a:latin typeface="Arial" panose="020B0604020202020204" pitchFamily="34" charset="0"/>
              </a:rPr>
              <a:t>地高辛处方</a:t>
            </a:r>
            <a:r>
              <a:rPr lang="en-US" altLang="zh-CN" sz="2400" b="1" dirty="0">
                <a:latin typeface="Arial" panose="020B0604020202020204" pitchFamily="34" charset="0"/>
              </a:rPr>
              <a:t>)</a:t>
            </a:r>
            <a:r>
              <a:rPr lang="en-US" altLang="zh-CN" sz="2400" b="1" dirty="0">
                <a:latin typeface="Arial" panose="020B0604020202020204" pitchFamily="34" charset="0"/>
                <a:ea typeface="宋体" panose="02010600030101010101" pitchFamily="2" charset="-122"/>
              </a:rPr>
              <a:t> </a:t>
            </a:r>
          </a:p>
          <a:p>
            <a:pPr marL="342900" indent="-342900">
              <a:lnSpc>
                <a:spcPct val="110000"/>
              </a:lnSpc>
              <a:spcBef>
                <a:spcPct val="30000"/>
              </a:spcBef>
              <a:buClr>
                <a:schemeClr val="hlink"/>
              </a:buClr>
              <a:buFont typeface="Wingdings" panose="05000000000000000000" pitchFamily="2" charset="2"/>
              <a:buChar char="v"/>
              <a:defRPr/>
            </a:pPr>
            <a:r>
              <a:rPr lang="zh-CN" altLang="en-US" sz="2400" b="1" dirty="0">
                <a:latin typeface="Arial" panose="020B0604020202020204" pitchFamily="34" charset="0"/>
                <a:ea typeface="宋体" panose="02010600030101010101" pitchFamily="2" charset="-122"/>
              </a:rPr>
              <a:t>地高辛用于治疗心脏病患者，存在问题：如何考虑地高辛在血液中的衰减问题以开出能使地高辛浓度保持在可接受水平上的剂量处方？</a:t>
            </a:r>
            <a:endParaRPr lang="en-US" altLang="zh-CN" sz="2400" b="1" dirty="0">
              <a:latin typeface="Arial" panose="020B0604020202020204" pitchFamily="34" charset="0"/>
              <a:ea typeface="宋体" panose="02010600030101010101" pitchFamily="2" charset="-122"/>
            </a:endParaRPr>
          </a:p>
          <a:p>
            <a:pPr marL="342900" indent="-342900">
              <a:lnSpc>
                <a:spcPct val="110000"/>
              </a:lnSpc>
              <a:spcBef>
                <a:spcPct val="30000"/>
              </a:spcBef>
              <a:buClr>
                <a:schemeClr val="hlink"/>
              </a:buClr>
              <a:buFont typeface="Wingdings" panose="05000000000000000000" pitchFamily="2" charset="2"/>
              <a:buChar char="v"/>
              <a:defRPr/>
            </a:pPr>
            <a:r>
              <a:rPr lang="zh-CN" altLang="en-US" sz="2400" b="1" dirty="0">
                <a:latin typeface="Arial" panose="020B0604020202020204" pitchFamily="34" charset="0"/>
                <a:ea typeface="宋体" panose="02010600030101010101" pitchFamily="2" charset="-122"/>
              </a:rPr>
              <a:t>假定开了每日</a:t>
            </a:r>
            <a:r>
              <a:rPr lang="en-US" altLang="zh-CN" sz="2400" b="1" dirty="0">
                <a:latin typeface="Arial" panose="020B0604020202020204" pitchFamily="34" charset="0"/>
                <a:ea typeface="宋体" panose="02010600030101010101" pitchFamily="2" charset="-122"/>
              </a:rPr>
              <a:t>0.1</a:t>
            </a:r>
            <a:r>
              <a:rPr lang="zh-CN" altLang="en-US" sz="2400" b="1" dirty="0">
                <a:latin typeface="Arial" panose="020B0604020202020204" pitchFamily="34" charset="0"/>
                <a:ea typeface="宋体" panose="02010600030101010101" pitchFamily="2" charset="-122"/>
              </a:rPr>
              <a:t>毫克的地高辛剂量处方，且知道在每个剂量周期末还剩留一半地高辛。则可以得出：</a:t>
            </a:r>
            <a:endParaRPr lang="en-US" altLang="zh-CN" sz="2400" b="1" dirty="0">
              <a:latin typeface="Arial" panose="020B0604020202020204" pitchFamily="34" charset="0"/>
              <a:ea typeface="宋体" panose="02010600030101010101" pitchFamily="2" charset="-122"/>
            </a:endParaRPr>
          </a:p>
        </p:txBody>
      </p:sp>
      <p:pic>
        <p:nvPicPr>
          <p:cNvPr id="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1840" y="4088475"/>
            <a:ext cx="3312368" cy="475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线性动力系统</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pic>
        <p:nvPicPr>
          <p:cNvPr id="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800" y="1109940"/>
            <a:ext cx="3096344" cy="4444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矩形 1"/>
          <p:cNvSpPr>
            <a:spLocks noChangeArrowheads="1"/>
          </p:cNvSpPr>
          <p:nvPr/>
        </p:nvSpPr>
        <p:spPr bwMode="auto">
          <a:xfrm>
            <a:off x="251520" y="1663191"/>
            <a:ext cx="7705725" cy="463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ct val="30000"/>
              </a:spcBef>
              <a:buClr>
                <a:schemeClr val="hlink"/>
              </a:buClr>
              <a:buFont typeface="Wingdings" panose="05000000000000000000" pitchFamily="2" charset="2"/>
              <a:buChar char="v"/>
            </a:pPr>
            <a:r>
              <a:rPr lang="zh-CN" altLang="en-US" sz="2400" b="1" dirty="0">
                <a:ea typeface="宋体" panose="02010600030101010101" pitchFamily="2" charset="-122"/>
              </a:rPr>
              <a:t>考虑三个不同的初始值或初始剂量</a:t>
            </a:r>
          </a:p>
        </p:txBody>
      </p:sp>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0112" y="1697116"/>
            <a:ext cx="1368152" cy="11350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576" y="2866101"/>
            <a:ext cx="7056437" cy="3568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7236296" y="4149080"/>
            <a:ext cx="881973" cy="369332"/>
          </a:xfrm>
          <a:prstGeom prst="rect">
            <a:avLst/>
          </a:prstGeom>
        </p:spPr>
        <p:txBody>
          <a:bodyPr wrap="none">
            <a:spAutoFit/>
          </a:bodyPr>
          <a:lstStyle/>
          <a:p>
            <a:r>
              <a:rPr lang="zh-CN" altLang="en-US" b="1" dirty="0">
                <a:solidFill>
                  <a:srgbClr val="0000FF"/>
                </a:solidFill>
                <a:latin typeface="Arial" panose="020B0604020202020204" pitchFamily="34" charset="0"/>
              </a:rPr>
              <a:t>平衡点</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effectLst/>
                <a:latin typeface="楷体_GB2312" pitchFamily="49" charset="-122"/>
                <a:ea typeface="楷体_GB2312" pitchFamily="49" charset="-122"/>
              </a:rPr>
              <a:t>线性动力系统</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pic>
        <p:nvPicPr>
          <p:cNvPr id="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1341955"/>
            <a:ext cx="2664296" cy="4627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4048" y="1050623"/>
            <a:ext cx="1871910" cy="11036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071" y="2151580"/>
            <a:ext cx="7495472" cy="38944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矩形 14"/>
          <p:cNvSpPr/>
          <p:nvPr/>
        </p:nvSpPr>
        <p:spPr>
          <a:xfrm>
            <a:off x="7740352" y="3573016"/>
            <a:ext cx="881973" cy="369332"/>
          </a:xfrm>
          <a:prstGeom prst="rect">
            <a:avLst/>
          </a:prstGeom>
        </p:spPr>
        <p:txBody>
          <a:bodyPr wrap="none">
            <a:spAutoFit/>
          </a:bodyPr>
          <a:lstStyle/>
          <a:p>
            <a:r>
              <a:rPr lang="zh-CN" altLang="en-US" b="1" dirty="0">
                <a:solidFill>
                  <a:srgbClr val="0000FF"/>
                </a:solidFill>
                <a:latin typeface="Arial" panose="020B0604020202020204" pitchFamily="34" charset="0"/>
              </a:rPr>
              <a:t>平衡点</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latin typeface="Times New Roman" panose="02020603050405020304" pitchFamily="18" charset="0"/>
                <a:ea typeface="楷体_GB2312" pitchFamily="49" charset="-122"/>
              </a:rPr>
              <a:t>线性动力系统</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mc:AlternateContent xmlns:mc="http://schemas.openxmlformats.org/markup-compatibility/2006" xmlns:a14="http://schemas.microsoft.com/office/drawing/2010/main">
        <mc:Choice Requires="a14">
          <p:sp>
            <p:nvSpPr>
              <p:cNvPr id="9" name="矩形 1"/>
              <p:cNvSpPr>
                <a:spLocks noChangeArrowheads="1"/>
              </p:cNvSpPr>
              <p:nvPr/>
            </p:nvSpPr>
            <p:spPr bwMode="auto">
              <a:xfrm>
                <a:off x="182594" y="1074243"/>
                <a:ext cx="8785225" cy="382136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pPr>
                  <a:lnSpc>
                    <a:spcPct val="110000"/>
                  </a:lnSpc>
                  <a:spcBef>
                    <a:spcPct val="30000"/>
                  </a:spcBef>
                  <a:buClr>
                    <a:schemeClr val="hlink"/>
                  </a:buClr>
                  <a:defRPr/>
                </a:pPr>
                <a:r>
                  <a:rPr lang="zh-CN" altLang="en-US" sz="2400" b="1" dirty="0">
                    <a:latin typeface="Arial" panose="020B0604020202020204" pitchFamily="34" charset="0"/>
                    <a:ea typeface="宋体" panose="02010600030101010101" pitchFamily="2" charset="-122"/>
                  </a:rPr>
                  <a:t>对于动力系统</a:t>
                </a:r>
                <a:endParaRPr lang="en-US" altLang="zh-CN" sz="2400" b="1" dirty="0">
                  <a:latin typeface="Arial" panose="020B0604020202020204" pitchFamily="34" charset="0"/>
                  <a:ea typeface="宋体" panose="02010600030101010101" pitchFamily="2" charset="-122"/>
                </a:endParaRPr>
              </a:p>
              <a:p>
                <a:pPr algn="ctr">
                  <a:lnSpc>
                    <a:spcPct val="110000"/>
                  </a:lnSpc>
                  <a:spcBef>
                    <a:spcPct val="30000"/>
                  </a:spcBef>
                  <a:buClr>
                    <a:schemeClr val="hlink"/>
                  </a:buClr>
                  <a:defRPr/>
                </a:pPr>
                <a:r>
                  <a:rPr lang="en-US" altLang="zh-CN" sz="2400" b="1" dirty="0">
                    <a:latin typeface="Arial" panose="020B0604020202020204" pitchFamily="34" charset="0"/>
                    <a:ea typeface="宋体" panose="02010600030101010101" pitchFamily="2" charset="-122"/>
                  </a:rPr>
                  <a:t>a</a:t>
                </a:r>
                <a:r>
                  <a:rPr lang="en-US" altLang="zh-CN" sz="2400" b="1" baseline="-25000" dirty="0">
                    <a:latin typeface="Arial" panose="020B0604020202020204" pitchFamily="34" charset="0"/>
                    <a:ea typeface="宋体" panose="02010600030101010101" pitchFamily="2" charset="-122"/>
                  </a:rPr>
                  <a:t>n+1</a:t>
                </a:r>
                <a:r>
                  <a:rPr lang="en-US" altLang="zh-CN" sz="2400" b="1" dirty="0">
                    <a:latin typeface="Arial" panose="020B0604020202020204" pitchFamily="34" charset="0"/>
                    <a:ea typeface="宋体" panose="02010600030101010101" pitchFamily="2" charset="-122"/>
                  </a:rPr>
                  <a:t>=</a:t>
                </a:r>
                <a:r>
                  <a:rPr lang="en-US" altLang="zh-CN" sz="2400" b="1" dirty="0" err="1">
                    <a:latin typeface="Arial" panose="020B0604020202020204" pitchFamily="34" charset="0"/>
                    <a:ea typeface="宋体" panose="02010600030101010101" pitchFamily="2" charset="-122"/>
                  </a:rPr>
                  <a:t>ra</a:t>
                </a:r>
                <a:r>
                  <a:rPr lang="en-US" altLang="zh-CN" sz="2400" b="1" baseline="-25000" dirty="0" err="1">
                    <a:latin typeface="Arial" panose="020B0604020202020204" pitchFamily="34" charset="0"/>
                    <a:ea typeface="宋体" panose="02010600030101010101" pitchFamily="2" charset="-122"/>
                  </a:rPr>
                  <a:t>n</a:t>
                </a:r>
                <a:r>
                  <a:rPr lang="en-US" altLang="zh-CN" sz="2400" b="1" dirty="0" err="1">
                    <a:latin typeface="Arial" panose="020B0604020202020204" pitchFamily="34" charset="0"/>
                    <a:ea typeface="宋体" panose="02010600030101010101" pitchFamily="2" charset="-122"/>
                  </a:rPr>
                  <a:t>+b</a:t>
                </a:r>
                <a:r>
                  <a:rPr lang="en-US" altLang="zh-CN" sz="2400" b="1" dirty="0">
                    <a:latin typeface="Arial" panose="020B0604020202020204" pitchFamily="34" charset="0"/>
                    <a:ea typeface="宋体" panose="02010600030101010101" pitchFamily="2" charset="-122"/>
                  </a:rPr>
                  <a:t>,  r</a:t>
                </a:r>
                <a:r>
                  <a:rPr lang="en-US" altLang="zh-CN" sz="2400" b="1" dirty="0">
                    <a:latin typeface="Arial" panose="020B0604020202020204" pitchFamily="34" charset="0"/>
                    <a:ea typeface="宋体" panose="02010600030101010101" pitchFamily="2" charset="-122"/>
                    <a:sym typeface="Symbol" panose="05050102010706020507" pitchFamily="18" charset="2"/>
                  </a:rPr>
                  <a:t>1</a:t>
                </a:r>
              </a:p>
              <a:p>
                <a:pPr>
                  <a:lnSpc>
                    <a:spcPct val="110000"/>
                  </a:lnSpc>
                  <a:spcBef>
                    <a:spcPct val="30000"/>
                  </a:spcBef>
                  <a:buClr>
                    <a:schemeClr val="hlink"/>
                  </a:buClr>
                  <a:defRPr/>
                </a:pPr>
                <a:r>
                  <a:rPr lang="zh-CN" altLang="en-US" sz="2400" b="1" dirty="0">
                    <a:latin typeface="Arial" panose="020B0604020202020204" pitchFamily="34" charset="0"/>
                    <a:ea typeface="宋体" panose="02010600030101010101" pitchFamily="2" charset="-122"/>
                    <a:sym typeface="Symbol" panose="05050102010706020507" pitchFamily="18" charset="2"/>
                  </a:rPr>
                  <a:t>其平衡点为</a:t>
                </a:r>
                <a:endParaRPr lang="en-US" altLang="zh-CN" sz="2400" b="1" dirty="0">
                  <a:latin typeface="Arial" panose="020B0604020202020204" pitchFamily="34" charset="0"/>
                  <a:ea typeface="宋体" panose="02010600030101010101" pitchFamily="2" charset="-122"/>
                  <a:sym typeface="Symbol" panose="05050102010706020507" pitchFamily="18" charset="2"/>
                </a:endParaRPr>
              </a:p>
              <a:p>
                <a:pPr>
                  <a:lnSpc>
                    <a:spcPct val="110000"/>
                  </a:lnSpc>
                  <a:spcBef>
                    <a:spcPct val="30000"/>
                  </a:spcBef>
                  <a:buClr>
                    <a:schemeClr val="hlink"/>
                  </a:buClr>
                  <a:defRPr/>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ea typeface="宋体" panose="02010600030101010101" pitchFamily="2" charset="-122"/>
                        </a:rPr>
                        <m:t>𝒂</m:t>
                      </m:r>
                      <m:r>
                        <a:rPr lang="en-US" altLang="zh-CN" sz="2400" b="1" i="1" smtClean="0">
                          <a:latin typeface="Cambria Math" panose="02040503050406030204" pitchFamily="18" charset="0"/>
                          <a:ea typeface="宋体" panose="02010600030101010101" pitchFamily="2" charset="-122"/>
                        </a:rPr>
                        <m:t>=</m:t>
                      </m:r>
                      <m:f>
                        <m:fPr>
                          <m:ctrlPr>
                            <a:rPr lang="en-US" altLang="zh-CN" sz="2400" b="1" i="1" smtClean="0">
                              <a:latin typeface="Cambria Math" panose="02040503050406030204" pitchFamily="18" charset="0"/>
                              <a:ea typeface="宋体" panose="02010600030101010101" pitchFamily="2" charset="-122"/>
                            </a:rPr>
                          </m:ctrlPr>
                        </m:fPr>
                        <m:num>
                          <m:r>
                            <a:rPr lang="en-US" altLang="zh-CN" sz="2400" b="1" i="1" smtClean="0">
                              <a:latin typeface="Cambria Math" panose="02040503050406030204" pitchFamily="18" charset="0"/>
                              <a:ea typeface="宋体" panose="02010600030101010101" pitchFamily="2" charset="-122"/>
                            </a:rPr>
                            <m:t>𝒃</m:t>
                          </m:r>
                        </m:num>
                        <m:den>
                          <m:r>
                            <a:rPr lang="en-US" altLang="zh-CN" sz="2400" b="1" i="1" smtClean="0">
                              <a:latin typeface="Cambria Math" panose="02040503050406030204" pitchFamily="18" charset="0"/>
                              <a:ea typeface="宋体" panose="02010600030101010101" pitchFamily="2" charset="-122"/>
                            </a:rPr>
                            <m:t>𝟏</m:t>
                          </m:r>
                          <m:r>
                            <a:rPr lang="en-US" altLang="zh-CN" sz="2400" b="1" i="1" smtClean="0">
                              <a:latin typeface="Cambria Math" panose="02040503050406030204" pitchFamily="18" charset="0"/>
                              <a:ea typeface="宋体" panose="02010600030101010101" pitchFamily="2" charset="-122"/>
                            </a:rPr>
                            <m:t>−</m:t>
                          </m:r>
                          <m:r>
                            <a:rPr lang="en-US" altLang="zh-CN" sz="2400" b="1" i="1" smtClean="0">
                              <a:latin typeface="Cambria Math" panose="02040503050406030204" pitchFamily="18" charset="0"/>
                              <a:ea typeface="宋体" panose="02010600030101010101" pitchFamily="2" charset="-122"/>
                            </a:rPr>
                            <m:t>𝒓</m:t>
                          </m:r>
                        </m:den>
                      </m:f>
                    </m:oMath>
                  </m:oMathPara>
                </a14:m>
                <a:endParaRPr lang="en-US" altLang="zh-CN" sz="2400" b="1" dirty="0">
                  <a:latin typeface="Arial" panose="020B0604020202020204" pitchFamily="34" charset="0"/>
                  <a:ea typeface="宋体" panose="02010600030101010101" pitchFamily="2" charset="-122"/>
                </a:endParaRPr>
              </a:p>
              <a:p>
                <a:pPr>
                  <a:lnSpc>
                    <a:spcPct val="110000"/>
                  </a:lnSpc>
                  <a:spcBef>
                    <a:spcPct val="30000"/>
                  </a:spcBef>
                  <a:buClr>
                    <a:schemeClr val="hlink"/>
                  </a:buClr>
                  <a:defRPr/>
                </a:pPr>
                <a:endParaRPr lang="en-US" altLang="zh-CN" sz="2400" b="1" dirty="0">
                  <a:latin typeface="Arial" panose="020B0604020202020204" pitchFamily="34" charset="0"/>
                  <a:ea typeface="宋体" panose="02010600030101010101" pitchFamily="2" charset="-122"/>
                </a:endParaRPr>
              </a:p>
              <a:p>
                <a:pPr>
                  <a:lnSpc>
                    <a:spcPct val="110000"/>
                  </a:lnSpc>
                  <a:spcBef>
                    <a:spcPct val="30000"/>
                  </a:spcBef>
                  <a:buClr>
                    <a:schemeClr val="hlink"/>
                  </a:buClr>
                  <a:defRPr/>
                </a:pP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）若</a:t>
                </a:r>
                <a:r>
                  <a:rPr lang="en-US" altLang="zh-CN" sz="2400" b="1" dirty="0">
                    <a:latin typeface="Arial" panose="020B0604020202020204" pitchFamily="34" charset="0"/>
                    <a:ea typeface="宋体" panose="02010600030101010101" pitchFamily="2" charset="-122"/>
                  </a:rPr>
                  <a:t>r=1</a:t>
                </a:r>
                <a:r>
                  <a:rPr lang="zh-CN" altLang="en-US" sz="2400" b="1" dirty="0">
                    <a:latin typeface="Arial" panose="020B0604020202020204" pitchFamily="34" charset="0"/>
                    <a:ea typeface="宋体" panose="02010600030101010101" pitchFamily="2" charset="-122"/>
                  </a:rPr>
                  <a:t>且</a:t>
                </a:r>
                <a:r>
                  <a:rPr lang="en-US" altLang="zh-CN" sz="2400" b="1" dirty="0">
                    <a:latin typeface="Arial" panose="020B0604020202020204" pitchFamily="34" charset="0"/>
                    <a:ea typeface="宋体" panose="02010600030101010101" pitchFamily="2" charset="-122"/>
                  </a:rPr>
                  <a:t>b=0</a:t>
                </a:r>
                <a:r>
                  <a:rPr lang="zh-CN" altLang="en-US" sz="2400" b="1" dirty="0">
                    <a:latin typeface="Arial" panose="020B0604020202020204" pitchFamily="34" charset="0"/>
                    <a:ea typeface="宋体" panose="02010600030101010101" pitchFamily="2" charset="-122"/>
                  </a:rPr>
                  <a:t>，则每个数均为平衡点；</a:t>
                </a:r>
                <a:endParaRPr lang="en-US" altLang="zh-CN" sz="2400" b="1" dirty="0">
                  <a:latin typeface="Arial" panose="020B0604020202020204" pitchFamily="34" charset="0"/>
                  <a:ea typeface="宋体" panose="02010600030101010101" pitchFamily="2" charset="-122"/>
                </a:endParaRPr>
              </a:p>
              <a:p>
                <a:pPr>
                  <a:lnSpc>
                    <a:spcPct val="110000"/>
                  </a:lnSpc>
                  <a:spcBef>
                    <a:spcPct val="30000"/>
                  </a:spcBef>
                  <a:buClr>
                    <a:schemeClr val="hlink"/>
                  </a:buClr>
                  <a:defRPr/>
                </a:pP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）若</a:t>
                </a:r>
                <a:r>
                  <a:rPr lang="en-US" altLang="zh-CN" sz="2400" b="1" dirty="0">
                    <a:latin typeface="Arial" panose="020B0604020202020204" pitchFamily="34" charset="0"/>
                    <a:ea typeface="宋体" panose="02010600030101010101" pitchFamily="2" charset="-122"/>
                  </a:rPr>
                  <a:t>r=1</a:t>
                </a:r>
                <a:r>
                  <a:rPr lang="zh-CN" altLang="en-US" sz="2400" b="1" dirty="0">
                    <a:latin typeface="Arial" panose="020B0604020202020204" pitchFamily="34" charset="0"/>
                    <a:ea typeface="宋体" panose="02010600030101010101" pitchFamily="2" charset="-122"/>
                  </a:rPr>
                  <a:t>且</a:t>
                </a:r>
                <a:r>
                  <a:rPr lang="en-US" altLang="zh-CN" sz="2400" b="1" dirty="0">
                    <a:latin typeface="Arial" panose="020B0604020202020204" pitchFamily="34" charset="0"/>
                    <a:ea typeface="宋体" panose="02010600030101010101" pitchFamily="2" charset="-122"/>
                  </a:rPr>
                  <a:t>b</a:t>
                </a:r>
                <a:r>
                  <a:rPr lang="en-US" altLang="zh-CN" sz="2400" b="1" dirty="0">
                    <a:latin typeface="Arial" panose="020B0604020202020204" pitchFamily="34" charset="0"/>
                    <a:sym typeface="Symbol" panose="05050102010706020507" pitchFamily="18" charset="2"/>
                  </a:rPr>
                  <a:t> 0</a:t>
                </a:r>
                <a:r>
                  <a:rPr lang="zh-CN" altLang="en-US" sz="2400" b="1" dirty="0">
                    <a:latin typeface="Arial" panose="020B0604020202020204" pitchFamily="34" charset="0"/>
                    <a:sym typeface="Symbol" panose="05050102010706020507" pitchFamily="18" charset="2"/>
                  </a:rPr>
                  <a:t>，则不存在平衡点</a:t>
                </a:r>
                <a:endParaRPr lang="en-US" altLang="zh-CN" sz="2400" b="1" dirty="0">
                  <a:latin typeface="Arial" panose="020B0604020202020204" pitchFamily="34" charset="0"/>
                  <a:ea typeface="宋体" panose="02010600030101010101" pitchFamily="2" charset="-122"/>
                </a:endParaRPr>
              </a:p>
            </p:txBody>
          </p:sp>
        </mc:Choice>
        <mc:Fallback xmlns="">
          <p:sp>
            <p:nvSpPr>
              <p:cNvPr id="9" name="矩形 1"/>
              <p:cNvSpPr>
                <a:spLocks noRot="1" noChangeAspect="1" noMove="1" noResize="1" noEditPoints="1" noAdjustHandles="1" noChangeArrowheads="1" noChangeShapeType="1" noTextEdit="1"/>
              </p:cNvSpPr>
              <p:nvPr/>
            </p:nvSpPr>
            <p:spPr bwMode="auto">
              <a:xfrm>
                <a:off x="182594" y="1074243"/>
                <a:ext cx="8785225" cy="3821367"/>
              </a:xfrm>
              <a:prstGeom prst="rect">
                <a:avLst/>
              </a:prstGeom>
              <a:blipFill rotWithShape="1">
                <a:blip r:embed="rId4"/>
                <a:stretch>
                  <a:fillRect l="-4" t="-12" r="4" b="1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latin typeface="Times New Roman" panose="02020603050405020304" pitchFamily="18" charset="0"/>
                <a:ea typeface="楷体_GB2312" pitchFamily="49" charset="-122"/>
              </a:rPr>
              <a:t>线性动力系统</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9" name="矩形 1"/>
          <p:cNvSpPr>
            <a:spLocks noChangeArrowheads="1"/>
          </p:cNvSpPr>
          <p:nvPr/>
        </p:nvSpPr>
        <p:spPr bwMode="auto">
          <a:xfrm>
            <a:off x="182594" y="1074243"/>
            <a:ext cx="8785225" cy="3049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spcBef>
                <a:spcPct val="30000"/>
              </a:spcBef>
              <a:buClr>
                <a:schemeClr val="hlink"/>
              </a:buClr>
              <a:defRPr/>
            </a:pPr>
            <a:r>
              <a:rPr lang="zh-CN" altLang="en-US" sz="2400" b="1" dirty="0">
                <a:latin typeface="Arial" panose="020B0604020202020204" pitchFamily="34" charset="0"/>
                <a:ea typeface="宋体" panose="02010600030101010101" pitchFamily="2" charset="-122"/>
              </a:rPr>
              <a:t>对于动力系统</a:t>
            </a:r>
            <a:endParaRPr lang="en-US" altLang="zh-CN" sz="2400" b="1" dirty="0">
              <a:latin typeface="Arial" panose="020B0604020202020204" pitchFamily="34" charset="0"/>
              <a:ea typeface="宋体" panose="02010600030101010101" pitchFamily="2" charset="-122"/>
            </a:endParaRPr>
          </a:p>
          <a:p>
            <a:pPr algn="ctr">
              <a:lnSpc>
                <a:spcPct val="110000"/>
              </a:lnSpc>
              <a:spcBef>
                <a:spcPct val="30000"/>
              </a:spcBef>
              <a:buClr>
                <a:schemeClr val="hlink"/>
              </a:buClr>
              <a:defRPr/>
            </a:pPr>
            <a:r>
              <a:rPr lang="en-US" altLang="zh-CN" sz="2400" b="1" dirty="0">
                <a:latin typeface="Arial" panose="020B0604020202020204" pitchFamily="34" charset="0"/>
                <a:ea typeface="宋体" panose="02010600030101010101" pitchFamily="2" charset="-122"/>
              </a:rPr>
              <a:t>a</a:t>
            </a:r>
            <a:r>
              <a:rPr lang="en-US" altLang="zh-CN" sz="2400" b="1" baseline="-25000" dirty="0">
                <a:latin typeface="Arial" panose="020B0604020202020204" pitchFamily="34" charset="0"/>
                <a:ea typeface="宋体" panose="02010600030101010101" pitchFamily="2" charset="-122"/>
              </a:rPr>
              <a:t>n+1</a:t>
            </a:r>
            <a:r>
              <a:rPr lang="en-US" altLang="zh-CN" sz="2400" b="1" dirty="0">
                <a:latin typeface="Arial" panose="020B0604020202020204" pitchFamily="34" charset="0"/>
                <a:ea typeface="宋体" panose="02010600030101010101" pitchFamily="2" charset="-122"/>
              </a:rPr>
              <a:t>=</a:t>
            </a:r>
            <a:r>
              <a:rPr lang="en-US" altLang="zh-CN" sz="2400" b="1" dirty="0" err="1">
                <a:latin typeface="Arial" panose="020B0604020202020204" pitchFamily="34" charset="0"/>
                <a:ea typeface="宋体" panose="02010600030101010101" pitchFamily="2" charset="-122"/>
              </a:rPr>
              <a:t>ra</a:t>
            </a:r>
            <a:r>
              <a:rPr lang="en-US" altLang="zh-CN" sz="2400" b="1" baseline="-25000" dirty="0" err="1">
                <a:latin typeface="Arial" panose="020B0604020202020204" pitchFamily="34" charset="0"/>
                <a:ea typeface="宋体" panose="02010600030101010101" pitchFamily="2" charset="-122"/>
              </a:rPr>
              <a:t>n</a:t>
            </a:r>
            <a:r>
              <a:rPr lang="en-US" altLang="zh-CN" sz="2400" b="1" dirty="0" err="1">
                <a:latin typeface="Arial" panose="020B0604020202020204" pitchFamily="34" charset="0"/>
                <a:ea typeface="宋体" panose="02010600030101010101" pitchFamily="2" charset="-122"/>
              </a:rPr>
              <a:t>+b</a:t>
            </a:r>
            <a:r>
              <a:rPr lang="en-US" altLang="zh-CN" sz="2400" b="1" dirty="0">
                <a:latin typeface="Arial" panose="020B0604020202020204" pitchFamily="34" charset="0"/>
                <a:ea typeface="宋体" panose="02010600030101010101" pitchFamily="2" charset="-122"/>
              </a:rPr>
              <a:t>,  b</a:t>
            </a:r>
            <a:r>
              <a:rPr lang="en-US" altLang="zh-CN" sz="2400" b="1" dirty="0">
                <a:latin typeface="Arial" panose="020B0604020202020204" pitchFamily="34" charset="0"/>
                <a:ea typeface="宋体" panose="02010600030101010101" pitchFamily="2" charset="-122"/>
                <a:sym typeface="Symbol" panose="05050102010706020507" pitchFamily="18" charset="2"/>
              </a:rPr>
              <a:t>0</a:t>
            </a:r>
            <a:endParaRPr lang="en-US" altLang="zh-CN" sz="2400" b="1" dirty="0">
              <a:latin typeface="Arial" panose="020B0604020202020204" pitchFamily="34" charset="0"/>
              <a:ea typeface="宋体" panose="02010600030101010101" pitchFamily="2" charset="-122"/>
            </a:endParaRPr>
          </a:p>
          <a:p>
            <a:pPr>
              <a:lnSpc>
                <a:spcPct val="110000"/>
              </a:lnSpc>
              <a:spcBef>
                <a:spcPct val="30000"/>
              </a:spcBef>
              <a:buClr>
                <a:schemeClr val="hlink"/>
              </a:buClr>
              <a:defRPr/>
            </a:pPr>
            <a:endParaRPr lang="en-US" altLang="zh-CN" sz="2400" b="1" dirty="0">
              <a:latin typeface="Arial" panose="020B0604020202020204" pitchFamily="34" charset="0"/>
              <a:ea typeface="宋体" panose="02010600030101010101" pitchFamily="2" charset="-122"/>
            </a:endParaRPr>
          </a:p>
          <a:p>
            <a:pPr>
              <a:lnSpc>
                <a:spcPct val="110000"/>
              </a:lnSpc>
              <a:spcBef>
                <a:spcPct val="30000"/>
              </a:spcBef>
              <a:buClr>
                <a:schemeClr val="hlink"/>
              </a:buClr>
              <a:defRPr/>
            </a:pP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）若</a:t>
            </a:r>
            <a:r>
              <a:rPr lang="en-US" altLang="zh-CN" sz="2400" b="1" dirty="0">
                <a:latin typeface="Arial" panose="020B0604020202020204" pitchFamily="34" charset="0"/>
                <a:ea typeface="宋体" panose="02010600030101010101" pitchFamily="2" charset="-122"/>
              </a:rPr>
              <a:t>|r|&lt;1</a:t>
            </a:r>
            <a:r>
              <a:rPr lang="zh-CN" altLang="en-US" sz="2400" b="1" dirty="0">
                <a:latin typeface="Arial" panose="020B0604020202020204" pitchFamily="34" charset="0"/>
                <a:ea typeface="宋体" panose="02010600030101010101" pitchFamily="2" charset="-122"/>
              </a:rPr>
              <a:t>，稳定平衡点 </a:t>
            </a:r>
            <a:endParaRPr lang="en-US" altLang="zh-CN" sz="2400" b="1" dirty="0">
              <a:latin typeface="Arial" panose="020B0604020202020204" pitchFamily="34" charset="0"/>
              <a:ea typeface="宋体" panose="02010600030101010101" pitchFamily="2" charset="-122"/>
            </a:endParaRPr>
          </a:p>
          <a:p>
            <a:pPr>
              <a:lnSpc>
                <a:spcPct val="110000"/>
              </a:lnSpc>
              <a:spcBef>
                <a:spcPct val="30000"/>
              </a:spcBef>
              <a:buClr>
                <a:schemeClr val="hlink"/>
              </a:buClr>
              <a:defRPr/>
            </a:pP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）若</a:t>
            </a:r>
            <a:r>
              <a:rPr lang="en-US" altLang="zh-CN" sz="2400" b="1" dirty="0">
                <a:latin typeface="Arial" panose="020B0604020202020204" pitchFamily="34" charset="0"/>
                <a:ea typeface="宋体" panose="02010600030101010101" pitchFamily="2" charset="-122"/>
              </a:rPr>
              <a:t>|r|&gt;1</a:t>
            </a:r>
            <a:r>
              <a:rPr lang="zh-CN" altLang="en-US" sz="2400" b="1" dirty="0">
                <a:latin typeface="Arial" panose="020B0604020202020204" pitchFamily="34" charset="0"/>
                <a:ea typeface="宋体" panose="02010600030101010101" pitchFamily="2" charset="-122"/>
              </a:rPr>
              <a:t>，不稳定平衡点 </a:t>
            </a:r>
            <a:endParaRPr lang="en-US" altLang="zh-CN" sz="2400" b="1" dirty="0">
              <a:latin typeface="Arial" panose="020B0604020202020204" pitchFamily="34" charset="0"/>
              <a:ea typeface="宋体" panose="02010600030101010101" pitchFamily="2" charset="-122"/>
            </a:endParaRPr>
          </a:p>
          <a:p>
            <a:pPr>
              <a:lnSpc>
                <a:spcPct val="110000"/>
              </a:lnSpc>
              <a:spcBef>
                <a:spcPct val="30000"/>
              </a:spcBef>
              <a:buClr>
                <a:schemeClr val="hlink"/>
              </a:buClr>
              <a:defRPr/>
            </a:pP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）若</a:t>
            </a:r>
            <a:r>
              <a:rPr lang="en-US" altLang="zh-CN" sz="2400" b="1" dirty="0">
                <a:latin typeface="Arial" panose="020B0604020202020204" pitchFamily="34" charset="0"/>
                <a:ea typeface="宋体" panose="02010600030101010101" pitchFamily="2" charset="-122"/>
              </a:rPr>
              <a:t>r=1</a:t>
            </a:r>
            <a:r>
              <a:rPr lang="zh-CN" altLang="en-US" sz="2400" b="1" dirty="0">
                <a:latin typeface="Arial" panose="020B0604020202020204" pitchFamily="34" charset="0"/>
                <a:sym typeface="Symbol" panose="05050102010706020507" pitchFamily="18" charset="2"/>
              </a:rPr>
              <a:t>，无平衡点，图形是一条直线</a:t>
            </a:r>
            <a:endParaRPr lang="en-US" altLang="zh-CN" sz="2400" b="1" dirty="0">
              <a:latin typeface="Arial" panose="020B0604020202020204" pitchFamily="34"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200" b="1" dirty="0">
                <a:latin typeface="Times New Roman" panose="02020603050405020304" pitchFamily="18" charset="0"/>
                <a:ea typeface="楷体_GB2312" pitchFamily="49" charset="-122"/>
              </a:rPr>
              <a:t>线性动力系统</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mc:AlternateContent xmlns:mc="http://schemas.openxmlformats.org/markup-compatibility/2006" xmlns:a14="http://schemas.microsoft.com/office/drawing/2010/main">
        <mc:Choice Requires="a14">
          <p:sp>
            <p:nvSpPr>
              <p:cNvPr id="9" name="矩形 1"/>
              <p:cNvSpPr>
                <a:spLocks noChangeArrowheads="1"/>
              </p:cNvSpPr>
              <p:nvPr/>
            </p:nvSpPr>
            <p:spPr bwMode="auto">
              <a:xfrm>
                <a:off x="182594" y="1074243"/>
                <a:ext cx="8785225" cy="170053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pPr>
                  <a:lnSpc>
                    <a:spcPct val="110000"/>
                  </a:lnSpc>
                  <a:spcBef>
                    <a:spcPct val="30000"/>
                  </a:spcBef>
                  <a:buClr>
                    <a:schemeClr val="hlink"/>
                  </a:buClr>
                  <a:defRPr/>
                </a:pPr>
                <a:r>
                  <a:rPr lang="zh-CN" altLang="en-US" sz="2400" b="1" dirty="0">
                    <a:latin typeface="Arial" panose="020B0604020202020204" pitchFamily="34" charset="0"/>
                    <a:ea typeface="宋体" panose="02010600030101010101" pitchFamily="2" charset="-122"/>
                  </a:rPr>
                  <a:t>定理：对某个（依赖于初始条件的）常数</a:t>
                </a:r>
                <a:r>
                  <a:rPr lang="en-US" altLang="zh-CN" sz="2400" b="1" dirty="0">
                    <a:latin typeface="Arial" panose="020B0604020202020204" pitchFamily="34" charset="0"/>
                    <a:ea typeface="宋体" panose="02010600030101010101" pitchFamily="2" charset="-122"/>
                  </a:rPr>
                  <a:t>c</a:t>
                </a:r>
                <a:r>
                  <a:rPr lang="zh-CN" altLang="en-US" sz="2400" b="1" dirty="0">
                    <a:latin typeface="Arial" panose="020B0604020202020204" pitchFamily="34" charset="0"/>
                    <a:ea typeface="宋体" panose="02010600030101010101" pitchFamily="2" charset="-122"/>
                  </a:rPr>
                  <a:t>，动力系统</a:t>
                </a:r>
                <a:r>
                  <a:rPr lang="en-US" altLang="zh-CN" sz="2400" b="1" dirty="0">
                    <a:latin typeface="Arial" panose="020B0604020202020204" pitchFamily="34" charset="0"/>
                    <a:ea typeface="宋体" panose="02010600030101010101" pitchFamily="2" charset="-122"/>
                  </a:rPr>
                  <a:t>a</a:t>
                </a:r>
                <a:r>
                  <a:rPr lang="en-US" altLang="zh-CN" sz="2400" b="1" baseline="-25000" dirty="0">
                    <a:latin typeface="Arial" panose="020B0604020202020204" pitchFamily="34" charset="0"/>
                    <a:ea typeface="宋体" panose="02010600030101010101" pitchFamily="2" charset="-122"/>
                  </a:rPr>
                  <a:t>n+1</a:t>
                </a:r>
                <a:r>
                  <a:rPr lang="en-US" altLang="zh-CN" sz="2400" b="1" dirty="0">
                    <a:latin typeface="Arial" panose="020B0604020202020204" pitchFamily="34" charset="0"/>
                    <a:ea typeface="宋体" panose="02010600030101010101" pitchFamily="2" charset="-122"/>
                  </a:rPr>
                  <a:t>=</a:t>
                </a:r>
                <a:r>
                  <a:rPr lang="en-US" altLang="zh-CN" sz="2400" b="1" dirty="0" err="1">
                    <a:latin typeface="Arial" panose="020B0604020202020204" pitchFamily="34" charset="0"/>
                    <a:ea typeface="宋体" panose="02010600030101010101" pitchFamily="2" charset="-122"/>
                  </a:rPr>
                  <a:t>ra</a:t>
                </a:r>
                <a:r>
                  <a:rPr lang="en-US" altLang="zh-CN" sz="2400" b="1" baseline="-25000" dirty="0" err="1">
                    <a:latin typeface="Arial" panose="020B0604020202020204" pitchFamily="34" charset="0"/>
                    <a:ea typeface="宋体" panose="02010600030101010101" pitchFamily="2" charset="-122"/>
                  </a:rPr>
                  <a:t>n</a:t>
                </a:r>
                <a:r>
                  <a:rPr lang="en-US" altLang="zh-CN" sz="2400" b="1" dirty="0" err="1">
                    <a:latin typeface="Arial" panose="020B0604020202020204" pitchFamily="34" charset="0"/>
                    <a:ea typeface="宋体" panose="02010600030101010101" pitchFamily="2" charset="-122"/>
                  </a:rPr>
                  <a:t>+b</a:t>
                </a:r>
                <a:r>
                  <a:rPr lang="en-US" altLang="zh-CN" sz="2400" b="1" dirty="0">
                    <a:latin typeface="Arial" panose="020B0604020202020204" pitchFamily="34" charset="0"/>
                    <a:ea typeface="宋体" panose="02010600030101010101" pitchFamily="2" charset="-122"/>
                  </a:rPr>
                  <a:t>, r</a:t>
                </a:r>
                <a:r>
                  <a:rPr lang="en-US" altLang="zh-CN" sz="2400" b="1" dirty="0">
                    <a:latin typeface="Arial" panose="020B0604020202020204" pitchFamily="34" charset="0"/>
                    <a:ea typeface="宋体" panose="02010600030101010101" pitchFamily="2" charset="-122"/>
                    <a:sym typeface="Symbol" panose="05050102010706020507" pitchFamily="18" charset="2"/>
                  </a:rPr>
                  <a:t>1</a:t>
                </a:r>
                <a:r>
                  <a:rPr lang="zh-CN" altLang="en-US" sz="2400" b="1" dirty="0">
                    <a:latin typeface="Arial" panose="020B0604020202020204" pitchFamily="34" charset="0"/>
                    <a:ea typeface="宋体" panose="02010600030101010101" pitchFamily="2" charset="-122"/>
                    <a:sym typeface="Symbol" panose="05050102010706020507" pitchFamily="18" charset="2"/>
                  </a:rPr>
                  <a:t>的解为</a:t>
                </a:r>
                <a:endParaRPr lang="en-US" altLang="zh-CN" sz="2400" b="1" dirty="0">
                  <a:latin typeface="Arial" panose="020B0604020202020204" pitchFamily="34" charset="0"/>
                  <a:ea typeface="宋体" panose="02010600030101010101" pitchFamily="2" charset="-122"/>
                  <a:sym typeface="Symbol" panose="05050102010706020507" pitchFamily="18" charset="2"/>
                </a:endParaRPr>
              </a:p>
              <a:p>
                <a:pPr>
                  <a:lnSpc>
                    <a:spcPct val="110000"/>
                  </a:lnSpc>
                  <a:spcBef>
                    <a:spcPct val="30000"/>
                  </a:spcBef>
                  <a:buClr>
                    <a:schemeClr val="hlink"/>
                  </a:buClr>
                  <a:defRPr/>
                </a:pPr>
                <a14:m>
                  <m:oMathPara xmlns:m="http://schemas.openxmlformats.org/officeDocument/2006/math">
                    <m:oMathParaPr>
                      <m:jc m:val="centerGroup"/>
                    </m:oMathParaPr>
                    <m:oMath xmlns:m="http://schemas.openxmlformats.org/officeDocument/2006/math">
                      <m:sSub>
                        <m:sSubPr>
                          <m:ctrlPr>
                            <a:rPr lang="en-US" altLang="zh-CN" sz="2400" b="1" i="1" smtClean="0">
                              <a:latin typeface="Cambria Math" panose="02040503050406030204" pitchFamily="18" charset="0"/>
                              <a:ea typeface="宋体" panose="02010600030101010101" pitchFamily="2" charset="-122"/>
                            </a:rPr>
                          </m:ctrlPr>
                        </m:sSubPr>
                        <m:e>
                          <m:r>
                            <a:rPr lang="en-US" altLang="zh-CN" sz="2400" b="1" i="1" smtClean="0">
                              <a:latin typeface="Cambria Math" panose="02040503050406030204" pitchFamily="18" charset="0"/>
                              <a:ea typeface="宋体" panose="02010600030101010101" pitchFamily="2" charset="-122"/>
                            </a:rPr>
                            <m:t>𝒂</m:t>
                          </m:r>
                        </m:e>
                        <m:sub>
                          <m:r>
                            <a:rPr lang="en-US" altLang="zh-CN" sz="2400" b="1" i="1" smtClean="0">
                              <a:latin typeface="Cambria Math" panose="02040503050406030204" pitchFamily="18" charset="0"/>
                              <a:ea typeface="宋体" panose="02010600030101010101" pitchFamily="2" charset="-122"/>
                            </a:rPr>
                            <m:t>𝒌</m:t>
                          </m:r>
                        </m:sub>
                      </m:sSub>
                      <m:r>
                        <a:rPr lang="en-US" altLang="zh-CN" sz="2400" b="1" i="1" smtClean="0">
                          <a:latin typeface="Cambria Math" panose="02040503050406030204" pitchFamily="18" charset="0"/>
                          <a:ea typeface="宋体" panose="02010600030101010101" pitchFamily="2" charset="-122"/>
                        </a:rPr>
                        <m:t>=</m:t>
                      </m:r>
                      <m:sSup>
                        <m:sSupPr>
                          <m:ctrlPr>
                            <a:rPr lang="en-US" altLang="zh-CN" sz="2400" b="1" i="1" smtClean="0">
                              <a:latin typeface="Cambria Math" panose="02040503050406030204" pitchFamily="18" charset="0"/>
                              <a:ea typeface="宋体" panose="02010600030101010101" pitchFamily="2" charset="-122"/>
                            </a:rPr>
                          </m:ctrlPr>
                        </m:sSupPr>
                        <m:e>
                          <m:r>
                            <a:rPr lang="en-US" altLang="zh-CN" sz="2400" b="1" i="1" smtClean="0">
                              <a:latin typeface="Cambria Math" panose="02040503050406030204" pitchFamily="18" charset="0"/>
                              <a:ea typeface="宋体" panose="02010600030101010101" pitchFamily="2" charset="-122"/>
                            </a:rPr>
                            <m:t>𝒓</m:t>
                          </m:r>
                        </m:e>
                        <m:sup>
                          <m:r>
                            <a:rPr lang="en-US" altLang="zh-CN" sz="2400" b="1" i="1" smtClean="0">
                              <a:latin typeface="Cambria Math" panose="02040503050406030204" pitchFamily="18" charset="0"/>
                              <a:ea typeface="宋体" panose="02010600030101010101" pitchFamily="2" charset="-122"/>
                            </a:rPr>
                            <m:t>𝒌</m:t>
                          </m:r>
                        </m:sup>
                      </m:sSup>
                      <m:r>
                        <a:rPr lang="en-US" altLang="zh-CN" sz="2400" b="1" i="1" smtClean="0">
                          <a:latin typeface="Cambria Math" panose="02040503050406030204" pitchFamily="18" charset="0"/>
                          <a:ea typeface="宋体" panose="02010600030101010101" pitchFamily="2" charset="-122"/>
                        </a:rPr>
                        <m:t>𝒄</m:t>
                      </m:r>
                      <m:r>
                        <a:rPr lang="en-US" altLang="zh-CN" sz="2400" b="1" i="1" smtClean="0">
                          <a:latin typeface="Cambria Math" panose="02040503050406030204" pitchFamily="18" charset="0"/>
                          <a:ea typeface="宋体" panose="02010600030101010101" pitchFamily="2" charset="-122"/>
                        </a:rPr>
                        <m:t>+</m:t>
                      </m:r>
                      <m:f>
                        <m:fPr>
                          <m:ctrlPr>
                            <a:rPr lang="en-US" altLang="zh-CN" sz="2400" b="1" i="1" smtClean="0">
                              <a:latin typeface="Cambria Math" panose="02040503050406030204" pitchFamily="18" charset="0"/>
                              <a:ea typeface="宋体" panose="02010600030101010101" pitchFamily="2" charset="-122"/>
                            </a:rPr>
                          </m:ctrlPr>
                        </m:fPr>
                        <m:num>
                          <m:r>
                            <a:rPr lang="en-US" altLang="zh-CN" sz="2400" b="1" i="1" smtClean="0">
                              <a:latin typeface="Cambria Math" panose="02040503050406030204" pitchFamily="18" charset="0"/>
                              <a:ea typeface="宋体" panose="02010600030101010101" pitchFamily="2" charset="-122"/>
                            </a:rPr>
                            <m:t>𝒃</m:t>
                          </m:r>
                        </m:num>
                        <m:den>
                          <m:r>
                            <a:rPr lang="en-US" altLang="zh-CN" sz="2400" b="1" i="1" smtClean="0">
                              <a:latin typeface="Cambria Math" panose="02040503050406030204" pitchFamily="18" charset="0"/>
                              <a:ea typeface="宋体" panose="02010600030101010101" pitchFamily="2" charset="-122"/>
                            </a:rPr>
                            <m:t>𝟏</m:t>
                          </m:r>
                          <m:r>
                            <a:rPr lang="en-US" altLang="zh-CN" sz="2400" b="1" i="1" smtClean="0">
                              <a:latin typeface="Cambria Math" panose="02040503050406030204" pitchFamily="18" charset="0"/>
                              <a:ea typeface="宋体" panose="02010600030101010101" pitchFamily="2" charset="-122"/>
                            </a:rPr>
                            <m:t>−</m:t>
                          </m:r>
                          <m:r>
                            <a:rPr lang="en-US" altLang="zh-CN" sz="2400" b="1" i="1" smtClean="0">
                              <a:latin typeface="Cambria Math" panose="02040503050406030204" pitchFamily="18" charset="0"/>
                              <a:ea typeface="宋体" panose="02010600030101010101" pitchFamily="2" charset="-122"/>
                            </a:rPr>
                            <m:t>𝒓</m:t>
                          </m:r>
                        </m:den>
                      </m:f>
                    </m:oMath>
                  </m:oMathPara>
                </a14:m>
                <a:endParaRPr lang="en-US" altLang="zh-CN" sz="2400" b="1" dirty="0">
                  <a:latin typeface="Arial" panose="020B0604020202020204" pitchFamily="34" charset="0"/>
                  <a:ea typeface="宋体" panose="02010600030101010101" pitchFamily="2" charset="-122"/>
                </a:endParaRPr>
              </a:p>
            </p:txBody>
          </p:sp>
        </mc:Choice>
        <mc:Fallback xmlns="">
          <p:sp>
            <p:nvSpPr>
              <p:cNvPr id="9" name="矩形 1"/>
              <p:cNvSpPr>
                <a:spLocks noRot="1" noChangeAspect="1" noMove="1" noResize="1" noEditPoints="1" noAdjustHandles="1" noChangeArrowheads="1" noChangeShapeType="1" noTextEdit="1"/>
              </p:cNvSpPr>
              <p:nvPr/>
            </p:nvSpPr>
            <p:spPr bwMode="auto">
              <a:xfrm>
                <a:off x="182594" y="1074243"/>
                <a:ext cx="8785225" cy="1700530"/>
              </a:xfrm>
              <a:prstGeom prst="rect">
                <a:avLst/>
              </a:prstGeom>
              <a:blipFill rotWithShape="1">
                <a:blip r:embed="rId4"/>
                <a:stretch>
                  <a:fillRect l="-4" t="-27" r="4" b="2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600" dirty="0">
                <a:effectLst/>
                <a:latin typeface="Times New Roman" panose="02020603050405020304" pitchFamily="18" charset="0"/>
                <a:ea typeface="文鼎大标宋简" charset="-122"/>
              </a:rPr>
              <a:t>非线性动力系统</a:t>
            </a: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pic>
        <p:nvPicPr>
          <p:cNvPr id="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792" y="1003126"/>
            <a:ext cx="4042601" cy="3992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1"/>
          <p:cNvSpPr>
            <a:spLocks noChangeArrowheads="1"/>
          </p:cNvSpPr>
          <p:nvPr/>
        </p:nvSpPr>
        <p:spPr bwMode="auto">
          <a:xfrm>
            <a:off x="307164" y="1528937"/>
            <a:ext cx="7704137" cy="126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nSpc>
                <a:spcPct val="110000"/>
              </a:lnSpc>
              <a:spcBef>
                <a:spcPct val="30000"/>
              </a:spcBef>
              <a:buClr>
                <a:schemeClr val="hlink"/>
              </a:buClr>
              <a:buFont typeface="Wingdings" panose="05000000000000000000" pitchFamily="2" charset="2"/>
              <a:buChar char="v"/>
              <a:defRPr/>
            </a:pPr>
            <a:r>
              <a:rPr lang="zh-CN" altLang="en-US" sz="2000" b="1" dirty="0">
                <a:latin typeface="Arial" panose="020B0604020202020204" pitchFamily="34" charset="0"/>
                <a:ea typeface="宋体" panose="02010600030101010101" pitchFamily="2" charset="-122"/>
              </a:rPr>
              <a:t>上述公式可重写为：</a:t>
            </a:r>
            <a:endParaRPr lang="en-US" altLang="zh-CN" sz="2000" b="1" dirty="0">
              <a:latin typeface="Arial" panose="020B0604020202020204" pitchFamily="34" charset="0"/>
              <a:ea typeface="宋体" panose="02010600030101010101" pitchFamily="2" charset="-122"/>
            </a:endParaRPr>
          </a:p>
          <a:p>
            <a:pPr>
              <a:lnSpc>
                <a:spcPct val="110000"/>
              </a:lnSpc>
              <a:spcBef>
                <a:spcPct val="30000"/>
              </a:spcBef>
              <a:buClr>
                <a:schemeClr val="hlink"/>
              </a:buClr>
              <a:defRPr/>
            </a:pPr>
            <a:r>
              <a:rPr lang="zh-CN" altLang="en-US" sz="2000" b="1" dirty="0">
                <a:latin typeface="Arial" panose="020B0604020202020204" pitchFamily="34" charset="0"/>
                <a:ea typeface="宋体" panose="02010600030101010101" pitchFamily="2" charset="-122"/>
              </a:rPr>
              <a:t>      其中</a:t>
            </a:r>
            <a:endParaRPr lang="en-US" altLang="zh-CN" sz="2000" b="1" dirty="0">
              <a:latin typeface="Arial" panose="020B0604020202020204" pitchFamily="34" charset="0"/>
              <a:ea typeface="宋体" panose="02010600030101010101" pitchFamily="2" charset="-122"/>
            </a:endParaRPr>
          </a:p>
          <a:p>
            <a:pPr marL="342900" indent="-342900">
              <a:lnSpc>
                <a:spcPct val="110000"/>
              </a:lnSpc>
              <a:spcBef>
                <a:spcPct val="30000"/>
              </a:spcBef>
              <a:buClr>
                <a:schemeClr val="hlink"/>
              </a:buClr>
              <a:buFont typeface="Wingdings" panose="05000000000000000000" pitchFamily="2" charset="2"/>
              <a:buChar char="v"/>
              <a:defRPr/>
            </a:pPr>
            <a:r>
              <a:rPr lang="zh-CN" altLang="en-US" sz="2000" b="1" dirty="0">
                <a:latin typeface="Arial" panose="020B0604020202020204" pitchFamily="34" charset="0"/>
                <a:ea typeface="宋体" panose="02010600030101010101" pitchFamily="2" charset="-122"/>
              </a:rPr>
              <a:t>测试：</a:t>
            </a:r>
            <a:r>
              <a:rPr lang="en-US" altLang="zh-CN" sz="2000" b="1" i="1" dirty="0">
                <a:latin typeface="Arial" panose="020B0604020202020204" pitchFamily="34" charset="0"/>
                <a:ea typeface="宋体" panose="02010600030101010101" pitchFamily="2" charset="-122"/>
              </a:rPr>
              <a:t>a</a:t>
            </a:r>
            <a:r>
              <a:rPr lang="en-US" altLang="zh-CN" sz="2000" b="1" baseline="-25000" dirty="0">
                <a:latin typeface="Arial" panose="020B0604020202020204" pitchFamily="34" charset="0"/>
                <a:ea typeface="宋体" panose="02010600030101010101" pitchFamily="2" charset="-122"/>
              </a:rPr>
              <a:t>0</a:t>
            </a:r>
            <a:r>
              <a:rPr lang="en-US" altLang="zh-CN" sz="2000" b="1" dirty="0">
                <a:latin typeface="Arial" panose="020B0604020202020204" pitchFamily="34" charset="0"/>
                <a:ea typeface="宋体" panose="02010600030101010101" pitchFamily="2" charset="-122"/>
              </a:rPr>
              <a:t>=0.1 </a:t>
            </a:r>
            <a:r>
              <a:rPr lang="zh-CN" altLang="en-US" sz="2000" b="1" dirty="0">
                <a:latin typeface="Arial" panose="020B0604020202020204" pitchFamily="34" charset="0"/>
                <a:ea typeface="宋体" panose="02010600030101010101" pitchFamily="2" charset="-122"/>
              </a:rPr>
              <a:t>以及不同的</a:t>
            </a:r>
            <a:r>
              <a:rPr lang="en-US" altLang="zh-CN" sz="2000" b="1" dirty="0">
                <a:latin typeface="Arial" panose="020B0604020202020204" pitchFamily="34" charset="0"/>
                <a:ea typeface="宋体" panose="02010600030101010101" pitchFamily="2" charset="-122"/>
              </a:rPr>
              <a:t>r</a:t>
            </a:r>
            <a:r>
              <a:rPr lang="zh-CN" altLang="en-US" sz="2000" b="1" dirty="0">
                <a:latin typeface="Arial" panose="020B0604020202020204" pitchFamily="34" charset="0"/>
                <a:ea typeface="宋体" panose="02010600030101010101" pitchFamily="2" charset="-122"/>
              </a:rPr>
              <a:t>取值</a:t>
            </a:r>
            <a:r>
              <a:rPr lang="en-US" altLang="zh-CN" sz="2000" b="1" dirty="0">
                <a:latin typeface="Arial" panose="020B0604020202020204" pitchFamily="34" charset="0"/>
                <a:ea typeface="宋体" panose="02010600030101010101" pitchFamily="2" charset="-122"/>
              </a:rPr>
              <a:t>:</a:t>
            </a:r>
          </a:p>
        </p:txBody>
      </p:sp>
      <p:pic>
        <p:nvPicPr>
          <p:cNvPr id="1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4922" y="1506069"/>
            <a:ext cx="2370932" cy="4279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1642" y="2049920"/>
            <a:ext cx="3219450" cy="23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9792" y="3149426"/>
            <a:ext cx="8102600" cy="3049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矩形 9"/>
          <p:cNvSpPr>
            <a:spLocks noChangeArrowheads="1"/>
          </p:cNvSpPr>
          <p:nvPr/>
        </p:nvSpPr>
        <p:spPr bwMode="auto">
          <a:xfrm>
            <a:off x="2390783" y="6184754"/>
            <a:ext cx="1199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dirty="0">
                <a:solidFill>
                  <a:srgbClr val="0000FF"/>
                </a:solidFill>
                <a:ea typeface="宋体" panose="02010600030101010101" pitchFamily="2" charset="-122"/>
              </a:rPr>
              <a:t>趋近</a:t>
            </a:r>
            <a:r>
              <a:rPr lang="en-US" altLang="zh-CN" sz="2000" b="1" dirty="0">
                <a:solidFill>
                  <a:srgbClr val="0000FF"/>
                </a:solidFill>
                <a:ea typeface="宋体" panose="02010600030101010101" pitchFamily="2" charset="-122"/>
              </a:rPr>
              <a:t>0.35</a:t>
            </a:r>
            <a:endParaRPr lang="zh-CN" altLang="en-US" sz="2000" dirty="0">
              <a:solidFill>
                <a:srgbClr val="0000FF"/>
              </a:solidFill>
              <a:ea typeface="宋体" panose="02010600030101010101" pitchFamily="2" charset="-122"/>
            </a:endParaRPr>
          </a:p>
        </p:txBody>
      </p:sp>
      <p:sp>
        <p:nvSpPr>
          <p:cNvPr id="14" name="矩形 10"/>
          <p:cNvSpPr>
            <a:spLocks noChangeArrowheads="1"/>
          </p:cNvSpPr>
          <p:nvPr/>
        </p:nvSpPr>
        <p:spPr bwMode="auto">
          <a:xfrm>
            <a:off x="5553851" y="6105351"/>
            <a:ext cx="33797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000" b="1" dirty="0">
                <a:solidFill>
                  <a:srgbClr val="0000FF"/>
                </a:solidFill>
                <a:ea typeface="宋体" panose="02010600030101010101" pitchFamily="2" charset="-122"/>
              </a:rPr>
              <a:t>0.65</a:t>
            </a:r>
            <a:r>
              <a:rPr lang="zh-CN" altLang="en-US" sz="2000" b="1" dirty="0">
                <a:solidFill>
                  <a:srgbClr val="0000FF"/>
                </a:solidFill>
                <a:ea typeface="宋体" panose="02010600030101010101" pitchFamily="2" charset="-122"/>
              </a:rPr>
              <a:t>附近震荡</a:t>
            </a:r>
            <a:endParaRPr lang="zh-CN" altLang="en-US" sz="2000" dirty="0">
              <a:solidFill>
                <a:srgbClr val="0000FF"/>
              </a:solidFill>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600" dirty="0">
                <a:effectLst/>
                <a:latin typeface="Times New Roman" panose="02020603050405020304" pitchFamily="18" charset="0"/>
                <a:ea typeface="文鼎大标宋简" charset="-122"/>
              </a:rPr>
              <a:t>非线性动力系统</a:t>
            </a: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pic>
        <p:nvPicPr>
          <p:cNvPr id="1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0363" y="1051456"/>
            <a:ext cx="6653212" cy="5103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矩形 11"/>
          <p:cNvSpPr>
            <a:spLocks noChangeArrowheads="1"/>
          </p:cNvSpPr>
          <p:nvPr/>
        </p:nvSpPr>
        <p:spPr bwMode="auto">
          <a:xfrm>
            <a:off x="1682812" y="3340571"/>
            <a:ext cx="21868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dirty="0">
                <a:solidFill>
                  <a:srgbClr val="0000FF"/>
                </a:solidFill>
                <a:ea typeface="宋体" panose="02010600030101010101" pitchFamily="2" charset="-122"/>
              </a:rPr>
              <a:t>振荡趋于</a:t>
            </a:r>
            <a:r>
              <a:rPr lang="en-US" altLang="zh-CN" sz="2000" b="1" dirty="0">
                <a:solidFill>
                  <a:srgbClr val="0000FF"/>
                </a:solidFill>
                <a:ea typeface="宋体" panose="02010600030101010101" pitchFamily="2" charset="-122"/>
              </a:rPr>
              <a:t>0.5</a:t>
            </a:r>
            <a:r>
              <a:rPr lang="zh-CN" altLang="en-US" sz="2000" b="1" dirty="0">
                <a:solidFill>
                  <a:srgbClr val="0000FF"/>
                </a:solidFill>
                <a:ea typeface="宋体" panose="02010600030101010101" pitchFamily="2" charset="-122"/>
              </a:rPr>
              <a:t>、</a:t>
            </a:r>
            <a:r>
              <a:rPr lang="en-US" altLang="zh-CN" sz="2000" b="1" dirty="0">
                <a:solidFill>
                  <a:srgbClr val="0000FF"/>
                </a:solidFill>
                <a:ea typeface="宋体" panose="02010600030101010101" pitchFamily="2" charset="-122"/>
              </a:rPr>
              <a:t>0.8</a:t>
            </a:r>
            <a:endParaRPr lang="zh-CN" altLang="en-US" sz="2000" dirty="0">
              <a:solidFill>
                <a:srgbClr val="0000FF"/>
              </a:solidFill>
              <a:ea typeface="宋体" panose="02010600030101010101" pitchFamily="2" charset="-122"/>
            </a:endParaRPr>
          </a:p>
        </p:txBody>
      </p:sp>
      <p:sp>
        <p:nvSpPr>
          <p:cNvPr id="17" name="矩形 12"/>
          <p:cNvSpPr>
            <a:spLocks noChangeArrowheads="1"/>
          </p:cNvSpPr>
          <p:nvPr/>
        </p:nvSpPr>
        <p:spPr bwMode="auto">
          <a:xfrm>
            <a:off x="5980050" y="3340631"/>
            <a:ext cx="9589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dirty="0">
                <a:solidFill>
                  <a:srgbClr val="0000FF"/>
                </a:solidFill>
                <a:ea typeface="宋体" panose="02010600030101010101" pitchFamily="2" charset="-122"/>
              </a:rPr>
              <a:t>四循环</a:t>
            </a:r>
            <a:endParaRPr lang="zh-CN" altLang="en-US" sz="2000" dirty="0">
              <a:solidFill>
                <a:srgbClr val="0000FF"/>
              </a:solidFill>
              <a:ea typeface="宋体" panose="02010600030101010101" pitchFamily="2" charset="-122"/>
            </a:endParaRPr>
          </a:p>
        </p:txBody>
      </p:sp>
      <p:sp>
        <p:nvSpPr>
          <p:cNvPr id="18" name="矩形 13"/>
          <p:cNvSpPr>
            <a:spLocks noChangeArrowheads="1"/>
          </p:cNvSpPr>
          <p:nvPr/>
        </p:nvSpPr>
        <p:spPr bwMode="auto">
          <a:xfrm>
            <a:off x="2411760" y="6094274"/>
            <a:ext cx="9589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dirty="0">
                <a:solidFill>
                  <a:srgbClr val="0000FF"/>
                </a:solidFill>
                <a:ea typeface="宋体" panose="02010600030101010101" pitchFamily="2" charset="-122"/>
              </a:rPr>
              <a:t>八循环</a:t>
            </a:r>
            <a:endParaRPr lang="zh-CN" altLang="en-US" sz="2000" dirty="0">
              <a:solidFill>
                <a:srgbClr val="0000FF"/>
              </a:solidFill>
              <a:ea typeface="宋体" panose="02010600030101010101" pitchFamily="2" charset="-122"/>
            </a:endParaRPr>
          </a:p>
        </p:txBody>
      </p:sp>
      <p:sp>
        <p:nvSpPr>
          <p:cNvPr id="19" name="矩形 14"/>
          <p:cNvSpPr>
            <a:spLocks noChangeArrowheads="1"/>
          </p:cNvSpPr>
          <p:nvPr/>
        </p:nvSpPr>
        <p:spPr bwMode="auto">
          <a:xfrm>
            <a:off x="6109091" y="6117043"/>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000" b="1" dirty="0">
                <a:solidFill>
                  <a:srgbClr val="0000FF"/>
                </a:solidFill>
                <a:ea typeface="宋体" panose="02010600030101010101" pitchFamily="2" charset="-122"/>
              </a:rPr>
              <a:t>无序</a:t>
            </a:r>
            <a:endParaRPr lang="en-US" altLang="zh-CN" sz="2000" b="1" dirty="0">
              <a:solidFill>
                <a:srgbClr val="0000FF"/>
              </a:solidFill>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600" dirty="0">
                <a:latin typeface="Times New Roman" panose="02020603050405020304" pitchFamily="18" charset="0"/>
                <a:ea typeface="文鼎大标宋简" charset="-122"/>
              </a:rPr>
              <a:t>差分方程组</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20" name="矩形 1"/>
          <p:cNvSpPr>
            <a:spLocks noChangeArrowheads="1"/>
          </p:cNvSpPr>
          <p:nvPr/>
        </p:nvSpPr>
        <p:spPr bwMode="auto">
          <a:xfrm>
            <a:off x="323725" y="1050623"/>
            <a:ext cx="8640763" cy="5191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spcBef>
                <a:spcPct val="30000"/>
              </a:spcBef>
              <a:buClr>
                <a:schemeClr val="hlink"/>
              </a:buClr>
              <a:defRPr/>
            </a:pPr>
            <a:r>
              <a:rPr lang="zh-CN" altLang="en-US" sz="2400" b="1" dirty="0">
                <a:solidFill>
                  <a:srgbClr val="0000FF"/>
                </a:solidFill>
                <a:latin typeface="Arial" panose="020B0604020202020204" pitchFamily="34" charset="0"/>
                <a:ea typeface="宋体" panose="02010600030101010101" pitchFamily="2" charset="-122"/>
              </a:rPr>
              <a:t>例</a:t>
            </a:r>
            <a:r>
              <a:rPr lang="en-US" altLang="zh-CN" sz="2400" b="1" dirty="0">
                <a:solidFill>
                  <a:srgbClr val="0000FF"/>
                </a:solidFill>
                <a:latin typeface="Arial" panose="020B0604020202020204" pitchFamily="34" charset="0"/>
                <a:ea typeface="宋体" panose="02010600030101010101" pitchFamily="2" charset="-122"/>
              </a:rPr>
              <a:t>: </a:t>
            </a:r>
            <a:r>
              <a:rPr lang="zh-CN" altLang="en-US" sz="2400" b="1" dirty="0">
                <a:solidFill>
                  <a:srgbClr val="0000FF"/>
                </a:solidFill>
                <a:latin typeface="Arial" panose="020B0604020202020204" pitchFamily="34" charset="0"/>
                <a:ea typeface="宋体" panose="02010600030101010101" pitchFamily="2" charset="-122"/>
              </a:rPr>
              <a:t>斑点猫头鹰和隼</a:t>
            </a:r>
            <a:endParaRPr lang="en-US" altLang="zh-CN" sz="2400" b="1" dirty="0">
              <a:solidFill>
                <a:srgbClr val="0000FF"/>
              </a:solidFill>
              <a:latin typeface="Arial" panose="020B0604020202020204" pitchFamily="34" charset="0"/>
              <a:ea typeface="宋体" panose="02010600030101010101" pitchFamily="2" charset="-122"/>
            </a:endParaRPr>
          </a:p>
          <a:p>
            <a:pPr marL="342900" indent="-342900">
              <a:lnSpc>
                <a:spcPct val="110000"/>
              </a:lnSpc>
              <a:spcBef>
                <a:spcPct val="30000"/>
              </a:spcBef>
              <a:buClr>
                <a:schemeClr val="hlink"/>
              </a:buClr>
              <a:buFont typeface="Wingdings" panose="05000000000000000000" pitchFamily="2" charset="2"/>
              <a:buChar char="v"/>
              <a:defRPr/>
            </a:pPr>
            <a:r>
              <a:rPr lang="zh-CN" altLang="en-US" sz="2400" b="1" dirty="0">
                <a:latin typeface="Arial" panose="020B0604020202020204" pitchFamily="34" charset="0"/>
                <a:ea typeface="宋体" panose="02010600030101010101" pitchFamily="2" charset="-122"/>
              </a:rPr>
              <a:t>一种斑点猫头鹰在其栖息地（该栖息地也支持隼的生存），假定在没有其他种群存在的情形下，每个单独的种群都可无限地增长，即，在一个时间区间里其种群量的变化与该时间区间开始时的种群量成正比。</a:t>
            </a:r>
            <a:endParaRPr lang="en-US" altLang="zh-CN" sz="2400" b="1" dirty="0">
              <a:latin typeface="Arial" panose="020B0604020202020204" pitchFamily="34" charset="0"/>
              <a:ea typeface="宋体" panose="02010600030101010101" pitchFamily="2" charset="-122"/>
            </a:endParaRPr>
          </a:p>
          <a:p>
            <a:pPr marL="342900" indent="-342900">
              <a:lnSpc>
                <a:spcPct val="110000"/>
              </a:lnSpc>
              <a:spcBef>
                <a:spcPct val="30000"/>
              </a:spcBef>
              <a:buClr>
                <a:schemeClr val="hlink"/>
              </a:buClr>
              <a:buFont typeface="Wingdings" panose="05000000000000000000" pitchFamily="2" charset="2"/>
              <a:buChar char="v"/>
              <a:defRPr/>
            </a:pPr>
            <a:r>
              <a:rPr lang="en-US" altLang="zh-CN" sz="2400" b="1" i="1" dirty="0">
                <a:latin typeface="Arial" panose="020B0604020202020204" pitchFamily="34" charset="0"/>
                <a:ea typeface="宋体" panose="02010600030101010101" pitchFamily="2" charset="-122"/>
              </a:rPr>
              <a:t>O</a:t>
            </a:r>
            <a:r>
              <a:rPr lang="en-US" altLang="zh-CN" sz="2400" b="1" i="1" baseline="-25000" dirty="0">
                <a:latin typeface="Arial" panose="020B0604020202020204" pitchFamily="34" charset="0"/>
                <a:ea typeface="宋体" panose="02010600030101010101" pitchFamily="2" charset="-122"/>
              </a:rPr>
              <a:t>n</a:t>
            </a: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斑点猫头鹰在第</a:t>
            </a:r>
            <a:r>
              <a:rPr lang="en-US" altLang="zh-CN" sz="2400" b="1" dirty="0">
                <a:latin typeface="Arial" panose="020B0604020202020204" pitchFamily="34" charset="0"/>
                <a:ea typeface="宋体" panose="02010600030101010101" pitchFamily="2" charset="-122"/>
              </a:rPr>
              <a:t>n</a:t>
            </a:r>
            <a:r>
              <a:rPr lang="zh-CN" altLang="en-US" sz="2400" b="1" dirty="0">
                <a:latin typeface="Arial" panose="020B0604020202020204" pitchFamily="34" charset="0"/>
                <a:ea typeface="宋体" panose="02010600030101010101" pitchFamily="2" charset="-122"/>
              </a:rPr>
              <a:t>天结束时的种群量；</a:t>
            </a:r>
            <a:r>
              <a:rPr lang="en-US" altLang="zh-CN" sz="2400" b="1" i="1" dirty="0" err="1">
                <a:latin typeface="Arial" panose="020B0604020202020204" pitchFamily="34" charset="0"/>
                <a:ea typeface="宋体" panose="02010600030101010101" pitchFamily="2" charset="-122"/>
              </a:rPr>
              <a:t>H</a:t>
            </a:r>
            <a:r>
              <a:rPr lang="en-US" altLang="zh-CN" sz="2400" b="1" i="1" baseline="-25000" dirty="0" err="1">
                <a:latin typeface="Arial" panose="020B0604020202020204" pitchFamily="34" charset="0"/>
                <a:ea typeface="宋体" panose="02010600030101010101" pitchFamily="2" charset="-122"/>
              </a:rPr>
              <a:t>n</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与之竞争的隼的种群量。则：</a:t>
            </a:r>
            <a:endParaRPr lang="en-US" altLang="zh-CN" sz="2400" b="1" dirty="0">
              <a:latin typeface="Arial" panose="020B0604020202020204" pitchFamily="34" charset="0"/>
              <a:ea typeface="宋体" panose="02010600030101010101" pitchFamily="2" charset="-122"/>
            </a:endParaRPr>
          </a:p>
          <a:p>
            <a:pPr marL="342900" indent="-342900">
              <a:lnSpc>
                <a:spcPct val="110000"/>
              </a:lnSpc>
              <a:spcBef>
                <a:spcPct val="30000"/>
              </a:spcBef>
              <a:buClr>
                <a:schemeClr val="hlink"/>
              </a:buClr>
              <a:buFont typeface="Wingdings" panose="05000000000000000000" pitchFamily="2" charset="2"/>
              <a:buChar char="v"/>
              <a:defRPr/>
            </a:pPr>
            <a:endParaRPr lang="en-US" altLang="zh-CN" sz="2400" b="1" dirty="0">
              <a:latin typeface="Arial" panose="020B0604020202020204" pitchFamily="34" charset="0"/>
              <a:ea typeface="宋体" panose="02010600030101010101" pitchFamily="2" charset="-122"/>
            </a:endParaRPr>
          </a:p>
          <a:p>
            <a:pPr>
              <a:lnSpc>
                <a:spcPct val="110000"/>
              </a:lnSpc>
              <a:spcBef>
                <a:spcPct val="30000"/>
              </a:spcBef>
              <a:buClr>
                <a:schemeClr val="hlink"/>
              </a:buClr>
              <a:defRPr/>
            </a:pPr>
            <a:r>
              <a:rPr lang="zh-CN" altLang="en-US" sz="2400" b="1" dirty="0">
                <a:latin typeface="Arial" panose="020B0604020202020204" pitchFamily="34" charset="0"/>
                <a:ea typeface="宋体" panose="02010600030101010101" pitchFamily="2" charset="-122"/>
              </a:rPr>
              <a:t>其中</a:t>
            </a:r>
            <a:r>
              <a:rPr lang="en-US" altLang="zh-CN" sz="2400" b="1" i="1" dirty="0">
                <a:latin typeface="Arial" panose="020B0604020202020204" pitchFamily="34" charset="0"/>
                <a:ea typeface="宋体" panose="02010600030101010101" pitchFamily="2" charset="-122"/>
              </a:rPr>
              <a:t>k</a:t>
            </a:r>
            <a:r>
              <a:rPr lang="en-US" altLang="zh-CN" sz="2400" b="1" baseline="-25000"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与</a:t>
            </a:r>
            <a:r>
              <a:rPr lang="en-US" altLang="zh-CN" sz="2400" b="1" i="1" dirty="0">
                <a:latin typeface="Arial" panose="020B0604020202020204" pitchFamily="34" charset="0"/>
                <a:ea typeface="宋体" panose="02010600030101010101" pitchFamily="2" charset="-122"/>
              </a:rPr>
              <a:t>k</a:t>
            </a:r>
            <a:r>
              <a:rPr lang="en-US" altLang="zh-CN" sz="2400" b="1" baseline="-25000" dirty="0">
                <a:latin typeface="Arial" panose="020B0604020202020204" pitchFamily="34" charset="0"/>
                <a:ea typeface="宋体" panose="02010600030101010101" pitchFamily="2" charset="-122"/>
              </a:rPr>
              <a:t>2</a:t>
            </a: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是增长率，都是正常数。</a:t>
            </a:r>
            <a:endParaRPr lang="en-US" altLang="zh-CN" sz="2400" b="1" dirty="0">
              <a:latin typeface="Arial" panose="020B0604020202020204" pitchFamily="34" charset="0"/>
              <a:ea typeface="宋体" panose="02010600030101010101" pitchFamily="2" charset="-122"/>
            </a:endParaRPr>
          </a:p>
          <a:p>
            <a:pPr>
              <a:lnSpc>
                <a:spcPct val="110000"/>
              </a:lnSpc>
              <a:spcBef>
                <a:spcPct val="30000"/>
              </a:spcBef>
              <a:buClr>
                <a:schemeClr val="hlink"/>
              </a:buClr>
              <a:defRPr/>
            </a:pPr>
            <a:endParaRPr lang="en-US" altLang="zh-CN" sz="2400" b="1" dirty="0">
              <a:latin typeface="Arial" panose="020B0604020202020204" pitchFamily="34" charset="0"/>
              <a:ea typeface="宋体" panose="02010600030101010101" pitchFamily="2" charset="-122"/>
            </a:endParaRPr>
          </a:p>
          <a:p>
            <a:pPr>
              <a:lnSpc>
                <a:spcPct val="110000"/>
              </a:lnSpc>
              <a:spcBef>
                <a:spcPct val="30000"/>
              </a:spcBef>
              <a:buClr>
                <a:schemeClr val="hlink"/>
              </a:buClr>
              <a:defRPr/>
            </a:pPr>
            <a:r>
              <a:rPr lang="zh-CN" altLang="en-US" sz="2400" b="1" dirty="0">
                <a:latin typeface="Arial" panose="020B0604020202020204" pitchFamily="34" charset="0"/>
                <a:ea typeface="宋体" panose="02010600030101010101" pitchFamily="2" charset="-122"/>
              </a:rPr>
              <a:t>第二个种群的存在是为了降低另一个种群的增长率，反之亦然。</a:t>
            </a:r>
          </a:p>
        </p:txBody>
      </p:sp>
      <p:pic>
        <p:nvPicPr>
          <p:cNvPr id="2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800" y="4077072"/>
            <a:ext cx="4093654" cy="3631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600" dirty="0">
                <a:latin typeface="Times New Roman" panose="02020603050405020304" pitchFamily="18" charset="0"/>
                <a:ea typeface="文鼎大标宋简" charset="-122"/>
              </a:rPr>
              <a:t>差分方程组</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7" name="矩形 1"/>
          <p:cNvSpPr>
            <a:spLocks noChangeArrowheads="1"/>
          </p:cNvSpPr>
          <p:nvPr/>
        </p:nvSpPr>
        <p:spPr bwMode="auto">
          <a:xfrm>
            <a:off x="323725" y="988072"/>
            <a:ext cx="8640763" cy="4083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ct val="30000"/>
              </a:spcBef>
              <a:buClr>
                <a:schemeClr val="hlink"/>
              </a:buClr>
              <a:buFont typeface="Wingdings" panose="05000000000000000000" pitchFamily="2" charset="2"/>
              <a:buChar char="v"/>
            </a:pPr>
            <a:r>
              <a:rPr lang="zh-CN" altLang="en-US" sz="2400" b="1" dirty="0">
                <a:ea typeface="宋体" panose="02010600030101010101" pitchFamily="2" charset="-122"/>
              </a:rPr>
              <a:t>假设增长率的减少与</a:t>
            </a:r>
            <a:r>
              <a:rPr lang="en-US" altLang="zh-CN" sz="2400" b="1" dirty="0">
                <a:ea typeface="宋体" panose="02010600030101010101" pitchFamily="2" charset="-122"/>
              </a:rPr>
              <a:t>O</a:t>
            </a:r>
            <a:r>
              <a:rPr lang="en-US" altLang="zh-CN" sz="2400" b="1" baseline="-25000" dirty="0">
                <a:ea typeface="宋体" panose="02010600030101010101" pitchFamily="2" charset="-122"/>
              </a:rPr>
              <a:t>n</a:t>
            </a:r>
            <a:r>
              <a:rPr lang="zh-CN" altLang="en-US" sz="2400" b="1" dirty="0">
                <a:ea typeface="宋体" panose="02010600030101010101" pitchFamily="2" charset="-122"/>
              </a:rPr>
              <a:t>与</a:t>
            </a:r>
            <a:r>
              <a:rPr lang="en-US" altLang="zh-CN" sz="2400" b="1" dirty="0" err="1">
                <a:ea typeface="宋体" panose="02010600030101010101" pitchFamily="2" charset="-122"/>
              </a:rPr>
              <a:t>H</a:t>
            </a:r>
            <a:r>
              <a:rPr lang="en-US" altLang="zh-CN" sz="2400" b="1" baseline="-25000" dirty="0" err="1">
                <a:ea typeface="宋体" panose="02010600030101010101" pitchFamily="2" charset="-122"/>
              </a:rPr>
              <a:t>n</a:t>
            </a:r>
            <a:r>
              <a:rPr lang="zh-CN" altLang="en-US" sz="2400" b="1" dirty="0">
                <a:ea typeface="宋体" panose="02010600030101010101" pitchFamily="2" charset="-122"/>
              </a:rPr>
              <a:t>的乘积成比例：</a:t>
            </a:r>
            <a:endParaRPr lang="en-US" altLang="zh-CN" sz="2400" b="1" dirty="0">
              <a:ea typeface="宋体" panose="02010600030101010101" pitchFamily="2" charset="-122"/>
            </a:endParaRPr>
          </a:p>
          <a:p>
            <a:pPr eaLnBrk="1" hangingPunct="1">
              <a:lnSpc>
                <a:spcPct val="110000"/>
              </a:lnSpc>
              <a:spcBef>
                <a:spcPct val="30000"/>
              </a:spcBef>
              <a:buClr>
                <a:schemeClr val="hlink"/>
              </a:buClr>
              <a:buFont typeface="Wingdings" panose="05000000000000000000" pitchFamily="2" charset="2"/>
              <a:buChar char="v"/>
            </a:pPr>
            <a:endParaRPr lang="en-US" altLang="zh-CN" sz="2400" b="1" dirty="0">
              <a:ea typeface="宋体" panose="02010600030101010101" pitchFamily="2" charset="-122"/>
            </a:endParaRPr>
          </a:p>
          <a:p>
            <a:pPr eaLnBrk="1" hangingPunct="1">
              <a:lnSpc>
                <a:spcPct val="110000"/>
              </a:lnSpc>
              <a:spcBef>
                <a:spcPct val="30000"/>
              </a:spcBef>
              <a:buClr>
                <a:schemeClr val="hlink"/>
              </a:buClr>
              <a:buFont typeface="Wingdings" panose="05000000000000000000" pitchFamily="2" charset="2"/>
              <a:buChar char="v"/>
            </a:pPr>
            <a:endParaRPr lang="en-US" altLang="zh-CN" sz="2400" b="1" dirty="0">
              <a:ea typeface="宋体" panose="02010600030101010101" pitchFamily="2" charset="-122"/>
            </a:endParaRPr>
          </a:p>
          <a:p>
            <a:pPr eaLnBrk="1" hangingPunct="1">
              <a:lnSpc>
                <a:spcPct val="110000"/>
              </a:lnSpc>
              <a:spcBef>
                <a:spcPct val="30000"/>
              </a:spcBef>
              <a:buClr>
                <a:schemeClr val="hlink"/>
              </a:buClr>
              <a:buFont typeface="Wingdings" panose="05000000000000000000" pitchFamily="2" charset="2"/>
              <a:buChar char="v"/>
            </a:pPr>
            <a:r>
              <a:rPr lang="zh-CN" altLang="en-US" sz="2400" b="1" dirty="0">
                <a:ea typeface="宋体" panose="02010600030101010101" pitchFamily="2" charset="-122"/>
              </a:rPr>
              <a:t>对第</a:t>
            </a:r>
            <a:r>
              <a:rPr lang="en-US" altLang="zh-CN" sz="2400" b="1" dirty="0">
                <a:ea typeface="宋体" panose="02010600030101010101" pitchFamily="2" charset="-122"/>
              </a:rPr>
              <a:t>n+1</a:t>
            </a:r>
            <a:r>
              <a:rPr lang="zh-CN" altLang="en-US" sz="2400" b="1" dirty="0">
                <a:ea typeface="宋体" panose="02010600030101010101" pitchFamily="2" charset="-122"/>
              </a:rPr>
              <a:t>项表示的上述方程组为：</a:t>
            </a:r>
            <a:endParaRPr lang="en-US" altLang="zh-CN" sz="2400" b="1" dirty="0">
              <a:ea typeface="宋体" panose="02010600030101010101" pitchFamily="2" charset="-122"/>
            </a:endParaRPr>
          </a:p>
          <a:p>
            <a:pPr eaLnBrk="1" hangingPunct="1">
              <a:lnSpc>
                <a:spcPct val="110000"/>
              </a:lnSpc>
              <a:spcBef>
                <a:spcPct val="30000"/>
              </a:spcBef>
              <a:buClr>
                <a:schemeClr val="hlink"/>
              </a:buClr>
              <a:buFont typeface="Wingdings" panose="05000000000000000000" pitchFamily="2" charset="2"/>
              <a:buChar char="v"/>
            </a:pPr>
            <a:endParaRPr lang="en-US" altLang="zh-CN" sz="2400" b="1" dirty="0">
              <a:ea typeface="宋体" panose="02010600030101010101" pitchFamily="2" charset="-122"/>
            </a:endParaRPr>
          </a:p>
          <a:p>
            <a:pPr eaLnBrk="1" hangingPunct="1">
              <a:lnSpc>
                <a:spcPct val="110000"/>
              </a:lnSpc>
              <a:spcBef>
                <a:spcPct val="30000"/>
              </a:spcBef>
              <a:buClr>
                <a:schemeClr val="hlink"/>
              </a:buClr>
              <a:buFont typeface="Wingdings" panose="05000000000000000000" pitchFamily="2" charset="2"/>
              <a:buChar char="v"/>
            </a:pPr>
            <a:endParaRPr lang="en-US" altLang="zh-CN" sz="2400" b="1" dirty="0">
              <a:ea typeface="宋体" panose="02010600030101010101" pitchFamily="2" charset="-122"/>
            </a:endParaRPr>
          </a:p>
          <a:p>
            <a:pPr eaLnBrk="1" hangingPunct="1">
              <a:lnSpc>
                <a:spcPct val="110000"/>
              </a:lnSpc>
              <a:spcBef>
                <a:spcPct val="30000"/>
              </a:spcBef>
              <a:buClr>
                <a:schemeClr val="hlink"/>
              </a:buClr>
              <a:buFont typeface="Wingdings" panose="05000000000000000000" pitchFamily="2" charset="2"/>
              <a:buChar char="v"/>
            </a:pPr>
            <a:endParaRPr lang="en-US" altLang="zh-CN" sz="2400" b="1" dirty="0">
              <a:ea typeface="宋体" panose="02010600030101010101" pitchFamily="2" charset="-122"/>
            </a:endParaRPr>
          </a:p>
          <a:p>
            <a:pPr eaLnBrk="1" hangingPunct="1">
              <a:lnSpc>
                <a:spcPct val="110000"/>
              </a:lnSpc>
              <a:spcBef>
                <a:spcPct val="30000"/>
              </a:spcBef>
              <a:buClr>
                <a:schemeClr val="hlink"/>
              </a:buClr>
              <a:buFont typeface="Wingdings" panose="05000000000000000000" pitchFamily="2" charset="2"/>
              <a:buChar char="v"/>
            </a:pPr>
            <a:r>
              <a:rPr lang="zh-CN" altLang="en-US" sz="2400" b="1" dirty="0">
                <a:ea typeface="宋体" panose="02010600030101010101" pitchFamily="2" charset="-122"/>
              </a:rPr>
              <a:t>假设</a:t>
            </a:r>
            <a:r>
              <a:rPr lang="en-US" altLang="zh-CN" sz="2400" b="1" i="1" dirty="0">
                <a:ea typeface="宋体" panose="02010600030101010101" pitchFamily="2" charset="-122"/>
              </a:rPr>
              <a:t>k</a:t>
            </a:r>
            <a:r>
              <a:rPr lang="en-US" altLang="zh-CN" sz="2400" b="1" baseline="-25000" dirty="0">
                <a:ea typeface="宋体" panose="02010600030101010101" pitchFamily="2" charset="-122"/>
              </a:rPr>
              <a:t>1 </a:t>
            </a:r>
            <a:r>
              <a:rPr lang="en-US" altLang="zh-CN" sz="2400" b="1" dirty="0">
                <a:ea typeface="宋体" panose="02010600030101010101" pitchFamily="2" charset="-122"/>
              </a:rPr>
              <a:t>=0.2, </a:t>
            </a:r>
            <a:r>
              <a:rPr lang="en-US" altLang="zh-CN" sz="2400" b="1" i="1" dirty="0">
                <a:ea typeface="宋体" panose="02010600030101010101" pitchFamily="2" charset="-122"/>
              </a:rPr>
              <a:t>k</a:t>
            </a:r>
            <a:r>
              <a:rPr lang="en-US" altLang="zh-CN" sz="2400" b="1" baseline="-25000" dirty="0">
                <a:ea typeface="宋体" panose="02010600030101010101" pitchFamily="2" charset="-122"/>
              </a:rPr>
              <a:t>2 </a:t>
            </a:r>
            <a:r>
              <a:rPr lang="en-US" altLang="zh-CN" sz="2400" b="1" dirty="0">
                <a:ea typeface="宋体" panose="02010600030101010101" pitchFamily="2" charset="-122"/>
              </a:rPr>
              <a:t>=0.3, </a:t>
            </a:r>
            <a:r>
              <a:rPr lang="en-US" altLang="zh-CN" sz="2400" b="1" i="1" dirty="0">
                <a:ea typeface="宋体" panose="02010600030101010101" pitchFamily="2" charset="-122"/>
              </a:rPr>
              <a:t>k</a:t>
            </a:r>
            <a:r>
              <a:rPr lang="en-US" altLang="zh-CN" sz="2400" b="1" baseline="-25000" dirty="0">
                <a:ea typeface="宋体" panose="02010600030101010101" pitchFamily="2" charset="-122"/>
              </a:rPr>
              <a:t>3 </a:t>
            </a:r>
            <a:r>
              <a:rPr lang="en-US" altLang="zh-CN" sz="2400" b="1" dirty="0">
                <a:ea typeface="宋体" panose="02010600030101010101" pitchFamily="2" charset="-122"/>
              </a:rPr>
              <a:t>=0.001</a:t>
            </a:r>
            <a:r>
              <a:rPr lang="zh-CN" altLang="en-US" sz="2400" b="1" dirty="0">
                <a:ea typeface="宋体" panose="02010600030101010101" pitchFamily="2" charset="-122"/>
              </a:rPr>
              <a:t>，</a:t>
            </a:r>
            <a:r>
              <a:rPr lang="en-US" altLang="zh-CN" sz="2400" b="1" i="1" dirty="0">
                <a:ea typeface="宋体" panose="02010600030101010101" pitchFamily="2" charset="-122"/>
              </a:rPr>
              <a:t>k</a:t>
            </a:r>
            <a:r>
              <a:rPr lang="en-US" altLang="zh-CN" sz="2400" b="1" baseline="-25000" dirty="0">
                <a:ea typeface="宋体" panose="02010600030101010101" pitchFamily="2" charset="-122"/>
              </a:rPr>
              <a:t>4 </a:t>
            </a:r>
            <a:r>
              <a:rPr lang="en-US" altLang="zh-CN" sz="2400" b="1" dirty="0">
                <a:ea typeface="宋体" panose="02010600030101010101" pitchFamily="2" charset="-122"/>
              </a:rPr>
              <a:t>=0.002, </a:t>
            </a:r>
            <a:r>
              <a:rPr lang="zh-CN" altLang="en-US" sz="2400" b="1" dirty="0">
                <a:ea typeface="宋体" panose="02010600030101010101" pitchFamily="2" charset="-122"/>
              </a:rPr>
              <a:t>则</a:t>
            </a:r>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7864" y="1524793"/>
            <a:ext cx="2969962" cy="7577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6281" y="5229534"/>
            <a:ext cx="3028950" cy="771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2786" y="3117526"/>
            <a:ext cx="3542839" cy="7577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600" dirty="0">
                <a:latin typeface="Times New Roman" panose="02020603050405020304" pitchFamily="18" charset="0"/>
                <a:ea typeface="文鼎大标宋简" charset="-122"/>
              </a:rPr>
              <a:t>差分方程组</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11" name="矩形 1"/>
          <p:cNvSpPr>
            <a:spLocks noChangeArrowheads="1"/>
          </p:cNvSpPr>
          <p:nvPr/>
        </p:nvSpPr>
        <p:spPr bwMode="auto">
          <a:xfrm>
            <a:off x="250824" y="1038872"/>
            <a:ext cx="8640763" cy="342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ct val="30000"/>
              </a:spcBef>
              <a:buClr>
                <a:schemeClr val="hlink"/>
              </a:buClr>
              <a:buFont typeface="Wingdings" panose="05000000000000000000" pitchFamily="2" charset="2"/>
              <a:buChar char="v"/>
            </a:pPr>
            <a:r>
              <a:rPr lang="zh-CN" altLang="en-US" sz="2000" b="1" dirty="0">
                <a:ea typeface="宋体" panose="02010600030101010101" pitchFamily="2" charset="-122"/>
              </a:rPr>
              <a:t>根据平衡点定义：</a:t>
            </a:r>
            <a:endParaRPr lang="en-US" altLang="zh-CN" sz="2000" b="1" dirty="0">
              <a:ea typeface="宋体" panose="02010600030101010101" pitchFamily="2" charset="-122"/>
            </a:endParaRPr>
          </a:p>
          <a:p>
            <a:pPr eaLnBrk="1" hangingPunct="1">
              <a:lnSpc>
                <a:spcPct val="110000"/>
              </a:lnSpc>
              <a:spcBef>
                <a:spcPct val="30000"/>
              </a:spcBef>
              <a:buClr>
                <a:schemeClr val="hlink"/>
              </a:buClr>
              <a:buFont typeface="Wingdings" panose="05000000000000000000" pitchFamily="2" charset="2"/>
              <a:buChar char="v"/>
            </a:pPr>
            <a:endParaRPr lang="en-US" altLang="zh-CN" sz="2000" b="1" dirty="0">
              <a:ea typeface="宋体" panose="02010600030101010101" pitchFamily="2" charset="-122"/>
            </a:endParaRPr>
          </a:p>
          <a:p>
            <a:pPr eaLnBrk="1" hangingPunct="1">
              <a:lnSpc>
                <a:spcPct val="110000"/>
              </a:lnSpc>
              <a:spcBef>
                <a:spcPct val="30000"/>
              </a:spcBef>
              <a:buClr>
                <a:schemeClr val="hlink"/>
              </a:buClr>
              <a:buFont typeface="Wingdings" panose="05000000000000000000" pitchFamily="2" charset="2"/>
              <a:buChar char="v"/>
            </a:pPr>
            <a:r>
              <a:rPr lang="zh-CN" altLang="en-US" sz="2000" b="1" dirty="0">
                <a:ea typeface="宋体" panose="02010600030101010101" pitchFamily="2" charset="-122"/>
              </a:rPr>
              <a:t>代入方程：</a:t>
            </a:r>
            <a:r>
              <a:rPr lang="en-US" altLang="zh-CN" sz="2000" b="1" dirty="0">
                <a:ea typeface="宋体" panose="02010600030101010101" pitchFamily="2" charset="-122"/>
              </a:rPr>
              <a:t>     </a:t>
            </a:r>
          </a:p>
          <a:p>
            <a:pPr eaLnBrk="1" hangingPunct="1">
              <a:lnSpc>
                <a:spcPct val="110000"/>
              </a:lnSpc>
              <a:spcBef>
                <a:spcPct val="30000"/>
              </a:spcBef>
              <a:buClr>
                <a:schemeClr val="hlink"/>
              </a:buClr>
              <a:buFont typeface="Wingdings" panose="05000000000000000000" pitchFamily="2" charset="2"/>
              <a:buChar char="v"/>
            </a:pPr>
            <a:endParaRPr lang="en-US" altLang="zh-CN" sz="2000" b="1" dirty="0">
              <a:ea typeface="宋体" panose="02010600030101010101" pitchFamily="2" charset="-122"/>
            </a:endParaRPr>
          </a:p>
          <a:p>
            <a:pPr eaLnBrk="1" hangingPunct="1">
              <a:lnSpc>
                <a:spcPct val="110000"/>
              </a:lnSpc>
              <a:spcBef>
                <a:spcPct val="30000"/>
              </a:spcBef>
              <a:buClr>
                <a:schemeClr val="hlink"/>
              </a:buClr>
              <a:buFont typeface="Wingdings" panose="05000000000000000000" pitchFamily="2" charset="2"/>
              <a:buChar char="v"/>
            </a:pPr>
            <a:endParaRPr lang="en-US" altLang="zh-CN" sz="2000" b="1" dirty="0">
              <a:ea typeface="宋体" panose="02010600030101010101" pitchFamily="2" charset="-122"/>
            </a:endParaRPr>
          </a:p>
          <a:p>
            <a:pPr eaLnBrk="1" hangingPunct="1">
              <a:lnSpc>
                <a:spcPct val="110000"/>
              </a:lnSpc>
              <a:spcBef>
                <a:spcPct val="30000"/>
              </a:spcBef>
              <a:buClr>
                <a:schemeClr val="hlink"/>
              </a:buClr>
            </a:pPr>
            <a:endParaRPr lang="en-US" altLang="zh-CN" sz="2000" b="1" dirty="0">
              <a:ea typeface="宋体" panose="02010600030101010101" pitchFamily="2" charset="-122"/>
            </a:endParaRPr>
          </a:p>
          <a:p>
            <a:pPr eaLnBrk="1" hangingPunct="1">
              <a:lnSpc>
                <a:spcPct val="110000"/>
              </a:lnSpc>
              <a:spcBef>
                <a:spcPct val="30000"/>
              </a:spcBef>
              <a:buClr>
                <a:schemeClr val="hlink"/>
              </a:buClr>
            </a:pPr>
            <a:endParaRPr lang="en-US" altLang="zh-CN" sz="2000" b="1" dirty="0">
              <a:ea typeface="宋体" panose="02010600030101010101" pitchFamily="2" charset="-122"/>
            </a:endParaRPr>
          </a:p>
          <a:p>
            <a:pPr eaLnBrk="1" hangingPunct="1">
              <a:lnSpc>
                <a:spcPct val="110000"/>
              </a:lnSpc>
              <a:spcBef>
                <a:spcPct val="30000"/>
              </a:spcBef>
              <a:buClr>
                <a:schemeClr val="hlink"/>
              </a:buClr>
            </a:pPr>
            <a:endParaRPr lang="en-US" altLang="zh-CN" sz="2000" b="1" dirty="0">
              <a:ea typeface="宋体" panose="02010600030101010101" pitchFamily="2" charset="-122"/>
            </a:endParaRPr>
          </a:p>
        </p:txBody>
      </p:sp>
      <p:pic>
        <p:nvPicPr>
          <p:cNvPr id="12"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3968" y="4230861"/>
            <a:ext cx="3468687" cy="203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矩形 3"/>
          <p:cNvSpPr>
            <a:spLocks noChangeArrowheads="1"/>
          </p:cNvSpPr>
          <p:nvPr/>
        </p:nvSpPr>
        <p:spPr bwMode="auto">
          <a:xfrm>
            <a:off x="272178" y="4854749"/>
            <a:ext cx="4572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110000"/>
              </a:lnSpc>
              <a:spcBef>
                <a:spcPct val="30000"/>
              </a:spcBef>
              <a:buClr>
                <a:schemeClr val="hlink"/>
              </a:buClr>
            </a:pPr>
            <a:r>
              <a:rPr lang="en-US" altLang="zh-CN" b="1" dirty="0">
                <a:ea typeface="宋体" panose="02010600030101010101" pitchFamily="2" charset="-122"/>
              </a:rPr>
              <a:t>(</a:t>
            </a:r>
            <a:r>
              <a:rPr lang="en-US" altLang="zh-CN" b="1" i="1" dirty="0">
                <a:ea typeface="宋体" panose="02010600030101010101" pitchFamily="2" charset="-122"/>
              </a:rPr>
              <a:t>O</a:t>
            </a:r>
            <a:r>
              <a:rPr lang="en-US" altLang="zh-CN" b="1" dirty="0">
                <a:ea typeface="宋体" panose="02010600030101010101" pitchFamily="2" charset="-122"/>
              </a:rPr>
              <a:t> = 0, </a:t>
            </a:r>
            <a:r>
              <a:rPr lang="en-US" altLang="zh-CN" b="1" i="1" dirty="0">
                <a:ea typeface="宋体" panose="02010600030101010101" pitchFamily="2" charset="-122"/>
              </a:rPr>
              <a:t>H</a:t>
            </a:r>
            <a:r>
              <a:rPr lang="en-US" altLang="zh-CN" b="1" dirty="0">
                <a:ea typeface="宋体" panose="02010600030101010101" pitchFamily="2" charset="-122"/>
              </a:rPr>
              <a:t> = 0)</a:t>
            </a:r>
          </a:p>
          <a:p>
            <a:pPr algn="ctr" eaLnBrk="1" hangingPunct="1">
              <a:lnSpc>
                <a:spcPct val="110000"/>
              </a:lnSpc>
              <a:spcBef>
                <a:spcPct val="30000"/>
              </a:spcBef>
              <a:buClr>
                <a:schemeClr val="hlink"/>
              </a:buClr>
            </a:pPr>
            <a:r>
              <a:rPr lang="en-US" altLang="zh-CN" b="1" dirty="0">
                <a:ea typeface="宋体" panose="02010600030101010101" pitchFamily="2" charset="-122"/>
              </a:rPr>
              <a:t>(</a:t>
            </a:r>
            <a:r>
              <a:rPr lang="en-US" altLang="zh-CN" b="1" i="1" dirty="0">
                <a:ea typeface="宋体" panose="02010600030101010101" pitchFamily="2" charset="-122"/>
              </a:rPr>
              <a:t>O</a:t>
            </a:r>
            <a:r>
              <a:rPr lang="en-US" altLang="zh-CN" b="1" dirty="0">
                <a:ea typeface="宋体" panose="02010600030101010101" pitchFamily="2" charset="-122"/>
              </a:rPr>
              <a:t> = 150, </a:t>
            </a:r>
            <a:r>
              <a:rPr lang="en-US" altLang="zh-CN" b="1" i="1" dirty="0">
                <a:ea typeface="宋体" panose="02010600030101010101" pitchFamily="2" charset="-122"/>
              </a:rPr>
              <a:t>H</a:t>
            </a:r>
            <a:r>
              <a:rPr lang="en-US" altLang="zh-CN" b="1" dirty="0">
                <a:ea typeface="宋体" panose="02010600030101010101" pitchFamily="2" charset="-122"/>
              </a:rPr>
              <a:t> = 200)</a:t>
            </a:r>
            <a:endParaRPr lang="zh-CN" altLang="en-US" dirty="0">
              <a:ea typeface="宋体" panose="02010600030101010101" pitchFamily="2" charset="-122"/>
            </a:endParaRPr>
          </a:p>
        </p:txBody>
      </p:sp>
      <p:pic>
        <p:nvPicPr>
          <p:cNvPr id="14" name="Picture 7"/>
          <p:cNvPicPr>
            <a:picLocks noChangeAspect="1" noChangeArrowheads="1"/>
          </p:cNvPicPr>
          <p:nvPr/>
        </p:nvPicPr>
        <p:blipFill>
          <a:blip r:embed="rId5">
            <a:extLst>
              <a:ext uri="{28A0092B-C50C-407E-A947-70E740481C1C}">
                <a14:useLocalDpi xmlns:a14="http://schemas.microsoft.com/office/drawing/2010/main" val="0"/>
              </a:ext>
            </a:extLst>
          </a:blip>
          <a:srcRect r="53304"/>
          <a:stretch>
            <a:fillRect/>
          </a:stretch>
        </p:blipFill>
        <p:spPr bwMode="auto">
          <a:xfrm>
            <a:off x="1979712" y="1548273"/>
            <a:ext cx="1800200" cy="3006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91048" y="1531724"/>
            <a:ext cx="1841558" cy="3171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73487" y="2073693"/>
            <a:ext cx="2462609" cy="707875"/>
          </a:xfrm>
          <a:prstGeom prst="rect">
            <a:avLst/>
          </a:prstGeom>
          <a:noFill/>
          <a:ln w="9525">
            <a:solidFill>
              <a:schemeClr val="tx1"/>
            </a:solidFill>
            <a:prstDash val="lgDash"/>
            <a:miter lim="800000"/>
            <a:headEnd/>
            <a:tailEnd/>
          </a:ln>
          <a:extLst>
            <a:ext uri="{909E8E84-426E-40DD-AFC4-6F175D3DCCD1}">
              <a14:hiddenFill xmlns:a14="http://schemas.microsoft.com/office/drawing/2010/main">
                <a:solidFill>
                  <a:schemeClr val="accent1"/>
                </a:solidFill>
              </a14:hiddenFill>
            </a:ext>
          </a:extLst>
        </p:spPr>
      </p:pic>
      <p:pic>
        <p:nvPicPr>
          <p:cNvPr id="17"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23728" y="3016803"/>
            <a:ext cx="4210050" cy="733425"/>
          </a:xfrm>
          <a:prstGeom prst="rect">
            <a:avLst/>
          </a:prstGeom>
          <a:noFill/>
          <a:ln w="9525">
            <a:solidFill>
              <a:schemeClr val="tx1"/>
            </a:solidFill>
            <a:prstDash val="dashDot"/>
            <a:miter lim="800000"/>
            <a:headEnd/>
            <a:tailEnd/>
          </a:ln>
          <a:extLst>
            <a:ext uri="{909E8E84-426E-40DD-AFC4-6F175D3DCCD1}">
              <a14:hiddenFill xmlns:a14="http://schemas.microsoft.com/office/drawing/2010/main">
                <a:solidFill>
                  <a:schemeClr val="accent1"/>
                </a:solidFill>
              </a14:hiddenFill>
            </a:ext>
          </a:extLst>
        </p:spPr>
      </p:pic>
      <p:sp>
        <p:nvSpPr>
          <p:cNvPr id="2" name="箭头: 右 1"/>
          <p:cNvSpPr/>
          <p:nvPr/>
        </p:nvSpPr>
        <p:spPr>
          <a:xfrm>
            <a:off x="899592" y="3278361"/>
            <a:ext cx="864096" cy="2103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600" dirty="0">
                <a:latin typeface="Times New Roman" panose="02020603050405020304" pitchFamily="18" charset="0"/>
                <a:ea typeface="文鼎大标宋简" charset="-122"/>
              </a:rPr>
              <a:t>差分方程组</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18" name="矩形 1"/>
          <p:cNvSpPr>
            <a:spLocks noChangeArrowheads="1"/>
          </p:cNvSpPr>
          <p:nvPr/>
        </p:nvSpPr>
        <p:spPr bwMode="auto">
          <a:xfrm>
            <a:off x="258730" y="996950"/>
            <a:ext cx="8640763" cy="463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nSpc>
                <a:spcPct val="110000"/>
              </a:lnSpc>
              <a:spcBef>
                <a:spcPct val="30000"/>
              </a:spcBef>
              <a:buClr>
                <a:schemeClr val="hlink"/>
              </a:buClr>
              <a:buFont typeface="Wingdings" panose="05000000000000000000" pitchFamily="2" charset="2"/>
              <a:buChar char="v"/>
              <a:defRPr/>
            </a:pPr>
            <a:r>
              <a:rPr lang="zh-CN" altLang="en-US" sz="2400" b="1" dirty="0">
                <a:latin typeface="Arial" panose="020B0604020202020204" pitchFamily="34" charset="0"/>
                <a:ea typeface="宋体" panose="02010600030101010101" pitchFamily="2" charset="-122"/>
              </a:rPr>
              <a:t>敏感性分析：假设栖息地放置了</a:t>
            </a:r>
            <a:r>
              <a:rPr lang="en-US" altLang="zh-CN" sz="2400" b="1" dirty="0">
                <a:latin typeface="Arial" panose="020B0604020202020204" pitchFamily="34" charset="0"/>
                <a:ea typeface="宋体" panose="02010600030101010101" pitchFamily="2" charset="-122"/>
              </a:rPr>
              <a:t>350</a:t>
            </a:r>
            <a:r>
              <a:rPr lang="zh-CN" altLang="en-US" sz="2400" b="1" dirty="0">
                <a:latin typeface="Arial" panose="020B0604020202020204" pitchFamily="34" charset="0"/>
                <a:ea typeface="宋体" panose="02010600030101010101" pitchFamily="2" charset="-122"/>
              </a:rPr>
              <a:t>头猫头鹰和隼</a:t>
            </a:r>
          </a:p>
        </p:txBody>
      </p:sp>
      <p:pic>
        <p:nvPicPr>
          <p:cNvPr id="1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276" y="1755366"/>
            <a:ext cx="5237163" cy="4433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矩形 2"/>
          <p:cNvSpPr>
            <a:spLocks noChangeArrowheads="1"/>
          </p:cNvSpPr>
          <p:nvPr/>
        </p:nvSpPr>
        <p:spPr bwMode="auto">
          <a:xfrm>
            <a:off x="3819835" y="4770955"/>
            <a:ext cx="51133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dirty="0">
                <a:solidFill>
                  <a:srgbClr val="0000FF"/>
                </a:solidFill>
                <a:ea typeface="宋体" panose="02010600030101010101" pitchFamily="2" charset="-122"/>
              </a:rPr>
              <a:t>1</a:t>
            </a:r>
            <a:r>
              <a:rPr lang="zh-CN" altLang="en-US" sz="2000" dirty="0">
                <a:solidFill>
                  <a:srgbClr val="0000FF"/>
                </a:solidFill>
                <a:ea typeface="宋体" panose="02010600030101010101" pitchFamily="2" charset="-122"/>
              </a:rPr>
              <a:t>）如果</a:t>
            </a:r>
            <a:r>
              <a:rPr lang="en-US" altLang="zh-CN" sz="2000" dirty="0">
                <a:solidFill>
                  <a:srgbClr val="0000FF"/>
                </a:solidFill>
                <a:ea typeface="宋体" panose="02010600030101010101" pitchFamily="2" charset="-122"/>
              </a:rPr>
              <a:t>151</a:t>
            </a:r>
            <a:r>
              <a:rPr lang="zh-CN" altLang="en-US" sz="2000" dirty="0">
                <a:solidFill>
                  <a:srgbClr val="0000FF"/>
                </a:solidFill>
                <a:ea typeface="宋体" panose="02010600030101010101" pitchFamily="2" charset="-122"/>
              </a:rPr>
              <a:t>头为猫头鹰，猫头鹰将无限增长，而隼会消失</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600" dirty="0">
                <a:latin typeface="Times New Roman" panose="02020603050405020304" pitchFamily="18" charset="0"/>
                <a:ea typeface="文鼎大标宋简" charset="-122"/>
              </a:rPr>
              <a:t>差分方程组</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18" name="矩形 1"/>
          <p:cNvSpPr>
            <a:spLocks noChangeArrowheads="1"/>
          </p:cNvSpPr>
          <p:nvPr/>
        </p:nvSpPr>
        <p:spPr bwMode="auto">
          <a:xfrm>
            <a:off x="258730" y="996950"/>
            <a:ext cx="8640763" cy="463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nSpc>
                <a:spcPct val="110000"/>
              </a:lnSpc>
              <a:spcBef>
                <a:spcPct val="30000"/>
              </a:spcBef>
              <a:buClr>
                <a:schemeClr val="hlink"/>
              </a:buClr>
              <a:buFont typeface="Wingdings" panose="05000000000000000000" pitchFamily="2" charset="2"/>
              <a:buChar char="v"/>
              <a:defRPr/>
            </a:pPr>
            <a:r>
              <a:rPr lang="zh-CN" altLang="en-US" sz="2400" b="1" dirty="0">
                <a:latin typeface="Arial" panose="020B0604020202020204" pitchFamily="34" charset="0"/>
                <a:ea typeface="宋体" panose="02010600030101010101" pitchFamily="2" charset="-122"/>
              </a:rPr>
              <a:t>敏感性分析：假设栖息地放置了</a:t>
            </a:r>
            <a:r>
              <a:rPr lang="en-US" altLang="zh-CN" sz="2400" b="1" dirty="0">
                <a:latin typeface="Arial" panose="020B0604020202020204" pitchFamily="34" charset="0"/>
                <a:ea typeface="宋体" panose="02010600030101010101" pitchFamily="2" charset="-122"/>
              </a:rPr>
              <a:t>350</a:t>
            </a:r>
            <a:r>
              <a:rPr lang="zh-CN" altLang="en-US" sz="2400" b="1" dirty="0">
                <a:latin typeface="Arial" panose="020B0604020202020204" pitchFamily="34" charset="0"/>
                <a:ea typeface="宋体" panose="02010600030101010101" pitchFamily="2" charset="-122"/>
              </a:rPr>
              <a:t>头猫头鹰和隼</a:t>
            </a:r>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844675"/>
            <a:ext cx="5657850" cy="4803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矩形 2"/>
          <p:cNvSpPr>
            <a:spLocks noChangeArrowheads="1"/>
          </p:cNvSpPr>
          <p:nvPr/>
        </p:nvSpPr>
        <p:spPr bwMode="auto">
          <a:xfrm>
            <a:off x="3819835" y="4770955"/>
            <a:ext cx="51133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dirty="0">
                <a:solidFill>
                  <a:srgbClr val="0000FF"/>
                </a:solidFill>
                <a:ea typeface="宋体" panose="02010600030101010101" pitchFamily="2" charset="-122"/>
              </a:rPr>
              <a:t>2</a:t>
            </a:r>
            <a:r>
              <a:rPr lang="zh-CN" altLang="en-US" sz="2000" dirty="0">
                <a:solidFill>
                  <a:srgbClr val="0000FF"/>
                </a:solidFill>
                <a:ea typeface="宋体" panose="02010600030101010101" pitchFamily="2" charset="-122"/>
              </a:rPr>
              <a:t>）如果</a:t>
            </a:r>
            <a:r>
              <a:rPr lang="en-US" altLang="zh-CN" sz="2000" dirty="0">
                <a:solidFill>
                  <a:srgbClr val="0000FF"/>
                </a:solidFill>
                <a:ea typeface="宋体" panose="02010600030101010101" pitchFamily="2" charset="-122"/>
              </a:rPr>
              <a:t>149</a:t>
            </a:r>
            <a:r>
              <a:rPr lang="zh-CN" altLang="en-US" sz="2000" dirty="0">
                <a:solidFill>
                  <a:srgbClr val="0000FF"/>
                </a:solidFill>
                <a:ea typeface="宋体" panose="02010600030101010101" pitchFamily="2" charset="-122"/>
              </a:rPr>
              <a:t>头为猫头鹰，隼将无限增长，而猫头鹰将会消失</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146050"/>
            <a:ext cx="8964488" cy="1143000"/>
          </a:xfrm>
        </p:spPr>
        <p:txBody>
          <a:bodyPr/>
          <a:lstStyle/>
          <a:p>
            <a:r>
              <a:rPr lang="zh-CN" altLang="en-US" sz="3600" dirty="0">
                <a:latin typeface="Times New Roman" panose="02020603050405020304" pitchFamily="18" charset="0"/>
                <a:ea typeface="文鼎大标宋简" charset="-122"/>
              </a:rPr>
              <a:t>差分方程组</a:t>
            </a:r>
            <a:endParaRPr lang="zh-CN" altLang="en-US" sz="3600" dirty="0">
              <a:effectLst/>
              <a:latin typeface="Times New Roman" panose="02020603050405020304" pitchFamily="18" charset="0"/>
              <a:ea typeface="文鼎大标宋简" charset="-122"/>
            </a:endParaRPr>
          </a:p>
        </p:txBody>
      </p:sp>
      <p:sp>
        <p:nvSpPr>
          <p:cNvPr id="5"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pic>
        <p:nvPicPr>
          <p:cNvPr id="6" name="Picture 2" descr="http://www.scut.edu.cn/publish2/news/intro/logo/resource/1smevus1otq84b.jpg"/>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18" name="矩形 1"/>
          <p:cNvSpPr>
            <a:spLocks noChangeArrowheads="1"/>
          </p:cNvSpPr>
          <p:nvPr/>
        </p:nvSpPr>
        <p:spPr bwMode="auto">
          <a:xfrm>
            <a:off x="258730" y="996950"/>
            <a:ext cx="8640763" cy="463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nSpc>
                <a:spcPct val="110000"/>
              </a:lnSpc>
              <a:spcBef>
                <a:spcPct val="30000"/>
              </a:spcBef>
              <a:buClr>
                <a:schemeClr val="hlink"/>
              </a:buClr>
              <a:buFont typeface="Wingdings" panose="05000000000000000000" pitchFamily="2" charset="2"/>
              <a:buChar char="v"/>
              <a:defRPr/>
            </a:pPr>
            <a:r>
              <a:rPr lang="zh-CN" altLang="en-US" sz="2400" b="1" dirty="0">
                <a:latin typeface="Arial" panose="020B0604020202020204" pitchFamily="34" charset="0"/>
                <a:ea typeface="宋体" panose="02010600030101010101" pitchFamily="2" charset="-122"/>
              </a:rPr>
              <a:t>敏感性分析：假设栖息地放置了</a:t>
            </a:r>
            <a:r>
              <a:rPr lang="en-US" altLang="zh-CN" sz="2400" b="1" dirty="0">
                <a:latin typeface="Arial" panose="020B0604020202020204" pitchFamily="34" charset="0"/>
                <a:ea typeface="宋体" panose="02010600030101010101" pitchFamily="2" charset="-122"/>
              </a:rPr>
              <a:t>350</a:t>
            </a:r>
            <a:r>
              <a:rPr lang="zh-CN" altLang="en-US" sz="2400" b="1" dirty="0">
                <a:latin typeface="Arial" panose="020B0604020202020204" pitchFamily="34" charset="0"/>
                <a:ea typeface="宋体" panose="02010600030101010101" pitchFamily="2" charset="-122"/>
              </a:rPr>
              <a:t>头猫头鹰和隼</a:t>
            </a:r>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844675"/>
            <a:ext cx="5657850" cy="4803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矩形 2"/>
          <p:cNvSpPr>
            <a:spLocks noChangeArrowheads="1"/>
          </p:cNvSpPr>
          <p:nvPr/>
        </p:nvSpPr>
        <p:spPr bwMode="auto">
          <a:xfrm>
            <a:off x="3819835" y="4770955"/>
            <a:ext cx="51133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dirty="0">
                <a:solidFill>
                  <a:srgbClr val="0000FF"/>
                </a:solidFill>
                <a:ea typeface="宋体" panose="02010600030101010101" pitchFamily="2" charset="-122"/>
              </a:rPr>
              <a:t>2</a:t>
            </a:r>
            <a:r>
              <a:rPr lang="zh-CN" altLang="en-US" sz="2000" dirty="0">
                <a:solidFill>
                  <a:srgbClr val="0000FF"/>
                </a:solidFill>
                <a:ea typeface="宋体" panose="02010600030101010101" pitchFamily="2" charset="-122"/>
              </a:rPr>
              <a:t>）如果</a:t>
            </a:r>
            <a:r>
              <a:rPr lang="en-US" altLang="zh-CN" sz="2000" dirty="0">
                <a:solidFill>
                  <a:srgbClr val="0000FF"/>
                </a:solidFill>
                <a:ea typeface="宋体" panose="02010600030101010101" pitchFamily="2" charset="-122"/>
              </a:rPr>
              <a:t>149</a:t>
            </a:r>
            <a:r>
              <a:rPr lang="zh-CN" altLang="en-US" sz="2000" dirty="0">
                <a:solidFill>
                  <a:srgbClr val="0000FF"/>
                </a:solidFill>
                <a:ea typeface="宋体" panose="02010600030101010101" pitchFamily="2" charset="-122"/>
              </a:rPr>
              <a:t>头为猫头鹰，隼将无限增长，而猫头鹰将会消失</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c2e6e522-7430-43d2-9d29-4b4027cf63b0"/>
  <p:tag name="COMMONDATA" val="eyJoZGlkIjoiNWRlOThiMTk5OWUwZjg4ZDBjYWZkZDZiMTg0MjQ2MW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TotalTime>
  <Words>1287</Words>
  <Application>Microsoft Office PowerPoint</Application>
  <PresentationFormat>全屏显示(4:3)</PresentationFormat>
  <Paragraphs>175</Paragraphs>
  <Slides>30</Slides>
  <Notes>29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30</vt:i4>
      </vt:variant>
    </vt:vector>
  </HeadingPairs>
  <TitlesOfParts>
    <vt:vector size="41" baseType="lpstr">
      <vt:lpstr>Arial Unicode MS</vt:lpstr>
      <vt:lpstr>等线</vt:lpstr>
      <vt:lpstr>楷体_GB2312</vt:lpstr>
      <vt:lpstr>宋体</vt:lpstr>
      <vt:lpstr>微软雅黑</vt:lpstr>
      <vt:lpstr>Arial</vt:lpstr>
      <vt:lpstr>Calibri</vt:lpstr>
      <vt:lpstr>Cambria Math</vt:lpstr>
      <vt:lpstr>Times New Roman</vt:lpstr>
      <vt:lpstr>Wingdings</vt:lpstr>
      <vt:lpstr>Office 主题</vt:lpstr>
      <vt:lpstr>PowerPoint 演示文稿</vt:lpstr>
      <vt:lpstr>对变化进行建模</vt:lpstr>
      <vt:lpstr>对变化进行建模</vt:lpstr>
      <vt:lpstr>对变化进行建模</vt:lpstr>
      <vt:lpstr>对变化进行建模</vt:lpstr>
      <vt:lpstr>对变化进行建模</vt:lpstr>
      <vt:lpstr>对变化进行建模</vt:lpstr>
      <vt:lpstr>对变化进行建模</vt:lpstr>
      <vt:lpstr>对变化进行建模</vt:lpstr>
      <vt:lpstr>对变化进行建模</vt:lpstr>
      <vt:lpstr>对变化进行建模</vt:lpstr>
      <vt:lpstr>线性动力系统</vt:lpstr>
      <vt:lpstr>线性动力系统</vt:lpstr>
      <vt:lpstr>线性动力系统</vt:lpstr>
      <vt:lpstr>线性动力系统</vt:lpstr>
      <vt:lpstr>线性动力系统</vt:lpstr>
      <vt:lpstr>线性动力系统</vt:lpstr>
      <vt:lpstr>线性动力系统</vt:lpstr>
      <vt:lpstr>线性动力系统</vt:lpstr>
      <vt:lpstr>线性动力系统</vt:lpstr>
      <vt:lpstr>线性动力系统</vt:lpstr>
      <vt:lpstr>线性动力系统</vt:lpstr>
      <vt:lpstr>非线性动力系统</vt:lpstr>
      <vt:lpstr>非线性动力系统</vt:lpstr>
      <vt:lpstr>差分方程组</vt:lpstr>
      <vt:lpstr>差分方程组</vt:lpstr>
      <vt:lpstr>差分方程组</vt:lpstr>
      <vt:lpstr>差分方程组</vt:lpstr>
      <vt:lpstr>差分方程组</vt:lpstr>
      <vt:lpstr>差分方程组</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xmwang</dc:creator>
  <cp:lastModifiedBy>WANG XM</cp:lastModifiedBy>
  <cp:revision>302</cp:revision>
  <cp:lastPrinted>2019-10-09T07:16:00Z</cp:lastPrinted>
  <dcterms:created xsi:type="dcterms:W3CDTF">2018-08-30T03:08:00Z</dcterms:created>
  <dcterms:modified xsi:type="dcterms:W3CDTF">2025-10-13T09:40:39Z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F52CF12DBE9C4F4894FC8863719014D1</vt:lpwstr>
  </property>
  <property fmtid="{D5CDD505-2E9C-101B-9397-08002B2CF9AE}" pid="3" name="KSOProductBuildVer">
    <vt:lpwstr>2052-11.1.0.12598</vt:lpwstr>
  </property>
</Properties>
</file>