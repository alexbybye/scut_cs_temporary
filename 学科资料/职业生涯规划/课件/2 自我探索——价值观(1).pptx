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5"/>
  </p:notesMasterIdLst>
  <p:sldIdLst>
    <p:sldId id="308" r:id="rId2"/>
    <p:sldId id="277" r:id="rId3"/>
    <p:sldId id="310" r:id="rId4"/>
    <p:sldId id="278" r:id="rId5"/>
    <p:sldId id="259" r:id="rId6"/>
    <p:sldId id="261" r:id="rId7"/>
    <p:sldId id="306" r:id="rId8"/>
    <p:sldId id="281" r:id="rId9"/>
    <p:sldId id="282" r:id="rId10"/>
    <p:sldId id="303" r:id="rId11"/>
    <p:sldId id="302" r:id="rId12"/>
    <p:sldId id="269" r:id="rId13"/>
    <p:sldId id="284" r:id="rId14"/>
    <p:sldId id="285" r:id="rId15"/>
    <p:sldId id="286" r:id="rId16"/>
    <p:sldId id="287" r:id="rId17"/>
    <p:sldId id="288" r:id="rId18"/>
    <p:sldId id="314" r:id="rId19"/>
    <p:sldId id="289" r:id="rId20"/>
    <p:sldId id="290" r:id="rId21"/>
    <p:sldId id="271" r:id="rId22"/>
    <p:sldId id="304" r:id="rId23"/>
    <p:sldId id="291" r:id="rId24"/>
    <p:sldId id="292" r:id="rId25"/>
    <p:sldId id="293" r:id="rId26"/>
    <p:sldId id="294" r:id="rId27"/>
    <p:sldId id="311" r:id="rId28"/>
    <p:sldId id="295" r:id="rId29"/>
    <p:sldId id="296" r:id="rId30"/>
    <p:sldId id="298" r:id="rId31"/>
    <p:sldId id="299" r:id="rId32"/>
    <p:sldId id="300" r:id="rId33"/>
    <p:sldId id="274" r:id="rId34"/>
  </p:sldIdLst>
  <p:sldSz cx="9144000" cy="6858000" type="screen4x3"/>
  <p:notesSz cx="6858000" cy="9144000"/>
  <p:embeddedFontLst>
    <p:embeddedFont>
      <p:font typeface="Calibri Light" pitchFamily="34" charset="0"/>
      <p:regular r:id="rId36"/>
      <p:italic r:id="rId37"/>
    </p:embeddedFont>
    <p:embeddedFont>
      <p:font typeface="微软雅黑" pitchFamily="34" charset="-122"/>
      <p:regular r:id="rId38"/>
      <p:bold r:id="rId39"/>
    </p:embeddedFont>
    <p:embeddedFont>
      <p:font typeface="华文琥珀" pitchFamily="2" charset="-122"/>
      <p:regular r:id="rId40"/>
    </p:embeddedFont>
    <p:embeddedFont>
      <p:font typeface="华文楷体" pitchFamily="2" charset="-122"/>
      <p:regular r:id="rId41"/>
    </p:embeddedFont>
    <p:embeddedFont>
      <p:font typeface="Calibri" pitchFamily="34" charset="0"/>
      <p:regular r:id="rId42"/>
      <p:bold r:id="rId43"/>
      <p:italic r:id="rId44"/>
      <p:boldItalic r:id="rId45"/>
    </p:embeddedFont>
    <p:embeddedFont>
      <p:font typeface="Arial Unicode MS" pitchFamily="34" charset="-122"/>
      <p:regular r:id="rId46"/>
    </p:embeddedFont>
    <p:embeddedFont>
      <p:font typeface="黑体" pitchFamily="49" charset="-122"/>
      <p:regular r:id="rId4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5A7C"/>
    <a:srgbClr val="2E678E"/>
    <a:srgbClr val="3980B1"/>
    <a:srgbClr val="B2B2B2"/>
    <a:srgbClr val="005E66"/>
    <a:srgbClr val="F08300"/>
    <a:srgbClr val="D9D9D9"/>
    <a:srgbClr val="FF6565"/>
    <a:srgbClr val="5C0000"/>
    <a:srgbClr val="E8382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000" autoAdjust="0"/>
    <p:restoredTop sz="93186" autoAdjust="0"/>
  </p:normalViewPr>
  <p:slideViewPr>
    <p:cSldViewPr snapToGrid="0">
      <p:cViewPr varScale="1">
        <p:scale>
          <a:sx n="106" d="100"/>
          <a:sy n="106" d="100"/>
        </p:scale>
        <p:origin x="-177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B28A8-168F-4E2B-9924-7CB0CB22742C}" type="datetimeFigureOut">
              <a:rPr lang="zh-CN" altLang="en-US" smtClean="0"/>
              <a:pPr/>
              <a:t>2024/4/1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E93A8-6C2E-47D3-BF30-73EFFCDC389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217E1B-BBFA-4980-B03A-35414AF30B5C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921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zh-CN" altLang="en-US">
              <a:ea typeface="宋体" panose="02010600030101010101" pitchFamily="2" charset="-122"/>
            </a:endParaRPr>
          </a:p>
        </p:txBody>
      </p:sp>
      <p:sp>
        <p:nvSpPr>
          <p:cNvPr id="921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227C259-4502-4801-BF67-0535197DD3FA}" type="slidenum">
              <a:rPr kumimoji="0" lang="zh-CN" altLang="en-US" sz="1200"/>
              <a:pPr/>
              <a:t>4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33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en-US" altLang="zh-CN" dirty="0">
              <a:ea typeface="宋体" panose="02010600030101010101" pitchFamily="2" charset="-122"/>
            </a:endParaRPr>
          </a:p>
        </p:txBody>
      </p:sp>
      <p:sp>
        <p:nvSpPr>
          <p:cNvPr id="1433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2526ACA-215B-478B-B0F9-F942B535EF2B}" type="slidenum">
              <a:rPr kumimoji="0" lang="zh-CN" altLang="en-US" sz="1200"/>
              <a:pPr/>
              <a:t>7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endParaRPr kumimoji="0" lang="zh-CN" altLang="en-US" dirty="0">
              <a:ea typeface="+mn-ea"/>
              <a:cs typeface="+mn-cs"/>
            </a:endParaRPr>
          </a:p>
        </p:txBody>
      </p:sp>
      <p:sp>
        <p:nvSpPr>
          <p:cNvPr id="1638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F81B758-845D-4EE1-8CC0-008C56DB8CA4}" type="slidenum">
              <a:rPr kumimoji="0" lang="zh-CN" altLang="en-US" sz="1200"/>
              <a:pPr/>
              <a:t>8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zh-CN" altLang="en-US" dirty="0">
              <a:ea typeface="宋体" panose="02010600030101010101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470EAAB-1397-4986-9EAB-2A8D31BF05F1}" type="slidenum">
              <a:rPr kumimoji="0" lang="zh-CN" altLang="en-US" sz="1200"/>
              <a:pPr/>
              <a:t>9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endParaRPr lang="zh-CN" altLang="en-US" dirty="0">
              <a:ea typeface="+mn-ea"/>
            </a:endParaRPr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fld id="{8B6B7E7C-FE69-EF4C-9AF9-D7E641783888}" type="slidenum">
              <a:rPr lang="zh-CN" altLang="en-US">
                <a:latin typeface="Arial" panose="020B0604020202020204" pitchFamily="34" charset="0"/>
              </a:rPr>
              <a:pPr/>
              <a:t>10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662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zh-CN" altLang="en-US" dirty="0">
              <a:ea typeface="宋体" panose="02010600030101010101" pitchFamily="2" charset="-122"/>
            </a:endParaRPr>
          </a:p>
        </p:txBody>
      </p:sp>
      <p:sp>
        <p:nvSpPr>
          <p:cNvPr id="2662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0E25327-2DBD-4729-B3A8-6756B58C90F4}" type="slidenum">
              <a:rPr kumimoji="0" lang="zh-CN" altLang="en-US" sz="1200"/>
              <a:pPr/>
              <a:t>13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867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zh-CN" altLang="en-US">
              <a:ea typeface="宋体" panose="02010600030101010101" pitchFamily="2" charset="-122"/>
            </a:endParaRPr>
          </a:p>
        </p:txBody>
      </p:sp>
      <p:sp>
        <p:nvSpPr>
          <p:cNvPr id="2867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6A0EE5D-D05A-4D37-BF62-F471C2FD7A56}" type="slidenum">
              <a:rPr kumimoji="0" lang="zh-CN" altLang="en-US" sz="1200"/>
              <a:pPr/>
              <a:t>14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072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1" lang="zh-CN" altLang="zh-CN" sz="1200" kern="1200" dirty="0">
              <a:solidFill>
                <a:schemeClr val="tx1"/>
              </a:solidFill>
              <a:effectLst/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72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B5B1102-3EF5-4994-B271-C2A4673B416A}" type="slidenum">
              <a:rPr kumimoji="0" lang="zh-CN" altLang="en-US" sz="1200"/>
              <a:pPr/>
              <a:t>15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277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zh-CN" altLang="en-US">
              <a:ea typeface="宋体" panose="02010600030101010101" pitchFamily="2" charset="-122"/>
            </a:endParaRPr>
          </a:p>
        </p:txBody>
      </p:sp>
      <p:sp>
        <p:nvSpPr>
          <p:cNvPr id="3277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8C620C7-CB35-4BFD-9E66-E206327391AE}" type="slidenum">
              <a:rPr kumimoji="0" lang="zh-CN" altLang="en-US" sz="1200"/>
              <a:pPr/>
              <a:t>16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481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en-US" altLang="zh-CN" dirty="0">
              <a:ea typeface="宋体" panose="02010600030101010101" pitchFamily="2" charset="-122"/>
            </a:endParaRPr>
          </a:p>
        </p:txBody>
      </p:sp>
      <p:sp>
        <p:nvSpPr>
          <p:cNvPr id="3481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70D157E-1902-4031-87DA-885602228AD5}" type="slidenum">
              <a:rPr kumimoji="0" lang="zh-CN" altLang="en-US" sz="1200"/>
              <a:pPr/>
              <a:t>17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686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1" lang="zh-CN" altLang="zh-CN" sz="1200" kern="1200" dirty="0">
              <a:solidFill>
                <a:schemeClr val="tx1"/>
              </a:solidFill>
              <a:effectLst/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86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819FDB2-5085-4584-A175-BFA8E7CC137C}" type="slidenum">
              <a:rPr kumimoji="0" lang="zh-CN" altLang="en-US" sz="1200"/>
              <a:pPr/>
              <a:t>19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891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marL="342900" indent="-342900" algn="just">
              <a:lnSpc>
                <a:spcPct val="80000"/>
              </a:lnSpc>
              <a:spcAft>
                <a:spcPct val="30000"/>
              </a:spcAft>
              <a:buFont typeface="Wingdings" panose="05000000000000000000" pitchFamily="2" charset="2"/>
              <a:buNone/>
            </a:pPr>
            <a:endParaRPr kumimoji="0" lang="zh-CN" altLang="en-US" sz="900" dirty="0">
              <a:ea typeface="宋体" panose="02010600030101010101" pitchFamily="2" charset="-122"/>
            </a:endParaRPr>
          </a:p>
        </p:txBody>
      </p:sp>
      <p:sp>
        <p:nvSpPr>
          <p:cNvPr id="3891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4636E5A-97F8-41B0-AD7B-F876B0BBB7CF}" type="slidenum">
              <a:rPr kumimoji="0" lang="zh-CN" altLang="en-US" sz="1200"/>
              <a:pPr/>
              <a:t>20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4198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zh-CN" altLang="en-US" dirty="0">
              <a:ea typeface="宋体" panose="02010600030101010101" pitchFamily="2" charset="-122"/>
            </a:endParaRPr>
          </a:p>
        </p:txBody>
      </p:sp>
      <p:sp>
        <p:nvSpPr>
          <p:cNvPr id="4198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F94758A-983D-465B-8D6F-315F7C273723}" type="slidenum">
              <a:rPr kumimoji="0" lang="zh-CN" altLang="en-US" sz="1200"/>
              <a:pPr/>
              <a:t>23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4403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en-US" altLang="zh-CN" dirty="0">
              <a:ea typeface="宋体" panose="02010600030101010101" pitchFamily="2" charset="-122"/>
            </a:endParaRPr>
          </a:p>
        </p:txBody>
      </p:sp>
      <p:sp>
        <p:nvSpPr>
          <p:cNvPr id="4403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E3DFB16-192E-4092-A598-D2DBC1B4350B}" type="slidenum">
              <a:rPr kumimoji="0" lang="zh-CN" altLang="en-US" sz="1200"/>
              <a:pPr/>
              <a:t>24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endParaRPr kumimoji="0" lang="en-US" altLang="zh-CN" dirty="0">
              <a:ea typeface="+mn-ea"/>
              <a:cs typeface="+mn-cs"/>
            </a:endParaRPr>
          </a:p>
        </p:txBody>
      </p:sp>
      <p:sp>
        <p:nvSpPr>
          <p:cNvPr id="4608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2517053-4B41-474B-AE16-B621C4652C81}" type="slidenum">
              <a:rPr kumimoji="0" lang="zh-CN" altLang="en-US" sz="1200"/>
              <a:pPr/>
              <a:t>25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4813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zh-CN" altLang="en-US" dirty="0">
              <a:ea typeface="宋体" panose="02010600030101010101" pitchFamily="2" charset="-122"/>
            </a:endParaRPr>
          </a:p>
        </p:txBody>
      </p:sp>
      <p:sp>
        <p:nvSpPr>
          <p:cNvPr id="4813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6D39E39-CC46-456B-8180-F34675FAE642}" type="slidenum">
              <a:rPr kumimoji="0" lang="zh-CN" altLang="en-US" sz="1200"/>
              <a:pPr/>
              <a:t>26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5120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zh-CN" altLang="en-US" dirty="0">
              <a:ea typeface="宋体" panose="02010600030101010101" pitchFamily="2" charset="-122"/>
            </a:endParaRPr>
          </a:p>
        </p:txBody>
      </p:sp>
      <p:sp>
        <p:nvSpPr>
          <p:cNvPr id="5120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9BAD13D-DB43-4429-9EC7-B003560734F5}" type="slidenum">
              <a:rPr kumimoji="0" lang="zh-CN" altLang="en-US" sz="1200"/>
              <a:pPr/>
              <a:t>29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5632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zh-CN" altLang="en-US">
              <a:ea typeface="宋体" panose="02010600030101010101" pitchFamily="2" charset="-122"/>
            </a:endParaRPr>
          </a:p>
        </p:txBody>
      </p:sp>
      <p:sp>
        <p:nvSpPr>
          <p:cNvPr id="5632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8CBD45B-62A5-4545-BAB8-C9CC882ADCE8}" type="slidenum">
              <a:rPr kumimoji="0" lang="zh-CN" altLang="en-US" sz="1200"/>
              <a:pPr/>
              <a:t>32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8A0000E-ADFF-4260-8F7A-F0EA6135B30E}" type="datetimeFigureOut">
              <a:rPr lang="zh-CN" altLang="en-US" smtClean="0"/>
              <a:pPr/>
              <a:t>2024/4/1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268B979-87BD-4E3D-9D72-25B30CB92A5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43200" y="533400"/>
            <a:ext cx="57912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2819400" y="1981200"/>
            <a:ext cx="5638800" cy="4114800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0" y="6553200"/>
            <a:ext cx="2895600" cy="30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r>
              <a:rPr lang="en-US" altLang="zh-CN"/>
              <a:t>© </a:t>
            </a:r>
            <a:r>
              <a:rPr lang="zh-CN" altLang="en-US"/>
              <a:t>版权属北森公司，不得翻印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858000" y="64008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2A775B82-0D9B-4E63-A55B-14C50F17AB4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85786" y="392906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5429264"/>
            <a:ext cx="6400800" cy="8524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4000">
              <a:srgbClr val="DBDDDE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image.baidu.com/i?ct=503316480&amp;z=0&amp;tn=baiduimagedetail&amp;word=%C2%CC&amp;in=7333&amp;cl=2&amp;cm=1&amp;sc=0&amp;lm=-1&amp;pn=160&amp;rn=1&amp;di=9737147104&amp;ln=2000&amp;fr=&amp;ic=0&amp;s=0" TargetMode="External"/><Relationship Id="rId3" Type="http://schemas.openxmlformats.org/officeDocument/2006/relationships/image" Target="../media/image1.jpeg"/><Relationship Id="rId7" Type="http://schemas.openxmlformats.org/officeDocument/2006/relationships/image" Target="../media/image3.jpeg"/><Relationship Id="rId2" Type="http://schemas.openxmlformats.org/officeDocument/2006/relationships/hyperlink" Target="http://image.baidu.com/i?ct=503316480&amp;z=0&amp;tn=baiduimagedetail&amp;word=%C2%CC&amp;in=8453&amp;cl=2&amp;cm=1&amp;sc=0&amp;lm=-1&amp;pn=2&amp;rn=1&amp;di=1101007616&amp;ln=2000&amp;fr=&amp;ic=0&amp;s=0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://image.baidu.com/i?ct=503316480&amp;z=0&amp;tn=baiduimagedetail&amp;word=%C2%CC&amp;in=7042&amp;cl=2&amp;cm=1&amp;sc=0&amp;lm=-1&amp;pn=61&amp;rn=1&amp;di=3008746848&amp;ln=2000&amp;fr=&amp;ic=0&amp;s=0" TargetMode="External"/><Relationship Id="rId5" Type="http://schemas.openxmlformats.org/officeDocument/2006/relationships/image" Target="../media/image2.jpeg"/><Relationship Id="rId4" Type="http://schemas.openxmlformats.org/officeDocument/2006/relationships/hyperlink" Target="http://image.baidu.com/i?ct=503316480&amp;z=0&amp;tn=baiduimagedetail&amp;word=%C2%CC&amp;in=4450&amp;cl=2&amp;cm=1&amp;sc=0&amp;lm=-1&amp;pn=7&amp;rn=1&amp;di=6928406352&amp;ln=2000&amp;fr=&amp;ic=0&amp;s=0" TargetMode="External"/><Relationship Id="rId9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ctrTitle"/>
          </p:nvPr>
        </p:nvSpPr>
        <p:spPr>
          <a:xfrm>
            <a:off x="1000125" y="1714500"/>
            <a:ext cx="7772400" cy="1830388"/>
          </a:xfrm>
        </p:spPr>
        <p:txBody>
          <a:bodyPr/>
          <a:lstStyle/>
          <a:p>
            <a:pPr eaLnBrk="1" hangingPunct="1"/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12291" name="副标题 2"/>
          <p:cNvSpPr>
            <a:spLocks noGrp="1"/>
          </p:cNvSpPr>
          <p:nvPr>
            <p:ph type="subTitle" idx="1"/>
          </p:nvPr>
        </p:nvSpPr>
        <p:spPr>
          <a:xfrm>
            <a:off x="1073809" y="4832057"/>
            <a:ext cx="6452405" cy="134366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王</a:t>
            </a:r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荣</a:t>
            </a:r>
            <a:endParaRPr lang="en-US" altLang="zh-CN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邮箱</a:t>
            </a:r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:wangrong@scut.edu</a:t>
            </a:r>
            <a:r>
              <a:rPr lang="en-US" altLang="zh-CN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.cn</a:t>
            </a:r>
            <a:endParaRPr lang="en-US" altLang="zh-CN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2292" name="Picture 2" descr="http://t3.baidu.com/it/u=2081124133,220886098&amp;fm=0&amp;gp=0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38" y="2214563"/>
            <a:ext cx="1333500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3" name="Picture 4" descr="http://t3.baidu.com/it/u=1233651723,1551113003&amp;fm=0&amp;gp=0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00250" y="3148013"/>
            <a:ext cx="13335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4" name="Picture 6" descr="http://t3.baidu.com/it/u=1676374858,1328282620&amp;fm=0&amp;gp=0.jpg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000250" y="1214438"/>
            <a:ext cx="13335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5" name="Picture 8" descr="http://t1.baidu.com/it/u=1921821230,156460624&amp;fm=0&amp;gp=0.jpg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357563" y="357188"/>
            <a:ext cx="13335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2457693" y="2433890"/>
            <a:ext cx="45817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E83828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第二讲 自我探索</a:t>
            </a:r>
            <a:r>
              <a:rPr lang="en-US" altLang="zh-CN" sz="28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E83828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——</a:t>
            </a:r>
            <a:r>
              <a:rPr lang="zh-CN" altLang="en-US" sz="28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E83828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价值观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69" name="组合 3"/>
          <p:cNvGrpSpPr/>
          <p:nvPr/>
        </p:nvGrpSpPr>
        <p:grpSpPr bwMode="auto">
          <a:xfrm>
            <a:off x="2330450" y="615950"/>
            <a:ext cx="4859338" cy="5402263"/>
            <a:chOff x="2330230" y="615677"/>
            <a:chExt cx="4859721" cy="5402791"/>
          </a:xfrm>
        </p:grpSpPr>
        <p:sp>
          <p:nvSpPr>
            <p:cNvPr id="5" name="任意多边形 4"/>
            <p:cNvSpPr/>
            <p:nvPr/>
          </p:nvSpPr>
          <p:spPr>
            <a:xfrm>
              <a:off x="4085461" y="615677"/>
              <a:ext cx="1349258" cy="1349258"/>
            </a:xfrm>
            <a:custGeom>
              <a:avLst/>
              <a:gdLst>
                <a:gd name="connsiteX0" fmla="*/ 0 w 1349258"/>
                <a:gd name="connsiteY0" fmla="*/ 674629 h 1349258"/>
                <a:gd name="connsiteX1" fmla="*/ 197595 w 1349258"/>
                <a:gd name="connsiteY1" fmla="*/ 197594 h 1349258"/>
                <a:gd name="connsiteX2" fmla="*/ 674630 w 1349258"/>
                <a:gd name="connsiteY2" fmla="*/ 0 h 1349258"/>
                <a:gd name="connsiteX3" fmla="*/ 1151665 w 1349258"/>
                <a:gd name="connsiteY3" fmla="*/ 197595 h 1349258"/>
                <a:gd name="connsiteX4" fmla="*/ 1349259 w 1349258"/>
                <a:gd name="connsiteY4" fmla="*/ 674630 h 1349258"/>
                <a:gd name="connsiteX5" fmla="*/ 1151665 w 1349258"/>
                <a:gd name="connsiteY5" fmla="*/ 1151665 h 1349258"/>
                <a:gd name="connsiteX6" fmla="*/ 674630 w 1349258"/>
                <a:gd name="connsiteY6" fmla="*/ 1349259 h 1349258"/>
                <a:gd name="connsiteX7" fmla="*/ 197595 w 1349258"/>
                <a:gd name="connsiteY7" fmla="*/ 1151664 h 1349258"/>
                <a:gd name="connsiteX8" fmla="*/ 1 w 1349258"/>
                <a:gd name="connsiteY8" fmla="*/ 674629 h 1349258"/>
                <a:gd name="connsiteX9" fmla="*/ 0 w 1349258"/>
                <a:gd name="connsiteY9" fmla="*/ 674629 h 134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9258" h="1349258">
                  <a:moveTo>
                    <a:pt x="0" y="674629"/>
                  </a:moveTo>
                  <a:cubicBezTo>
                    <a:pt x="0" y="495706"/>
                    <a:pt x="71077" y="324112"/>
                    <a:pt x="197595" y="197594"/>
                  </a:cubicBezTo>
                  <a:cubicBezTo>
                    <a:pt x="324113" y="71077"/>
                    <a:pt x="495707" y="0"/>
                    <a:pt x="674630" y="0"/>
                  </a:cubicBezTo>
                  <a:cubicBezTo>
                    <a:pt x="853553" y="0"/>
                    <a:pt x="1025147" y="71077"/>
                    <a:pt x="1151665" y="197595"/>
                  </a:cubicBezTo>
                  <a:cubicBezTo>
                    <a:pt x="1278182" y="324113"/>
                    <a:pt x="1349259" y="495707"/>
                    <a:pt x="1349259" y="674630"/>
                  </a:cubicBezTo>
                  <a:cubicBezTo>
                    <a:pt x="1349259" y="853553"/>
                    <a:pt x="1278182" y="1025147"/>
                    <a:pt x="1151665" y="1151665"/>
                  </a:cubicBezTo>
                  <a:cubicBezTo>
                    <a:pt x="1025147" y="1278182"/>
                    <a:pt x="853553" y="1349259"/>
                    <a:pt x="674630" y="1349259"/>
                  </a:cubicBezTo>
                  <a:cubicBezTo>
                    <a:pt x="495707" y="1349259"/>
                    <a:pt x="324113" y="1278182"/>
                    <a:pt x="197595" y="1151664"/>
                  </a:cubicBezTo>
                  <a:cubicBezTo>
                    <a:pt x="71078" y="1025146"/>
                    <a:pt x="1" y="853552"/>
                    <a:pt x="1" y="674629"/>
                  </a:cubicBezTo>
                  <a:lnTo>
                    <a:pt x="0" y="674629"/>
                  </a:lnTo>
                  <a:close/>
                </a:path>
              </a:pathLst>
            </a:custGeom>
            <a:solidFill>
              <a:srgbClr val="C00000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6">
                <a:shade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22994" tIns="222994" rIns="222994" bIns="222994" anchor="ctr"/>
            <a:lstStyle>
              <a:lvl1pPr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Aft>
                  <a:spcPct val="35000"/>
                </a:spcAft>
              </a:pPr>
              <a:r>
                <a:rPr kumimoji="0" lang="en-US" altLang="zh-CN" sz="20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</a:t>
              </a:r>
              <a:r>
                <a:rPr kumimoji="0" lang="zh-CN" altLang="en-US" sz="20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觉知与承诺</a:t>
              </a:r>
              <a:endParaRPr kumimoji="0" lang="zh-CN" altLang="zh-CN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任意多边形 5"/>
            <p:cNvSpPr/>
            <p:nvPr/>
          </p:nvSpPr>
          <p:spPr>
            <a:xfrm rot="1800000">
              <a:off x="5449365" y="1564229"/>
              <a:ext cx="359079" cy="455374"/>
            </a:xfrm>
            <a:custGeom>
              <a:avLst/>
              <a:gdLst>
                <a:gd name="connsiteX0" fmla="*/ 0 w 359079"/>
                <a:gd name="connsiteY0" fmla="*/ 91075 h 455374"/>
                <a:gd name="connsiteX1" fmla="*/ 179540 w 359079"/>
                <a:gd name="connsiteY1" fmla="*/ 91075 h 455374"/>
                <a:gd name="connsiteX2" fmla="*/ 179540 w 359079"/>
                <a:gd name="connsiteY2" fmla="*/ 0 h 455374"/>
                <a:gd name="connsiteX3" fmla="*/ 359079 w 359079"/>
                <a:gd name="connsiteY3" fmla="*/ 227687 h 455374"/>
                <a:gd name="connsiteX4" fmla="*/ 179540 w 359079"/>
                <a:gd name="connsiteY4" fmla="*/ 455374 h 455374"/>
                <a:gd name="connsiteX5" fmla="*/ 179540 w 359079"/>
                <a:gd name="connsiteY5" fmla="*/ 364299 h 455374"/>
                <a:gd name="connsiteX6" fmla="*/ 0 w 359079"/>
                <a:gd name="connsiteY6" fmla="*/ 364299 h 455374"/>
                <a:gd name="connsiteX7" fmla="*/ 0 w 359079"/>
                <a:gd name="connsiteY7" fmla="*/ 91075 h 45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9079" h="455374">
                  <a:moveTo>
                    <a:pt x="0" y="91075"/>
                  </a:moveTo>
                  <a:lnTo>
                    <a:pt x="179540" y="91075"/>
                  </a:lnTo>
                  <a:lnTo>
                    <a:pt x="179540" y="0"/>
                  </a:lnTo>
                  <a:lnTo>
                    <a:pt x="359079" y="227687"/>
                  </a:lnTo>
                  <a:lnTo>
                    <a:pt x="179540" y="455374"/>
                  </a:lnTo>
                  <a:lnTo>
                    <a:pt x="179540" y="364299"/>
                  </a:lnTo>
                  <a:lnTo>
                    <a:pt x="0" y="364299"/>
                  </a:lnTo>
                  <a:lnTo>
                    <a:pt x="0" y="91075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z="-80000" prstMaterial="plastic">
              <a:bevelT w="50800" h="50800"/>
              <a:bevelB w="25400" h="25400" prst="angle"/>
            </a:sp3d>
          </p:spPr>
          <p:style>
            <a:lnRef idx="0">
              <a:schemeClr val="accent6">
                <a:shade val="90000"/>
                <a:hueOff val="0"/>
                <a:satOff val="0"/>
                <a:lumOff val="0"/>
                <a:alphaOff val="0"/>
              </a:schemeClr>
            </a:lnRef>
            <a:fillRef idx="3">
              <a:schemeClr val="accent6">
                <a:shade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6">
                <a:shade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-1" tIns="91074" rIns="107724" bIns="91075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5840693" y="1629060"/>
              <a:ext cx="1349258" cy="1349258"/>
            </a:xfrm>
            <a:custGeom>
              <a:avLst/>
              <a:gdLst>
                <a:gd name="connsiteX0" fmla="*/ 0 w 1349258"/>
                <a:gd name="connsiteY0" fmla="*/ 674629 h 1349258"/>
                <a:gd name="connsiteX1" fmla="*/ 197595 w 1349258"/>
                <a:gd name="connsiteY1" fmla="*/ 197594 h 1349258"/>
                <a:gd name="connsiteX2" fmla="*/ 674630 w 1349258"/>
                <a:gd name="connsiteY2" fmla="*/ 0 h 1349258"/>
                <a:gd name="connsiteX3" fmla="*/ 1151665 w 1349258"/>
                <a:gd name="connsiteY3" fmla="*/ 197595 h 1349258"/>
                <a:gd name="connsiteX4" fmla="*/ 1349259 w 1349258"/>
                <a:gd name="connsiteY4" fmla="*/ 674630 h 1349258"/>
                <a:gd name="connsiteX5" fmla="*/ 1151665 w 1349258"/>
                <a:gd name="connsiteY5" fmla="*/ 1151665 h 1349258"/>
                <a:gd name="connsiteX6" fmla="*/ 674630 w 1349258"/>
                <a:gd name="connsiteY6" fmla="*/ 1349259 h 1349258"/>
                <a:gd name="connsiteX7" fmla="*/ 197595 w 1349258"/>
                <a:gd name="connsiteY7" fmla="*/ 1151664 h 1349258"/>
                <a:gd name="connsiteX8" fmla="*/ 1 w 1349258"/>
                <a:gd name="connsiteY8" fmla="*/ 674629 h 1349258"/>
                <a:gd name="connsiteX9" fmla="*/ 0 w 1349258"/>
                <a:gd name="connsiteY9" fmla="*/ 674629 h 134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9258" h="1349258">
                  <a:moveTo>
                    <a:pt x="0" y="674629"/>
                  </a:moveTo>
                  <a:cubicBezTo>
                    <a:pt x="0" y="495706"/>
                    <a:pt x="71077" y="324112"/>
                    <a:pt x="197595" y="197594"/>
                  </a:cubicBezTo>
                  <a:cubicBezTo>
                    <a:pt x="324113" y="71077"/>
                    <a:pt x="495707" y="0"/>
                    <a:pt x="674630" y="0"/>
                  </a:cubicBezTo>
                  <a:cubicBezTo>
                    <a:pt x="853553" y="0"/>
                    <a:pt x="1025147" y="71077"/>
                    <a:pt x="1151665" y="197595"/>
                  </a:cubicBezTo>
                  <a:cubicBezTo>
                    <a:pt x="1278182" y="324113"/>
                    <a:pt x="1349259" y="495707"/>
                    <a:pt x="1349259" y="674630"/>
                  </a:cubicBezTo>
                  <a:cubicBezTo>
                    <a:pt x="1349259" y="853553"/>
                    <a:pt x="1278182" y="1025147"/>
                    <a:pt x="1151665" y="1151665"/>
                  </a:cubicBezTo>
                  <a:cubicBezTo>
                    <a:pt x="1025147" y="1278182"/>
                    <a:pt x="853553" y="1349259"/>
                    <a:pt x="674630" y="1349259"/>
                  </a:cubicBezTo>
                  <a:cubicBezTo>
                    <a:pt x="495707" y="1349259"/>
                    <a:pt x="324113" y="1278182"/>
                    <a:pt x="197595" y="1151664"/>
                  </a:cubicBezTo>
                  <a:cubicBezTo>
                    <a:pt x="71078" y="1025146"/>
                    <a:pt x="1" y="853552"/>
                    <a:pt x="1" y="674629"/>
                  </a:cubicBezTo>
                  <a:lnTo>
                    <a:pt x="0" y="674629"/>
                  </a:lnTo>
                  <a:close/>
                </a:path>
              </a:pathLst>
            </a:custGeom>
            <a:solidFill>
              <a:srgbClr val="FF0000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6">
                <a:shade val="50000"/>
                <a:hueOff val="0"/>
                <a:satOff val="-12474"/>
                <a:lumOff val="16551"/>
                <a:alphaOff val="0"/>
              </a:schemeClr>
            </a:effectRef>
            <a:fontRef idx="minor">
              <a:schemeClr val="lt1"/>
            </a:fontRef>
          </p:style>
          <p:txBody>
            <a:bodyPr lIns="222994" tIns="222994" rIns="222994" bIns="222994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自我</a:t>
              </a:r>
              <a:endPara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探索</a:t>
              </a:r>
              <a:endPara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任意多边形 7"/>
            <p:cNvSpPr/>
            <p:nvPr/>
          </p:nvSpPr>
          <p:spPr>
            <a:xfrm rot="5400000">
              <a:off x="6335782" y="3079223"/>
              <a:ext cx="359079" cy="455374"/>
            </a:xfrm>
            <a:custGeom>
              <a:avLst/>
              <a:gdLst>
                <a:gd name="connsiteX0" fmla="*/ 0 w 359079"/>
                <a:gd name="connsiteY0" fmla="*/ 91075 h 455374"/>
                <a:gd name="connsiteX1" fmla="*/ 179540 w 359079"/>
                <a:gd name="connsiteY1" fmla="*/ 91075 h 455374"/>
                <a:gd name="connsiteX2" fmla="*/ 179540 w 359079"/>
                <a:gd name="connsiteY2" fmla="*/ 0 h 455374"/>
                <a:gd name="connsiteX3" fmla="*/ 359079 w 359079"/>
                <a:gd name="connsiteY3" fmla="*/ 227687 h 455374"/>
                <a:gd name="connsiteX4" fmla="*/ 179540 w 359079"/>
                <a:gd name="connsiteY4" fmla="*/ 455374 h 455374"/>
                <a:gd name="connsiteX5" fmla="*/ 179540 w 359079"/>
                <a:gd name="connsiteY5" fmla="*/ 364299 h 455374"/>
                <a:gd name="connsiteX6" fmla="*/ 0 w 359079"/>
                <a:gd name="connsiteY6" fmla="*/ 364299 h 455374"/>
                <a:gd name="connsiteX7" fmla="*/ 0 w 359079"/>
                <a:gd name="connsiteY7" fmla="*/ 91075 h 45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9079" h="455374">
                  <a:moveTo>
                    <a:pt x="0" y="91075"/>
                  </a:moveTo>
                  <a:lnTo>
                    <a:pt x="179540" y="91075"/>
                  </a:lnTo>
                  <a:lnTo>
                    <a:pt x="179540" y="0"/>
                  </a:lnTo>
                  <a:lnTo>
                    <a:pt x="359079" y="227687"/>
                  </a:lnTo>
                  <a:lnTo>
                    <a:pt x="179540" y="455374"/>
                  </a:lnTo>
                  <a:lnTo>
                    <a:pt x="179540" y="364299"/>
                  </a:lnTo>
                  <a:lnTo>
                    <a:pt x="0" y="364299"/>
                  </a:lnTo>
                  <a:lnTo>
                    <a:pt x="0" y="91075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z="-80000" prstMaterial="plastic">
              <a:bevelT w="50800" h="50800"/>
              <a:bevelB w="25400" h="25400" prst="angle"/>
            </a:sp3d>
          </p:spPr>
          <p:style>
            <a:lnRef idx="0">
              <a:schemeClr val="accent6">
                <a:shade val="90000"/>
                <a:hueOff val="0"/>
                <a:satOff val="-11810"/>
                <a:lumOff val="14590"/>
                <a:alphaOff val="0"/>
              </a:schemeClr>
            </a:lnRef>
            <a:fillRef idx="3">
              <a:schemeClr val="accent6">
                <a:shade val="90000"/>
                <a:hueOff val="0"/>
                <a:satOff val="-11810"/>
                <a:lumOff val="14590"/>
                <a:alphaOff val="0"/>
              </a:schemeClr>
            </a:fillRef>
            <a:effectRef idx="2">
              <a:schemeClr val="accent6">
                <a:shade val="90000"/>
                <a:hueOff val="0"/>
                <a:satOff val="-11810"/>
                <a:lumOff val="14590"/>
                <a:alphaOff val="0"/>
              </a:schemeClr>
            </a:effectRef>
            <a:fontRef idx="minor">
              <a:schemeClr val="lt1"/>
            </a:fontRef>
          </p:style>
          <p:txBody>
            <a:bodyPr lIns="-1" tIns="91074" rIns="107724" bIns="91075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5840693" y="3655827"/>
              <a:ext cx="1349258" cy="1349258"/>
            </a:xfrm>
            <a:custGeom>
              <a:avLst/>
              <a:gdLst>
                <a:gd name="connsiteX0" fmla="*/ 0 w 1349258"/>
                <a:gd name="connsiteY0" fmla="*/ 674629 h 1349258"/>
                <a:gd name="connsiteX1" fmla="*/ 197595 w 1349258"/>
                <a:gd name="connsiteY1" fmla="*/ 197594 h 1349258"/>
                <a:gd name="connsiteX2" fmla="*/ 674630 w 1349258"/>
                <a:gd name="connsiteY2" fmla="*/ 0 h 1349258"/>
                <a:gd name="connsiteX3" fmla="*/ 1151665 w 1349258"/>
                <a:gd name="connsiteY3" fmla="*/ 197595 h 1349258"/>
                <a:gd name="connsiteX4" fmla="*/ 1349259 w 1349258"/>
                <a:gd name="connsiteY4" fmla="*/ 674630 h 1349258"/>
                <a:gd name="connsiteX5" fmla="*/ 1151665 w 1349258"/>
                <a:gd name="connsiteY5" fmla="*/ 1151665 h 1349258"/>
                <a:gd name="connsiteX6" fmla="*/ 674630 w 1349258"/>
                <a:gd name="connsiteY6" fmla="*/ 1349259 h 1349258"/>
                <a:gd name="connsiteX7" fmla="*/ 197595 w 1349258"/>
                <a:gd name="connsiteY7" fmla="*/ 1151664 h 1349258"/>
                <a:gd name="connsiteX8" fmla="*/ 1 w 1349258"/>
                <a:gd name="connsiteY8" fmla="*/ 674629 h 1349258"/>
                <a:gd name="connsiteX9" fmla="*/ 0 w 1349258"/>
                <a:gd name="connsiteY9" fmla="*/ 674629 h 134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9258" h="1349258">
                  <a:moveTo>
                    <a:pt x="0" y="674629"/>
                  </a:moveTo>
                  <a:cubicBezTo>
                    <a:pt x="0" y="495706"/>
                    <a:pt x="71077" y="324112"/>
                    <a:pt x="197595" y="197594"/>
                  </a:cubicBezTo>
                  <a:cubicBezTo>
                    <a:pt x="324113" y="71077"/>
                    <a:pt x="495707" y="0"/>
                    <a:pt x="674630" y="0"/>
                  </a:cubicBezTo>
                  <a:cubicBezTo>
                    <a:pt x="853553" y="0"/>
                    <a:pt x="1025147" y="71077"/>
                    <a:pt x="1151665" y="197595"/>
                  </a:cubicBezTo>
                  <a:cubicBezTo>
                    <a:pt x="1278182" y="324113"/>
                    <a:pt x="1349259" y="495707"/>
                    <a:pt x="1349259" y="674630"/>
                  </a:cubicBezTo>
                  <a:cubicBezTo>
                    <a:pt x="1349259" y="853553"/>
                    <a:pt x="1278182" y="1025147"/>
                    <a:pt x="1151665" y="1151665"/>
                  </a:cubicBezTo>
                  <a:cubicBezTo>
                    <a:pt x="1025147" y="1278182"/>
                    <a:pt x="853553" y="1349259"/>
                    <a:pt x="674630" y="1349259"/>
                  </a:cubicBezTo>
                  <a:cubicBezTo>
                    <a:pt x="495707" y="1349259"/>
                    <a:pt x="324113" y="1278182"/>
                    <a:pt x="197595" y="1151664"/>
                  </a:cubicBezTo>
                  <a:cubicBezTo>
                    <a:pt x="71078" y="1025146"/>
                    <a:pt x="1" y="853552"/>
                    <a:pt x="1" y="674629"/>
                  </a:cubicBezTo>
                  <a:lnTo>
                    <a:pt x="0" y="674629"/>
                  </a:lnTo>
                  <a:close/>
                </a:path>
              </a:pathLst>
            </a:custGeom>
            <a:solidFill>
              <a:srgbClr val="FFC000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6">
                <a:shade val="50000"/>
                <a:hueOff val="0"/>
                <a:satOff val="-24949"/>
                <a:lumOff val="33101"/>
                <a:alphaOff val="0"/>
              </a:schemeClr>
            </a:effectRef>
            <a:fontRef idx="minor">
              <a:schemeClr val="lt1"/>
            </a:fontRef>
          </p:style>
          <p:txBody>
            <a:bodyPr lIns="222994" tIns="222994" rIns="222994" bIns="222994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3.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探索工作世界</a:t>
              </a:r>
              <a:endPara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任意多边形 9"/>
            <p:cNvSpPr/>
            <p:nvPr/>
          </p:nvSpPr>
          <p:spPr>
            <a:xfrm rot="19800000">
              <a:off x="5466967" y="4604378"/>
              <a:ext cx="359080" cy="455375"/>
            </a:xfrm>
            <a:custGeom>
              <a:avLst/>
              <a:gdLst>
                <a:gd name="connsiteX0" fmla="*/ 0 w 359079"/>
                <a:gd name="connsiteY0" fmla="*/ 91075 h 455374"/>
                <a:gd name="connsiteX1" fmla="*/ 179540 w 359079"/>
                <a:gd name="connsiteY1" fmla="*/ 91075 h 455374"/>
                <a:gd name="connsiteX2" fmla="*/ 179540 w 359079"/>
                <a:gd name="connsiteY2" fmla="*/ 0 h 455374"/>
                <a:gd name="connsiteX3" fmla="*/ 359079 w 359079"/>
                <a:gd name="connsiteY3" fmla="*/ 227687 h 455374"/>
                <a:gd name="connsiteX4" fmla="*/ 179540 w 359079"/>
                <a:gd name="connsiteY4" fmla="*/ 455374 h 455374"/>
                <a:gd name="connsiteX5" fmla="*/ 179540 w 359079"/>
                <a:gd name="connsiteY5" fmla="*/ 364299 h 455374"/>
                <a:gd name="connsiteX6" fmla="*/ 0 w 359079"/>
                <a:gd name="connsiteY6" fmla="*/ 364299 h 455374"/>
                <a:gd name="connsiteX7" fmla="*/ 0 w 359079"/>
                <a:gd name="connsiteY7" fmla="*/ 91075 h 45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9079" h="455374">
                  <a:moveTo>
                    <a:pt x="359079" y="364299"/>
                  </a:moveTo>
                  <a:lnTo>
                    <a:pt x="179539" y="364299"/>
                  </a:lnTo>
                  <a:lnTo>
                    <a:pt x="179539" y="455374"/>
                  </a:lnTo>
                  <a:lnTo>
                    <a:pt x="0" y="227687"/>
                  </a:lnTo>
                  <a:lnTo>
                    <a:pt x="179539" y="0"/>
                  </a:lnTo>
                  <a:lnTo>
                    <a:pt x="179539" y="91075"/>
                  </a:lnTo>
                  <a:lnTo>
                    <a:pt x="359079" y="91075"/>
                  </a:lnTo>
                  <a:lnTo>
                    <a:pt x="359079" y="3642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z="-80000" prstMaterial="plastic">
              <a:bevelT w="50800" h="50800"/>
              <a:bevelB w="25400" h="25400" prst="angle"/>
            </a:sp3d>
          </p:spPr>
          <p:style>
            <a:lnRef idx="0">
              <a:schemeClr val="accent6">
                <a:shade val="90000"/>
                <a:hueOff val="0"/>
                <a:satOff val="-23620"/>
                <a:lumOff val="29180"/>
                <a:alphaOff val="0"/>
              </a:schemeClr>
            </a:lnRef>
            <a:fillRef idx="3">
              <a:schemeClr val="accent6">
                <a:shade val="90000"/>
                <a:hueOff val="0"/>
                <a:satOff val="-23620"/>
                <a:lumOff val="29180"/>
                <a:alphaOff val="0"/>
              </a:schemeClr>
            </a:fillRef>
            <a:effectRef idx="2">
              <a:schemeClr val="accent6">
                <a:shade val="90000"/>
                <a:hueOff val="0"/>
                <a:satOff val="-23620"/>
                <a:lumOff val="29180"/>
                <a:alphaOff val="0"/>
              </a:schemeClr>
            </a:effectRef>
            <a:fontRef idx="minor">
              <a:schemeClr val="lt1"/>
            </a:fontRef>
          </p:style>
          <p:txBody>
            <a:bodyPr lIns="107723" tIns="91075" rIns="1" bIns="91075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4085461" y="4669210"/>
              <a:ext cx="1349258" cy="1349258"/>
            </a:xfrm>
            <a:custGeom>
              <a:avLst/>
              <a:gdLst>
                <a:gd name="connsiteX0" fmla="*/ 0 w 1349258"/>
                <a:gd name="connsiteY0" fmla="*/ 674629 h 1349258"/>
                <a:gd name="connsiteX1" fmla="*/ 197595 w 1349258"/>
                <a:gd name="connsiteY1" fmla="*/ 197594 h 1349258"/>
                <a:gd name="connsiteX2" fmla="*/ 674630 w 1349258"/>
                <a:gd name="connsiteY2" fmla="*/ 0 h 1349258"/>
                <a:gd name="connsiteX3" fmla="*/ 1151665 w 1349258"/>
                <a:gd name="connsiteY3" fmla="*/ 197595 h 1349258"/>
                <a:gd name="connsiteX4" fmla="*/ 1349259 w 1349258"/>
                <a:gd name="connsiteY4" fmla="*/ 674630 h 1349258"/>
                <a:gd name="connsiteX5" fmla="*/ 1151665 w 1349258"/>
                <a:gd name="connsiteY5" fmla="*/ 1151665 h 1349258"/>
                <a:gd name="connsiteX6" fmla="*/ 674630 w 1349258"/>
                <a:gd name="connsiteY6" fmla="*/ 1349259 h 1349258"/>
                <a:gd name="connsiteX7" fmla="*/ 197595 w 1349258"/>
                <a:gd name="connsiteY7" fmla="*/ 1151664 h 1349258"/>
                <a:gd name="connsiteX8" fmla="*/ 1 w 1349258"/>
                <a:gd name="connsiteY8" fmla="*/ 674629 h 1349258"/>
                <a:gd name="connsiteX9" fmla="*/ 0 w 1349258"/>
                <a:gd name="connsiteY9" fmla="*/ 674629 h 134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9258" h="1349258">
                  <a:moveTo>
                    <a:pt x="0" y="674629"/>
                  </a:moveTo>
                  <a:cubicBezTo>
                    <a:pt x="0" y="495706"/>
                    <a:pt x="71077" y="324112"/>
                    <a:pt x="197595" y="197594"/>
                  </a:cubicBezTo>
                  <a:cubicBezTo>
                    <a:pt x="324113" y="71077"/>
                    <a:pt x="495707" y="0"/>
                    <a:pt x="674630" y="0"/>
                  </a:cubicBezTo>
                  <a:cubicBezTo>
                    <a:pt x="853553" y="0"/>
                    <a:pt x="1025147" y="71077"/>
                    <a:pt x="1151665" y="197595"/>
                  </a:cubicBezTo>
                  <a:cubicBezTo>
                    <a:pt x="1278182" y="324113"/>
                    <a:pt x="1349259" y="495707"/>
                    <a:pt x="1349259" y="674630"/>
                  </a:cubicBezTo>
                  <a:cubicBezTo>
                    <a:pt x="1349259" y="853553"/>
                    <a:pt x="1278182" y="1025147"/>
                    <a:pt x="1151665" y="1151665"/>
                  </a:cubicBezTo>
                  <a:cubicBezTo>
                    <a:pt x="1025147" y="1278182"/>
                    <a:pt x="853553" y="1349259"/>
                    <a:pt x="674630" y="1349259"/>
                  </a:cubicBezTo>
                  <a:cubicBezTo>
                    <a:pt x="495707" y="1349259"/>
                    <a:pt x="324113" y="1278182"/>
                    <a:pt x="197595" y="1151664"/>
                  </a:cubicBezTo>
                  <a:cubicBezTo>
                    <a:pt x="71078" y="1025146"/>
                    <a:pt x="1" y="853552"/>
                    <a:pt x="1" y="674629"/>
                  </a:cubicBezTo>
                  <a:lnTo>
                    <a:pt x="0" y="674629"/>
                  </a:lnTo>
                  <a:close/>
                </a:path>
              </a:pathLst>
            </a:custGeom>
            <a:solidFill>
              <a:srgbClr val="0070C0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6">
                <a:shade val="50000"/>
                <a:hueOff val="0"/>
                <a:satOff val="-37424"/>
                <a:lumOff val="49652"/>
                <a:alphaOff val="0"/>
              </a:schemeClr>
            </a:effectRef>
            <a:fontRef idx="minor">
              <a:schemeClr val="lt1"/>
            </a:fontRef>
          </p:style>
          <p:txBody>
            <a:bodyPr lIns="222994" tIns="222994" rIns="222994" bIns="222994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4.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决策</a:t>
              </a:r>
              <a:endPara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任意多边形 12"/>
            <p:cNvSpPr/>
            <p:nvPr/>
          </p:nvSpPr>
          <p:spPr>
            <a:xfrm rot="23400000">
              <a:off x="3711736" y="4614541"/>
              <a:ext cx="359080" cy="455374"/>
            </a:xfrm>
            <a:custGeom>
              <a:avLst/>
              <a:gdLst>
                <a:gd name="connsiteX0" fmla="*/ 0 w 359079"/>
                <a:gd name="connsiteY0" fmla="*/ 91075 h 455374"/>
                <a:gd name="connsiteX1" fmla="*/ 179540 w 359079"/>
                <a:gd name="connsiteY1" fmla="*/ 91075 h 455374"/>
                <a:gd name="connsiteX2" fmla="*/ 179540 w 359079"/>
                <a:gd name="connsiteY2" fmla="*/ 0 h 455374"/>
                <a:gd name="connsiteX3" fmla="*/ 359079 w 359079"/>
                <a:gd name="connsiteY3" fmla="*/ 227687 h 455374"/>
                <a:gd name="connsiteX4" fmla="*/ 179540 w 359079"/>
                <a:gd name="connsiteY4" fmla="*/ 455374 h 455374"/>
                <a:gd name="connsiteX5" fmla="*/ 179540 w 359079"/>
                <a:gd name="connsiteY5" fmla="*/ 364299 h 455374"/>
                <a:gd name="connsiteX6" fmla="*/ 0 w 359079"/>
                <a:gd name="connsiteY6" fmla="*/ 364299 h 455374"/>
                <a:gd name="connsiteX7" fmla="*/ 0 w 359079"/>
                <a:gd name="connsiteY7" fmla="*/ 91075 h 45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9079" h="455374">
                  <a:moveTo>
                    <a:pt x="359079" y="364299"/>
                  </a:moveTo>
                  <a:lnTo>
                    <a:pt x="179539" y="364299"/>
                  </a:lnTo>
                  <a:lnTo>
                    <a:pt x="179539" y="455374"/>
                  </a:lnTo>
                  <a:lnTo>
                    <a:pt x="0" y="227687"/>
                  </a:lnTo>
                  <a:lnTo>
                    <a:pt x="179539" y="0"/>
                  </a:lnTo>
                  <a:lnTo>
                    <a:pt x="179539" y="91075"/>
                  </a:lnTo>
                  <a:lnTo>
                    <a:pt x="359079" y="91075"/>
                  </a:lnTo>
                  <a:lnTo>
                    <a:pt x="359079" y="3642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z="-80000" prstMaterial="plastic">
              <a:bevelT w="50800" h="50800"/>
              <a:bevelB w="25400" h="25400" prst="angle"/>
            </a:sp3d>
          </p:spPr>
          <p:style>
            <a:lnRef idx="0">
              <a:schemeClr val="accent6">
                <a:shade val="90000"/>
                <a:hueOff val="0"/>
                <a:satOff val="-35431"/>
                <a:lumOff val="43770"/>
                <a:alphaOff val="0"/>
              </a:schemeClr>
            </a:lnRef>
            <a:fillRef idx="3">
              <a:schemeClr val="accent6">
                <a:shade val="90000"/>
                <a:hueOff val="0"/>
                <a:satOff val="-35431"/>
                <a:lumOff val="43770"/>
                <a:alphaOff val="0"/>
              </a:schemeClr>
            </a:fillRef>
            <a:effectRef idx="2">
              <a:schemeClr val="accent6">
                <a:shade val="90000"/>
                <a:hueOff val="0"/>
                <a:satOff val="-35431"/>
                <a:lumOff val="43770"/>
                <a:alphaOff val="0"/>
              </a:schemeClr>
            </a:effectRef>
            <a:fontRef idx="minor">
              <a:schemeClr val="lt1"/>
            </a:fontRef>
          </p:style>
          <p:txBody>
            <a:bodyPr lIns="107724" tIns="91075" rIns="0" bIns="91074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任意多边形 13"/>
            <p:cNvSpPr/>
            <p:nvPr/>
          </p:nvSpPr>
          <p:spPr>
            <a:xfrm>
              <a:off x="2330230" y="3655827"/>
              <a:ext cx="1349258" cy="1349258"/>
            </a:xfrm>
            <a:custGeom>
              <a:avLst/>
              <a:gdLst>
                <a:gd name="connsiteX0" fmla="*/ 0 w 1349258"/>
                <a:gd name="connsiteY0" fmla="*/ 674629 h 1349258"/>
                <a:gd name="connsiteX1" fmla="*/ 197595 w 1349258"/>
                <a:gd name="connsiteY1" fmla="*/ 197594 h 1349258"/>
                <a:gd name="connsiteX2" fmla="*/ 674630 w 1349258"/>
                <a:gd name="connsiteY2" fmla="*/ 0 h 1349258"/>
                <a:gd name="connsiteX3" fmla="*/ 1151665 w 1349258"/>
                <a:gd name="connsiteY3" fmla="*/ 197595 h 1349258"/>
                <a:gd name="connsiteX4" fmla="*/ 1349259 w 1349258"/>
                <a:gd name="connsiteY4" fmla="*/ 674630 h 1349258"/>
                <a:gd name="connsiteX5" fmla="*/ 1151665 w 1349258"/>
                <a:gd name="connsiteY5" fmla="*/ 1151665 h 1349258"/>
                <a:gd name="connsiteX6" fmla="*/ 674630 w 1349258"/>
                <a:gd name="connsiteY6" fmla="*/ 1349259 h 1349258"/>
                <a:gd name="connsiteX7" fmla="*/ 197595 w 1349258"/>
                <a:gd name="connsiteY7" fmla="*/ 1151664 h 1349258"/>
                <a:gd name="connsiteX8" fmla="*/ 1 w 1349258"/>
                <a:gd name="connsiteY8" fmla="*/ 674629 h 1349258"/>
                <a:gd name="connsiteX9" fmla="*/ 0 w 1349258"/>
                <a:gd name="connsiteY9" fmla="*/ 674629 h 134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9258" h="1349258">
                  <a:moveTo>
                    <a:pt x="0" y="674629"/>
                  </a:moveTo>
                  <a:cubicBezTo>
                    <a:pt x="0" y="495706"/>
                    <a:pt x="71077" y="324112"/>
                    <a:pt x="197595" y="197594"/>
                  </a:cubicBezTo>
                  <a:cubicBezTo>
                    <a:pt x="324113" y="71077"/>
                    <a:pt x="495707" y="0"/>
                    <a:pt x="674630" y="0"/>
                  </a:cubicBezTo>
                  <a:cubicBezTo>
                    <a:pt x="853553" y="0"/>
                    <a:pt x="1025147" y="71077"/>
                    <a:pt x="1151665" y="197595"/>
                  </a:cubicBezTo>
                  <a:cubicBezTo>
                    <a:pt x="1278182" y="324113"/>
                    <a:pt x="1349259" y="495707"/>
                    <a:pt x="1349259" y="674630"/>
                  </a:cubicBezTo>
                  <a:cubicBezTo>
                    <a:pt x="1349259" y="853553"/>
                    <a:pt x="1278182" y="1025147"/>
                    <a:pt x="1151665" y="1151665"/>
                  </a:cubicBezTo>
                  <a:cubicBezTo>
                    <a:pt x="1025147" y="1278182"/>
                    <a:pt x="853553" y="1349259"/>
                    <a:pt x="674630" y="1349259"/>
                  </a:cubicBezTo>
                  <a:cubicBezTo>
                    <a:pt x="495707" y="1349259"/>
                    <a:pt x="324113" y="1278182"/>
                    <a:pt x="197595" y="1151664"/>
                  </a:cubicBezTo>
                  <a:cubicBezTo>
                    <a:pt x="71078" y="1025146"/>
                    <a:pt x="1" y="853552"/>
                    <a:pt x="1" y="674629"/>
                  </a:cubicBezTo>
                  <a:lnTo>
                    <a:pt x="0" y="674629"/>
                  </a:lnTo>
                  <a:close/>
                </a:path>
              </a:pathLst>
            </a:custGeom>
            <a:solidFill>
              <a:srgbClr val="00B050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6">
                <a:shade val="50000"/>
                <a:hueOff val="0"/>
                <a:satOff val="-24949"/>
                <a:lumOff val="33101"/>
                <a:alphaOff val="0"/>
              </a:schemeClr>
            </a:effectRef>
            <a:fontRef idx="minor">
              <a:schemeClr val="lt1"/>
            </a:fontRef>
          </p:style>
          <p:txBody>
            <a:bodyPr lIns="222994" tIns="222994" rIns="222994" bIns="222994" anchor="ctr"/>
            <a:lstStyle>
              <a:lvl1pPr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Aft>
                  <a:spcPct val="35000"/>
                </a:spcAft>
              </a:pPr>
              <a:r>
                <a:rPr kumimoji="0" lang="en-US" altLang="zh-CN" sz="20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5.</a:t>
              </a:r>
              <a:r>
                <a:rPr kumimoji="0" lang="zh-CN" altLang="en-US" sz="20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求职</a:t>
              </a:r>
              <a:endParaRPr kumimoji="0" lang="en-US" altLang="zh-CN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90000"/>
                </a:lnSpc>
                <a:spcAft>
                  <a:spcPct val="35000"/>
                </a:spcAft>
              </a:pPr>
              <a:r>
                <a:rPr kumimoji="0" lang="zh-CN" altLang="en-US" sz="20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行动</a:t>
              </a:r>
              <a:endParaRPr kumimoji="0" lang="zh-CN" altLang="zh-CN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任意多边形 14"/>
            <p:cNvSpPr/>
            <p:nvPr/>
          </p:nvSpPr>
          <p:spPr>
            <a:xfrm rot="16200000">
              <a:off x="2825320" y="3099548"/>
              <a:ext cx="359079" cy="455374"/>
            </a:xfrm>
            <a:custGeom>
              <a:avLst/>
              <a:gdLst>
                <a:gd name="connsiteX0" fmla="*/ 0 w 359079"/>
                <a:gd name="connsiteY0" fmla="*/ 91075 h 455374"/>
                <a:gd name="connsiteX1" fmla="*/ 179540 w 359079"/>
                <a:gd name="connsiteY1" fmla="*/ 91075 h 455374"/>
                <a:gd name="connsiteX2" fmla="*/ 179540 w 359079"/>
                <a:gd name="connsiteY2" fmla="*/ 0 h 455374"/>
                <a:gd name="connsiteX3" fmla="*/ 359079 w 359079"/>
                <a:gd name="connsiteY3" fmla="*/ 227687 h 455374"/>
                <a:gd name="connsiteX4" fmla="*/ 179540 w 359079"/>
                <a:gd name="connsiteY4" fmla="*/ 455374 h 455374"/>
                <a:gd name="connsiteX5" fmla="*/ 179540 w 359079"/>
                <a:gd name="connsiteY5" fmla="*/ 364299 h 455374"/>
                <a:gd name="connsiteX6" fmla="*/ 0 w 359079"/>
                <a:gd name="connsiteY6" fmla="*/ 364299 h 455374"/>
                <a:gd name="connsiteX7" fmla="*/ 0 w 359079"/>
                <a:gd name="connsiteY7" fmla="*/ 91075 h 45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9079" h="455374">
                  <a:moveTo>
                    <a:pt x="0" y="91075"/>
                  </a:moveTo>
                  <a:lnTo>
                    <a:pt x="179540" y="91075"/>
                  </a:lnTo>
                  <a:lnTo>
                    <a:pt x="179540" y="0"/>
                  </a:lnTo>
                  <a:lnTo>
                    <a:pt x="359079" y="227687"/>
                  </a:lnTo>
                  <a:lnTo>
                    <a:pt x="179540" y="455374"/>
                  </a:lnTo>
                  <a:lnTo>
                    <a:pt x="179540" y="364299"/>
                  </a:lnTo>
                  <a:lnTo>
                    <a:pt x="0" y="364299"/>
                  </a:lnTo>
                  <a:lnTo>
                    <a:pt x="0" y="91075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z="-80000" prstMaterial="plastic">
              <a:bevelT w="50800" h="50800"/>
              <a:bevelB w="25400" h="25400" prst="angle"/>
            </a:sp3d>
          </p:spPr>
          <p:style>
            <a:lnRef idx="0">
              <a:schemeClr val="accent6">
                <a:shade val="90000"/>
                <a:hueOff val="0"/>
                <a:satOff val="-23620"/>
                <a:lumOff val="29180"/>
                <a:alphaOff val="0"/>
              </a:schemeClr>
            </a:lnRef>
            <a:fillRef idx="3">
              <a:schemeClr val="accent6">
                <a:shade val="90000"/>
                <a:hueOff val="0"/>
                <a:satOff val="-23620"/>
                <a:lumOff val="29180"/>
                <a:alphaOff val="0"/>
              </a:schemeClr>
            </a:fillRef>
            <a:effectRef idx="2">
              <a:schemeClr val="accent6">
                <a:shade val="90000"/>
                <a:hueOff val="0"/>
                <a:satOff val="-23620"/>
                <a:lumOff val="29180"/>
                <a:alphaOff val="0"/>
              </a:schemeClr>
            </a:effectRef>
            <a:fontRef idx="minor">
              <a:schemeClr val="lt1"/>
            </a:fontRef>
          </p:style>
          <p:txBody>
            <a:bodyPr lIns="-1" tIns="91075" rIns="107724" bIns="91074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2330230" y="1629060"/>
              <a:ext cx="1349258" cy="1349258"/>
            </a:xfrm>
            <a:custGeom>
              <a:avLst/>
              <a:gdLst>
                <a:gd name="connsiteX0" fmla="*/ 0 w 1349258"/>
                <a:gd name="connsiteY0" fmla="*/ 674629 h 1349258"/>
                <a:gd name="connsiteX1" fmla="*/ 197595 w 1349258"/>
                <a:gd name="connsiteY1" fmla="*/ 197594 h 1349258"/>
                <a:gd name="connsiteX2" fmla="*/ 674630 w 1349258"/>
                <a:gd name="connsiteY2" fmla="*/ 0 h 1349258"/>
                <a:gd name="connsiteX3" fmla="*/ 1151665 w 1349258"/>
                <a:gd name="connsiteY3" fmla="*/ 197595 h 1349258"/>
                <a:gd name="connsiteX4" fmla="*/ 1349259 w 1349258"/>
                <a:gd name="connsiteY4" fmla="*/ 674630 h 1349258"/>
                <a:gd name="connsiteX5" fmla="*/ 1151665 w 1349258"/>
                <a:gd name="connsiteY5" fmla="*/ 1151665 h 1349258"/>
                <a:gd name="connsiteX6" fmla="*/ 674630 w 1349258"/>
                <a:gd name="connsiteY6" fmla="*/ 1349259 h 1349258"/>
                <a:gd name="connsiteX7" fmla="*/ 197595 w 1349258"/>
                <a:gd name="connsiteY7" fmla="*/ 1151664 h 1349258"/>
                <a:gd name="connsiteX8" fmla="*/ 1 w 1349258"/>
                <a:gd name="connsiteY8" fmla="*/ 674629 h 1349258"/>
                <a:gd name="connsiteX9" fmla="*/ 0 w 1349258"/>
                <a:gd name="connsiteY9" fmla="*/ 674629 h 134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9258" h="1349258">
                  <a:moveTo>
                    <a:pt x="0" y="674629"/>
                  </a:moveTo>
                  <a:cubicBezTo>
                    <a:pt x="0" y="495706"/>
                    <a:pt x="71077" y="324112"/>
                    <a:pt x="197595" y="197594"/>
                  </a:cubicBezTo>
                  <a:cubicBezTo>
                    <a:pt x="324113" y="71077"/>
                    <a:pt x="495707" y="0"/>
                    <a:pt x="674630" y="0"/>
                  </a:cubicBezTo>
                  <a:cubicBezTo>
                    <a:pt x="853553" y="0"/>
                    <a:pt x="1025147" y="71077"/>
                    <a:pt x="1151665" y="197595"/>
                  </a:cubicBezTo>
                  <a:cubicBezTo>
                    <a:pt x="1278182" y="324113"/>
                    <a:pt x="1349259" y="495707"/>
                    <a:pt x="1349259" y="674630"/>
                  </a:cubicBezTo>
                  <a:cubicBezTo>
                    <a:pt x="1349259" y="853553"/>
                    <a:pt x="1278182" y="1025147"/>
                    <a:pt x="1151665" y="1151665"/>
                  </a:cubicBezTo>
                  <a:cubicBezTo>
                    <a:pt x="1025147" y="1278182"/>
                    <a:pt x="853553" y="1349259"/>
                    <a:pt x="674630" y="1349259"/>
                  </a:cubicBezTo>
                  <a:cubicBezTo>
                    <a:pt x="495707" y="1349259"/>
                    <a:pt x="324113" y="1278182"/>
                    <a:pt x="197595" y="1151664"/>
                  </a:cubicBezTo>
                  <a:cubicBezTo>
                    <a:pt x="71078" y="1025146"/>
                    <a:pt x="1" y="853552"/>
                    <a:pt x="1" y="674629"/>
                  </a:cubicBezTo>
                  <a:lnTo>
                    <a:pt x="0" y="674629"/>
                  </a:lnTo>
                  <a:close/>
                </a:path>
              </a:pathLst>
            </a:custGeom>
            <a:solidFill>
              <a:srgbClr val="7030A0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6">
                <a:shade val="50000"/>
                <a:hueOff val="0"/>
                <a:satOff val="-12474"/>
                <a:lumOff val="16551"/>
                <a:alphaOff val="0"/>
              </a:schemeClr>
            </a:effectRef>
            <a:fontRef idx="minor">
              <a:schemeClr val="lt1"/>
            </a:fontRef>
          </p:style>
          <p:txBody>
            <a:bodyPr lIns="222994" tIns="222994" rIns="222994" bIns="222994" anchor="ctr"/>
            <a:lstStyle>
              <a:lvl1pPr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Aft>
                  <a:spcPct val="35000"/>
                </a:spcAft>
              </a:pPr>
              <a:r>
                <a:rPr kumimoji="0" lang="en-US" altLang="zh-CN" sz="20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6.</a:t>
              </a:r>
              <a:r>
                <a:rPr kumimoji="0" lang="zh-CN" altLang="en-US" sz="20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再评估</a:t>
              </a:r>
              <a:endParaRPr kumimoji="0" lang="zh-CN" altLang="zh-CN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任意多边形 16"/>
            <p:cNvSpPr/>
            <p:nvPr/>
          </p:nvSpPr>
          <p:spPr>
            <a:xfrm rot="19800000">
              <a:off x="3694134" y="1574392"/>
              <a:ext cx="359079" cy="455374"/>
            </a:xfrm>
            <a:custGeom>
              <a:avLst/>
              <a:gdLst>
                <a:gd name="connsiteX0" fmla="*/ 0 w 359079"/>
                <a:gd name="connsiteY0" fmla="*/ 91075 h 455374"/>
                <a:gd name="connsiteX1" fmla="*/ 179540 w 359079"/>
                <a:gd name="connsiteY1" fmla="*/ 91075 h 455374"/>
                <a:gd name="connsiteX2" fmla="*/ 179540 w 359079"/>
                <a:gd name="connsiteY2" fmla="*/ 0 h 455374"/>
                <a:gd name="connsiteX3" fmla="*/ 359079 w 359079"/>
                <a:gd name="connsiteY3" fmla="*/ 227687 h 455374"/>
                <a:gd name="connsiteX4" fmla="*/ 179540 w 359079"/>
                <a:gd name="connsiteY4" fmla="*/ 455374 h 455374"/>
                <a:gd name="connsiteX5" fmla="*/ 179540 w 359079"/>
                <a:gd name="connsiteY5" fmla="*/ 364299 h 455374"/>
                <a:gd name="connsiteX6" fmla="*/ 0 w 359079"/>
                <a:gd name="connsiteY6" fmla="*/ 364299 h 455374"/>
                <a:gd name="connsiteX7" fmla="*/ 0 w 359079"/>
                <a:gd name="connsiteY7" fmla="*/ 91075 h 45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9079" h="455374">
                  <a:moveTo>
                    <a:pt x="0" y="91075"/>
                  </a:moveTo>
                  <a:lnTo>
                    <a:pt x="179540" y="91075"/>
                  </a:lnTo>
                  <a:lnTo>
                    <a:pt x="179540" y="0"/>
                  </a:lnTo>
                  <a:lnTo>
                    <a:pt x="359079" y="227687"/>
                  </a:lnTo>
                  <a:lnTo>
                    <a:pt x="179540" y="455374"/>
                  </a:lnTo>
                  <a:lnTo>
                    <a:pt x="179540" y="364299"/>
                  </a:lnTo>
                  <a:lnTo>
                    <a:pt x="0" y="364299"/>
                  </a:lnTo>
                  <a:lnTo>
                    <a:pt x="0" y="91075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z="-80000" prstMaterial="plastic">
              <a:bevelT w="50800" h="50800"/>
              <a:bevelB w="25400" h="25400" prst="angle"/>
            </a:sp3d>
          </p:spPr>
          <p:style>
            <a:lnRef idx="0">
              <a:schemeClr val="accent6">
                <a:shade val="90000"/>
                <a:hueOff val="0"/>
                <a:satOff val="-11810"/>
                <a:lumOff val="14590"/>
                <a:alphaOff val="0"/>
              </a:schemeClr>
            </a:lnRef>
            <a:fillRef idx="3">
              <a:schemeClr val="accent6">
                <a:shade val="90000"/>
                <a:hueOff val="0"/>
                <a:satOff val="-11810"/>
                <a:lumOff val="14590"/>
                <a:alphaOff val="0"/>
              </a:schemeClr>
            </a:fillRef>
            <a:effectRef idx="2">
              <a:schemeClr val="accent6">
                <a:shade val="90000"/>
                <a:hueOff val="0"/>
                <a:satOff val="-11810"/>
                <a:lumOff val="14590"/>
                <a:alphaOff val="0"/>
              </a:schemeClr>
            </a:effectRef>
            <a:fontRef idx="minor">
              <a:schemeClr val="lt1"/>
            </a:fontRef>
          </p:style>
          <p:txBody>
            <a:bodyPr lIns="-1" tIns="91075" rIns="107724" bIns="91074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70" name="TextBox 11"/>
          <p:cNvSpPr txBox="1">
            <a:spLocks noChangeArrowheads="1"/>
          </p:cNvSpPr>
          <p:nvPr/>
        </p:nvSpPr>
        <p:spPr bwMode="auto">
          <a:xfrm>
            <a:off x="762000" y="1371600"/>
            <a:ext cx="677863" cy="3786188"/>
          </a:xfrm>
          <a:prstGeom prst="rect">
            <a:avLst/>
          </a:prstGeom>
          <a:noFill/>
          <a:ln>
            <a:noFill/>
          </a:ln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系统职业生涯规划法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富强、民主、文明、和谐，自由、平等、公正、法治，爱国、敬业、诚信、友善，传承着中国优秀传统文化的基因，寄托着近代以来中国人民上下求索、历经千辛万苦确立的理想和信念，也承载着我们每个人的美好愿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2729" y="1982414"/>
            <a:ext cx="8229600" cy="4525963"/>
          </a:xfrm>
        </p:spPr>
        <p:txBody>
          <a:bodyPr/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青年的价值取向决定了未来整个社会的价值取向，而青年又处在价值观形成和确立的时期，抓好这一时期的价值观养成十分重要。这就像穿衣服扣扣子一样，如果第一粒扣子扣错了，剩余的扣子都会扣错。人生的扣子从一开始就要扣好。“凿井者，起于三寸之坎，以就万仞之深。”青年要从现在做起、从自己做起，使社会主义核心价值观成为自己的基本遵循，并身体力行大力将其推广到全社会去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                                                     ----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习近平</a:t>
            </a:r>
          </a:p>
        </p:txBody>
      </p:sp>
    </p:spTree>
    <p:extLst>
      <p:ext uri="{BB962C8B-B14F-4D97-AF65-F5344CB8AC3E}">
        <p14:creationId xmlns:p14="http://schemas.microsoft.com/office/powerpoint/2010/main" xmlns="" val="2349410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 txBox="1">
            <a:spLocks noChangeArrowheads="1"/>
          </p:cNvSpPr>
          <p:nvPr/>
        </p:nvSpPr>
        <p:spPr bwMode="auto">
          <a:xfrm>
            <a:off x="838200" y="1447800"/>
            <a:ext cx="7543800" cy="4648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认识到价值观对个人职业选择和发展的影响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澄清个人价值观，并真正“拥有”自己的价值观</a:t>
            </a: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利用工具对自己的价值观进行澄清和排序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价值观因素对职业选择和决策的影响，正视并合理看待自己的价值观</a:t>
            </a: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kumimoji="0"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" name="矩形 4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教学目标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513400" y="2634940"/>
            <a:ext cx="2813098" cy="1848390"/>
            <a:chOff x="1387741" y="2665092"/>
            <a:chExt cx="2813098" cy="1848390"/>
          </a:xfrm>
        </p:grpSpPr>
        <p:sp>
          <p:nvSpPr>
            <p:cNvPr id="23" name="矩形 22"/>
            <p:cNvSpPr/>
            <p:nvPr/>
          </p:nvSpPr>
          <p:spPr>
            <a:xfrm>
              <a:off x="1387741" y="2665092"/>
              <a:ext cx="2012644" cy="1383693"/>
            </a:xfrm>
            <a:prstGeom prst="rect">
              <a:avLst/>
            </a:prstGeom>
            <a:solidFill>
              <a:srgbClr val="3980B1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2188195" y="3129789"/>
              <a:ext cx="2012644" cy="1383693"/>
            </a:xfrm>
            <a:prstGeom prst="rect">
              <a:avLst/>
            </a:prstGeom>
            <a:solidFill>
              <a:srgbClr val="3980B1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889760" y="2895599"/>
              <a:ext cx="2012644" cy="1383693"/>
            </a:xfrm>
            <a:prstGeom prst="rect">
              <a:avLst/>
            </a:prstGeom>
            <a:solidFill>
              <a:srgbClr val="398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2188195" y="2987281"/>
              <a:ext cx="141577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957363" y="3726596"/>
              <a:ext cx="18774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CONTENTS</a:t>
              </a:r>
              <a:endParaRPr lang="zh-CN" altLang="en-US" sz="24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167990" y="990600"/>
            <a:ext cx="594360" cy="5137071"/>
            <a:chOff x="5071391" y="990600"/>
            <a:chExt cx="594360" cy="5137071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5364480" y="990600"/>
              <a:ext cx="0" cy="5137071"/>
            </a:xfrm>
            <a:prstGeom prst="line">
              <a:avLst/>
            </a:prstGeom>
            <a:ln>
              <a:solidFill>
                <a:srgbClr val="3980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椭圆 30"/>
            <p:cNvSpPr/>
            <p:nvPr/>
          </p:nvSpPr>
          <p:spPr>
            <a:xfrm>
              <a:off x="5071391" y="1360771"/>
              <a:ext cx="594360" cy="594360"/>
            </a:xfrm>
            <a:prstGeom prst="ellipse">
              <a:avLst/>
            </a:prstGeom>
            <a:solidFill>
              <a:srgbClr val="398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1</a:t>
              </a:r>
              <a:endParaRPr lang="zh-CN" altLang="en-US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5071391" y="2582331"/>
              <a:ext cx="594360" cy="594360"/>
            </a:xfrm>
            <a:prstGeom prst="ellipse">
              <a:avLst/>
            </a:prstGeom>
            <a:solidFill>
              <a:srgbClr val="398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2</a:t>
              </a:r>
              <a:endParaRPr lang="zh-CN" altLang="en-US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5071391" y="3803891"/>
              <a:ext cx="594360" cy="594360"/>
            </a:xfrm>
            <a:prstGeom prst="ellipse">
              <a:avLst/>
            </a:prstGeom>
            <a:solidFill>
              <a:srgbClr val="398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3</a:t>
              </a:r>
              <a:endParaRPr lang="zh-CN" altLang="en-US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5071391" y="5025451"/>
              <a:ext cx="594360" cy="594360"/>
            </a:xfrm>
            <a:prstGeom prst="ellipse">
              <a:avLst/>
            </a:prstGeom>
            <a:solidFill>
              <a:srgbClr val="3980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4</a:t>
              </a:r>
              <a:endParaRPr lang="zh-CN" altLang="en-US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</p:grpSp>
      <p:sp>
        <p:nvSpPr>
          <p:cNvPr id="35" name="矩形 34"/>
          <p:cNvSpPr/>
          <p:nvPr/>
        </p:nvSpPr>
        <p:spPr>
          <a:xfrm>
            <a:off x="4926968" y="145789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价值观的定义</a:t>
            </a:r>
          </a:p>
        </p:txBody>
      </p:sp>
      <p:sp>
        <p:nvSpPr>
          <p:cNvPr id="18" name="矩形 17"/>
          <p:cNvSpPr/>
          <p:nvPr/>
        </p:nvSpPr>
        <p:spPr>
          <a:xfrm>
            <a:off x="4926968" y="267945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探索个人价值观</a:t>
            </a:r>
          </a:p>
        </p:txBody>
      </p:sp>
      <p:sp>
        <p:nvSpPr>
          <p:cNvPr id="19" name="矩形 18"/>
          <p:cNvSpPr/>
          <p:nvPr/>
        </p:nvSpPr>
        <p:spPr>
          <a:xfrm>
            <a:off x="4926968" y="390101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价值观与职业</a:t>
            </a:r>
          </a:p>
        </p:txBody>
      </p:sp>
      <p:sp>
        <p:nvSpPr>
          <p:cNvPr id="20" name="矩形 19"/>
          <p:cNvSpPr/>
          <p:nvPr/>
        </p:nvSpPr>
        <p:spPr>
          <a:xfrm>
            <a:off x="4926968" y="5122576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分享与练习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3508" r="3555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0" name="任意多边形 39"/>
          <p:cNvSpPr/>
          <p:nvPr/>
        </p:nvSpPr>
        <p:spPr>
          <a:xfrm>
            <a:off x="2175640" y="898633"/>
            <a:ext cx="5060732" cy="5060732"/>
          </a:xfrm>
          <a:custGeom>
            <a:avLst/>
            <a:gdLst>
              <a:gd name="connsiteX0" fmla="*/ 2528706 w 5060732"/>
              <a:gd name="connsiteY0" fmla="*/ 676257 h 5060732"/>
              <a:gd name="connsiteX1" fmla="*/ 674598 w 5060732"/>
              <a:gd name="connsiteY1" fmla="*/ 2530365 h 5060732"/>
              <a:gd name="connsiteX2" fmla="*/ 2528706 w 5060732"/>
              <a:gd name="connsiteY2" fmla="*/ 4384473 h 5060732"/>
              <a:gd name="connsiteX3" fmla="*/ 4382814 w 5060732"/>
              <a:gd name="connsiteY3" fmla="*/ 2530365 h 5060732"/>
              <a:gd name="connsiteX4" fmla="*/ 2528706 w 5060732"/>
              <a:gd name="connsiteY4" fmla="*/ 676257 h 5060732"/>
              <a:gd name="connsiteX5" fmla="*/ 2530366 w 5060732"/>
              <a:gd name="connsiteY5" fmla="*/ 0 h 5060732"/>
              <a:gd name="connsiteX6" fmla="*/ 5060732 w 5060732"/>
              <a:gd name="connsiteY6" fmla="*/ 2530366 h 5060732"/>
              <a:gd name="connsiteX7" fmla="*/ 2530366 w 5060732"/>
              <a:gd name="connsiteY7" fmla="*/ 5060732 h 5060732"/>
              <a:gd name="connsiteX8" fmla="*/ 0 w 5060732"/>
              <a:gd name="connsiteY8" fmla="*/ 2530366 h 5060732"/>
              <a:gd name="connsiteX9" fmla="*/ 2530366 w 5060732"/>
              <a:gd name="connsiteY9" fmla="*/ 0 h 5060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60732" h="5060732">
                <a:moveTo>
                  <a:pt x="2528706" y="676257"/>
                </a:moveTo>
                <a:cubicBezTo>
                  <a:pt x="1504710" y="676257"/>
                  <a:pt x="674598" y="1506369"/>
                  <a:pt x="674598" y="2530365"/>
                </a:cubicBezTo>
                <a:cubicBezTo>
                  <a:pt x="674598" y="3554361"/>
                  <a:pt x="1504710" y="4384473"/>
                  <a:pt x="2528706" y="4384473"/>
                </a:cubicBezTo>
                <a:cubicBezTo>
                  <a:pt x="3552702" y="4384473"/>
                  <a:pt x="4382814" y="3554361"/>
                  <a:pt x="4382814" y="2530365"/>
                </a:cubicBezTo>
                <a:cubicBezTo>
                  <a:pt x="4382814" y="1506369"/>
                  <a:pt x="3552702" y="676257"/>
                  <a:pt x="2528706" y="676257"/>
                </a:cubicBezTo>
                <a:close/>
                <a:moveTo>
                  <a:pt x="2530366" y="0"/>
                </a:moveTo>
                <a:cubicBezTo>
                  <a:pt x="3927849" y="0"/>
                  <a:pt x="5060732" y="1132883"/>
                  <a:pt x="5060732" y="2530366"/>
                </a:cubicBezTo>
                <a:cubicBezTo>
                  <a:pt x="5060732" y="3927849"/>
                  <a:pt x="3927849" y="5060732"/>
                  <a:pt x="2530366" y="5060732"/>
                </a:cubicBezTo>
                <a:cubicBezTo>
                  <a:pt x="1132883" y="5060732"/>
                  <a:pt x="0" y="3927849"/>
                  <a:pt x="0" y="2530366"/>
                </a:cubicBezTo>
                <a:cubicBezTo>
                  <a:pt x="0" y="1132883"/>
                  <a:pt x="1132883" y="0"/>
                  <a:pt x="2530366" y="0"/>
                </a:cubicBezTo>
                <a:close/>
              </a:path>
            </a:pathLst>
          </a:custGeom>
          <a:solidFill>
            <a:srgbClr val="398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2851898" y="1574890"/>
            <a:ext cx="3708215" cy="3708215"/>
          </a:xfrm>
          <a:prstGeom prst="ellipse">
            <a:avLst/>
          </a:prstGeom>
          <a:solidFill>
            <a:schemeClr val="bg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27211" y="1481060"/>
            <a:ext cx="1957587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01</a:t>
            </a:r>
            <a:endParaRPr lang="zh-CN" altLang="en-US" sz="13800" b="1" dirty="0">
              <a:solidFill>
                <a:schemeClr val="tx1">
                  <a:lumMod val="75000"/>
                  <a:lumOff val="25000"/>
                </a:schemeClr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05235" y="3493325"/>
            <a:ext cx="1601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第一部分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993122" y="4013049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价值观的定义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5"/>
          <p:cNvSpPr txBox="1">
            <a:spLocks noChangeArrowheads="1"/>
          </p:cNvSpPr>
          <p:nvPr/>
        </p:nvSpPr>
        <p:spPr bwMode="auto">
          <a:xfrm>
            <a:off x="990600" y="1447800"/>
            <a:ext cx="7315200" cy="4524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200000"/>
              </a:lnSpc>
            </a:pPr>
            <a:r>
              <a:rPr kumimoji="0"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价值观（</a:t>
            </a:r>
            <a:r>
              <a:rPr kumimoji="0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values</a:t>
            </a: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）是人们用来区分好坏标准并</a:t>
            </a:r>
            <a:r>
              <a:rPr kumimoji="0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指导行为</a:t>
            </a: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的心理倾向系统。价值观往往容易被看作仅属于</a:t>
            </a:r>
            <a:r>
              <a:rPr kumimoji="0"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认知</a:t>
            </a: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的范畴，其实它通常是充满着</a:t>
            </a:r>
            <a:r>
              <a:rPr kumimoji="0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情感和意志的</a:t>
            </a: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。价值观为人自认为正当的行为提供充分的理由，是浸透于整个个性之中</a:t>
            </a:r>
            <a:r>
              <a:rPr kumimoji="0"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支配</a:t>
            </a: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着人的行为、态度、观点、信念、理想的一种</a:t>
            </a:r>
            <a:r>
              <a:rPr kumimoji="0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内心尺度</a:t>
            </a:r>
            <a:r>
              <a:rPr kumimoji="0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" name="矩形 7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什么是价值观？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5"/>
          <p:cNvSpPr txBox="1">
            <a:spLocks noChangeArrowheads="1"/>
          </p:cNvSpPr>
          <p:nvPr/>
        </p:nvSpPr>
        <p:spPr bwMode="auto">
          <a:xfrm>
            <a:off x="914400" y="1828800"/>
            <a:ext cx="7315200" cy="29194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工作价值观，是指无论你从事什么工作，都会努力在工作中追求的东西。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kumimoji="0" lang="en-US" altLang="zh-CN" sz="1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从另一个角度来讲，工作价值观就是你最期待从工作中获得的东西。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363" name="Picture 15" descr="heads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9756"/>
          <a:stretch>
            <a:fillRect/>
          </a:stretch>
        </p:blipFill>
        <p:spPr>
          <a:xfrm>
            <a:off x="990600" y="5791200"/>
            <a:ext cx="5638800" cy="704850"/>
          </a:xfrm>
          <a:noFill/>
        </p:spPr>
      </p:pic>
      <p:cxnSp>
        <p:nvCxnSpPr>
          <p:cNvPr id="6" name="直接连接符 5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矩形 6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什么是工作价值观？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3"/>
          <p:cNvSpPr txBox="1">
            <a:spLocks noChangeArrowheads="1"/>
          </p:cNvSpPr>
          <p:nvPr/>
        </p:nvSpPr>
        <p:spPr bwMode="auto">
          <a:xfrm>
            <a:off x="533400" y="1676400"/>
            <a:ext cx="7696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5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马斯洛提出人有五个层次的需求：生理需求，安全需求，归属需求，尊重需求，以及自我实现的需求。</a:t>
            </a:r>
          </a:p>
          <a:p>
            <a:pPr eaLnBrk="0" hangingPunct="0">
              <a:lnSpc>
                <a:spcPct val="15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只有当低层次的需求满足以后，个人才能够更好的满足更高层的需求。</a:t>
            </a:r>
          </a:p>
          <a:p>
            <a:pPr eaLnBrk="0" hangingPunct="0">
              <a:lnSpc>
                <a:spcPct val="15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这些需求体现在我们的生活中，就成为我们的价值观，它们具有强大的驱动力。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矩形 6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马斯洛的需求层次理论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马斯洛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4099" t="51405" r="3279" b="7977"/>
          <a:stretch>
            <a:fillRect/>
          </a:stretch>
        </p:blipFill>
        <p:spPr bwMode="auto">
          <a:xfrm>
            <a:off x="304800" y="1524000"/>
            <a:ext cx="8610600" cy="4648200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315" name="TextBox 3"/>
          <p:cNvSpPr txBox="1">
            <a:spLocks noChangeArrowheads="1"/>
          </p:cNvSpPr>
          <p:nvPr/>
        </p:nvSpPr>
        <p:spPr bwMode="auto">
          <a:xfrm>
            <a:off x="352425" y="685800"/>
            <a:ext cx="6553200" cy="646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需求理论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533400" y="1371600"/>
            <a:ext cx="6096000" cy="0"/>
          </a:xfrm>
          <a:prstGeom prst="lin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" name="TextBox 41"/>
          <p:cNvSpPr txBox="1">
            <a:spLocks noChangeArrowheads="1"/>
          </p:cNvSpPr>
          <p:nvPr/>
        </p:nvSpPr>
        <p:spPr bwMode="auto">
          <a:xfrm>
            <a:off x="6477000" y="1828800"/>
            <a:ext cx="1991251" cy="400110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404040"/>
                </a:solidFill>
              </a:rPr>
              <a:t>成就感，价值感</a:t>
            </a:r>
          </a:p>
        </p:txBody>
      </p:sp>
      <p:sp>
        <p:nvSpPr>
          <p:cNvPr id="7" name="TextBox 42"/>
          <p:cNvSpPr txBox="1">
            <a:spLocks noChangeArrowheads="1"/>
          </p:cNvSpPr>
          <p:nvPr/>
        </p:nvSpPr>
        <p:spPr bwMode="auto">
          <a:xfrm>
            <a:off x="6477000" y="2733822"/>
            <a:ext cx="1981200" cy="400110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solidFill>
                  <a:srgbClr val="404040"/>
                </a:solidFill>
              </a:rPr>
              <a:t>认可，肯定</a:t>
            </a:r>
          </a:p>
        </p:txBody>
      </p:sp>
      <p:sp>
        <p:nvSpPr>
          <p:cNvPr id="8" name="TextBox 44"/>
          <p:cNvSpPr txBox="1">
            <a:spLocks noChangeArrowheads="1"/>
          </p:cNvSpPr>
          <p:nvPr/>
        </p:nvSpPr>
        <p:spPr bwMode="auto">
          <a:xfrm>
            <a:off x="6472311" y="3648045"/>
            <a:ext cx="1981200" cy="400110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solidFill>
                  <a:srgbClr val="404040"/>
                </a:solidFill>
              </a:rPr>
              <a:t>支持，关注</a:t>
            </a:r>
          </a:p>
        </p:txBody>
      </p:sp>
      <p:sp>
        <p:nvSpPr>
          <p:cNvPr id="9" name="TextBox 45"/>
          <p:cNvSpPr txBox="1">
            <a:spLocks noChangeArrowheads="1"/>
          </p:cNvSpPr>
          <p:nvPr/>
        </p:nvSpPr>
        <p:spPr bwMode="auto">
          <a:xfrm>
            <a:off x="6487051" y="4533376"/>
            <a:ext cx="1981200" cy="400110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solidFill>
                  <a:srgbClr val="404040"/>
                </a:solidFill>
              </a:rPr>
              <a:t>环境，制度</a:t>
            </a:r>
          </a:p>
        </p:txBody>
      </p:sp>
      <p:sp>
        <p:nvSpPr>
          <p:cNvPr id="10" name="TextBox 46"/>
          <p:cNvSpPr txBox="1">
            <a:spLocks noChangeArrowheads="1"/>
          </p:cNvSpPr>
          <p:nvPr/>
        </p:nvSpPr>
        <p:spPr bwMode="auto">
          <a:xfrm>
            <a:off x="6487051" y="5353110"/>
            <a:ext cx="1981200" cy="400110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solidFill>
                  <a:srgbClr val="404040"/>
                </a:solidFill>
              </a:rPr>
              <a:t>报酬，福利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内容占位符 2"/>
          <p:cNvSpPr>
            <a:spLocks noGrp="1"/>
          </p:cNvSpPr>
          <p:nvPr>
            <p:ph idx="1"/>
          </p:nvPr>
        </p:nvSpPr>
        <p:spPr>
          <a:xfrm>
            <a:off x="457200" y="830263"/>
            <a:ext cx="8229600" cy="4525962"/>
          </a:xfrm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1" name="Picture 7" descr="D:\My Documents\My Pictures\20120215_FA21763464929613755250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1288" y="388938"/>
            <a:ext cx="2962275" cy="3678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Picture 6" descr="D:\My Documents\My Pictures\20120215_5657F63464929613661500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140075"/>
            <a:ext cx="3228975" cy="3405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Picture 8" descr="D:\My Documents\My Pictures\20120215_CD3CA634649296134583750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25800" y="381000"/>
            <a:ext cx="2794000" cy="3694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Picture 9" descr="D:\My Documents\My Pictures\20120215_CC26E634649296133490000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154363"/>
            <a:ext cx="3106738" cy="3519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4" name="Picture 10" descr="D:\My Documents\My Pictures\20122231113961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81000"/>
            <a:ext cx="2932113" cy="356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3508" r="3555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0" name="任意多边形 39"/>
          <p:cNvSpPr/>
          <p:nvPr/>
        </p:nvSpPr>
        <p:spPr>
          <a:xfrm>
            <a:off x="2175640" y="898633"/>
            <a:ext cx="5060732" cy="5060732"/>
          </a:xfrm>
          <a:custGeom>
            <a:avLst/>
            <a:gdLst>
              <a:gd name="connsiteX0" fmla="*/ 2528706 w 5060732"/>
              <a:gd name="connsiteY0" fmla="*/ 676257 h 5060732"/>
              <a:gd name="connsiteX1" fmla="*/ 674598 w 5060732"/>
              <a:gd name="connsiteY1" fmla="*/ 2530365 h 5060732"/>
              <a:gd name="connsiteX2" fmla="*/ 2528706 w 5060732"/>
              <a:gd name="connsiteY2" fmla="*/ 4384473 h 5060732"/>
              <a:gd name="connsiteX3" fmla="*/ 4382814 w 5060732"/>
              <a:gd name="connsiteY3" fmla="*/ 2530365 h 5060732"/>
              <a:gd name="connsiteX4" fmla="*/ 2528706 w 5060732"/>
              <a:gd name="connsiteY4" fmla="*/ 676257 h 5060732"/>
              <a:gd name="connsiteX5" fmla="*/ 2530366 w 5060732"/>
              <a:gd name="connsiteY5" fmla="*/ 0 h 5060732"/>
              <a:gd name="connsiteX6" fmla="*/ 5060732 w 5060732"/>
              <a:gd name="connsiteY6" fmla="*/ 2530366 h 5060732"/>
              <a:gd name="connsiteX7" fmla="*/ 2530366 w 5060732"/>
              <a:gd name="connsiteY7" fmla="*/ 5060732 h 5060732"/>
              <a:gd name="connsiteX8" fmla="*/ 0 w 5060732"/>
              <a:gd name="connsiteY8" fmla="*/ 2530366 h 5060732"/>
              <a:gd name="connsiteX9" fmla="*/ 2530366 w 5060732"/>
              <a:gd name="connsiteY9" fmla="*/ 0 h 5060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60732" h="5060732">
                <a:moveTo>
                  <a:pt x="2528706" y="676257"/>
                </a:moveTo>
                <a:cubicBezTo>
                  <a:pt x="1504710" y="676257"/>
                  <a:pt x="674598" y="1506369"/>
                  <a:pt x="674598" y="2530365"/>
                </a:cubicBezTo>
                <a:cubicBezTo>
                  <a:pt x="674598" y="3554361"/>
                  <a:pt x="1504710" y="4384473"/>
                  <a:pt x="2528706" y="4384473"/>
                </a:cubicBezTo>
                <a:cubicBezTo>
                  <a:pt x="3552702" y="4384473"/>
                  <a:pt x="4382814" y="3554361"/>
                  <a:pt x="4382814" y="2530365"/>
                </a:cubicBezTo>
                <a:cubicBezTo>
                  <a:pt x="4382814" y="1506369"/>
                  <a:pt x="3552702" y="676257"/>
                  <a:pt x="2528706" y="676257"/>
                </a:cubicBezTo>
                <a:close/>
                <a:moveTo>
                  <a:pt x="2530366" y="0"/>
                </a:moveTo>
                <a:cubicBezTo>
                  <a:pt x="3927849" y="0"/>
                  <a:pt x="5060732" y="1132883"/>
                  <a:pt x="5060732" y="2530366"/>
                </a:cubicBezTo>
                <a:cubicBezTo>
                  <a:pt x="5060732" y="3927849"/>
                  <a:pt x="3927849" y="5060732"/>
                  <a:pt x="2530366" y="5060732"/>
                </a:cubicBezTo>
                <a:cubicBezTo>
                  <a:pt x="1132883" y="5060732"/>
                  <a:pt x="0" y="3927849"/>
                  <a:pt x="0" y="2530366"/>
                </a:cubicBezTo>
                <a:cubicBezTo>
                  <a:pt x="0" y="1132883"/>
                  <a:pt x="1132883" y="0"/>
                  <a:pt x="2530366" y="0"/>
                </a:cubicBezTo>
                <a:close/>
              </a:path>
            </a:pathLst>
          </a:custGeom>
          <a:solidFill>
            <a:srgbClr val="398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2851898" y="1574890"/>
            <a:ext cx="3708215" cy="3708215"/>
          </a:xfrm>
          <a:prstGeom prst="ellipse">
            <a:avLst/>
          </a:prstGeom>
          <a:solidFill>
            <a:schemeClr val="bg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27211" y="1481060"/>
            <a:ext cx="1957587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02</a:t>
            </a:r>
            <a:endParaRPr lang="zh-CN" altLang="en-US" sz="13800" b="1" dirty="0">
              <a:solidFill>
                <a:schemeClr val="tx1">
                  <a:lumMod val="75000"/>
                  <a:lumOff val="25000"/>
                </a:schemeClr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05235" y="3493325"/>
            <a:ext cx="1601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第二部分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792633" y="4170849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探索个人价值观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 txBox="1">
            <a:spLocks noChangeArrowheads="1"/>
          </p:cNvSpPr>
          <p:nvPr/>
        </p:nvSpPr>
        <p:spPr bwMode="auto">
          <a:xfrm>
            <a:off x="228600" y="1676400"/>
            <a:ext cx="8839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、如果我有</a:t>
            </a:r>
            <a:r>
              <a: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万美元，我将</a:t>
            </a:r>
            <a:r>
              <a: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_______</a:t>
            </a: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、在一生中最想要的是</a:t>
            </a:r>
            <a:r>
              <a: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_______</a:t>
            </a: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、如果我只剩下</a:t>
            </a:r>
            <a:r>
              <a: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小时的生命，那我将</a:t>
            </a:r>
            <a:r>
              <a: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_______</a:t>
            </a: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、我将给我的孩子的忠告是</a:t>
            </a:r>
            <a:r>
              <a: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______</a:t>
            </a: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、假如我能改变自己一样东西，那么它将会是 </a:t>
            </a:r>
            <a:r>
              <a: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_____________</a:t>
            </a:r>
          </a:p>
        </p:txBody>
      </p:sp>
      <p:pic>
        <p:nvPicPr>
          <p:cNvPr id="25603" name="Picture 14" descr="j0345541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 rot="960000">
            <a:off x="6691313" y="5208588"/>
            <a:ext cx="904875" cy="1131887"/>
          </a:xfrm>
          <a:noFill/>
        </p:spPr>
      </p:pic>
      <p:cxnSp>
        <p:nvCxnSpPr>
          <p:cNvPr id="6" name="直接连接符 5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矩形 6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价值观想象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838200" y="2276475"/>
            <a:ext cx="7543800" cy="12001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你最期待从工作和生活中  </a:t>
            </a:r>
            <a:r>
              <a:rPr kumimoji="0" lang="zh-CN" altLang="en-US" sz="7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获得</a:t>
            </a:r>
            <a:r>
              <a:rPr kumimoji="0" lang="zh-CN" altLang="en-US" sz="72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什么？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5" descr="leaf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1620000">
            <a:off x="6942138" y="5297488"/>
            <a:ext cx="719137" cy="8826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57200" y="1601788"/>
            <a:ext cx="7696200" cy="41132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0" lang="en-US" altLang="zh-CN" sz="250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kumimoji="0" lang="en-US" altLang="zh-CN" sz="260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0"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rPr>
              <a:t>人际关系</a:t>
            </a:r>
            <a:r>
              <a:rPr kumimoji="0" lang="zh-CN" altLang="zh-CN" sz="26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rPr>
              <a:t>归属感、团队合作，物质保障</a:t>
            </a:r>
            <a:r>
              <a:rPr kumimoji="0" lang="zh-CN" altLang="zh-CN" sz="26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rPr>
              <a:t>高收入，稳定，安全，创造性，多样性和变化性、新鲜感，乐趣，自由独立（时间，工作任务），被认可，受尊重，能帮助他人，能发挥自己的才能，成就感，成功，名誉，地位，自主独立，有学习</a:t>
            </a:r>
            <a:r>
              <a:rPr kumimoji="0" lang="en-US" altLang="zh-CN" sz="26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rPr>
              <a:t>发展</a:t>
            </a:r>
            <a:r>
              <a:rPr kumimoji="0" lang="en-US" altLang="zh-CN" sz="26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rPr>
              <a:t>成长的机会，权力（领导</a:t>
            </a:r>
            <a:r>
              <a:rPr kumimoji="0" lang="en-US" altLang="zh-CN" sz="26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rPr>
              <a:t>影响他人），有益于社会，挑战性，冒险性，竞争，符合自己的道德观，工作环境、工作与生活平衡，家庭，朋友，亲密关系，健康，信仰，自由</a:t>
            </a:r>
            <a:r>
              <a:rPr kumimoji="0" lang="en-US" altLang="zh-CN" sz="260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矩形 6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重要价值观列表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1828800"/>
            <a:ext cx="7010400" cy="32004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参照以上列表，挑选出对你来说</a:t>
            </a:r>
            <a:r>
              <a:rPr kumimoji="0"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0"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条最重要的价值观分别写在</a:t>
            </a:r>
            <a:r>
              <a:rPr kumimoji="0"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0"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张小纸条上。</a:t>
            </a:r>
            <a:endParaRPr kumimoji="0"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kumimoji="0"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在反面对你挑选的重要价值观进行描述，即要达到什么样的程度你才能满意。</a:t>
            </a:r>
            <a:endParaRPr kumimoji="0"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0" lang="zh-CN" altLang="en-US" sz="2800" i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矩形 6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价值观市场：准备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762000" y="1676400"/>
            <a:ext cx="7620000" cy="4368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>
              <a:spcBef>
                <a:spcPct val="20000"/>
              </a:spcBef>
              <a:spcAft>
                <a:spcPct val="2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rPr>
              <a:t>现在，如果你不得不放弃其中的一条，你会放弃哪一条？将你准备放弃的这一条与其他人交换。</a:t>
            </a:r>
          </a:p>
          <a:p>
            <a:pPr algn="just" eaLnBrk="0" hangingPunct="0">
              <a:spcBef>
                <a:spcPct val="20000"/>
              </a:spcBef>
              <a:spcAft>
                <a:spcPct val="2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rPr>
              <a:t>如果你不得不再次放弃剩下四条中的一条，你会放弃哪一条？请再次与其他人交换。（保留刚才别人给你的，放在一边。）</a:t>
            </a:r>
          </a:p>
          <a:p>
            <a:pPr algn="just" eaLnBrk="0" hangingPunct="0">
              <a:spcBef>
                <a:spcPct val="20000"/>
              </a:spcBef>
              <a:spcAft>
                <a:spcPct val="2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600">
                <a:latin typeface="微软雅黑" panose="020B0503020204020204" pitchFamily="34" charset="-122"/>
                <a:ea typeface="微软雅黑" panose="020B0503020204020204" pitchFamily="34" charset="-122"/>
              </a:rPr>
              <a:t>继续下去，直到剩下最后一条。这是否是你无论如何也不愿放弃的？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矩形 6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价值观市场：交换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/>
            </a:extLst>
          </p:cNvPr>
          <p:cNvGraphicFramePr>
            <a:graphicFrameLocks noGrp="1"/>
          </p:cNvGraphicFramePr>
          <p:nvPr/>
        </p:nvGraphicFramePr>
        <p:xfrm>
          <a:off x="611188" y="549275"/>
          <a:ext cx="7993062" cy="5834064"/>
        </p:xfrm>
        <a:graphic>
          <a:graphicData uri="http://schemas.openxmlformats.org/drawingml/2006/table">
            <a:tbl>
              <a:tblPr/>
              <a:tblGrid>
                <a:gridCol w="2663825">
                  <a:extLst>
                    <a:ext uri="{9D8B030D-6E8A-4147-A177-3AD203B41FA5}"/>
                  </a:extLst>
                </a:gridCol>
                <a:gridCol w="2665412">
                  <a:extLst>
                    <a:ext uri="{9D8B030D-6E8A-4147-A177-3AD203B41FA5}"/>
                  </a:extLst>
                </a:gridCol>
                <a:gridCol w="2663825">
                  <a:extLst>
                    <a:ext uri="{9D8B030D-6E8A-4147-A177-3AD203B41FA5}"/>
                  </a:extLst>
                </a:gridCol>
              </a:tblGrid>
              <a:tr h="1944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学习进修</a:t>
                      </a:r>
                    </a:p>
                  </a:txBody>
                  <a:tcPr anchorCtr="1" horzOverflow="overflow">
                    <a:lnL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1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职业发展</a:t>
                      </a:r>
                    </a:p>
                  </a:txBody>
                  <a:tcPr anchorCtr="1" horzOverflow="overflow">
                    <a:lnL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1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人际交往</a:t>
                      </a:r>
                    </a:p>
                  </a:txBody>
                  <a:tcPr anchorCtr="1" horzOverflow="overflow">
                    <a:lnL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1F9"/>
                    </a:solidFill>
                  </a:tcPr>
                </a:tc>
                <a:extLst>
                  <a:ext uri="{0D108BD9-81ED-4DB2-BD59-A6C34878D82A}"/>
                </a:extLst>
              </a:tr>
              <a:tr h="1944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个人情感</a:t>
                      </a:r>
                    </a:p>
                  </a:txBody>
                  <a:tcPr anchorCtr="1" horzOverflow="overflow">
                    <a:lnL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身心健康</a:t>
                      </a:r>
                    </a:p>
                  </a:txBody>
                  <a:tcPr anchorCtr="1" horzOverflow="overflow">
                    <a:lnL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休闲娱乐</a:t>
                      </a:r>
                    </a:p>
                  </a:txBody>
                  <a:tcPr anchorCtr="1" horzOverflow="overflow">
                    <a:lnL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3F2"/>
                    </a:solidFill>
                  </a:tcPr>
                </a:tc>
                <a:extLst>
                  <a:ext uri="{0D108BD9-81ED-4DB2-BD59-A6C34878D82A}"/>
                </a:extLst>
              </a:tr>
              <a:tr h="1944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财务管理</a:t>
                      </a:r>
                    </a:p>
                  </a:txBody>
                  <a:tcPr anchorCtr="1" horzOverflow="overflow">
                    <a:lnL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1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家庭生活</a:t>
                      </a:r>
                    </a:p>
                  </a:txBody>
                  <a:tcPr anchorCtr="1" horzOverflow="overflow">
                    <a:lnL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1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服务社会</a:t>
                      </a:r>
                    </a:p>
                  </a:txBody>
                  <a:tcPr anchorCtr="1" horzOverflow="overflow">
                    <a:lnL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1F9"/>
                    </a:solidFill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4" name="椭圆 3">
            <a:extLst>
              <a:ext uri="{FF2B5EF4-FFF2-40B4-BE49-F238E27FC236}"/>
            </a:extLst>
          </p:cNvPr>
          <p:cNvSpPr/>
          <p:nvPr/>
        </p:nvSpPr>
        <p:spPr>
          <a:xfrm>
            <a:off x="2843213" y="981075"/>
            <a:ext cx="3600450" cy="136842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合格</a:t>
            </a:r>
            <a:endParaRPr lang="en-US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/>
            </a:extLst>
          </p:cNvPr>
          <p:cNvSpPr/>
          <p:nvPr/>
        </p:nvSpPr>
        <p:spPr>
          <a:xfrm>
            <a:off x="2843213" y="2924175"/>
            <a:ext cx="3600450" cy="136842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4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</a:p>
        </p:txBody>
      </p:sp>
      <p:sp>
        <p:nvSpPr>
          <p:cNvPr id="6" name="椭圆 5">
            <a:extLst>
              <a:ext uri="{FF2B5EF4-FFF2-40B4-BE49-F238E27FC236}"/>
            </a:extLst>
          </p:cNvPr>
          <p:cNvSpPr/>
          <p:nvPr/>
        </p:nvSpPr>
        <p:spPr>
          <a:xfrm>
            <a:off x="2843213" y="4941888"/>
            <a:ext cx="3600450" cy="136683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卓越</a:t>
            </a:r>
            <a:endParaRPr lang="en-US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3"/>
          <p:cNvSpPr txBox="1">
            <a:spLocks noChangeArrowheads="1"/>
          </p:cNvSpPr>
          <p:nvPr/>
        </p:nvSpPr>
        <p:spPr bwMode="auto">
          <a:xfrm>
            <a:off x="797859" y="2528047"/>
            <a:ext cx="7543800" cy="42195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4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通过这个活动，你对于自己的价值观有什么样的了解？</a:t>
            </a:r>
          </a:p>
          <a:p>
            <a:pPr eaLnBrk="0" hangingPunct="0">
              <a:lnSpc>
                <a:spcPct val="14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你的价值观会对你的职业选择和人生产生什么样的影响？</a:t>
            </a:r>
          </a:p>
          <a:p>
            <a:pPr eaLnBrk="0" hangingPunct="0">
              <a:lnSpc>
                <a:spcPct val="14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影响你价值观形成的因素有哪些？</a:t>
            </a:r>
          </a:p>
        </p:txBody>
      </p:sp>
      <p:pic>
        <p:nvPicPr>
          <p:cNvPr id="35842" name="Picture 4" descr="j0155723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88423" y="5535706"/>
            <a:ext cx="1795463" cy="939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直接连接符 6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" name="矩形 7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价值观市场：讨论</a:t>
            </a:r>
          </a:p>
        </p:txBody>
      </p:sp>
      <p:sp>
        <p:nvSpPr>
          <p:cNvPr id="6" name="矩形 5"/>
          <p:cNvSpPr/>
          <p:nvPr/>
        </p:nvSpPr>
        <p:spPr>
          <a:xfrm>
            <a:off x="1192305" y="1725270"/>
            <a:ext cx="7207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价值观探索的两个工具：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价值观想象、价值观交换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矩形 5"/>
          <p:cNvSpPr>
            <a:spLocks noChangeArrowheads="1"/>
          </p:cNvSpPr>
          <p:nvPr/>
        </p:nvSpPr>
        <p:spPr bwMode="auto">
          <a:xfrm>
            <a:off x="2057400" y="5710238"/>
            <a:ext cx="6648450" cy="4619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美国教育家，罗伊斯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•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拉斯（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Louis Raths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485775" y="1905000"/>
          <a:ext cx="8153400" cy="36195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价值形成的阶段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层次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可提问的问题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7675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选择（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choosing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自由的选择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A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a.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你考虑过任何一个选择吗？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b.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你想可能的结果是如何？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c.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你自己愿意去做吗？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76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从不同的途径中选择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476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深思熟虑后选择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4767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珍视（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prizing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重视与珍惜自己的选择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d.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你觉得这么做是对的吗？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e.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你愿意向谁讲呢？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667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公开表示自己的选择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4767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行动（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acting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根据自己的选择，采取行动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f.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到目前为止做得怎样？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g.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你下一步要怎么办呢？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667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重复行动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cxnSp>
        <p:nvCxnSpPr>
          <p:cNvPr id="7" name="直接连接符 6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" name="矩形 7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真实价值观的澄清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3508" r="3555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0" name="任意多边形 39"/>
          <p:cNvSpPr/>
          <p:nvPr/>
        </p:nvSpPr>
        <p:spPr>
          <a:xfrm>
            <a:off x="2175640" y="898633"/>
            <a:ext cx="5060732" cy="5060732"/>
          </a:xfrm>
          <a:custGeom>
            <a:avLst/>
            <a:gdLst>
              <a:gd name="connsiteX0" fmla="*/ 2528706 w 5060732"/>
              <a:gd name="connsiteY0" fmla="*/ 676257 h 5060732"/>
              <a:gd name="connsiteX1" fmla="*/ 674598 w 5060732"/>
              <a:gd name="connsiteY1" fmla="*/ 2530365 h 5060732"/>
              <a:gd name="connsiteX2" fmla="*/ 2528706 w 5060732"/>
              <a:gd name="connsiteY2" fmla="*/ 4384473 h 5060732"/>
              <a:gd name="connsiteX3" fmla="*/ 4382814 w 5060732"/>
              <a:gd name="connsiteY3" fmla="*/ 2530365 h 5060732"/>
              <a:gd name="connsiteX4" fmla="*/ 2528706 w 5060732"/>
              <a:gd name="connsiteY4" fmla="*/ 676257 h 5060732"/>
              <a:gd name="connsiteX5" fmla="*/ 2530366 w 5060732"/>
              <a:gd name="connsiteY5" fmla="*/ 0 h 5060732"/>
              <a:gd name="connsiteX6" fmla="*/ 5060732 w 5060732"/>
              <a:gd name="connsiteY6" fmla="*/ 2530366 h 5060732"/>
              <a:gd name="connsiteX7" fmla="*/ 2530366 w 5060732"/>
              <a:gd name="connsiteY7" fmla="*/ 5060732 h 5060732"/>
              <a:gd name="connsiteX8" fmla="*/ 0 w 5060732"/>
              <a:gd name="connsiteY8" fmla="*/ 2530366 h 5060732"/>
              <a:gd name="connsiteX9" fmla="*/ 2530366 w 5060732"/>
              <a:gd name="connsiteY9" fmla="*/ 0 h 5060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60732" h="5060732">
                <a:moveTo>
                  <a:pt x="2528706" y="676257"/>
                </a:moveTo>
                <a:cubicBezTo>
                  <a:pt x="1504710" y="676257"/>
                  <a:pt x="674598" y="1506369"/>
                  <a:pt x="674598" y="2530365"/>
                </a:cubicBezTo>
                <a:cubicBezTo>
                  <a:pt x="674598" y="3554361"/>
                  <a:pt x="1504710" y="4384473"/>
                  <a:pt x="2528706" y="4384473"/>
                </a:cubicBezTo>
                <a:cubicBezTo>
                  <a:pt x="3552702" y="4384473"/>
                  <a:pt x="4382814" y="3554361"/>
                  <a:pt x="4382814" y="2530365"/>
                </a:cubicBezTo>
                <a:cubicBezTo>
                  <a:pt x="4382814" y="1506369"/>
                  <a:pt x="3552702" y="676257"/>
                  <a:pt x="2528706" y="676257"/>
                </a:cubicBezTo>
                <a:close/>
                <a:moveTo>
                  <a:pt x="2530366" y="0"/>
                </a:moveTo>
                <a:cubicBezTo>
                  <a:pt x="3927849" y="0"/>
                  <a:pt x="5060732" y="1132883"/>
                  <a:pt x="5060732" y="2530366"/>
                </a:cubicBezTo>
                <a:cubicBezTo>
                  <a:pt x="5060732" y="3927849"/>
                  <a:pt x="3927849" y="5060732"/>
                  <a:pt x="2530366" y="5060732"/>
                </a:cubicBezTo>
                <a:cubicBezTo>
                  <a:pt x="1132883" y="5060732"/>
                  <a:pt x="0" y="3927849"/>
                  <a:pt x="0" y="2530366"/>
                </a:cubicBezTo>
                <a:cubicBezTo>
                  <a:pt x="0" y="1132883"/>
                  <a:pt x="1132883" y="0"/>
                  <a:pt x="2530366" y="0"/>
                </a:cubicBezTo>
                <a:close/>
              </a:path>
            </a:pathLst>
          </a:custGeom>
          <a:solidFill>
            <a:srgbClr val="398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2851898" y="1574890"/>
            <a:ext cx="3708215" cy="3708215"/>
          </a:xfrm>
          <a:prstGeom prst="ellipse">
            <a:avLst/>
          </a:prstGeom>
          <a:solidFill>
            <a:schemeClr val="bg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27211" y="1481060"/>
            <a:ext cx="1957587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03</a:t>
            </a:r>
            <a:endParaRPr lang="zh-CN" altLang="en-US" sz="13800" b="1" dirty="0">
              <a:solidFill>
                <a:schemeClr val="tx1">
                  <a:lumMod val="75000"/>
                  <a:lumOff val="25000"/>
                </a:schemeClr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05235" y="3493325"/>
            <a:ext cx="1601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第三部分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937110" y="4173110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价值观与职业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1143000"/>
          </a:xfrm>
        </p:spPr>
        <p:txBody>
          <a:bodyPr anchor="t"/>
          <a:lstStyle/>
          <a:p>
            <a:pPr algn="l"/>
            <a:r>
              <a:rPr lang="zh-CN" altLang="en-US" sz="3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职涯发展的两大驱动力</a:t>
            </a:r>
          </a:p>
        </p:txBody>
      </p:sp>
      <p:pic>
        <p:nvPicPr>
          <p:cNvPr id="5123" name="Picture 2" descr="http://pic.nipic.com/2008-07-29/200872916954544_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28775"/>
            <a:ext cx="6505575" cy="46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圆角矩形标注 4"/>
          <p:cNvSpPr/>
          <p:nvPr/>
        </p:nvSpPr>
        <p:spPr>
          <a:xfrm>
            <a:off x="6858000" y="4267200"/>
            <a:ext cx="1752600" cy="762000"/>
          </a:xfrm>
          <a:prstGeom prst="wedgeRoundRectCallout">
            <a:avLst>
              <a:gd name="adj1" fmla="val -67624"/>
              <a:gd name="adj2" fmla="val 43337"/>
              <a:gd name="adj3" fmla="val 16667"/>
            </a:avLst>
          </a:prstGeom>
          <a:solidFill>
            <a:srgbClr val="00E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职业兴趣</a:t>
            </a:r>
          </a:p>
        </p:txBody>
      </p:sp>
      <p:sp>
        <p:nvSpPr>
          <p:cNvPr id="6" name="圆角矩形标注 5"/>
          <p:cNvSpPr/>
          <p:nvPr/>
        </p:nvSpPr>
        <p:spPr>
          <a:xfrm>
            <a:off x="1295400" y="3795713"/>
            <a:ext cx="1905000" cy="762000"/>
          </a:xfrm>
          <a:prstGeom prst="wedgeRoundRectCallout">
            <a:avLst>
              <a:gd name="adj1" fmla="val 66410"/>
              <a:gd name="adj2" fmla="val 37130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工作价值观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381000" y="1371600"/>
            <a:ext cx="6019800" cy="0"/>
          </a:xfrm>
          <a:prstGeom prst="lin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 txBox="1">
            <a:spLocks noChangeArrowheads="1"/>
          </p:cNvSpPr>
          <p:nvPr/>
        </p:nvSpPr>
        <p:spPr bwMode="auto">
          <a:xfrm>
            <a:off x="685800" y="1828800"/>
            <a:ext cx="7086600" cy="36734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>
              <a:lnSpc>
                <a:spcPct val="12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价值观在人们的职业生涯发展中起到极其重要的、决定方向性的作用，甚至往往超过了兴趣和性格对我们的影响。</a:t>
            </a: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 </a:t>
            </a:r>
            <a:endParaRPr kumimoji="0"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0" hangingPunct="0">
              <a:lnSpc>
                <a:spcPct val="12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当我们有矛盾冲突，或妥协与放弃时，常常也是出于对价值观的考虑。</a:t>
            </a:r>
          </a:p>
        </p:txBody>
      </p:sp>
      <p:pic>
        <p:nvPicPr>
          <p:cNvPr id="40963" name="图片 8" descr="00142add53920c18530318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08588" y="4648200"/>
            <a:ext cx="2443162" cy="1790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直接连接符 5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矩形 6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为什么要考虑价值观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2" name="Picture 2" descr="http://imgReader.gmw.cn/attachement/jpg/site2/20081230/xin_02120530161992113491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676400"/>
            <a:ext cx="3184525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84" name="Picture 4" descr="http://www.xl7788.com/wzattach/t_132920_483253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" y="2286000"/>
            <a:ext cx="4051139" cy="32004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6" name="直接连接符 5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矩形 6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价值观驱动的职业生涯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6" descr="Bib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75263" y="5105400"/>
            <a:ext cx="3198812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59" name="Rectangle 3"/>
          <p:cNvSpPr txBox="1">
            <a:spLocks noChangeArrowheads="1"/>
          </p:cNvSpPr>
          <p:nvPr/>
        </p:nvSpPr>
        <p:spPr bwMode="auto">
          <a:xfrm>
            <a:off x="609600" y="1828800"/>
            <a:ext cx="74676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>
              <a:lnSpc>
                <a:spcPts val="3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你生命的前半辈子或许属于别人，活在别人的认为里。那把后半辈子还给你自己，去追随你内在的声音。</a:t>
            </a:r>
            <a:r>
              <a:rPr kumimoji="0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荣格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0" hangingPunct="0">
              <a:lnSpc>
                <a:spcPts val="3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个人由于所处的生涯发展阶段、社会环境的不同，他的需求会发生改变，从而可能导致价值观的变化。 </a:t>
            </a:r>
          </a:p>
          <a:p>
            <a:pPr algn="just" eaLnBrk="0" hangingPunct="0">
              <a:lnSpc>
                <a:spcPts val="3000"/>
              </a:lnSpc>
              <a:spcBef>
                <a:spcPct val="30000"/>
              </a:spcBef>
              <a:spcAft>
                <a:spcPct val="30000"/>
              </a:spcAft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因此，价值观需要不断地审视和澄清。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矩形 6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价值观的变化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 txBox="1">
            <a:spLocks noChangeArrowheads="1"/>
          </p:cNvSpPr>
          <p:nvPr/>
        </p:nvSpPr>
        <p:spPr bwMode="auto">
          <a:xfrm>
            <a:off x="609600" y="1828800"/>
            <a:ext cx="7239000" cy="40513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很少有工作能够完全满足一个人所有的重要价值观，生活中亦是如此。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因此，我们总是要不断地做出妥协和放弃，它们是不可避免也是必要的。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我们需要对自己的价值观进行澄清和排序，才能知道如何取舍。 </a:t>
            </a:r>
          </a:p>
        </p:txBody>
      </p:sp>
      <p:pic>
        <p:nvPicPr>
          <p:cNvPr id="47107" name="Picture 6" descr="Bib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34000" y="5029200"/>
            <a:ext cx="2965450" cy="1412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直接连接符 5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矩形 6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自身价值观的实现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gimg2.baidu.com/image_search/src=http%3A%2F%2Fwww.81.cn%2Fbig5%2Fjmywyl%2Fattachement%2Fjpg%2Fsite351%2F20180830%2F309c236f8c3b1cf1ef3053.jpg&amp;refer=http%3A%2F%2Fwww.81.cn&amp;app=2002&amp;size=f9999,10000&amp;q=a80&amp;n=0&amp;g=0n&amp;fmt=jpeg?sec=1622020077&amp;t=71bb93729839f464b03b20ae6337336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46658" y="192740"/>
            <a:ext cx="3521076" cy="604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665995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3508" r="3555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0" name="任意多边形 39"/>
          <p:cNvSpPr/>
          <p:nvPr/>
        </p:nvSpPr>
        <p:spPr>
          <a:xfrm>
            <a:off x="2175640" y="898633"/>
            <a:ext cx="5060732" cy="5060732"/>
          </a:xfrm>
          <a:custGeom>
            <a:avLst/>
            <a:gdLst>
              <a:gd name="connsiteX0" fmla="*/ 2528706 w 5060732"/>
              <a:gd name="connsiteY0" fmla="*/ 676257 h 5060732"/>
              <a:gd name="connsiteX1" fmla="*/ 674598 w 5060732"/>
              <a:gd name="connsiteY1" fmla="*/ 2530365 h 5060732"/>
              <a:gd name="connsiteX2" fmla="*/ 2528706 w 5060732"/>
              <a:gd name="connsiteY2" fmla="*/ 4384473 h 5060732"/>
              <a:gd name="connsiteX3" fmla="*/ 4382814 w 5060732"/>
              <a:gd name="connsiteY3" fmla="*/ 2530365 h 5060732"/>
              <a:gd name="connsiteX4" fmla="*/ 2528706 w 5060732"/>
              <a:gd name="connsiteY4" fmla="*/ 676257 h 5060732"/>
              <a:gd name="connsiteX5" fmla="*/ 2530366 w 5060732"/>
              <a:gd name="connsiteY5" fmla="*/ 0 h 5060732"/>
              <a:gd name="connsiteX6" fmla="*/ 5060732 w 5060732"/>
              <a:gd name="connsiteY6" fmla="*/ 2530366 h 5060732"/>
              <a:gd name="connsiteX7" fmla="*/ 2530366 w 5060732"/>
              <a:gd name="connsiteY7" fmla="*/ 5060732 h 5060732"/>
              <a:gd name="connsiteX8" fmla="*/ 0 w 5060732"/>
              <a:gd name="connsiteY8" fmla="*/ 2530366 h 5060732"/>
              <a:gd name="connsiteX9" fmla="*/ 2530366 w 5060732"/>
              <a:gd name="connsiteY9" fmla="*/ 0 h 5060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60732" h="5060732">
                <a:moveTo>
                  <a:pt x="2528706" y="676257"/>
                </a:moveTo>
                <a:cubicBezTo>
                  <a:pt x="1504710" y="676257"/>
                  <a:pt x="674598" y="1506369"/>
                  <a:pt x="674598" y="2530365"/>
                </a:cubicBezTo>
                <a:cubicBezTo>
                  <a:pt x="674598" y="3554361"/>
                  <a:pt x="1504710" y="4384473"/>
                  <a:pt x="2528706" y="4384473"/>
                </a:cubicBezTo>
                <a:cubicBezTo>
                  <a:pt x="3552702" y="4384473"/>
                  <a:pt x="4382814" y="3554361"/>
                  <a:pt x="4382814" y="2530365"/>
                </a:cubicBezTo>
                <a:cubicBezTo>
                  <a:pt x="4382814" y="1506369"/>
                  <a:pt x="3552702" y="676257"/>
                  <a:pt x="2528706" y="676257"/>
                </a:cubicBezTo>
                <a:close/>
                <a:moveTo>
                  <a:pt x="2530366" y="0"/>
                </a:moveTo>
                <a:cubicBezTo>
                  <a:pt x="3927849" y="0"/>
                  <a:pt x="5060732" y="1132883"/>
                  <a:pt x="5060732" y="2530366"/>
                </a:cubicBezTo>
                <a:cubicBezTo>
                  <a:pt x="5060732" y="3927849"/>
                  <a:pt x="3927849" y="5060732"/>
                  <a:pt x="2530366" y="5060732"/>
                </a:cubicBezTo>
                <a:cubicBezTo>
                  <a:pt x="1132883" y="5060732"/>
                  <a:pt x="0" y="3927849"/>
                  <a:pt x="0" y="2530366"/>
                </a:cubicBezTo>
                <a:cubicBezTo>
                  <a:pt x="0" y="1132883"/>
                  <a:pt x="1132883" y="0"/>
                  <a:pt x="2530366" y="0"/>
                </a:cubicBezTo>
                <a:close/>
              </a:path>
            </a:pathLst>
          </a:custGeom>
          <a:solidFill>
            <a:srgbClr val="398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2851898" y="1574890"/>
            <a:ext cx="3708215" cy="3708215"/>
          </a:xfrm>
          <a:prstGeom prst="ellipse">
            <a:avLst/>
          </a:prstGeom>
          <a:solidFill>
            <a:schemeClr val="bg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27211" y="1481060"/>
            <a:ext cx="1957587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04</a:t>
            </a:r>
            <a:endParaRPr lang="zh-CN" altLang="en-US" sz="13800" b="1" dirty="0">
              <a:solidFill>
                <a:schemeClr val="tx1">
                  <a:lumMod val="75000"/>
                  <a:lumOff val="25000"/>
                </a:schemeClr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05235" y="3493325"/>
            <a:ext cx="1601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第四部分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006833" y="4170849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分享与练习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 txBox="1">
            <a:spLocks noChangeArrowheads="1"/>
          </p:cNvSpPr>
          <p:nvPr/>
        </p:nvSpPr>
        <p:spPr bwMode="auto">
          <a:xfrm>
            <a:off x="914400" y="1828800"/>
            <a:ext cx="6324600" cy="381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未完成的价值观句子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价值观拍卖活动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模拟</a:t>
            </a:r>
            <a:r>
              <a:rPr kumimoji="0"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幻想活动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价值观清单（分类卡）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价值观量表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kumimoji="0"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0179" name="Picture 4" descr="j0228829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038600"/>
            <a:ext cx="2590800" cy="18907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直接连接符 5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矩形 6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探索价值观的其它方法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职业锚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19700" y="1482725"/>
            <a:ext cx="3263900" cy="491807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999"/>
              </a:srgbClr>
            </a:outerShdw>
          </a:effectLst>
        </p:spPr>
      </p:pic>
      <p:sp>
        <p:nvSpPr>
          <p:cNvPr id="53250" name="TextBox 6"/>
          <p:cNvSpPr txBox="1">
            <a:spLocks noChangeArrowheads="1"/>
          </p:cNvSpPr>
          <p:nvPr/>
        </p:nvSpPr>
        <p:spPr bwMode="auto">
          <a:xfrm>
            <a:off x="609600" y="1905000"/>
            <a:ext cx="3886200" cy="37861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kumimoji="0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职业锚</a:t>
            </a:r>
            <a:r>
              <a:rPr kumimoji="0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r>
              <a: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中国财政经济出版社</a:t>
            </a:r>
            <a:endParaRPr kumimoji="0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0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0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充分认识自我，准确地“抛锚”于你钟情的职业，实现人生价值的最大化。</a:t>
            </a:r>
            <a:endParaRPr kumimoji="0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充分认识你的员工，准确地给他们专业定位，实现公司价值的最大化。</a:t>
            </a:r>
            <a:endParaRPr kumimoji="0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9" name="矩形 8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图书推荐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Box 6"/>
          <p:cNvSpPr txBox="1">
            <a:spLocks noChangeArrowheads="1"/>
          </p:cNvSpPr>
          <p:nvPr/>
        </p:nvSpPr>
        <p:spPr bwMode="auto">
          <a:xfrm>
            <a:off x="609600" y="1905000"/>
            <a:ext cx="3886200" cy="3416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kumimoji="0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你的船 你的海</a:t>
            </a:r>
            <a:r>
              <a:rPr kumimoji="0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r>
              <a: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新华出版社</a:t>
            </a:r>
            <a:endParaRPr kumimoji="0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0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0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我到底想干什么？</a:t>
            </a:r>
            <a:endParaRPr kumimoji="0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我到底能干什么？</a:t>
            </a:r>
            <a:endParaRPr kumimoji="0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我到底为什么去干？</a:t>
            </a:r>
            <a:endParaRPr kumimoji="0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我是水手还是船长？</a:t>
            </a:r>
            <a:endParaRPr kumimoji="0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是“跳槽”还是“跳高”？</a:t>
            </a:r>
            <a:endParaRPr kumimoji="0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274" name="图片 7" descr="你的船你的海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64163" y="1628775"/>
            <a:ext cx="3086100" cy="47196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直接连接符 6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" name="矩形 7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图书推荐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http://www.xxwindow.net/klso-pic/%D0%C4%C1%E9%CD%B6%CA%D6%B0%F4%C7%F2%D0%C2%D0%E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2438400"/>
            <a:ext cx="2571750" cy="41148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5298" name="TextBox 7"/>
          <p:cNvSpPr txBox="1">
            <a:spLocks noChangeArrowheads="1"/>
          </p:cNvSpPr>
          <p:nvPr/>
        </p:nvSpPr>
        <p:spPr bwMode="auto">
          <a:xfrm>
            <a:off x="1143000" y="1912938"/>
            <a:ext cx="3886200" cy="8302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kumimoji="0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棒球新秀</a:t>
            </a:r>
            <a:r>
              <a:rPr kumimoji="0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r>
              <a:rPr kumimoji="0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9" name="Picture 2" descr="http://posters.7176.com/poster-pic/0825232/2E88gqdIB_1200286574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1600" y="2438400"/>
            <a:ext cx="2916238" cy="41275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5300" name="TextBox 9"/>
          <p:cNvSpPr txBox="1">
            <a:spLocks noChangeArrowheads="1"/>
          </p:cNvSpPr>
          <p:nvPr/>
        </p:nvSpPr>
        <p:spPr bwMode="auto">
          <a:xfrm>
            <a:off x="5638800" y="1905000"/>
            <a:ext cx="3886200" cy="830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kumimoji="0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遗愿清单</a:t>
            </a:r>
            <a:r>
              <a:rPr kumimoji="0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r>
              <a:rPr kumimoji="0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矩形 10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图书推荐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任意多边形 38"/>
          <p:cNvSpPr/>
          <p:nvPr/>
        </p:nvSpPr>
        <p:spPr>
          <a:xfrm>
            <a:off x="0" y="4240538"/>
            <a:ext cx="9144000" cy="2617462"/>
          </a:xfrm>
          <a:custGeom>
            <a:avLst/>
            <a:gdLst>
              <a:gd name="connsiteX0" fmla="*/ 0 w 9144000"/>
              <a:gd name="connsiteY0" fmla="*/ 0 h 2617462"/>
              <a:gd name="connsiteX1" fmla="*/ 4571999 w 9144000"/>
              <a:gd name="connsiteY1" fmla="*/ 890262 h 2617462"/>
              <a:gd name="connsiteX2" fmla="*/ 4572001 w 9144000"/>
              <a:gd name="connsiteY2" fmla="*/ 890262 h 2617462"/>
              <a:gd name="connsiteX3" fmla="*/ 9144000 w 9144000"/>
              <a:gd name="connsiteY3" fmla="*/ 0 h 2617462"/>
              <a:gd name="connsiteX4" fmla="*/ 9144000 w 9144000"/>
              <a:gd name="connsiteY4" fmla="*/ 890262 h 2617462"/>
              <a:gd name="connsiteX5" fmla="*/ 9144000 w 9144000"/>
              <a:gd name="connsiteY5" fmla="*/ 2617462 h 2617462"/>
              <a:gd name="connsiteX6" fmla="*/ 0 w 9144000"/>
              <a:gd name="connsiteY6" fmla="*/ 2617462 h 2617462"/>
              <a:gd name="connsiteX7" fmla="*/ 0 w 9144000"/>
              <a:gd name="connsiteY7" fmla="*/ 890262 h 2617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2617462">
                <a:moveTo>
                  <a:pt x="0" y="0"/>
                </a:moveTo>
                <a:lnTo>
                  <a:pt x="4571999" y="890262"/>
                </a:lnTo>
                <a:lnTo>
                  <a:pt x="4572001" y="890262"/>
                </a:lnTo>
                <a:lnTo>
                  <a:pt x="9144000" y="0"/>
                </a:lnTo>
                <a:lnTo>
                  <a:pt x="9144000" y="890262"/>
                </a:lnTo>
                <a:lnTo>
                  <a:pt x="9144000" y="2617462"/>
                </a:lnTo>
                <a:lnTo>
                  <a:pt x="0" y="2617462"/>
                </a:lnTo>
                <a:lnTo>
                  <a:pt x="0" y="890262"/>
                </a:lnTo>
                <a:close/>
              </a:path>
            </a:pathLst>
          </a:custGeom>
          <a:gradFill flip="none" rotWithShape="1">
            <a:gsLst>
              <a:gs pos="0">
                <a:srgbClr val="3980B1">
                  <a:shade val="30000"/>
                  <a:satMod val="115000"/>
                </a:srgbClr>
              </a:gs>
              <a:gs pos="50000">
                <a:srgbClr val="3980B1">
                  <a:shade val="67500"/>
                  <a:satMod val="115000"/>
                </a:srgbClr>
              </a:gs>
              <a:gs pos="100000">
                <a:srgbClr val="3980B1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427824" y="1941519"/>
            <a:ext cx="4288353" cy="1628427"/>
            <a:chOff x="2427824" y="1738446"/>
            <a:chExt cx="4288353" cy="1628427"/>
          </a:xfrm>
        </p:grpSpPr>
        <p:sp>
          <p:nvSpPr>
            <p:cNvPr id="35" name="文本框 34"/>
            <p:cNvSpPr txBox="1"/>
            <p:nvPr/>
          </p:nvSpPr>
          <p:spPr>
            <a:xfrm>
              <a:off x="2427824" y="2997541"/>
              <a:ext cx="42883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anose="020B0604020202020204" pitchFamily="34" charset="-122"/>
                </a:rPr>
                <a:t>THANKS FOR YOUR TIME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427824" y="1738446"/>
              <a:ext cx="4288353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8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谢谢观看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</TotalTime>
  <Words>1294</Words>
  <Application>Microsoft Office PowerPoint</Application>
  <PresentationFormat>全屏显示(4:3)</PresentationFormat>
  <Paragraphs>183</Paragraphs>
  <Slides>33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6" baseType="lpstr">
      <vt:lpstr>Arial</vt:lpstr>
      <vt:lpstr>宋体</vt:lpstr>
      <vt:lpstr>Calibri Light</vt:lpstr>
      <vt:lpstr>微软雅黑</vt:lpstr>
      <vt:lpstr>楷体_GB2312</vt:lpstr>
      <vt:lpstr>华文琥珀</vt:lpstr>
      <vt:lpstr>华文楷体</vt:lpstr>
      <vt:lpstr>Wingdings</vt:lpstr>
      <vt:lpstr>Calibri</vt:lpstr>
      <vt:lpstr>Arial Unicode MS</vt:lpstr>
      <vt:lpstr>DFGothic-EB</vt:lpstr>
      <vt:lpstr>黑体</vt:lpstr>
      <vt:lpstr>Office 主题</vt:lpstr>
      <vt:lpstr> </vt:lpstr>
      <vt:lpstr>幻灯片 2</vt:lpstr>
      <vt:lpstr>富强、民主、文明、和谐，自由、平等、公正、法治，爱国、敬业、诚信、友善，传承着中国优秀传统文化的基因，寄托着近代以来中国人民上下求索、历经千辛万苦确立的理想和信念，也承载着我们每个人的美好愿景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职涯发展的两大驱动力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Bluewish</dc:creator>
  <cp:lastModifiedBy>Administrator</cp:lastModifiedBy>
  <cp:revision>97</cp:revision>
  <dcterms:created xsi:type="dcterms:W3CDTF">2014-09-16T12:24:00Z</dcterms:created>
  <dcterms:modified xsi:type="dcterms:W3CDTF">2024-04-01T02:27:47Z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F890FDC42A1D4B40B0958D9706BA9444</vt:lpwstr>
  </property>
  <property fmtid="{D5CDD505-2E9C-101B-9397-08002B2CF9AE}" pid="3" name="KSOProductBuildVer">
    <vt:lpwstr>2052-11.1.0.10356</vt:lpwstr>
  </property>
</Properties>
</file>